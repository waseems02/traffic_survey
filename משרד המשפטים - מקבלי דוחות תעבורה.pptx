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omments/modernComment_909_961218F.xml" ContentType="application/vnd.ms-powerpoint.comments+xml"/>
  <Override PartName="/ppt/charts/chart1.xml" ContentType="application/vnd.openxmlformats-officedocument.drawingml.chart+xml"/>
  <Override PartName="/ppt/comments/modernComment_864_F8F537D5.xml" ContentType="application/vnd.ms-powerpoint.comments+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ppt/charts/chart3.xml" ContentType="application/vnd.openxmlformats-officedocument.drawingml.chart+xml"/>
  <Override PartName="/ppt/charts/style2.xml" ContentType="application/vnd.ms-office.chartstyle+xml"/>
  <Override PartName="/ppt/charts/colors2.xml" ContentType="application/vnd.ms-office.chartcolorstyle+xml"/>
  <Override PartName="/ppt/charts/chart4.xml" ContentType="application/vnd.openxmlformats-officedocument.drawingml.chart+xml"/>
  <Override PartName="/ppt/charts/style3.xml" ContentType="application/vnd.ms-office.chartstyle+xml"/>
  <Override PartName="/ppt/charts/colors3.xml" ContentType="application/vnd.ms-office.chartcolorstyle+xml"/>
  <Override PartName="/ppt/charts/chart5.xml" ContentType="application/vnd.openxmlformats-officedocument.drawingml.chart+xml"/>
  <Override PartName="/ppt/charts/style4.xml" ContentType="application/vnd.ms-office.chartstyle+xml"/>
  <Override PartName="/ppt/charts/colors4.xml" ContentType="application/vnd.ms-office.chartcolorstyle+xml"/>
  <Override PartName="/ppt/comments/modernComment_934_E723A811.xml" ContentType="application/vnd.ms-powerpoint.comments+xml"/>
  <Override PartName="/ppt/charts/chart6.xml" ContentType="application/vnd.openxmlformats-officedocument.drawingml.chart+xml"/>
  <Override PartName="/ppt/comments/modernComment_97E_F2807F2D.xml" ContentType="application/vnd.ms-powerpoint.comments+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style5.xml" ContentType="application/vnd.ms-office.chartstyle+xml"/>
  <Override PartName="/ppt/charts/colors5.xml" ContentType="application/vnd.ms-office.chartcolorstyle+xml"/>
  <Override PartName="/ppt/charts/chart17.xml" ContentType="application/vnd.openxmlformats-officedocument.drawingml.chart+xml"/>
  <Override PartName="/ppt/charts/style6.xml" ContentType="application/vnd.ms-office.chartstyle+xml"/>
  <Override PartName="/ppt/charts/colors6.xml" ContentType="application/vnd.ms-office.chartcolorstyle+xml"/>
  <Override PartName="/ppt/charts/chart18.xml" ContentType="application/vnd.openxmlformats-officedocument.drawingml.chart+xml"/>
  <Override PartName="/ppt/charts/style7.xml" ContentType="application/vnd.ms-office.chartstyle+xml"/>
  <Override PartName="/ppt/charts/colors7.xml" ContentType="application/vnd.ms-office.chartcolorstyle+xml"/>
  <Override PartName="/ppt/charts/chart19.xml" ContentType="application/vnd.openxmlformats-officedocument.drawingml.chart+xml"/>
  <Override PartName="/ppt/charts/style8.xml" ContentType="application/vnd.ms-office.chartstyle+xml"/>
  <Override PartName="/ppt/charts/colors8.xml" ContentType="application/vnd.ms-office.chartcolorstyle+xml"/>
  <Override PartName="/ppt/charts/chart20.xml" ContentType="application/vnd.openxmlformats-officedocument.drawingml.chart+xml"/>
  <Override PartName="/ppt/charts/style9.xml" ContentType="application/vnd.ms-office.chartstyle+xml"/>
  <Override PartName="/ppt/charts/colors9.xml" ContentType="application/vnd.ms-office.chartcolorstyle+xml"/>
  <Override PartName="/ppt/charts/chart21.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22.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23.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24.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25.xml" ContentType="application/vnd.openxmlformats-officedocument.drawingml.chart+xml"/>
  <Override PartName="/ppt/charts/style14.xml" ContentType="application/vnd.ms-office.chartstyle+xml"/>
  <Override PartName="/ppt/charts/colors14.xml" ContentType="application/vnd.ms-office.chartcolorstyle+xml"/>
  <Override PartName="/ppt/charts/chart26.xml" ContentType="application/vnd.openxmlformats-officedocument.drawingml.chart+xml"/>
  <Override PartName="/ppt/charts/style15.xml" ContentType="application/vnd.ms-office.chartstyle+xml"/>
  <Override PartName="/ppt/charts/colors15.xml" ContentType="application/vnd.ms-office.chartcolorstyle+xml"/>
  <Override PartName="/ppt/charts/chart27.xml" ContentType="application/vnd.openxmlformats-officedocument.drawingml.chart+xml"/>
  <Override PartName="/ppt/charts/style16.xml" ContentType="application/vnd.ms-office.chartstyle+xml"/>
  <Override PartName="/ppt/charts/colors16.xml" ContentType="application/vnd.ms-office.chartcolorstyle+xml"/>
  <Override PartName="/ppt/charts/chart28.xml" ContentType="application/vnd.openxmlformats-officedocument.drawingml.chart+xml"/>
  <Override PartName="/ppt/charts/style17.xml" ContentType="application/vnd.ms-office.chartstyle+xml"/>
  <Override PartName="/ppt/charts/colors17.xml" ContentType="application/vnd.ms-office.chartcolorstyle+xml"/>
  <Override PartName="/ppt/charts/chart29.xml" ContentType="application/vnd.openxmlformats-officedocument.drawingml.chart+xml"/>
  <Override PartName="/ppt/charts/style18.xml" ContentType="application/vnd.ms-office.chartstyle+xml"/>
  <Override PartName="/ppt/charts/colors18.xml" ContentType="application/vnd.ms-office.chartcolorstyle+xml"/>
  <Override PartName="/ppt/charts/chart30.xml" ContentType="application/vnd.openxmlformats-officedocument.drawingml.chart+xml"/>
  <Override PartName="/ppt/charts/style19.xml" ContentType="application/vnd.ms-office.chartstyle+xml"/>
  <Override PartName="/ppt/charts/colors19.xml" ContentType="application/vnd.ms-office.chartcolorstyle+xml"/>
  <Override PartName="/ppt/charts/chart31.xml" ContentType="application/vnd.openxmlformats-officedocument.drawingml.chart+xml"/>
  <Override PartName="/ppt/charts/style20.xml" ContentType="application/vnd.ms-office.chartstyle+xml"/>
  <Override PartName="/ppt/charts/colors20.xml" ContentType="application/vnd.ms-office.chartcolorstyle+xml"/>
  <Override PartName="/ppt/comments/modernComment_97C_4BAEDD40.xml" ContentType="application/vnd.ms-powerpoint.comments+xml"/>
  <Override PartName="/ppt/charts/chart32.xml" ContentType="application/vnd.openxmlformats-officedocument.drawingml.chart+xml"/>
  <Override PartName="/ppt/charts/style21.xml" ContentType="application/vnd.ms-office.chartstyle+xml"/>
  <Override PartName="/ppt/charts/colors21.xml" ContentType="application/vnd.ms-office.chartcolorstyle+xml"/>
  <Override PartName="/ppt/charts/chart33.xml" ContentType="application/vnd.openxmlformats-officedocument.drawingml.chart+xml"/>
  <Override PartName="/ppt/charts/style22.xml" ContentType="application/vnd.ms-office.chartstyle+xml"/>
  <Override PartName="/ppt/charts/colors22.xml" ContentType="application/vnd.ms-office.chartcolorstyle+xml"/>
  <Override PartName="/ppt/charts/chart34.xml" ContentType="application/vnd.openxmlformats-officedocument.drawingml.chart+xml"/>
  <Override PartName="/ppt/charts/style23.xml" ContentType="application/vnd.ms-office.chartstyle+xml"/>
  <Override PartName="/ppt/charts/colors23.xml" ContentType="application/vnd.ms-office.chartcolorstyle+xml"/>
  <Override PartName="/ppt/charts/chart35.xml" ContentType="application/vnd.openxmlformats-officedocument.drawingml.chart+xml"/>
  <Override PartName="/ppt/charts/style24.xml" ContentType="application/vnd.ms-office.chartstyle+xml"/>
  <Override PartName="/ppt/charts/colors24.xml" ContentType="application/vnd.ms-office.chartcolorstyle+xml"/>
  <Override PartName="/ppt/charts/chart36.xml" ContentType="application/vnd.openxmlformats-officedocument.drawingml.chart+xml"/>
  <Override PartName="/ppt/charts/chart37.xml" ContentType="application/vnd.openxmlformats-officedocument.drawingml.chart+xml"/>
  <Override PartName="/ppt/charts/chart38.xml" ContentType="application/vnd.openxmlformats-officedocument.drawingml.chart+xml"/>
  <Override PartName="/ppt/charts/style25.xml" ContentType="application/vnd.ms-office.chartstyle+xml"/>
  <Override PartName="/ppt/charts/colors25.xml" ContentType="application/vnd.ms-office.chartcolorstyle+xml"/>
  <Override PartName="/ppt/charts/chart39.xml" ContentType="application/vnd.openxmlformats-officedocument.drawingml.chart+xml"/>
  <Override PartName="/ppt/charts/style26.xml" ContentType="application/vnd.ms-office.chartstyle+xml"/>
  <Override PartName="/ppt/charts/colors26.xml" ContentType="application/vnd.ms-office.chartcolorstyle+xml"/>
  <Override PartName="/ppt/comments/modernComment_937_F71287CE.xml" ContentType="application/vnd.ms-powerpoint.comments+xml"/>
  <Override PartName="/ppt/charts/chart40.xml" ContentType="application/vnd.openxmlformats-officedocument.drawingml.chart+xml"/>
  <Override PartName="/ppt/theme/themeOverride1.xml" ContentType="application/vnd.openxmlformats-officedocument.themeOverride+xml"/>
  <Override PartName="/ppt/charts/chart41.xml" ContentType="application/vnd.openxmlformats-officedocument.drawingml.chart+xml"/>
  <Override PartName="/ppt/theme/themeOverride2.xml" ContentType="application/vnd.openxmlformats-officedocument.themeOverride+xml"/>
  <Override PartName="/ppt/charts/chart42.xml" ContentType="application/vnd.openxmlformats-officedocument.drawingml.chart+xml"/>
  <Override PartName="/ppt/charts/chart43.xml" ContentType="application/vnd.openxmlformats-officedocument.drawingml.chart+xml"/>
  <Override PartName="/ppt/comments/modernComment_981_BE952244.xml" ContentType="application/vnd.ms-powerpoint.comments+xml"/>
  <Override PartName="/ppt/charts/chart44.xml" ContentType="application/vnd.openxmlformats-officedocument.drawingml.chart+xml"/>
  <Override PartName="/ppt/charts/chart45.xml" ContentType="application/vnd.openxmlformats-officedocument.drawingml.chart+xml"/>
  <Override PartName="/ppt/charts/chart46.xml" ContentType="application/vnd.openxmlformats-officedocument.drawingml.chart+xml"/>
  <Override PartName="/ppt/comments/modernComment_980_AA1D2A6A.xml" ContentType="application/vnd.ms-powerpoint.comments+xml"/>
  <Override PartName="/ppt/charts/chart47.xml" ContentType="application/vnd.openxmlformats-officedocument.drawingml.chart+xml"/>
  <Override PartName="/ppt/charts/chart48.xml" ContentType="application/vnd.openxmlformats-officedocument.drawingml.chart+xml"/>
  <Override PartName="/ppt/charts/chart49.xml" ContentType="application/vnd.openxmlformats-officedocument.drawingml.chart+xml"/>
  <Override PartName="/ppt/charts/chart50.xml" ContentType="application/vnd.openxmlformats-officedocument.drawingml.chart+xml"/>
  <Override PartName="/ppt/charts/chart51.xml" ContentType="application/vnd.openxmlformats-officedocument.drawingml.chart+xml"/>
  <Override PartName="/ppt/charts/style27.xml" ContentType="application/vnd.ms-office.chartstyle+xml"/>
  <Override PartName="/ppt/charts/colors27.xml" ContentType="application/vnd.ms-office.chartcolorstyle+xml"/>
  <Override PartName="/ppt/charts/chart52.xml" ContentType="application/vnd.openxmlformats-officedocument.drawingml.chart+xml"/>
  <Override PartName="/ppt/charts/chart53.xml" ContentType="application/vnd.openxmlformats-officedocument.drawingml.chart+xml"/>
  <Override PartName="/ppt/theme/themeOverride3.xml" ContentType="application/vnd.openxmlformats-officedocument.themeOverride+xml"/>
  <Override PartName="/ppt/charts/chart54.xml" ContentType="application/vnd.openxmlformats-officedocument.drawingml.chart+xml"/>
  <Override PartName="/ppt/charts/chart55.xml" ContentType="application/vnd.openxmlformats-officedocument.drawingml.chart+xml"/>
  <Override PartName="/ppt/charts/chart56.xml" ContentType="application/vnd.openxmlformats-officedocument.drawingml.chart+xml"/>
  <Override PartName="/ppt/theme/themeOverride4.xml" ContentType="application/vnd.openxmlformats-officedocument.themeOverride+xml"/>
  <Override PartName="/ppt/charts/chart57.xml" ContentType="application/vnd.openxmlformats-officedocument.drawingml.chart+xml"/>
  <Override PartName="/ppt/charts/chart58.xml" ContentType="application/vnd.openxmlformats-officedocument.drawingml.chart+xml"/>
  <Override PartName="/ppt/charts/chart59.xml" ContentType="application/vnd.openxmlformats-officedocument.drawingml.chart+xml"/>
  <Override PartName="/ppt/charts/chart60.xml" ContentType="application/vnd.openxmlformats-officedocument.drawingml.chart+xml"/>
  <Override PartName="/ppt/theme/themeOverride5.xml" ContentType="application/vnd.openxmlformats-officedocument.themeOverride+xml"/>
  <Override PartName="/ppt/charts/chart61.xml" ContentType="application/vnd.openxmlformats-officedocument.drawingml.chart+xml"/>
  <Override PartName="/ppt/theme/themeOverride6.xml" ContentType="application/vnd.openxmlformats-officedocument.themeOverride+xml"/>
  <Override PartName="/ppt/charts/chart62.xml" ContentType="application/vnd.openxmlformats-officedocument.drawingml.chart+xml"/>
  <Override PartName="/ppt/charts/chart63.xml" ContentType="application/vnd.openxmlformats-officedocument.drawingml.chart+xml"/>
  <Override PartName="/ppt/theme/themeOverride7.xml" ContentType="application/vnd.openxmlformats-officedocument.themeOverride+xml"/>
  <Override PartName="/ppt/charts/chart64.xml" ContentType="application/vnd.openxmlformats-officedocument.drawingml.chart+xml"/>
  <Override PartName="/ppt/theme/themeOverride8.xml" ContentType="application/vnd.openxmlformats-officedocument.themeOverride+xml"/>
  <Override PartName="/ppt/charts/chart65.xml" ContentType="application/vnd.openxmlformats-officedocument.drawingml.chart+xml"/>
  <Override PartName="/ppt/charts/style28.xml" ContentType="application/vnd.ms-office.chartstyle+xml"/>
  <Override PartName="/ppt/charts/colors28.xml" ContentType="application/vnd.ms-office.chartcolorstyle+xml"/>
  <Override PartName="/ppt/charts/chart66.xml" ContentType="application/vnd.openxmlformats-officedocument.drawingml.chart+xml"/>
  <Override PartName="/ppt/theme/themeOverride9.xml" ContentType="application/vnd.openxmlformats-officedocument.themeOverride+xml"/>
  <Override PartName="/ppt/charts/chart67.xml" ContentType="application/vnd.openxmlformats-officedocument.drawingml.chart+xml"/>
  <Override PartName="/ppt/theme/themeOverride10.xml" ContentType="application/vnd.openxmlformats-officedocument.themeOverride+xml"/>
  <Override PartName="/ppt/charts/chart68.xml" ContentType="application/vnd.openxmlformats-officedocument.drawingml.chart+xml"/>
  <Override PartName="/ppt/charts/chart69.xml" ContentType="application/vnd.openxmlformats-officedocument.drawingml.chart+xml"/>
  <Override PartName="/ppt/charts/chart70.xml" ContentType="application/vnd.openxmlformats-officedocument.drawingml.chart+xml"/>
  <Override PartName="/ppt/charts/chart71.xml" ContentType="application/vnd.openxmlformats-officedocument.drawingml.chart+xml"/>
  <Override PartName="/ppt/comments/modernComment_44E_1ECFF911.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Lst>
  <p:notesMasterIdLst>
    <p:notesMasterId r:id="rId37"/>
  </p:notesMasterIdLst>
  <p:handoutMasterIdLst>
    <p:handoutMasterId r:id="rId38"/>
  </p:handoutMasterIdLst>
  <p:sldIdLst>
    <p:sldId id="289" r:id="rId2"/>
    <p:sldId id="357" r:id="rId3"/>
    <p:sldId id="1090" r:id="rId4"/>
    <p:sldId id="2313" r:id="rId5"/>
    <p:sldId id="2148" r:id="rId6"/>
    <p:sldId id="2356" r:id="rId7"/>
    <p:sldId id="2430" r:id="rId8"/>
    <p:sldId id="2336" r:id="rId9"/>
    <p:sldId id="2425" r:id="rId10"/>
    <p:sldId id="2429" r:id="rId11"/>
    <p:sldId id="2426" r:id="rId12"/>
    <p:sldId id="2427" r:id="rId13"/>
    <p:sldId id="2428" r:id="rId14"/>
    <p:sldId id="2357" r:id="rId15"/>
    <p:sldId id="2431" r:id="rId16"/>
    <p:sldId id="2372" r:id="rId17"/>
    <p:sldId id="2359" r:id="rId18"/>
    <p:sldId id="2360" r:id="rId19"/>
    <p:sldId id="2433" r:id="rId20"/>
    <p:sldId id="2361" r:id="rId21"/>
    <p:sldId id="2432" r:id="rId22"/>
    <p:sldId id="2362" r:id="rId23"/>
    <p:sldId id="2366" r:id="rId24"/>
    <p:sldId id="2373" r:id="rId25"/>
    <p:sldId id="2363" r:id="rId26"/>
    <p:sldId id="2364" r:id="rId27"/>
    <p:sldId id="2365" r:id="rId28"/>
    <p:sldId id="2367" r:id="rId29"/>
    <p:sldId id="2368" r:id="rId30"/>
    <p:sldId id="2369" r:id="rId31"/>
    <p:sldId id="2338" r:id="rId32"/>
    <p:sldId id="2374" r:id="rId33"/>
    <p:sldId id="2370" r:id="rId34"/>
    <p:sldId id="2371" r:id="rId35"/>
    <p:sldId id="1102" r:id="rId36"/>
  </p:sldIdLst>
  <p:sldSz cx="12192000" cy="6858000"/>
  <p:notesSz cx="6858000" cy="9144000"/>
  <p:defaultTextStyle>
    <a:defPPr>
      <a:defRPr lang="he-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224" userDrawn="1">
          <p15:clr>
            <a:srgbClr val="A4A3A4"/>
          </p15:clr>
        </p15:guide>
        <p15:guide id="3" orient="horz" pos="368" userDrawn="1">
          <p15:clr>
            <a:srgbClr val="A4A3A4"/>
          </p15:clr>
        </p15:guide>
        <p15:guide id="4" pos="121" userDrawn="1">
          <p15:clr>
            <a:srgbClr val="A4A3A4"/>
          </p15:clr>
        </p15:guide>
        <p15:guide id="5" orient="horz" pos="867" userDrawn="1">
          <p15:clr>
            <a:srgbClr val="A4A3A4"/>
          </p15:clr>
        </p15:guide>
        <p15:guide id="10" pos="727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7BFFB99-4AFF-3083-A3D1-79E09E4CCF5E}" name="waseem sadi" initials="ws" userId="a0f2a46f9f7392a9"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D1C64"/>
    <a:srgbClr val="09AFA7"/>
    <a:srgbClr val="FA4C75"/>
    <a:srgbClr val="FF6565"/>
    <a:srgbClr val="104E88"/>
    <a:srgbClr val="59D3B6"/>
    <a:srgbClr val="156938"/>
    <a:srgbClr val="FA6A89"/>
    <a:srgbClr val="FFB9C0"/>
    <a:srgbClr val="FF373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סגנון בהיר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D5ABB26-0587-4C30-8999-92F81FD0307C}" styleName="ללא סגנון, ללא רשת">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5005" autoAdjust="0"/>
    <p:restoredTop sz="94660"/>
  </p:normalViewPr>
  <p:slideViewPr>
    <p:cSldViewPr snapToGrid="0" showGuides="1">
      <p:cViewPr>
        <p:scale>
          <a:sx n="75" d="100"/>
          <a:sy n="75" d="100"/>
        </p:scale>
        <p:origin x="86" y="144"/>
      </p:cViewPr>
      <p:guideLst>
        <p:guide orient="horz" pos="4224"/>
        <p:guide orient="horz" pos="368"/>
        <p:guide pos="121"/>
        <p:guide orient="horz" pos="867"/>
        <p:guide pos="7278"/>
      </p:guideLst>
    </p:cSldViewPr>
  </p:slideViewPr>
  <p:notesTextViewPr>
    <p:cViewPr>
      <p:scale>
        <a:sx n="1" d="1"/>
        <a:sy n="1" d="1"/>
      </p:scale>
      <p:origin x="0" y="0"/>
    </p:cViewPr>
  </p:notesTextViewPr>
  <p:notesViewPr>
    <p:cSldViewPr snapToGrid="0" showGuides="1">
      <p:cViewPr varScale="1">
        <p:scale>
          <a:sx n="118" d="100"/>
          <a:sy n="118" d="100"/>
        </p:scale>
        <p:origin x="5004"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8/10/relationships/authors" Target="author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1.xml"/><Relationship Id="rId1" Type="http://schemas.microsoft.com/office/2011/relationships/chartStyle" Target="style1.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2.xml"/><Relationship Id="rId1" Type="http://schemas.microsoft.com/office/2011/relationships/chartStyle" Target="style2.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3.xml"/><Relationship Id="rId1" Type="http://schemas.microsoft.com/office/2011/relationships/chartStyle" Target="style3.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4.xml"/><Relationship Id="rId1" Type="http://schemas.microsoft.com/office/2011/relationships/chartStyle" Target="style4.xml"/></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6.xml.rels><?xml version="1.0" encoding="UTF-8" standalone="yes"?>
<Relationships xmlns="http://schemas.openxmlformats.org/package/2006/relationships"><Relationship Id="rId3" Type="http://schemas.openxmlformats.org/officeDocument/2006/relationships/package" Target="../embeddings/Microsoft_Excel_Worksheet15.xlsx"/><Relationship Id="rId2" Type="http://schemas.microsoft.com/office/2011/relationships/chartColorStyle" Target="colors5.xml"/><Relationship Id="rId1" Type="http://schemas.microsoft.com/office/2011/relationships/chartStyle" Target="style5.xml"/></Relationships>
</file>

<file path=ppt/charts/_rels/chart17.xml.rels><?xml version="1.0" encoding="UTF-8" standalone="yes"?>
<Relationships xmlns="http://schemas.openxmlformats.org/package/2006/relationships"><Relationship Id="rId3" Type="http://schemas.openxmlformats.org/officeDocument/2006/relationships/package" Target="../embeddings/Microsoft_Excel_Worksheet16.xlsx"/><Relationship Id="rId2" Type="http://schemas.microsoft.com/office/2011/relationships/chartColorStyle" Target="colors6.xml"/><Relationship Id="rId1" Type="http://schemas.microsoft.com/office/2011/relationships/chartStyle" Target="style6.xml"/></Relationships>
</file>

<file path=ppt/charts/_rels/chart18.xml.rels><?xml version="1.0" encoding="UTF-8" standalone="yes"?>
<Relationships xmlns="http://schemas.openxmlformats.org/package/2006/relationships"><Relationship Id="rId3" Type="http://schemas.openxmlformats.org/officeDocument/2006/relationships/package" Target="../embeddings/Microsoft_Excel_Worksheet17.xlsx"/><Relationship Id="rId2" Type="http://schemas.microsoft.com/office/2011/relationships/chartColorStyle" Target="colors7.xml"/><Relationship Id="rId1" Type="http://schemas.microsoft.com/office/2011/relationships/chartStyle" Target="style7.xml"/></Relationships>
</file>

<file path=ppt/charts/_rels/chart19.xml.rels><?xml version="1.0" encoding="UTF-8" standalone="yes"?>
<Relationships xmlns="http://schemas.openxmlformats.org/package/2006/relationships"><Relationship Id="rId3" Type="http://schemas.openxmlformats.org/officeDocument/2006/relationships/package" Target="../embeddings/Microsoft_Excel_Worksheet18.xlsx"/><Relationship Id="rId2" Type="http://schemas.microsoft.com/office/2011/relationships/chartColorStyle" Target="colors8.xml"/><Relationship Id="rId1" Type="http://schemas.microsoft.com/office/2011/relationships/chartStyle" Target="style8.xml"/></Relationships>
</file>

<file path=ppt/charts/_rels/chart20.xml.rels><?xml version="1.0" encoding="UTF-8" standalone="yes"?>
<Relationships xmlns="http://schemas.openxmlformats.org/package/2006/relationships"><Relationship Id="rId3" Type="http://schemas.openxmlformats.org/officeDocument/2006/relationships/package" Target="../embeddings/Microsoft_Excel_Worksheet19.xlsx"/><Relationship Id="rId2" Type="http://schemas.microsoft.com/office/2011/relationships/chartColorStyle" Target="colors9.xml"/><Relationship Id="rId1" Type="http://schemas.microsoft.com/office/2011/relationships/chartStyle" Target="style9.xml"/></Relationships>
</file>

<file path=ppt/charts/_rels/chart21.xml.rels><?xml version="1.0" encoding="UTF-8" standalone="yes"?>
<Relationships xmlns="http://schemas.openxmlformats.org/package/2006/relationships"><Relationship Id="rId3" Type="http://schemas.openxmlformats.org/officeDocument/2006/relationships/package" Target="../embeddings/Microsoft_Excel_Worksheet20.xlsx"/><Relationship Id="rId2" Type="http://schemas.microsoft.com/office/2011/relationships/chartColorStyle" Target="colors10.xml"/><Relationship Id="rId1" Type="http://schemas.microsoft.com/office/2011/relationships/chartStyle" Target="style10.xml"/></Relationships>
</file>

<file path=ppt/charts/_rels/chart22.xml.rels><?xml version="1.0" encoding="UTF-8" standalone="yes"?>
<Relationships xmlns="http://schemas.openxmlformats.org/package/2006/relationships"><Relationship Id="rId3" Type="http://schemas.openxmlformats.org/officeDocument/2006/relationships/package" Target="../embeddings/Microsoft_Excel_Worksheet21.xlsx"/><Relationship Id="rId2" Type="http://schemas.microsoft.com/office/2011/relationships/chartColorStyle" Target="colors11.xml"/><Relationship Id="rId1" Type="http://schemas.microsoft.com/office/2011/relationships/chartStyle" Target="style11.xml"/></Relationships>
</file>

<file path=ppt/charts/_rels/chart23.xml.rels><?xml version="1.0" encoding="UTF-8" standalone="yes"?>
<Relationships xmlns="http://schemas.openxmlformats.org/package/2006/relationships"><Relationship Id="rId3" Type="http://schemas.openxmlformats.org/officeDocument/2006/relationships/package" Target="../embeddings/Microsoft_Excel_Worksheet22.xlsx"/><Relationship Id="rId2" Type="http://schemas.microsoft.com/office/2011/relationships/chartColorStyle" Target="colors12.xml"/><Relationship Id="rId1" Type="http://schemas.microsoft.com/office/2011/relationships/chartStyle" Target="style12.xml"/></Relationships>
</file>

<file path=ppt/charts/_rels/chart24.xml.rels><?xml version="1.0" encoding="UTF-8" standalone="yes"?>
<Relationships xmlns="http://schemas.openxmlformats.org/package/2006/relationships"><Relationship Id="rId3" Type="http://schemas.openxmlformats.org/officeDocument/2006/relationships/package" Target="../embeddings/Microsoft_Excel_Worksheet23.xlsx"/><Relationship Id="rId2" Type="http://schemas.microsoft.com/office/2011/relationships/chartColorStyle" Target="colors13.xml"/><Relationship Id="rId1" Type="http://schemas.microsoft.com/office/2011/relationships/chartStyle" Target="style13.xml"/></Relationships>
</file>

<file path=ppt/charts/_rels/chart25.xml.rels><?xml version="1.0" encoding="UTF-8" standalone="yes"?>
<Relationships xmlns="http://schemas.openxmlformats.org/package/2006/relationships"><Relationship Id="rId3" Type="http://schemas.openxmlformats.org/officeDocument/2006/relationships/package" Target="../embeddings/Microsoft_Excel_Worksheet24.xlsx"/><Relationship Id="rId2" Type="http://schemas.microsoft.com/office/2011/relationships/chartColorStyle" Target="colors14.xml"/><Relationship Id="rId1" Type="http://schemas.microsoft.com/office/2011/relationships/chartStyle" Target="style14.xml"/></Relationships>
</file>

<file path=ppt/charts/_rels/chart26.xml.rels><?xml version="1.0" encoding="UTF-8" standalone="yes"?>
<Relationships xmlns="http://schemas.openxmlformats.org/package/2006/relationships"><Relationship Id="rId3" Type="http://schemas.openxmlformats.org/officeDocument/2006/relationships/package" Target="../embeddings/Microsoft_Excel_Worksheet25.xlsx"/><Relationship Id="rId2" Type="http://schemas.microsoft.com/office/2011/relationships/chartColorStyle" Target="colors15.xml"/><Relationship Id="rId1" Type="http://schemas.microsoft.com/office/2011/relationships/chartStyle" Target="style15.xml"/></Relationships>
</file>

<file path=ppt/charts/_rels/chart27.xml.rels><?xml version="1.0" encoding="UTF-8" standalone="yes"?>
<Relationships xmlns="http://schemas.openxmlformats.org/package/2006/relationships"><Relationship Id="rId3" Type="http://schemas.openxmlformats.org/officeDocument/2006/relationships/package" Target="../embeddings/Microsoft_Excel_Worksheet26.xlsx"/><Relationship Id="rId2" Type="http://schemas.microsoft.com/office/2011/relationships/chartColorStyle" Target="colors16.xml"/><Relationship Id="rId1" Type="http://schemas.microsoft.com/office/2011/relationships/chartStyle" Target="style16.xml"/></Relationships>
</file>

<file path=ppt/charts/_rels/chart28.xml.rels><?xml version="1.0" encoding="UTF-8" standalone="yes"?>
<Relationships xmlns="http://schemas.openxmlformats.org/package/2006/relationships"><Relationship Id="rId3" Type="http://schemas.openxmlformats.org/officeDocument/2006/relationships/package" Target="../embeddings/Microsoft_Excel_Worksheet27.xlsx"/><Relationship Id="rId2" Type="http://schemas.microsoft.com/office/2011/relationships/chartColorStyle" Target="colors17.xml"/><Relationship Id="rId1" Type="http://schemas.microsoft.com/office/2011/relationships/chartStyle" Target="style17.xml"/></Relationships>
</file>

<file path=ppt/charts/_rels/chart29.xml.rels><?xml version="1.0" encoding="UTF-8" standalone="yes"?>
<Relationships xmlns="http://schemas.openxmlformats.org/package/2006/relationships"><Relationship Id="rId3" Type="http://schemas.openxmlformats.org/officeDocument/2006/relationships/package" Target="../embeddings/Microsoft_Excel_Worksheet28.xlsx"/><Relationship Id="rId2" Type="http://schemas.microsoft.com/office/2011/relationships/chartColorStyle" Target="colors18.xml"/><Relationship Id="rId1" Type="http://schemas.microsoft.com/office/2011/relationships/chartStyle" Target="style18.xml"/></Relationships>
</file>

<file path=ppt/charts/_rels/chart30.xml.rels><?xml version="1.0" encoding="UTF-8" standalone="yes"?>
<Relationships xmlns="http://schemas.openxmlformats.org/package/2006/relationships"><Relationship Id="rId3" Type="http://schemas.openxmlformats.org/officeDocument/2006/relationships/package" Target="../embeddings/Microsoft_Excel_Worksheet29.xlsx"/><Relationship Id="rId2" Type="http://schemas.microsoft.com/office/2011/relationships/chartColorStyle" Target="colors19.xml"/><Relationship Id="rId1" Type="http://schemas.microsoft.com/office/2011/relationships/chartStyle" Target="style19.xml"/></Relationships>
</file>

<file path=ppt/charts/_rels/chart31.xml.rels><?xml version="1.0" encoding="UTF-8" standalone="yes"?>
<Relationships xmlns="http://schemas.openxmlformats.org/package/2006/relationships"><Relationship Id="rId3" Type="http://schemas.openxmlformats.org/officeDocument/2006/relationships/package" Target="../embeddings/Microsoft_Excel_Worksheet30.xlsx"/><Relationship Id="rId2" Type="http://schemas.microsoft.com/office/2011/relationships/chartColorStyle" Target="colors20.xml"/><Relationship Id="rId1" Type="http://schemas.microsoft.com/office/2011/relationships/chartStyle" Target="style20.xml"/></Relationships>
</file>

<file path=ppt/charts/_rels/chart32.xml.rels><?xml version="1.0" encoding="UTF-8" standalone="yes"?>
<Relationships xmlns="http://schemas.openxmlformats.org/package/2006/relationships"><Relationship Id="rId3" Type="http://schemas.openxmlformats.org/officeDocument/2006/relationships/package" Target="../embeddings/Microsoft_Excel_Worksheet31.xlsx"/><Relationship Id="rId2" Type="http://schemas.microsoft.com/office/2011/relationships/chartColorStyle" Target="colors21.xml"/><Relationship Id="rId1" Type="http://schemas.microsoft.com/office/2011/relationships/chartStyle" Target="style21.xml"/></Relationships>
</file>

<file path=ppt/charts/_rels/chart33.xml.rels><?xml version="1.0" encoding="UTF-8" standalone="yes"?>
<Relationships xmlns="http://schemas.openxmlformats.org/package/2006/relationships"><Relationship Id="rId3" Type="http://schemas.openxmlformats.org/officeDocument/2006/relationships/package" Target="../embeddings/Microsoft_Excel_Worksheet32.xlsx"/><Relationship Id="rId2" Type="http://schemas.microsoft.com/office/2011/relationships/chartColorStyle" Target="colors22.xml"/><Relationship Id="rId1" Type="http://schemas.microsoft.com/office/2011/relationships/chartStyle" Target="style22.xml"/></Relationships>
</file>

<file path=ppt/charts/_rels/chart34.xml.rels><?xml version="1.0" encoding="UTF-8" standalone="yes"?>
<Relationships xmlns="http://schemas.openxmlformats.org/package/2006/relationships"><Relationship Id="rId3" Type="http://schemas.openxmlformats.org/officeDocument/2006/relationships/package" Target="../embeddings/Microsoft_Excel_Worksheet33.xlsx"/><Relationship Id="rId2" Type="http://schemas.microsoft.com/office/2011/relationships/chartColorStyle" Target="colors23.xml"/><Relationship Id="rId1" Type="http://schemas.microsoft.com/office/2011/relationships/chartStyle" Target="style23.xml"/></Relationships>
</file>

<file path=ppt/charts/_rels/chart35.xml.rels><?xml version="1.0" encoding="UTF-8" standalone="yes"?>
<Relationships xmlns="http://schemas.openxmlformats.org/package/2006/relationships"><Relationship Id="rId3" Type="http://schemas.openxmlformats.org/officeDocument/2006/relationships/package" Target="../embeddings/Microsoft_Excel_Worksheet34.xlsx"/><Relationship Id="rId2" Type="http://schemas.microsoft.com/office/2011/relationships/chartColorStyle" Target="colors24.xml"/><Relationship Id="rId1" Type="http://schemas.microsoft.com/office/2011/relationships/chartStyle" Target="style24.xml"/></Relationships>
</file>

<file path=ppt/charts/_rels/chart36.xml.rels><?xml version="1.0" encoding="UTF-8" standalone="yes"?>
<Relationships xmlns="http://schemas.openxmlformats.org/package/2006/relationships"><Relationship Id="rId1" Type="http://schemas.openxmlformats.org/officeDocument/2006/relationships/package" Target="../embeddings/Microsoft_Excel_Worksheet35.xlsx"/></Relationships>
</file>

<file path=ppt/charts/_rels/chart37.xml.rels><?xml version="1.0" encoding="UTF-8" standalone="yes"?>
<Relationships xmlns="http://schemas.openxmlformats.org/package/2006/relationships"><Relationship Id="rId1" Type="http://schemas.openxmlformats.org/officeDocument/2006/relationships/package" Target="../embeddings/Microsoft_Excel_Worksheet36.xlsx"/></Relationships>
</file>

<file path=ppt/charts/_rels/chart38.xml.rels><?xml version="1.0" encoding="UTF-8" standalone="yes"?>
<Relationships xmlns="http://schemas.openxmlformats.org/package/2006/relationships"><Relationship Id="rId3" Type="http://schemas.openxmlformats.org/officeDocument/2006/relationships/package" Target="../embeddings/Microsoft_Excel_Worksheet37.xlsx"/><Relationship Id="rId2" Type="http://schemas.microsoft.com/office/2011/relationships/chartColorStyle" Target="colors25.xml"/><Relationship Id="rId1" Type="http://schemas.microsoft.com/office/2011/relationships/chartStyle" Target="style25.xml"/></Relationships>
</file>

<file path=ppt/charts/_rels/chart39.xml.rels><?xml version="1.0" encoding="UTF-8" standalone="yes"?>
<Relationships xmlns="http://schemas.openxmlformats.org/package/2006/relationships"><Relationship Id="rId3" Type="http://schemas.openxmlformats.org/officeDocument/2006/relationships/package" Target="../embeddings/Microsoft_Excel_Worksheet38.xlsx"/><Relationship Id="rId2" Type="http://schemas.microsoft.com/office/2011/relationships/chartColorStyle" Target="colors26.xml"/><Relationship Id="rId1" Type="http://schemas.microsoft.com/office/2011/relationships/chartStyle" Target="style26.xml"/></Relationships>
</file>

<file path=ppt/charts/_rels/chart40.xml.rels><?xml version="1.0" encoding="UTF-8" standalone="yes"?>
<Relationships xmlns="http://schemas.openxmlformats.org/package/2006/relationships"><Relationship Id="rId2" Type="http://schemas.openxmlformats.org/officeDocument/2006/relationships/package" Target="../embeddings/Microsoft_Excel_Worksheet39.xlsx"/><Relationship Id="rId1" Type="http://schemas.openxmlformats.org/officeDocument/2006/relationships/themeOverride" Target="../theme/themeOverride1.xml"/></Relationships>
</file>

<file path=ppt/charts/_rels/chart41.xml.rels><?xml version="1.0" encoding="UTF-8" standalone="yes"?>
<Relationships xmlns="http://schemas.openxmlformats.org/package/2006/relationships"><Relationship Id="rId2" Type="http://schemas.openxmlformats.org/officeDocument/2006/relationships/package" Target="../embeddings/Microsoft_Excel_Worksheet40.xlsx"/><Relationship Id="rId1" Type="http://schemas.openxmlformats.org/officeDocument/2006/relationships/themeOverride" Target="../theme/themeOverride2.xml"/></Relationships>
</file>

<file path=ppt/charts/_rels/chart42.xml.rels><?xml version="1.0" encoding="UTF-8" standalone="yes"?>
<Relationships xmlns="http://schemas.openxmlformats.org/package/2006/relationships"><Relationship Id="rId1" Type="http://schemas.openxmlformats.org/officeDocument/2006/relationships/package" Target="../embeddings/Microsoft_Excel_Worksheet41.xlsx"/></Relationships>
</file>

<file path=ppt/charts/_rels/chart43.xml.rels><?xml version="1.0" encoding="UTF-8" standalone="yes"?>
<Relationships xmlns="http://schemas.openxmlformats.org/package/2006/relationships"><Relationship Id="rId1" Type="http://schemas.openxmlformats.org/officeDocument/2006/relationships/package" Target="../embeddings/Microsoft_Excel_Worksheet42.xlsx"/></Relationships>
</file>

<file path=ppt/charts/_rels/chart44.xml.rels><?xml version="1.0" encoding="UTF-8" standalone="yes"?>
<Relationships xmlns="http://schemas.openxmlformats.org/package/2006/relationships"><Relationship Id="rId1" Type="http://schemas.openxmlformats.org/officeDocument/2006/relationships/package" Target="../embeddings/Microsoft_Excel_Worksheet43.xlsx"/></Relationships>
</file>

<file path=ppt/charts/_rels/chart45.xml.rels><?xml version="1.0" encoding="UTF-8" standalone="yes"?>
<Relationships xmlns="http://schemas.openxmlformats.org/package/2006/relationships"><Relationship Id="rId1" Type="http://schemas.openxmlformats.org/officeDocument/2006/relationships/package" Target="../embeddings/Microsoft_Excel_Worksheet44.xlsx"/></Relationships>
</file>

<file path=ppt/charts/_rels/chart46.xml.rels><?xml version="1.0" encoding="UTF-8" standalone="yes"?>
<Relationships xmlns="http://schemas.openxmlformats.org/package/2006/relationships"><Relationship Id="rId1" Type="http://schemas.openxmlformats.org/officeDocument/2006/relationships/package" Target="../embeddings/Microsoft_Excel_Worksheet45.xlsx"/></Relationships>
</file>

<file path=ppt/charts/_rels/chart47.xml.rels><?xml version="1.0" encoding="UTF-8" standalone="yes"?>
<Relationships xmlns="http://schemas.openxmlformats.org/package/2006/relationships"><Relationship Id="rId1" Type="http://schemas.openxmlformats.org/officeDocument/2006/relationships/package" Target="../embeddings/Microsoft_Excel_Worksheet46.xlsx"/></Relationships>
</file>

<file path=ppt/charts/_rels/chart48.xml.rels><?xml version="1.0" encoding="UTF-8" standalone="yes"?>
<Relationships xmlns="http://schemas.openxmlformats.org/package/2006/relationships"><Relationship Id="rId1" Type="http://schemas.openxmlformats.org/officeDocument/2006/relationships/package" Target="../embeddings/Microsoft_Excel_Worksheet47.xlsx"/></Relationships>
</file>

<file path=ppt/charts/_rels/chart49.xml.rels><?xml version="1.0" encoding="UTF-8" standalone="yes"?>
<Relationships xmlns="http://schemas.openxmlformats.org/package/2006/relationships"><Relationship Id="rId1" Type="http://schemas.openxmlformats.org/officeDocument/2006/relationships/package" Target="../embeddings/Microsoft_Excel_Worksheet48.xlsx"/></Relationships>
</file>

<file path=ppt/charts/_rels/chart50.xml.rels><?xml version="1.0" encoding="UTF-8" standalone="yes"?>
<Relationships xmlns="http://schemas.openxmlformats.org/package/2006/relationships"><Relationship Id="rId1" Type="http://schemas.openxmlformats.org/officeDocument/2006/relationships/package" Target="../embeddings/Microsoft_Excel_Worksheet49.xlsx"/></Relationships>
</file>

<file path=ppt/charts/_rels/chart51.xml.rels><?xml version="1.0" encoding="UTF-8" standalone="yes"?>
<Relationships xmlns="http://schemas.openxmlformats.org/package/2006/relationships"><Relationship Id="rId3" Type="http://schemas.openxmlformats.org/officeDocument/2006/relationships/package" Target="../embeddings/Microsoft_Excel_Worksheet50.xlsx"/><Relationship Id="rId2" Type="http://schemas.microsoft.com/office/2011/relationships/chartColorStyle" Target="colors27.xml"/><Relationship Id="rId1" Type="http://schemas.microsoft.com/office/2011/relationships/chartStyle" Target="style27.xml"/></Relationships>
</file>

<file path=ppt/charts/_rels/chart52.xml.rels><?xml version="1.0" encoding="UTF-8" standalone="yes"?>
<Relationships xmlns="http://schemas.openxmlformats.org/package/2006/relationships"><Relationship Id="rId1" Type="http://schemas.openxmlformats.org/officeDocument/2006/relationships/package" Target="../embeddings/Microsoft_Excel_Worksheet51.xlsx"/></Relationships>
</file>

<file path=ppt/charts/_rels/chart53.xml.rels><?xml version="1.0" encoding="UTF-8" standalone="yes"?>
<Relationships xmlns="http://schemas.openxmlformats.org/package/2006/relationships"><Relationship Id="rId2" Type="http://schemas.openxmlformats.org/officeDocument/2006/relationships/package" Target="../embeddings/Microsoft_Excel_Worksheet52.xlsx"/><Relationship Id="rId1" Type="http://schemas.openxmlformats.org/officeDocument/2006/relationships/themeOverride" Target="../theme/themeOverride3.xml"/></Relationships>
</file>

<file path=ppt/charts/_rels/chart54.xml.rels><?xml version="1.0" encoding="UTF-8" standalone="yes"?>
<Relationships xmlns="http://schemas.openxmlformats.org/package/2006/relationships"><Relationship Id="rId1" Type="http://schemas.openxmlformats.org/officeDocument/2006/relationships/package" Target="../embeddings/Microsoft_Excel_Worksheet53.xlsx"/></Relationships>
</file>

<file path=ppt/charts/_rels/chart55.xml.rels><?xml version="1.0" encoding="UTF-8" standalone="yes"?>
<Relationships xmlns="http://schemas.openxmlformats.org/package/2006/relationships"><Relationship Id="rId1" Type="http://schemas.openxmlformats.org/officeDocument/2006/relationships/package" Target="../embeddings/Microsoft_Excel_Worksheet54.xlsx"/></Relationships>
</file>

<file path=ppt/charts/_rels/chart56.xml.rels><?xml version="1.0" encoding="UTF-8" standalone="yes"?>
<Relationships xmlns="http://schemas.openxmlformats.org/package/2006/relationships"><Relationship Id="rId2" Type="http://schemas.openxmlformats.org/officeDocument/2006/relationships/package" Target="../embeddings/Microsoft_Excel_Worksheet55.xlsx"/><Relationship Id="rId1" Type="http://schemas.openxmlformats.org/officeDocument/2006/relationships/themeOverride" Target="../theme/themeOverride4.xml"/></Relationships>
</file>

<file path=ppt/charts/_rels/chart57.xml.rels><?xml version="1.0" encoding="UTF-8" standalone="yes"?>
<Relationships xmlns="http://schemas.openxmlformats.org/package/2006/relationships"><Relationship Id="rId1" Type="http://schemas.openxmlformats.org/officeDocument/2006/relationships/package" Target="../embeddings/Microsoft_Excel_Worksheet56.xlsx"/></Relationships>
</file>

<file path=ppt/charts/_rels/chart58.xml.rels><?xml version="1.0" encoding="UTF-8" standalone="yes"?>
<Relationships xmlns="http://schemas.openxmlformats.org/package/2006/relationships"><Relationship Id="rId1" Type="http://schemas.openxmlformats.org/officeDocument/2006/relationships/package" Target="../embeddings/Microsoft_Excel_Worksheet57.xlsx"/></Relationships>
</file>

<file path=ppt/charts/_rels/chart59.xml.rels><?xml version="1.0" encoding="UTF-8" standalone="yes"?>
<Relationships xmlns="http://schemas.openxmlformats.org/package/2006/relationships"><Relationship Id="rId1" Type="http://schemas.openxmlformats.org/officeDocument/2006/relationships/package" Target="../embeddings/Microsoft_Excel_Worksheet58.xlsx"/></Relationships>
</file>

<file path=ppt/charts/_rels/chart60.xml.rels><?xml version="1.0" encoding="UTF-8" standalone="yes"?>
<Relationships xmlns="http://schemas.openxmlformats.org/package/2006/relationships"><Relationship Id="rId2" Type="http://schemas.openxmlformats.org/officeDocument/2006/relationships/package" Target="../embeddings/Microsoft_Excel_Worksheet59.xlsx"/><Relationship Id="rId1" Type="http://schemas.openxmlformats.org/officeDocument/2006/relationships/themeOverride" Target="../theme/themeOverride5.xml"/></Relationships>
</file>

<file path=ppt/charts/_rels/chart61.xml.rels><?xml version="1.0" encoding="UTF-8" standalone="yes"?>
<Relationships xmlns="http://schemas.openxmlformats.org/package/2006/relationships"><Relationship Id="rId2" Type="http://schemas.openxmlformats.org/officeDocument/2006/relationships/package" Target="../embeddings/Microsoft_Excel_Worksheet60.xlsx"/><Relationship Id="rId1" Type="http://schemas.openxmlformats.org/officeDocument/2006/relationships/themeOverride" Target="../theme/themeOverride6.xml"/></Relationships>
</file>

<file path=ppt/charts/_rels/chart62.xml.rels><?xml version="1.0" encoding="UTF-8" standalone="yes"?>
<Relationships xmlns="http://schemas.openxmlformats.org/package/2006/relationships"><Relationship Id="rId1" Type="http://schemas.openxmlformats.org/officeDocument/2006/relationships/package" Target="../embeddings/Microsoft_Excel_Worksheet61.xlsx"/></Relationships>
</file>

<file path=ppt/charts/_rels/chart63.xml.rels><?xml version="1.0" encoding="UTF-8" standalone="yes"?>
<Relationships xmlns="http://schemas.openxmlformats.org/package/2006/relationships"><Relationship Id="rId2" Type="http://schemas.openxmlformats.org/officeDocument/2006/relationships/package" Target="../embeddings/Microsoft_Excel_Worksheet62.xlsx"/><Relationship Id="rId1" Type="http://schemas.openxmlformats.org/officeDocument/2006/relationships/themeOverride" Target="../theme/themeOverride7.xml"/></Relationships>
</file>

<file path=ppt/charts/_rels/chart64.xml.rels><?xml version="1.0" encoding="UTF-8" standalone="yes"?>
<Relationships xmlns="http://schemas.openxmlformats.org/package/2006/relationships"><Relationship Id="rId2" Type="http://schemas.openxmlformats.org/officeDocument/2006/relationships/package" Target="../embeddings/Microsoft_Excel_Worksheet63.xlsx"/><Relationship Id="rId1" Type="http://schemas.openxmlformats.org/officeDocument/2006/relationships/themeOverride" Target="../theme/themeOverride8.xml"/></Relationships>
</file>

<file path=ppt/charts/_rels/chart65.xml.rels><?xml version="1.0" encoding="UTF-8" standalone="yes"?>
<Relationships xmlns="http://schemas.openxmlformats.org/package/2006/relationships"><Relationship Id="rId3" Type="http://schemas.openxmlformats.org/officeDocument/2006/relationships/package" Target="../embeddings/Microsoft_Excel_Worksheet64.xlsx"/><Relationship Id="rId2" Type="http://schemas.microsoft.com/office/2011/relationships/chartColorStyle" Target="colors28.xml"/><Relationship Id="rId1" Type="http://schemas.microsoft.com/office/2011/relationships/chartStyle" Target="style28.xml"/></Relationships>
</file>

<file path=ppt/charts/_rels/chart66.xml.rels><?xml version="1.0" encoding="UTF-8" standalone="yes"?>
<Relationships xmlns="http://schemas.openxmlformats.org/package/2006/relationships"><Relationship Id="rId2" Type="http://schemas.openxmlformats.org/officeDocument/2006/relationships/package" Target="../embeddings/Microsoft_Excel_Worksheet65.xlsx"/><Relationship Id="rId1" Type="http://schemas.openxmlformats.org/officeDocument/2006/relationships/themeOverride" Target="../theme/themeOverride9.xml"/></Relationships>
</file>

<file path=ppt/charts/_rels/chart67.xml.rels><?xml version="1.0" encoding="UTF-8" standalone="yes"?>
<Relationships xmlns="http://schemas.openxmlformats.org/package/2006/relationships"><Relationship Id="rId2" Type="http://schemas.openxmlformats.org/officeDocument/2006/relationships/package" Target="../embeddings/Microsoft_Excel_Worksheet66.xlsx"/><Relationship Id="rId1" Type="http://schemas.openxmlformats.org/officeDocument/2006/relationships/themeOverride" Target="../theme/themeOverride10.xml"/></Relationships>
</file>

<file path=ppt/charts/_rels/chart68.xml.rels><?xml version="1.0" encoding="UTF-8" standalone="yes"?>
<Relationships xmlns="http://schemas.openxmlformats.org/package/2006/relationships"><Relationship Id="rId1" Type="http://schemas.openxmlformats.org/officeDocument/2006/relationships/package" Target="../embeddings/Microsoft_Excel_Worksheet67.xlsx"/></Relationships>
</file>

<file path=ppt/charts/_rels/chart69.xml.rels><?xml version="1.0" encoding="UTF-8" standalone="yes"?>
<Relationships xmlns="http://schemas.openxmlformats.org/package/2006/relationships"><Relationship Id="rId1" Type="http://schemas.openxmlformats.org/officeDocument/2006/relationships/package" Target="../embeddings/Microsoft_Excel_Worksheet68.xlsx"/></Relationships>
</file>

<file path=ppt/charts/_rels/chart70.xml.rels><?xml version="1.0" encoding="UTF-8" standalone="yes"?>
<Relationships xmlns="http://schemas.openxmlformats.org/package/2006/relationships"><Relationship Id="rId1" Type="http://schemas.openxmlformats.org/officeDocument/2006/relationships/package" Target="../embeddings/Microsoft_Excel_Worksheet69.xlsx"/></Relationships>
</file>

<file path=ppt/charts/_rels/chart71.xml.rels><?xml version="1.0" encoding="UTF-8" standalone="yes"?>
<Relationships xmlns="http://schemas.openxmlformats.org/package/2006/relationships"><Relationship Id="rId1" Type="http://schemas.openxmlformats.org/officeDocument/2006/relationships/package" Target="../embeddings/Microsoft_Excel_Worksheet70.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9885389718566573E-2"/>
          <c:y val="4.3281067273958265E-2"/>
          <c:w val="0.89773239093608348"/>
          <c:h val="0.84021001803542239"/>
        </c:manualLayout>
      </c:layout>
      <c:barChart>
        <c:barDir val="col"/>
        <c:grouping val="stacked"/>
        <c:varyColors val="0"/>
        <c:ser>
          <c:idx val="0"/>
          <c:order val="0"/>
          <c:tx>
            <c:strRef>
              <c:f>Sheet1!$A$2</c:f>
              <c:strCache>
                <c:ptCount val="1"/>
                <c:pt idx="0">
                  <c:v>1</c:v>
                </c:pt>
              </c:strCache>
            </c:strRef>
          </c:tx>
          <c:spPr>
            <a:solidFill>
              <a:srgbClr val="00B050"/>
            </a:solidFill>
            <a:ln w="31750">
              <a:noFill/>
            </a:ln>
          </c:spPr>
          <c:invertIfNegative val="0"/>
          <c:dLbls>
            <c:spPr>
              <a:noFill/>
              <a:ln>
                <a:noFill/>
              </a:ln>
              <a:effectLst/>
            </c:spPr>
            <c:txPr>
              <a:bodyPr/>
              <a:lstStyle/>
              <a:p>
                <a:pPr>
                  <a:defRPr sz="1400" b="1">
                    <a:solidFill>
                      <a:schemeClr val="bg1"/>
                    </a:solidFill>
                    <a:latin typeface="Segoe UI" panose="020B0502040204020203" pitchFamily="34" charset="0"/>
                    <a:cs typeface="Segoe UI" panose="020B0502040204020203" pitchFamily="34" charset="0"/>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Sheet1!$B$1:$E$1</c:f>
              <c:strCache>
                <c:ptCount val="4"/>
                <c:pt idx="0">
                  <c:v>מגזר יהודי</c:v>
                </c:pt>
                <c:pt idx="1">
                  <c:v>מגזר ערבי</c:v>
                </c:pt>
                <c:pt idx="2">
                  <c:v>מגזר יהודי</c:v>
                </c:pt>
                <c:pt idx="3">
                  <c:v>מגזר ערבי</c:v>
                </c:pt>
              </c:strCache>
            </c:strRef>
          </c:cat>
          <c:val>
            <c:numRef>
              <c:f>Sheet1!$B$2:$E$2</c:f>
              <c:numCache>
                <c:formatCode>0%</c:formatCode>
                <c:ptCount val="4"/>
                <c:pt idx="0">
                  <c:v>0.8192090395480226</c:v>
                </c:pt>
                <c:pt idx="1">
                  <c:v>0.76744186046511631</c:v>
                </c:pt>
                <c:pt idx="2">
                  <c:v>0.77018633540372672</c:v>
                </c:pt>
                <c:pt idx="3">
                  <c:v>0.75308641975308643</c:v>
                </c:pt>
              </c:numCache>
            </c:numRef>
          </c:val>
          <c:extLst>
            <c:ext xmlns:c16="http://schemas.microsoft.com/office/drawing/2014/chart" uri="{C3380CC4-5D6E-409C-BE32-E72D297353CC}">
              <c16:uniqueId val="{00000000-0DE3-413B-BCFA-E0921DF056CA}"/>
            </c:ext>
          </c:extLst>
        </c:ser>
        <c:ser>
          <c:idx val="1"/>
          <c:order val="1"/>
          <c:tx>
            <c:strRef>
              <c:f>Sheet1!$A$3</c:f>
              <c:strCache>
                <c:ptCount val="1"/>
                <c:pt idx="0">
                  <c:v>2</c:v>
                </c:pt>
              </c:strCache>
            </c:strRef>
          </c:tx>
          <c:spPr>
            <a:solidFill>
              <a:srgbClr val="FFB9C0"/>
            </a:solidFill>
          </c:spPr>
          <c:invertIfNegative val="0"/>
          <c:dLbls>
            <c:spPr>
              <a:noFill/>
              <a:ln>
                <a:noFill/>
              </a:ln>
              <a:effectLst/>
            </c:spPr>
            <c:txPr>
              <a:bodyPr anchorCtr="0"/>
              <a:lstStyle/>
              <a:p>
                <a:pPr algn="ctr">
                  <a:defRPr lang="he-IL" sz="1400" b="1" i="0" u="none" strike="noStrike" kern="1200" baseline="0">
                    <a:solidFill>
                      <a:schemeClr val="bg1"/>
                    </a:solidFill>
                    <a:latin typeface="Segoe UI" panose="020B0502040204020203" pitchFamily="34" charset="0"/>
                    <a:ea typeface="Arial"/>
                    <a:cs typeface="Segoe UI" panose="020B0502040204020203" pitchFamily="34" charset="0"/>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Sheet1!$B$1:$E$1</c:f>
              <c:strCache>
                <c:ptCount val="4"/>
                <c:pt idx="0">
                  <c:v>מגזר יהודי</c:v>
                </c:pt>
                <c:pt idx="1">
                  <c:v>מגזר ערבי</c:v>
                </c:pt>
                <c:pt idx="2">
                  <c:v>מגזר יהודי</c:v>
                </c:pt>
                <c:pt idx="3">
                  <c:v>מגזר ערבי</c:v>
                </c:pt>
              </c:strCache>
            </c:strRef>
          </c:cat>
          <c:val>
            <c:numRef>
              <c:f>Sheet1!$B$3:$E$3</c:f>
              <c:numCache>
                <c:formatCode>0%</c:formatCode>
                <c:ptCount val="4"/>
                <c:pt idx="0">
                  <c:v>0.12994350282485875</c:v>
                </c:pt>
                <c:pt idx="1">
                  <c:v>0.13953488372093023</c:v>
                </c:pt>
                <c:pt idx="2">
                  <c:v>0.12422360248447205</c:v>
                </c:pt>
                <c:pt idx="3">
                  <c:v>9.8765432098765427E-2</c:v>
                </c:pt>
              </c:numCache>
            </c:numRef>
          </c:val>
          <c:extLst>
            <c:ext xmlns:c16="http://schemas.microsoft.com/office/drawing/2014/chart" uri="{C3380CC4-5D6E-409C-BE32-E72D297353CC}">
              <c16:uniqueId val="{00000001-0DE3-413B-BCFA-E0921DF056CA}"/>
            </c:ext>
          </c:extLst>
        </c:ser>
        <c:ser>
          <c:idx val="2"/>
          <c:order val="2"/>
          <c:tx>
            <c:strRef>
              <c:f>Sheet1!$A$4</c:f>
              <c:strCache>
                <c:ptCount val="1"/>
                <c:pt idx="0">
                  <c:v>+3</c:v>
                </c:pt>
              </c:strCache>
            </c:strRef>
          </c:tx>
          <c:spPr>
            <a:solidFill>
              <a:srgbClr val="FF6565"/>
            </a:solidFill>
          </c:spPr>
          <c:invertIfNegative val="0"/>
          <c:dLbls>
            <c:spPr>
              <a:noFill/>
              <a:ln>
                <a:noFill/>
              </a:ln>
              <a:effectLst/>
            </c:spPr>
            <c:txPr>
              <a:bodyPr wrap="square" lIns="38100" tIns="19050" rIns="38100" bIns="19050" anchor="ctr" anchorCtr="0">
                <a:spAutoFit/>
              </a:bodyPr>
              <a:lstStyle/>
              <a:p>
                <a:pPr algn="ctr">
                  <a:defRPr lang="he-IL" sz="1400" b="1" i="0" u="none" strike="noStrike" kern="1200" baseline="0">
                    <a:solidFill>
                      <a:schemeClr val="bg1"/>
                    </a:solidFill>
                    <a:latin typeface="Segoe UI" panose="020B0502040204020203" pitchFamily="34" charset="0"/>
                    <a:ea typeface="Arial"/>
                    <a:cs typeface="Segoe UI" panose="020B0502040204020203" pitchFamily="34" charset="0"/>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Sheet1!$B$1:$E$1</c:f>
              <c:strCache>
                <c:ptCount val="4"/>
                <c:pt idx="0">
                  <c:v>מגזר יהודי</c:v>
                </c:pt>
                <c:pt idx="1">
                  <c:v>מגזר ערבי</c:v>
                </c:pt>
                <c:pt idx="2">
                  <c:v>מגזר יהודי</c:v>
                </c:pt>
                <c:pt idx="3">
                  <c:v>מגזר ערבי</c:v>
                </c:pt>
              </c:strCache>
            </c:strRef>
          </c:cat>
          <c:val>
            <c:numRef>
              <c:f>Sheet1!$B$4:$E$4</c:f>
              <c:numCache>
                <c:formatCode>0%</c:formatCode>
                <c:ptCount val="4"/>
                <c:pt idx="0">
                  <c:v>5.0847457627118647E-2</c:v>
                </c:pt>
                <c:pt idx="1">
                  <c:v>9.3023255813953487E-2</c:v>
                </c:pt>
                <c:pt idx="2">
                  <c:v>0.10559006211180123</c:v>
                </c:pt>
                <c:pt idx="3">
                  <c:v>0.14814814814814814</c:v>
                </c:pt>
              </c:numCache>
            </c:numRef>
          </c:val>
          <c:extLst>
            <c:ext xmlns:c16="http://schemas.microsoft.com/office/drawing/2014/chart" uri="{C3380CC4-5D6E-409C-BE32-E72D297353CC}">
              <c16:uniqueId val="{00000002-0DE3-413B-BCFA-E0921DF056CA}"/>
            </c:ext>
          </c:extLst>
        </c:ser>
        <c:dLbls>
          <c:showLegendKey val="0"/>
          <c:showVal val="0"/>
          <c:showCatName val="0"/>
          <c:showSerName val="0"/>
          <c:showPercent val="0"/>
          <c:showBubbleSize val="0"/>
        </c:dLbls>
        <c:gapWidth val="80"/>
        <c:overlap val="100"/>
        <c:axId val="184526720"/>
        <c:axId val="184528256"/>
      </c:barChart>
      <c:catAx>
        <c:axId val="184526720"/>
        <c:scaling>
          <c:orientation val="minMax"/>
        </c:scaling>
        <c:delete val="0"/>
        <c:axPos val="b"/>
        <c:numFmt formatCode="General" sourceLinked="1"/>
        <c:majorTickMark val="out"/>
        <c:minorTickMark val="none"/>
        <c:tickLblPos val="low"/>
        <c:spPr>
          <a:ln w="38100">
            <a:solidFill>
              <a:schemeClr val="bg1"/>
            </a:solidFill>
            <a:prstDash val="solid"/>
          </a:ln>
        </c:spPr>
        <c:txPr>
          <a:bodyPr rot="0" vert="horz"/>
          <a:lstStyle/>
          <a:p>
            <a:pPr>
              <a:defRPr sz="1200" b="1">
                <a:solidFill>
                  <a:schemeClr val="tx1">
                    <a:lumMod val="75000"/>
                    <a:lumOff val="25000"/>
                  </a:schemeClr>
                </a:solidFill>
              </a:defRPr>
            </a:pPr>
            <a:endParaRPr lang="he-IL"/>
          </a:p>
        </c:txPr>
        <c:crossAx val="184528256"/>
        <c:crosses val="autoZero"/>
        <c:auto val="1"/>
        <c:lblAlgn val="ctr"/>
        <c:lblOffset val="100"/>
        <c:noMultiLvlLbl val="0"/>
      </c:catAx>
      <c:valAx>
        <c:axId val="184528256"/>
        <c:scaling>
          <c:orientation val="minMax"/>
          <c:max val="1.1000000000000001"/>
          <c:min val="0"/>
        </c:scaling>
        <c:delete val="1"/>
        <c:axPos val="l"/>
        <c:numFmt formatCode="0%" sourceLinked="1"/>
        <c:majorTickMark val="out"/>
        <c:minorTickMark val="none"/>
        <c:tickLblPos val="nextTo"/>
        <c:crossAx val="184526720"/>
        <c:crosses val="autoZero"/>
        <c:crossBetween val="between"/>
      </c:valAx>
      <c:spPr>
        <a:noFill/>
        <a:ln w="25965">
          <a:noFill/>
        </a:ln>
      </c:spPr>
    </c:plotArea>
    <c:legend>
      <c:legendPos val="r"/>
      <c:layout>
        <c:manualLayout>
          <c:xMode val="edge"/>
          <c:yMode val="edge"/>
          <c:x val="0.90397765713816614"/>
          <c:y val="0.25162251407806646"/>
          <c:w val="6.7533088609959907E-2"/>
          <c:h val="0.61039969553477547"/>
        </c:manualLayout>
      </c:layout>
      <c:overlay val="0"/>
      <c:txPr>
        <a:bodyPr/>
        <a:lstStyle/>
        <a:p>
          <a:pPr rtl="0">
            <a:defRPr sz="1400"/>
          </a:pPr>
          <a:endParaRPr lang="he-IL"/>
        </a:p>
      </c:txPr>
    </c:legend>
    <c:plotVisOnly val="1"/>
    <c:dispBlanksAs val="gap"/>
    <c:showDLblsOverMax val="0"/>
  </c:chart>
  <c:spPr>
    <a:noFill/>
    <a:ln>
      <a:noFill/>
    </a:ln>
  </c:spPr>
  <c:txPr>
    <a:bodyPr/>
    <a:lstStyle/>
    <a:p>
      <a:pPr>
        <a:defRPr sz="1100" b="0" i="0" u="none" strike="noStrike" baseline="0">
          <a:solidFill>
            <a:schemeClr val="tx1"/>
          </a:solidFill>
          <a:latin typeface="Segoe UI" panose="020B0502040204020203" pitchFamily="34" charset="0"/>
          <a:ea typeface="Arial"/>
          <a:cs typeface="Segoe UI" panose="020B0502040204020203" pitchFamily="34" charset="0"/>
        </a:defRPr>
      </a:pPr>
      <a:endParaRPr lang="he-IL"/>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0511666666666671E-2"/>
          <c:y val="0.22937616959251642"/>
          <c:w val="0.8614492592592593"/>
          <c:h val="0.44964771376922902"/>
        </c:manualLayout>
      </c:layout>
      <c:barChart>
        <c:barDir val="col"/>
        <c:grouping val="clustered"/>
        <c:varyColors val="0"/>
        <c:ser>
          <c:idx val="0"/>
          <c:order val="0"/>
          <c:tx>
            <c:strRef>
              <c:f>Sheet1!$D$1</c:f>
              <c:strCache>
                <c:ptCount val="1"/>
                <c:pt idx="0">
                  <c:v>18-29</c:v>
                </c:pt>
              </c:strCache>
            </c:strRef>
          </c:tx>
          <c:spPr>
            <a:solidFill>
              <a:srgbClr val="00B0F0"/>
            </a:solidFill>
            <a:ln>
              <a:noFill/>
            </a:ln>
            <a:effectLst/>
          </c:spPr>
          <c:invertIfNegative val="0"/>
          <c:dLbls>
            <c:spPr>
              <a:noFill/>
              <a:ln>
                <a:noFill/>
              </a:ln>
              <a:effectLst/>
            </c:spPr>
            <c:txPr>
              <a:bodyPr rot="-5400000" spcFirstLastPara="1" vertOverflow="ellipsis" wrap="square" lIns="38100" tIns="19050" rIns="38100" bIns="19050" anchor="ctr" anchorCtr="1">
                <a:spAutoFit/>
              </a:bodyPr>
              <a:lstStyle/>
              <a:p>
                <a:pPr>
                  <a:defRPr sz="1200" b="1" i="0" u="none" strike="noStrike" kern="1200" baseline="0">
                    <a:solidFill>
                      <a:srgbClr val="00B0F0"/>
                    </a:solidFill>
                    <a:latin typeface="Segoe UI" panose="020B0502040204020203" pitchFamily="34" charset="0"/>
                    <a:ea typeface="+mn-ea"/>
                    <a:cs typeface="Segoe UI" panose="020B0502040204020203" pitchFamily="34" charset="0"/>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לא ביקשו להישפט
מגזר יהודי</c:v>
                </c:pt>
                <c:pt idx="1">
                  <c:v>לא ביקשו להישפט
מגזר ערבי</c:v>
                </c:pt>
                <c:pt idx="2">
                  <c:v>ביקשו להישפט
מגזר יהודי</c:v>
                </c:pt>
                <c:pt idx="3">
                  <c:v>ביקשו להישפט
מגזר ערבי</c:v>
                </c:pt>
              </c:strCache>
            </c:strRef>
          </c:cat>
          <c:val>
            <c:numRef>
              <c:f>Sheet1!$D$2:$D$5</c:f>
              <c:numCache>
                <c:formatCode>0.0</c:formatCode>
                <c:ptCount val="4"/>
                <c:pt idx="0">
                  <c:v>1.1764705882352946</c:v>
                </c:pt>
                <c:pt idx="1">
                  <c:v>1.1764705882352946</c:v>
                </c:pt>
                <c:pt idx="2">
                  <c:v>1.3333333333333335</c:v>
                </c:pt>
                <c:pt idx="3">
                  <c:v>1.3333333333333335</c:v>
                </c:pt>
              </c:numCache>
            </c:numRef>
          </c:val>
          <c:extLst>
            <c:ext xmlns:c16="http://schemas.microsoft.com/office/drawing/2014/chart" uri="{C3380CC4-5D6E-409C-BE32-E72D297353CC}">
              <c16:uniqueId val="{00000000-926D-40DB-AEC0-A457C3D3AA40}"/>
            </c:ext>
          </c:extLst>
        </c:ser>
        <c:ser>
          <c:idx val="1"/>
          <c:order val="1"/>
          <c:tx>
            <c:strRef>
              <c:f>Sheet1!$E$1</c:f>
              <c:strCache>
                <c:ptCount val="1"/>
                <c:pt idx="0">
                  <c:v>30-49</c:v>
                </c:pt>
              </c:strCache>
            </c:strRef>
          </c:tx>
          <c:spPr>
            <a:solidFill>
              <a:srgbClr val="0070C0"/>
            </a:solidFill>
            <a:ln>
              <a:noFill/>
            </a:ln>
            <a:effectLst/>
          </c:spPr>
          <c:invertIfNegative val="0"/>
          <c:dLbls>
            <c:spPr>
              <a:noFill/>
              <a:ln>
                <a:noFill/>
              </a:ln>
              <a:effectLst/>
            </c:spPr>
            <c:txPr>
              <a:bodyPr rot="-5400000" spcFirstLastPara="1" vertOverflow="ellipsis" wrap="square" lIns="38100" tIns="19050" rIns="38100" bIns="19050" anchor="ctr" anchorCtr="1">
                <a:spAutoFit/>
              </a:bodyPr>
              <a:lstStyle/>
              <a:p>
                <a:pPr>
                  <a:defRPr sz="1200" b="1" i="0" u="none" strike="noStrike" kern="1200" baseline="0">
                    <a:solidFill>
                      <a:srgbClr val="0070C0"/>
                    </a:solidFill>
                    <a:latin typeface="Segoe UI" panose="020B0502040204020203" pitchFamily="34" charset="0"/>
                    <a:ea typeface="+mn-ea"/>
                    <a:cs typeface="Segoe UI" panose="020B0502040204020203" pitchFamily="34" charset="0"/>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לא ביקשו להישפט
מגזר יהודי</c:v>
                </c:pt>
                <c:pt idx="1">
                  <c:v>לא ביקשו להישפט
מגזר ערבי</c:v>
                </c:pt>
                <c:pt idx="2">
                  <c:v>ביקשו להישפט
מגזר יהודי</c:v>
                </c:pt>
                <c:pt idx="3">
                  <c:v>ביקשו להישפט
מגזר ערבי</c:v>
                </c:pt>
              </c:strCache>
            </c:strRef>
          </c:cat>
          <c:val>
            <c:numRef>
              <c:f>Sheet1!$E$2:$E$5</c:f>
              <c:numCache>
                <c:formatCode>0.0</c:formatCode>
                <c:ptCount val="4"/>
                <c:pt idx="0">
                  <c:v>1.3333333333333335</c:v>
                </c:pt>
                <c:pt idx="1">
                  <c:v>1.3333333333333335</c:v>
                </c:pt>
                <c:pt idx="2">
                  <c:v>1.379746835443038</c:v>
                </c:pt>
                <c:pt idx="3">
                  <c:v>1.379746835443038</c:v>
                </c:pt>
              </c:numCache>
            </c:numRef>
          </c:val>
          <c:extLst>
            <c:ext xmlns:c16="http://schemas.microsoft.com/office/drawing/2014/chart" uri="{C3380CC4-5D6E-409C-BE32-E72D297353CC}">
              <c16:uniqueId val="{00000001-926D-40DB-AEC0-A457C3D3AA40}"/>
            </c:ext>
          </c:extLst>
        </c:ser>
        <c:ser>
          <c:idx val="2"/>
          <c:order val="2"/>
          <c:tx>
            <c:strRef>
              <c:f>Sheet1!$F$1</c:f>
              <c:strCache>
                <c:ptCount val="1"/>
                <c:pt idx="0">
                  <c:v>50+</c:v>
                </c:pt>
              </c:strCache>
            </c:strRef>
          </c:tx>
          <c:spPr>
            <a:solidFill>
              <a:srgbClr val="002060"/>
            </a:solidFill>
            <a:ln>
              <a:noFill/>
            </a:ln>
            <a:effectLst/>
          </c:spPr>
          <c:invertIfNegative val="0"/>
          <c:dLbls>
            <c:spPr>
              <a:noFill/>
              <a:ln>
                <a:noFill/>
              </a:ln>
              <a:effectLst/>
            </c:spPr>
            <c:txPr>
              <a:bodyPr rot="-5400000" spcFirstLastPara="1" vertOverflow="ellipsis" wrap="square" lIns="38100" tIns="19050" rIns="38100" bIns="19050" anchor="ctr" anchorCtr="1">
                <a:spAutoFit/>
              </a:bodyPr>
              <a:lstStyle/>
              <a:p>
                <a:pPr>
                  <a:defRPr sz="1200" b="1" i="0" u="none" strike="noStrike" kern="1200" baseline="0">
                    <a:solidFill>
                      <a:srgbClr val="002060"/>
                    </a:solidFill>
                    <a:latin typeface="Segoe UI" panose="020B0502040204020203" pitchFamily="34" charset="0"/>
                    <a:ea typeface="+mn-ea"/>
                    <a:cs typeface="Segoe UI" panose="020B0502040204020203" pitchFamily="34" charset="0"/>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לא ביקשו להישפט
מגזר יהודי</c:v>
                </c:pt>
                <c:pt idx="1">
                  <c:v>לא ביקשו להישפט
מגזר ערבי</c:v>
                </c:pt>
                <c:pt idx="2">
                  <c:v>ביקשו להישפט
מגזר יהודי</c:v>
                </c:pt>
                <c:pt idx="3">
                  <c:v>ביקשו להישפט
מגזר ערבי</c:v>
                </c:pt>
              </c:strCache>
            </c:strRef>
          </c:cat>
          <c:val>
            <c:numRef>
              <c:f>Sheet1!$F$2:$F$5</c:f>
              <c:numCache>
                <c:formatCode>0.0</c:formatCode>
                <c:ptCount val="4"/>
                <c:pt idx="0">
                  <c:v>1.2421052631578948</c:v>
                </c:pt>
                <c:pt idx="1">
                  <c:v>1.2421052631578948</c:v>
                </c:pt>
                <c:pt idx="2">
                  <c:v>1.5769230769230769</c:v>
                </c:pt>
                <c:pt idx="3">
                  <c:v>1.5769230769230769</c:v>
                </c:pt>
              </c:numCache>
            </c:numRef>
          </c:val>
          <c:extLst>
            <c:ext xmlns:c16="http://schemas.microsoft.com/office/drawing/2014/chart" uri="{C3380CC4-5D6E-409C-BE32-E72D297353CC}">
              <c16:uniqueId val="{00000002-926D-40DB-AEC0-A457C3D3AA40}"/>
            </c:ext>
          </c:extLst>
        </c:ser>
        <c:dLbls>
          <c:dLblPos val="outEnd"/>
          <c:showLegendKey val="0"/>
          <c:showVal val="1"/>
          <c:showCatName val="0"/>
          <c:showSerName val="0"/>
          <c:showPercent val="0"/>
          <c:showBubbleSize val="0"/>
        </c:dLbls>
        <c:gapWidth val="80"/>
        <c:axId val="149850752"/>
        <c:axId val="149877120"/>
      </c:barChart>
      <c:catAx>
        <c:axId val="149850752"/>
        <c:scaling>
          <c:orientation val="minMax"/>
        </c:scaling>
        <c:delete val="0"/>
        <c:axPos val="b"/>
        <c:numFmt formatCode="General" sourceLinked="1"/>
        <c:majorTickMark val="out"/>
        <c:minorTickMark val="none"/>
        <c:tickLblPos val="nextTo"/>
        <c:spPr>
          <a:noFill/>
          <a:ln w="9525" cap="flat" cmpd="sng" algn="ctr">
            <a:noFill/>
            <a:round/>
          </a:ln>
          <a:effectLst/>
        </c:spPr>
        <c:txPr>
          <a:bodyPr rot="-60000000" spcFirstLastPara="1" vertOverflow="ellipsis" vert="horz" wrap="square" anchor="ctr" anchorCtr="1"/>
          <a:lstStyle/>
          <a:p>
            <a:pPr>
              <a:defRPr sz="1050" b="0" i="0" u="none" strike="noStrike" kern="1200" baseline="0">
                <a:solidFill>
                  <a:schemeClr val="tx1">
                    <a:lumMod val="65000"/>
                    <a:lumOff val="35000"/>
                  </a:schemeClr>
                </a:solidFill>
                <a:latin typeface="Segoe UI" panose="020B0502040204020203" pitchFamily="34" charset="0"/>
                <a:ea typeface="+mn-ea"/>
                <a:cs typeface="Segoe UI" panose="020B0502040204020203" pitchFamily="34" charset="0"/>
              </a:defRPr>
            </a:pPr>
            <a:endParaRPr lang="he-IL"/>
          </a:p>
        </c:txPr>
        <c:crossAx val="149877120"/>
        <c:crosses val="autoZero"/>
        <c:auto val="1"/>
        <c:lblAlgn val="ctr"/>
        <c:lblOffset val="100"/>
        <c:noMultiLvlLbl val="0"/>
      </c:catAx>
      <c:valAx>
        <c:axId val="149877120"/>
        <c:scaling>
          <c:orientation val="minMax"/>
          <c:max val="1.8"/>
          <c:min val="1"/>
        </c:scaling>
        <c:delete val="1"/>
        <c:axPos val="l"/>
        <c:numFmt formatCode="0.0" sourceLinked="1"/>
        <c:majorTickMark val="out"/>
        <c:minorTickMark val="none"/>
        <c:tickLblPos val="nextTo"/>
        <c:crossAx val="149850752"/>
        <c:crosses val="autoZero"/>
        <c:crossBetween val="between"/>
      </c:valAx>
      <c:spPr>
        <a:noFill/>
        <a:ln>
          <a:noFill/>
        </a:ln>
        <a:effectLst/>
      </c:spPr>
    </c:plotArea>
    <c:legend>
      <c:legendPos val="b"/>
      <c:layout>
        <c:manualLayout>
          <c:xMode val="edge"/>
          <c:yMode val="edge"/>
          <c:x val="0.80969618082793149"/>
          <c:y val="0.30413639555758559"/>
          <c:w val="0.1835051353046469"/>
          <c:h val="0.39772171412939783"/>
        </c:manualLayout>
      </c:layout>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Segoe UI" panose="020B0502040204020203" pitchFamily="34" charset="0"/>
              <a:ea typeface="+mn-ea"/>
              <a:cs typeface="Segoe UI" panose="020B0502040204020203" pitchFamily="34" charset="0"/>
            </a:defRPr>
          </a:pPr>
          <a:endParaRPr lang="he-I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latin typeface="Segoe UI" panose="020B0502040204020203" pitchFamily="34" charset="0"/>
          <a:cs typeface="Segoe UI" panose="020B0502040204020203" pitchFamily="34" charset="0"/>
        </a:defRPr>
      </a:pPr>
      <a:endParaRPr lang="he-IL"/>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0511666666666671E-2"/>
          <c:y val="0.22937616959251642"/>
          <c:w val="0.88261592592592597"/>
          <c:h val="0.44964771376922902"/>
        </c:manualLayout>
      </c:layout>
      <c:barChart>
        <c:barDir val="col"/>
        <c:grouping val="clustered"/>
        <c:varyColors val="0"/>
        <c:ser>
          <c:idx val="0"/>
          <c:order val="0"/>
          <c:tx>
            <c:strRef>
              <c:f>Sheet1!$D$1</c:f>
              <c:strCache>
                <c:ptCount val="1"/>
                <c:pt idx="0">
                  <c:v>גבר</c:v>
                </c:pt>
              </c:strCache>
            </c:strRef>
          </c:tx>
          <c:spPr>
            <a:solidFill>
              <a:srgbClr val="00B0F0"/>
            </a:solidFill>
            <a:ln>
              <a:noFill/>
            </a:ln>
            <a:effectLst/>
          </c:spPr>
          <c:invertIfNegative val="0"/>
          <c:dLbls>
            <c:spPr>
              <a:noFill/>
              <a:ln>
                <a:noFill/>
              </a:ln>
              <a:effectLst/>
            </c:spPr>
            <c:txPr>
              <a:bodyPr rot="-5400000" spcFirstLastPara="1" vertOverflow="ellipsis" wrap="square" lIns="38100" tIns="19050" rIns="38100" bIns="19050" anchor="ctr" anchorCtr="1">
                <a:spAutoFit/>
              </a:bodyPr>
              <a:lstStyle/>
              <a:p>
                <a:pPr>
                  <a:defRPr sz="1200" b="1" i="0" u="none" strike="noStrike" kern="1200" baseline="0">
                    <a:solidFill>
                      <a:srgbClr val="00B0F0"/>
                    </a:solidFill>
                    <a:latin typeface="Segoe UI" panose="020B0502040204020203" pitchFamily="34" charset="0"/>
                    <a:ea typeface="+mn-ea"/>
                    <a:cs typeface="Segoe UI" panose="020B0502040204020203" pitchFamily="34" charset="0"/>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לא ביקשו להישפט
מגזר יהודי</c:v>
                </c:pt>
                <c:pt idx="1">
                  <c:v>לא ביקשו להישפט
מגזר ערבי</c:v>
                </c:pt>
                <c:pt idx="2">
                  <c:v>ביקשו להישפט
מגזר יהודי</c:v>
                </c:pt>
                <c:pt idx="3">
                  <c:v>ביקשו להישפט
מגזר ערבי</c:v>
                </c:pt>
              </c:strCache>
            </c:strRef>
          </c:cat>
          <c:val>
            <c:numRef>
              <c:f>Sheet1!$D$2:$D$5</c:f>
              <c:numCache>
                <c:formatCode>0.0</c:formatCode>
                <c:ptCount val="4"/>
                <c:pt idx="0">
                  <c:v>1.2894736842105263</c:v>
                </c:pt>
                <c:pt idx="1">
                  <c:v>1.4594594594594594</c:v>
                </c:pt>
                <c:pt idx="2">
                  <c:v>1.4423076923076932</c:v>
                </c:pt>
                <c:pt idx="3">
                  <c:v>1.6129032258064517</c:v>
                </c:pt>
              </c:numCache>
            </c:numRef>
          </c:val>
          <c:extLst>
            <c:ext xmlns:c16="http://schemas.microsoft.com/office/drawing/2014/chart" uri="{C3380CC4-5D6E-409C-BE32-E72D297353CC}">
              <c16:uniqueId val="{00000000-CF89-4BA2-AFE4-13BBDBABB301}"/>
            </c:ext>
          </c:extLst>
        </c:ser>
        <c:ser>
          <c:idx val="1"/>
          <c:order val="1"/>
          <c:tx>
            <c:strRef>
              <c:f>Sheet1!$E$1</c:f>
              <c:strCache>
                <c:ptCount val="1"/>
                <c:pt idx="0">
                  <c:v>אישה</c:v>
                </c:pt>
              </c:strCache>
            </c:strRef>
          </c:tx>
          <c:spPr>
            <a:solidFill>
              <a:srgbClr val="FA4C75"/>
            </a:solidFill>
            <a:ln>
              <a:noFill/>
            </a:ln>
            <a:effectLst/>
          </c:spPr>
          <c:invertIfNegative val="0"/>
          <c:dLbls>
            <c:spPr>
              <a:noFill/>
              <a:ln>
                <a:noFill/>
              </a:ln>
              <a:effectLst/>
            </c:spPr>
            <c:txPr>
              <a:bodyPr rot="-5400000" spcFirstLastPara="1" vertOverflow="ellipsis" wrap="square" lIns="38100" tIns="19050" rIns="38100" bIns="19050" anchor="ctr" anchorCtr="1">
                <a:spAutoFit/>
              </a:bodyPr>
              <a:lstStyle/>
              <a:p>
                <a:pPr>
                  <a:defRPr sz="1200" b="1" i="0" u="none" strike="noStrike" kern="1200" baseline="0">
                    <a:solidFill>
                      <a:srgbClr val="FA4C75"/>
                    </a:solidFill>
                    <a:latin typeface="Segoe UI" panose="020B0502040204020203" pitchFamily="34" charset="0"/>
                    <a:ea typeface="+mn-ea"/>
                    <a:cs typeface="Segoe UI" panose="020B0502040204020203" pitchFamily="34" charset="0"/>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לא ביקשו להישפט
מגזר יהודי</c:v>
                </c:pt>
                <c:pt idx="1">
                  <c:v>לא ביקשו להישפט
מגזר ערבי</c:v>
                </c:pt>
                <c:pt idx="2">
                  <c:v>ביקשו להישפט
מגזר יהודי</c:v>
                </c:pt>
                <c:pt idx="3">
                  <c:v>ביקשו להישפט
מגזר ערבי</c:v>
                </c:pt>
              </c:strCache>
            </c:strRef>
          </c:cat>
          <c:val>
            <c:numRef>
              <c:f>Sheet1!$E$2:$E$5</c:f>
              <c:numCache>
                <c:formatCode>0.0</c:formatCode>
                <c:ptCount val="4"/>
                <c:pt idx="0">
                  <c:v>1.1904761904761905</c:v>
                </c:pt>
                <c:pt idx="1">
                  <c:v>1.3265306122448983</c:v>
                </c:pt>
                <c:pt idx="2">
                  <c:v>1.4210526315789478</c:v>
                </c:pt>
                <c:pt idx="3">
                  <c:v>1.3799999999999997</c:v>
                </c:pt>
              </c:numCache>
            </c:numRef>
          </c:val>
          <c:extLst>
            <c:ext xmlns:c16="http://schemas.microsoft.com/office/drawing/2014/chart" uri="{C3380CC4-5D6E-409C-BE32-E72D297353CC}">
              <c16:uniqueId val="{00000001-CF89-4BA2-AFE4-13BBDBABB301}"/>
            </c:ext>
          </c:extLst>
        </c:ser>
        <c:dLbls>
          <c:dLblPos val="outEnd"/>
          <c:showLegendKey val="0"/>
          <c:showVal val="1"/>
          <c:showCatName val="0"/>
          <c:showSerName val="0"/>
          <c:showPercent val="0"/>
          <c:showBubbleSize val="0"/>
        </c:dLbls>
        <c:gapWidth val="80"/>
        <c:axId val="149850752"/>
        <c:axId val="149877120"/>
        <c:extLst>
          <c:ext xmlns:c15="http://schemas.microsoft.com/office/drawing/2012/chart" uri="{02D57815-91ED-43cb-92C2-25804820EDAC}">
            <c15:filteredBarSeries>
              <c15:ser>
                <c:idx val="2"/>
                <c:order val="2"/>
                <c:tx>
                  <c:strRef>
                    <c:extLst>
                      <c:ext uri="{02D57815-91ED-43cb-92C2-25804820EDAC}">
                        <c15:formulaRef>
                          <c15:sqref>Sheet1!$F$1</c15:sqref>
                        </c15:formulaRef>
                      </c:ext>
                    </c:extLst>
                    <c:strCache>
                      <c:ptCount val="1"/>
                    </c:strCache>
                  </c:strRef>
                </c:tx>
                <c:spPr>
                  <a:solidFill>
                    <a:srgbClr val="74C0FD"/>
                  </a:solidFill>
                  <a:ln>
                    <a:noFill/>
                  </a:ln>
                  <a:effectLst/>
                </c:spPr>
                <c:invertIfNegative val="0"/>
                <c:dLbls>
                  <c:spPr>
                    <a:noFill/>
                    <a:ln>
                      <a:noFill/>
                    </a:ln>
                    <a:effectLst/>
                  </c:spPr>
                  <c:txPr>
                    <a:bodyPr rot="-5400000" spcFirstLastPara="1" vertOverflow="ellipsis" wrap="square" lIns="38100" tIns="19050" rIns="38100" bIns="19050" anchor="ctr" anchorCtr="1">
                      <a:spAutoFit/>
                    </a:bodyPr>
                    <a:lstStyle/>
                    <a:p>
                      <a:pPr>
                        <a:defRPr sz="1200" b="1" i="0" u="none" strike="noStrike" kern="1200" baseline="0">
                          <a:solidFill>
                            <a:srgbClr val="74C0FD"/>
                          </a:solidFill>
                          <a:latin typeface="Segoe UI" panose="020B0502040204020203" pitchFamily="34" charset="0"/>
                          <a:ea typeface="+mn-ea"/>
                          <a:cs typeface="Segoe UI" panose="020B0502040204020203" pitchFamily="34" charset="0"/>
                        </a:defRPr>
                      </a:pPr>
                      <a:endParaRPr lang="he-IL"/>
                    </a:p>
                  </c:txPr>
                  <c:dLblPos val="outEnd"/>
                  <c:showLegendKey val="0"/>
                  <c:showVal val="1"/>
                  <c:showCatName val="0"/>
                  <c:showSerName val="0"/>
                  <c:showPercent val="0"/>
                  <c:showBubbleSize val="0"/>
                  <c:showLeaderLines val="0"/>
                  <c:extLst>
                    <c:ext uri="{CE6537A1-D6FC-4f65-9D91-7224C49458BB}">
                      <c15:showLeaderLines val="1"/>
                      <c15:leaderLines>
                        <c:spPr>
                          <a:ln w="9525" cap="flat" cmpd="sng" algn="ctr">
                            <a:solidFill>
                              <a:schemeClr val="tx1">
                                <a:lumMod val="35000"/>
                                <a:lumOff val="65000"/>
                              </a:schemeClr>
                            </a:solidFill>
                            <a:round/>
                          </a:ln>
                          <a:effectLst/>
                        </c:spPr>
                      </c15:leaderLines>
                    </c:ext>
                  </c:extLst>
                </c:dLbls>
                <c:cat>
                  <c:strRef>
                    <c:extLst>
                      <c:ext uri="{02D57815-91ED-43cb-92C2-25804820EDAC}">
                        <c15:formulaRef>
                          <c15:sqref>Sheet1!$A$2:$A$5</c15:sqref>
                        </c15:formulaRef>
                      </c:ext>
                    </c:extLst>
                    <c:strCache>
                      <c:ptCount val="4"/>
                      <c:pt idx="0">
                        <c:v>לא ביקשו להישפט
מגזר יהודי</c:v>
                      </c:pt>
                      <c:pt idx="1">
                        <c:v>לא ביקשו להישפט
מגזר ערבי</c:v>
                      </c:pt>
                      <c:pt idx="2">
                        <c:v>ביקשו להישפט
מגזר יהודי</c:v>
                      </c:pt>
                      <c:pt idx="3">
                        <c:v>ביקשו להישפט
מגזר ערבי</c:v>
                      </c:pt>
                    </c:strCache>
                  </c:strRef>
                </c:cat>
                <c:val>
                  <c:numRef>
                    <c:extLst>
                      <c:ext uri="{02D57815-91ED-43cb-92C2-25804820EDAC}">
                        <c15:formulaRef>
                          <c15:sqref>Sheet1!$F$2:$F$5</c15:sqref>
                        </c15:formulaRef>
                      </c:ext>
                    </c:extLst>
                    <c:numCache>
                      <c:formatCode>General</c:formatCode>
                      <c:ptCount val="4"/>
                    </c:numCache>
                  </c:numRef>
                </c:val>
                <c:extLst>
                  <c:ext xmlns:c16="http://schemas.microsoft.com/office/drawing/2014/chart" uri="{C3380CC4-5D6E-409C-BE32-E72D297353CC}">
                    <c16:uniqueId val="{00000002-CF89-4BA2-AFE4-13BBDBABB301}"/>
                  </c:ext>
                </c:extLst>
              </c15:ser>
            </c15:filteredBarSeries>
          </c:ext>
        </c:extLst>
      </c:barChart>
      <c:catAx>
        <c:axId val="149850752"/>
        <c:scaling>
          <c:orientation val="minMax"/>
        </c:scaling>
        <c:delete val="0"/>
        <c:axPos val="b"/>
        <c:numFmt formatCode="General" sourceLinked="1"/>
        <c:majorTickMark val="out"/>
        <c:minorTickMark val="none"/>
        <c:tickLblPos val="nextTo"/>
        <c:spPr>
          <a:noFill/>
          <a:ln w="9525" cap="flat" cmpd="sng" algn="ctr">
            <a:noFill/>
            <a:round/>
          </a:ln>
          <a:effectLst/>
        </c:spPr>
        <c:txPr>
          <a:bodyPr rot="-60000000" spcFirstLastPara="1" vertOverflow="ellipsis" vert="horz" wrap="square" anchor="ctr" anchorCtr="1"/>
          <a:lstStyle/>
          <a:p>
            <a:pPr>
              <a:defRPr sz="1050" b="0" i="0" u="none" strike="noStrike" kern="1200" baseline="0">
                <a:solidFill>
                  <a:schemeClr val="tx1">
                    <a:lumMod val="65000"/>
                    <a:lumOff val="35000"/>
                  </a:schemeClr>
                </a:solidFill>
                <a:latin typeface="Segoe UI" panose="020B0502040204020203" pitchFamily="34" charset="0"/>
                <a:ea typeface="+mn-ea"/>
                <a:cs typeface="Segoe UI" panose="020B0502040204020203" pitchFamily="34" charset="0"/>
              </a:defRPr>
            </a:pPr>
            <a:endParaRPr lang="he-IL"/>
          </a:p>
        </c:txPr>
        <c:crossAx val="149877120"/>
        <c:crosses val="autoZero"/>
        <c:auto val="1"/>
        <c:lblAlgn val="ctr"/>
        <c:lblOffset val="100"/>
        <c:noMultiLvlLbl val="0"/>
      </c:catAx>
      <c:valAx>
        <c:axId val="149877120"/>
        <c:scaling>
          <c:orientation val="minMax"/>
          <c:max val="1.8"/>
          <c:min val="1"/>
        </c:scaling>
        <c:delete val="1"/>
        <c:axPos val="l"/>
        <c:numFmt formatCode="0.0" sourceLinked="1"/>
        <c:majorTickMark val="out"/>
        <c:minorTickMark val="none"/>
        <c:tickLblPos val="nextTo"/>
        <c:crossAx val="149850752"/>
        <c:crosses val="autoZero"/>
        <c:crossBetween val="between"/>
      </c:valAx>
      <c:spPr>
        <a:noFill/>
        <a:ln>
          <a:noFill/>
        </a:ln>
        <a:effectLst/>
      </c:spPr>
    </c:plotArea>
    <c:legend>
      <c:legendPos val="b"/>
      <c:layout>
        <c:manualLayout>
          <c:xMode val="edge"/>
          <c:yMode val="edge"/>
          <c:x val="0.87840259259259257"/>
          <c:y val="0.30413639555758559"/>
          <c:w val="0.11479870370370371"/>
          <c:h val="0.39772171412939783"/>
        </c:manualLayout>
      </c:layout>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Segoe UI" panose="020B0502040204020203" pitchFamily="34" charset="0"/>
              <a:ea typeface="+mn-ea"/>
              <a:cs typeface="Segoe UI" panose="020B0502040204020203" pitchFamily="34" charset="0"/>
            </a:defRPr>
          </a:pPr>
          <a:endParaRPr lang="he-I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latin typeface="Segoe UI" panose="020B0502040204020203" pitchFamily="34" charset="0"/>
          <a:cs typeface="Segoe UI" panose="020B0502040204020203" pitchFamily="34" charset="0"/>
        </a:defRPr>
      </a:pPr>
      <a:endParaRPr lang="he-IL"/>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0511666666666671E-2"/>
          <c:y val="0.22937616959251642"/>
          <c:w val="0.88261592592592597"/>
          <c:h val="0.44964771376922902"/>
        </c:manualLayout>
      </c:layout>
      <c:barChart>
        <c:barDir val="col"/>
        <c:grouping val="clustered"/>
        <c:varyColors val="0"/>
        <c:ser>
          <c:idx val="0"/>
          <c:order val="0"/>
          <c:tx>
            <c:strRef>
              <c:f>Sheet1!$D$1</c:f>
              <c:strCache>
                <c:ptCount val="1"/>
                <c:pt idx="0">
                  <c:v>2020-2023</c:v>
                </c:pt>
              </c:strCache>
            </c:strRef>
          </c:tx>
          <c:spPr>
            <a:solidFill>
              <a:schemeClr val="accent5">
                <a:lumMod val="60000"/>
                <a:lumOff val="40000"/>
              </a:schemeClr>
            </a:solidFill>
            <a:ln>
              <a:noFill/>
            </a:ln>
            <a:effectLst/>
          </c:spPr>
          <c:invertIfNegative val="0"/>
          <c:dLbls>
            <c:spPr>
              <a:noFill/>
              <a:ln>
                <a:noFill/>
              </a:ln>
              <a:effectLst/>
            </c:spPr>
            <c:txPr>
              <a:bodyPr rot="-5400000" spcFirstLastPara="1" vertOverflow="ellipsis" wrap="square" lIns="38100" tIns="19050" rIns="38100" bIns="19050" anchor="ctr" anchorCtr="1">
                <a:spAutoFit/>
              </a:bodyPr>
              <a:lstStyle/>
              <a:p>
                <a:pPr>
                  <a:defRPr sz="1200" b="1" i="0" u="none" strike="noStrike" kern="1200" baseline="0">
                    <a:solidFill>
                      <a:schemeClr val="accent5">
                        <a:lumMod val="75000"/>
                      </a:schemeClr>
                    </a:solidFill>
                    <a:latin typeface="Segoe UI" panose="020B0502040204020203" pitchFamily="34" charset="0"/>
                    <a:ea typeface="+mn-ea"/>
                    <a:cs typeface="Segoe UI" panose="020B0502040204020203" pitchFamily="34" charset="0"/>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לא ביקשו להישפט
מגזר יהודי</c:v>
                </c:pt>
                <c:pt idx="1">
                  <c:v>לא ביקשו להישפט
מגזר ערבי</c:v>
                </c:pt>
                <c:pt idx="2">
                  <c:v>ביקשו להישפט
מגזר יהודי</c:v>
                </c:pt>
                <c:pt idx="3">
                  <c:v>ביקשו להישפט
מגזר ערבי</c:v>
                </c:pt>
              </c:strCache>
            </c:strRef>
          </c:cat>
          <c:val>
            <c:numRef>
              <c:f>Sheet1!$D$2:$D$5</c:f>
              <c:numCache>
                <c:formatCode>0.0</c:formatCode>
                <c:ptCount val="4"/>
                <c:pt idx="0">
                  <c:v>1.0945945945945943</c:v>
                </c:pt>
                <c:pt idx="1">
                  <c:v>1.0945945945945943</c:v>
                </c:pt>
                <c:pt idx="2">
                  <c:v>1.37037037037037</c:v>
                </c:pt>
                <c:pt idx="3">
                  <c:v>1.2000000000000006</c:v>
                </c:pt>
              </c:numCache>
            </c:numRef>
          </c:val>
          <c:extLst>
            <c:ext xmlns:c16="http://schemas.microsoft.com/office/drawing/2014/chart" uri="{C3380CC4-5D6E-409C-BE32-E72D297353CC}">
              <c16:uniqueId val="{00000000-7274-4688-B743-8A310B710BEA}"/>
            </c:ext>
          </c:extLst>
        </c:ser>
        <c:ser>
          <c:idx val="1"/>
          <c:order val="1"/>
          <c:tx>
            <c:strRef>
              <c:f>Sheet1!$E$1</c:f>
              <c:strCache>
                <c:ptCount val="1"/>
                <c:pt idx="0">
                  <c:v>2024-2025</c:v>
                </c:pt>
              </c:strCache>
            </c:strRef>
          </c:tx>
          <c:spPr>
            <a:solidFill>
              <a:srgbClr val="002060"/>
            </a:solidFill>
            <a:ln>
              <a:noFill/>
            </a:ln>
            <a:effectLst/>
          </c:spPr>
          <c:invertIfNegative val="0"/>
          <c:dLbls>
            <c:spPr>
              <a:noFill/>
              <a:ln>
                <a:noFill/>
              </a:ln>
              <a:effectLst/>
            </c:spPr>
            <c:txPr>
              <a:bodyPr rot="-5400000" spcFirstLastPara="1" vertOverflow="ellipsis" wrap="square" lIns="38100" tIns="19050" rIns="38100" bIns="19050" anchor="ctr" anchorCtr="1">
                <a:spAutoFit/>
              </a:bodyPr>
              <a:lstStyle/>
              <a:p>
                <a:pPr>
                  <a:defRPr sz="1200" b="1" i="0" u="none" strike="noStrike" kern="1200" baseline="0">
                    <a:solidFill>
                      <a:srgbClr val="002060"/>
                    </a:solidFill>
                    <a:latin typeface="Segoe UI" panose="020B0502040204020203" pitchFamily="34" charset="0"/>
                    <a:ea typeface="+mn-ea"/>
                    <a:cs typeface="Segoe UI" panose="020B0502040204020203" pitchFamily="34" charset="0"/>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לא ביקשו להישפט
מגזר יהודי</c:v>
                </c:pt>
                <c:pt idx="1">
                  <c:v>לא ביקשו להישפט
מגזר ערבי</c:v>
                </c:pt>
                <c:pt idx="2">
                  <c:v>ביקשו להישפט
מגזר יהודי</c:v>
                </c:pt>
                <c:pt idx="3">
                  <c:v>ביקשו להישפט
מגזר ערבי</c:v>
                </c:pt>
              </c:strCache>
            </c:strRef>
          </c:cat>
          <c:val>
            <c:numRef>
              <c:f>Sheet1!$E$2:$E$5</c:f>
              <c:numCache>
                <c:formatCode>0.0</c:formatCode>
                <c:ptCount val="4"/>
                <c:pt idx="0">
                  <c:v>1.3689320388349515</c:v>
                </c:pt>
                <c:pt idx="1">
                  <c:v>1.3689320388349515</c:v>
                </c:pt>
                <c:pt idx="2">
                  <c:v>1.5000000000000004</c:v>
                </c:pt>
                <c:pt idx="3">
                  <c:v>1.673913043478261</c:v>
                </c:pt>
              </c:numCache>
            </c:numRef>
          </c:val>
          <c:extLst>
            <c:ext xmlns:c16="http://schemas.microsoft.com/office/drawing/2014/chart" uri="{C3380CC4-5D6E-409C-BE32-E72D297353CC}">
              <c16:uniqueId val="{00000001-7274-4688-B743-8A310B710BEA}"/>
            </c:ext>
          </c:extLst>
        </c:ser>
        <c:dLbls>
          <c:dLblPos val="outEnd"/>
          <c:showLegendKey val="0"/>
          <c:showVal val="1"/>
          <c:showCatName val="0"/>
          <c:showSerName val="0"/>
          <c:showPercent val="0"/>
          <c:showBubbleSize val="0"/>
        </c:dLbls>
        <c:gapWidth val="80"/>
        <c:axId val="149850752"/>
        <c:axId val="149877120"/>
        <c:extLst>
          <c:ext xmlns:c15="http://schemas.microsoft.com/office/drawing/2012/chart" uri="{02D57815-91ED-43cb-92C2-25804820EDAC}">
            <c15:filteredBarSeries>
              <c15:ser>
                <c:idx val="2"/>
                <c:order val="2"/>
                <c:tx>
                  <c:strRef>
                    <c:extLst>
                      <c:ext uri="{02D57815-91ED-43cb-92C2-25804820EDAC}">
                        <c15:formulaRef>
                          <c15:sqref>Sheet1!$F$1</c15:sqref>
                        </c15:formulaRef>
                      </c:ext>
                    </c:extLst>
                    <c:strCache>
                      <c:ptCount val="1"/>
                    </c:strCache>
                  </c:strRef>
                </c:tx>
                <c:spPr>
                  <a:solidFill>
                    <a:srgbClr val="74C0FD"/>
                  </a:solidFill>
                  <a:ln>
                    <a:noFill/>
                  </a:ln>
                  <a:effectLst/>
                </c:spPr>
                <c:invertIfNegative val="0"/>
                <c:dLbls>
                  <c:spPr>
                    <a:noFill/>
                    <a:ln>
                      <a:noFill/>
                    </a:ln>
                    <a:effectLst/>
                  </c:spPr>
                  <c:txPr>
                    <a:bodyPr rot="-5400000" spcFirstLastPara="1" vertOverflow="ellipsis" wrap="square" lIns="38100" tIns="19050" rIns="38100" bIns="19050" anchor="ctr" anchorCtr="1">
                      <a:spAutoFit/>
                    </a:bodyPr>
                    <a:lstStyle/>
                    <a:p>
                      <a:pPr>
                        <a:defRPr sz="1200" b="1" i="0" u="none" strike="noStrike" kern="1200" baseline="0">
                          <a:solidFill>
                            <a:srgbClr val="74C0FD"/>
                          </a:solidFill>
                          <a:latin typeface="Segoe UI" panose="020B0502040204020203" pitchFamily="34" charset="0"/>
                          <a:ea typeface="+mn-ea"/>
                          <a:cs typeface="Segoe UI" panose="020B0502040204020203" pitchFamily="34" charset="0"/>
                        </a:defRPr>
                      </a:pPr>
                      <a:endParaRPr lang="he-IL"/>
                    </a:p>
                  </c:txPr>
                  <c:dLblPos val="outEnd"/>
                  <c:showLegendKey val="0"/>
                  <c:showVal val="1"/>
                  <c:showCatName val="0"/>
                  <c:showSerName val="0"/>
                  <c:showPercent val="0"/>
                  <c:showBubbleSize val="0"/>
                  <c:showLeaderLines val="0"/>
                  <c:extLst>
                    <c:ext uri="{CE6537A1-D6FC-4f65-9D91-7224C49458BB}">
                      <c15:showLeaderLines val="1"/>
                      <c15:leaderLines>
                        <c:spPr>
                          <a:ln w="9525" cap="flat" cmpd="sng" algn="ctr">
                            <a:solidFill>
                              <a:schemeClr val="tx1">
                                <a:lumMod val="35000"/>
                                <a:lumOff val="65000"/>
                              </a:schemeClr>
                            </a:solidFill>
                            <a:round/>
                          </a:ln>
                          <a:effectLst/>
                        </c:spPr>
                      </c15:leaderLines>
                    </c:ext>
                  </c:extLst>
                </c:dLbls>
                <c:cat>
                  <c:strRef>
                    <c:extLst>
                      <c:ext uri="{02D57815-91ED-43cb-92C2-25804820EDAC}">
                        <c15:formulaRef>
                          <c15:sqref>Sheet1!$A$2:$A$5</c15:sqref>
                        </c15:formulaRef>
                      </c:ext>
                    </c:extLst>
                    <c:strCache>
                      <c:ptCount val="4"/>
                      <c:pt idx="0">
                        <c:v>לא ביקשו להישפט
מגזר יהודי</c:v>
                      </c:pt>
                      <c:pt idx="1">
                        <c:v>לא ביקשו להישפט
מגזר ערבי</c:v>
                      </c:pt>
                      <c:pt idx="2">
                        <c:v>ביקשו להישפט
מגזר יהודי</c:v>
                      </c:pt>
                      <c:pt idx="3">
                        <c:v>ביקשו להישפט
מגזר ערבי</c:v>
                      </c:pt>
                    </c:strCache>
                  </c:strRef>
                </c:cat>
                <c:val>
                  <c:numRef>
                    <c:extLst>
                      <c:ext uri="{02D57815-91ED-43cb-92C2-25804820EDAC}">
                        <c15:formulaRef>
                          <c15:sqref>Sheet1!$F$2:$F$5</c15:sqref>
                        </c15:formulaRef>
                      </c:ext>
                    </c:extLst>
                    <c:numCache>
                      <c:formatCode>General</c:formatCode>
                      <c:ptCount val="4"/>
                    </c:numCache>
                  </c:numRef>
                </c:val>
                <c:extLst>
                  <c:ext xmlns:c16="http://schemas.microsoft.com/office/drawing/2014/chart" uri="{C3380CC4-5D6E-409C-BE32-E72D297353CC}">
                    <c16:uniqueId val="{00000002-7274-4688-B743-8A310B710BEA}"/>
                  </c:ext>
                </c:extLst>
              </c15:ser>
            </c15:filteredBarSeries>
          </c:ext>
        </c:extLst>
      </c:barChart>
      <c:catAx>
        <c:axId val="149850752"/>
        <c:scaling>
          <c:orientation val="minMax"/>
        </c:scaling>
        <c:delete val="0"/>
        <c:axPos val="b"/>
        <c:numFmt formatCode="General" sourceLinked="1"/>
        <c:majorTickMark val="out"/>
        <c:minorTickMark val="none"/>
        <c:tickLblPos val="nextTo"/>
        <c:spPr>
          <a:noFill/>
          <a:ln w="9525" cap="flat" cmpd="sng" algn="ctr">
            <a:noFill/>
            <a:round/>
          </a:ln>
          <a:effectLst/>
        </c:spPr>
        <c:txPr>
          <a:bodyPr rot="-60000000" spcFirstLastPara="1" vertOverflow="ellipsis" vert="horz" wrap="square" anchor="ctr" anchorCtr="1"/>
          <a:lstStyle/>
          <a:p>
            <a:pPr>
              <a:defRPr sz="1050" b="0" i="0" u="none" strike="noStrike" kern="1200" baseline="0">
                <a:solidFill>
                  <a:schemeClr val="tx1">
                    <a:lumMod val="65000"/>
                    <a:lumOff val="35000"/>
                  </a:schemeClr>
                </a:solidFill>
                <a:latin typeface="Segoe UI" panose="020B0502040204020203" pitchFamily="34" charset="0"/>
                <a:ea typeface="+mn-ea"/>
                <a:cs typeface="Segoe UI" panose="020B0502040204020203" pitchFamily="34" charset="0"/>
              </a:defRPr>
            </a:pPr>
            <a:endParaRPr lang="he-IL"/>
          </a:p>
        </c:txPr>
        <c:crossAx val="149877120"/>
        <c:crosses val="autoZero"/>
        <c:auto val="1"/>
        <c:lblAlgn val="ctr"/>
        <c:lblOffset val="100"/>
        <c:noMultiLvlLbl val="0"/>
      </c:catAx>
      <c:valAx>
        <c:axId val="149877120"/>
        <c:scaling>
          <c:orientation val="minMax"/>
          <c:max val="1.8"/>
          <c:min val="1"/>
        </c:scaling>
        <c:delete val="1"/>
        <c:axPos val="l"/>
        <c:numFmt formatCode="0.0" sourceLinked="1"/>
        <c:majorTickMark val="out"/>
        <c:minorTickMark val="none"/>
        <c:tickLblPos val="nextTo"/>
        <c:crossAx val="149850752"/>
        <c:crosses val="autoZero"/>
        <c:crossBetween val="between"/>
      </c:valAx>
      <c:spPr>
        <a:noFill/>
        <a:ln>
          <a:noFill/>
        </a:ln>
        <a:effectLst/>
      </c:spPr>
    </c:plotArea>
    <c:legend>
      <c:legendPos val="b"/>
      <c:layout>
        <c:manualLayout>
          <c:xMode val="edge"/>
          <c:yMode val="edge"/>
          <c:x val="0.86429148148148149"/>
          <c:y val="0.21947"/>
          <c:w val="0.12890981481481481"/>
          <c:h val="0.60233277777777794"/>
        </c:manualLayout>
      </c:layout>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Segoe UI" panose="020B0502040204020203" pitchFamily="34" charset="0"/>
              <a:ea typeface="+mn-ea"/>
              <a:cs typeface="Segoe UI" panose="020B0502040204020203" pitchFamily="34" charset="0"/>
            </a:defRPr>
          </a:pPr>
          <a:endParaRPr lang="he-I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latin typeface="Segoe UI" panose="020B0502040204020203" pitchFamily="34" charset="0"/>
          <a:cs typeface="Segoe UI" panose="020B0502040204020203" pitchFamily="34" charset="0"/>
        </a:defRPr>
      </a:pPr>
      <a:endParaRPr lang="he-IL"/>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0511666666666671E-2"/>
          <c:y val="0.22937616959251642"/>
          <c:w val="0.86615296296296296"/>
          <c:h val="0.44964771376922902"/>
        </c:manualLayout>
      </c:layout>
      <c:barChart>
        <c:barDir val="col"/>
        <c:grouping val="clustered"/>
        <c:varyColors val="0"/>
        <c:ser>
          <c:idx val="0"/>
          <c:order val="0"/>
          <c:tx>
            <c:strRef>
              <c:f>Sheet1!$D$1</c:f>
              <c:strCache>
                <c:ptCount val="1"/>
              </c:strCache>
            </c:strRef>
          </c:tx>
          <c:spPr>
            <a:solidFill>
              <a:srgbClr val="09AFA7"/>
            </a:solidFill>
            <a:ln>
              <a:noFill/>
            </a:ln>
            <a:effectLst/>
          </c:spPr>
          <c:invertIfNegative val="0"/>
          <c:dLbls>
            <c:spPr>
              <a:noFill/>
              <a:ln>
                <a:noFill/>
              </a:ln>
              <a:effectLst/>
            </c:spPr>
            <c:txPr>
              <a:bodyPr rot="-5400000" spcFirstLastPara="1" vertOverflow="ellipsis" wrap="square" lIns="38100" tIns="19050" rIns="38100" bIns="19050" anchor="ctr" anchorCtr="1">
                <a:spAutoFit/>
              </a:bodyPr>
              <a:lstStyle/>
              <a:p>
                <a:pPr>
                  <a:defRPr sz="1200" b="1" i="0" u="none" strike="noStrike" kern="1200" baseline="0">
                    <a:solidFill>
                      <a:srgbClr val="59D3B6"/>
                    </a:solidFill>
                    <a:latin typeface="Segoe UI" panose="020B0502040204020203" pitchFamily="34" charset="0"/>
                    <a:ea typeface="+mn-ea"/>
                    <a:cs typeface="Segoe UI" panose="020B0502040204020203" pitchFamily="34" charset="0"/>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לא ביקשו להישפט
מגזר יהודי</c:v>
                </c:pt>
                <c:pt idx="1">
                  <c:v>לא ביקשו להישפט
מגזר ערבי</c:v>
                </c:pt>
                <c:pt idx="2">
                  <c:v>ביקשו להישפט
מגזר יהודי</c:v>
                </c:pt>
                <c:pt idx="3">
                  <c:v>ביקשו להישפט
מגזר ערבי</c:v>
                </c:pt>
              </c:strCache>
            </c:strRef>
          </c:cat>
          <c:val>
            <c:numRef>
              <c:f>Sheet1!$D$2:$D$5</c:f>
              <c:numCache>
                <c:formatCode>0.0</c:formatCode>
                <c:ptCount val="4"/>
                <c:pt idx="0">
                  <c:v>1.2432432432432436</c:v>
                </c:pt>
                <c:pt idx="1">
                  <c:v>1.428571428571429</c:v>
                </c:pt>
                <c:pt idx="2">
                  <c:v>1.5466666666666671</c:v>
                </c:pt>
                <c:pt idx="3">
                  <c:v>1.2857142857142858</c:v>
                </c:pt>
              </c:numCache>
            </c:numRef>
          </c:val>
          <c:extLst>
            <c:ext xmlns:c16="http://schemas.microsoft.com/office/drawing/2014/chart" uri="{C3380CC4-5D6E-409C-BE32-E72D297353CC}">
              <c16:uniqueId val="{00000000-7016-4CE1-A6AD-9B82E1FE668E}"/>
            </c:ext>
          </c:extLst>
        </c:ser>
        <c:ser>
          <c:idx val="1"/>
          <c:order val="1"/>
          <c:tx>
            <c:strRef>
              <c:f>Sheet1!$E$1</c:f>
              <c:strCache>
                <c:ptCount val="1"/>
              </c:strCache>
            </c:strRef>
          </c:tx>
          <c:spPr>
            <a:solidFill>
              <a:srgbClr val="0070C0"/>
            </a:solidFill>
            <a:ln>
              <a:noFill/>
            </a:ln>
            <a:effectLst/>
          </c:spPr>
          <c:invertIfNegative val="0"/>
          <c:dLbls>
            <c:spPr>
              <a:noFill/>
              <a:ln>
                <a:noFill/>
              </a:ln>
              <a:effectLst/>
            </c:spPr>
            <c:txPr>
              <a:bodyPr rot="-5400000" spcFirstLastPara="1" vertOverflow="ellipsis" wrap="square" lIns="38100" tIns="19050" rIns="38100" bIns="19050" anchor="ctr" anchorCtr="1">
                <a:spAutoFit/>
              </a:bodyPr>
              <a:lstStyle/>
              <a:p>
                <a:pPr>
                  <a:defRPr sz="1200" b="1" i="0" u="none" strike="noStrike" kern="1200" baseline="0">
                    <a:solidFill>
                      <a:srgbClr val="0070C0"/>
                    </a:solidFill>
                    <a:latin typeface="Segoe UI" panose="020B0502040204020203" pitchFamily="34" charset="0"/>
                    <a:ea typeface="+mn-ea"/>
                    <a:cs typeface="Segoe UI" panose="020B0502040204020203" pitchFamily="34" charset="0"/>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לא ביקשו להישפט
מגזר יהודי</c:v>
                </c:pt>
                <c:pt idx="1">
                  <c:v>לא ביקשו להישפט
מגזר ערבי</c:v>
                </c:pt>
                <c:pt idx="2">
                  <c:v>ביקשו להישפט
מגזר יהודי</c:v>
                </c:pt>
                <c:pt idx="3">
                  <c:v>ביקשו להישפט
מגזר ערבי</c:v>
                </c:pt>
              </c:strCache>
            </c:strRef>
          </c:cat>
          <c:val>
            <c:numRef>
              <c:f>Sheet1!$E$2:$E$5</c:f>
              <c:numCache>
                <c:formatCode>0.0</c:formatCode>
                <c:ptCount val="4"/>
                <c:pt idx="0">
                  <c:v>1.2727272727272729</c:v>
                </c:pt>
                <c:pt idx="1">
                  <c:v>1.3409090909090911</c:v>
                </c:pt>
                <c:pt idx="2">
                  <c:v>1.3372093023255811</c:v>
                </c:pt>
                <c:pt idx="3">
                  <c:v>1.6086956521739129</c:v>
                </c:pt>
              </c:numCache>
            </c:numRef>
          </c:val>
          <c:extLst>
            <c:ext xmlns:c16="http://schemas.microsoft.com/office/drawing/2014/chart" uri="{C3380CC4-5D6E-409C-BE32-E72D297353CC}">
              <c16:uniqueId val="{00000003-7016-4CE1-A6AD-9B82E1FE668E}"/>
            </c:ext>
          </c:extLst>
        </c:ser>
        <c:dLbls>
          <c:dLblPos val="outEnd"/>
          <c:showLegendKey val="0"/>
          <c:showVal val="1"/>
          <c:showCatName val="0"/>
          <c:showSerName val="0"/>
          <c:showPercent val="0"/>
          <c:showBubbleSize val="0"/>
        </c:dLbls>
        <c:gapWidth val="80"/>
        <c:axId val="149850752"/>
        <c:axId val="149877120"/>
        <c:extLst/>
      </c:barChart>
      <c:catAx>
        <c:axId val="149850752"/>
        <c:scaling>
          <c:orientation val="minMax"/>
        </c:scaling>
        <c:delete val="0"/>
        <c:axPos val="b"/>
        <c:numFmt formatCode="General" sourceLinked="1"/>
        <c:majorTickMark val="out"/>
        <c:minorTickMark val="none"/>
        <c:tickLblPos val="nextTo"/>
        <c:spPr>
          <a:noFill/>
          <a:ln w="9525" cap="flat" cmpd="sng" algn="ctr">
            <a:noFill/>
            <a:round/>
          </a:ln>
          <a:effectLst/>
        </c:spPr>
        <c:txPr>
          <a:bodyPr rot="-60000000" spcFirstLastPara="1" vertOverflow="ellipsis" vert="horz" wrap="square" anchor="ctr" anchorCtr="1"/>
          <a:lstStyle/>
          <a:p>
            <a:pPr>
              <a:defRPr sz="1050" b="0" i="0" u="none" strike="noStrike" kern="1200" baseline="0">
                <a:solidFill>
                  <a:schemeClr val="tx1">
                    <a:lumMod val="65000"/>
                    <a:lumOff val="35000"/>
                  </a:schemeClr>
                </a:solidFill>
                <a:latin typeface="Segoe UI" panose="020B0502040204020203" pitchFamily="34" charset="0"/>
                <a:ea typeface="+mn-ea"/>
                <a:cs typeface="Segoe UI" panose="020B0502040204020203" pitchFamily="34" charset="0"/>
              </a:defRPr>
            </a:pPr>
            <a:endParaRPr lang="he-IL"/>
          </a:p>
        </c:txPr>
        <c:crossAx val="149877120"/>
        <c:crosses val="autoZero"/>
        <c:auto val="1"/>
        <c:lblAlgn val="ctr"/>
        <c:lblOffset val="100"/>
        <c:noMultiLvlLbl val="0"/>
      </c:catAx>
      <c:valAx>
        <c:axId val="149877120"/>
        <c:scaling>
          <c:orientation val="minMax"/>
          <c:max val="1.8"/>
          <c:min val="1"/>
        </c:scaling>
        <c:delete val="1"/>
        <c:axPos val="l"/>
        <c:numFmt formatCode="0.0" sourceLinked="1"/>
        <c:majorTickMark val="out"/>
        <c:minorTickMark val="none"/>
        <c:tickLblPos val="nextTo"/>
        <c:crossAx val="149850752"/>
        <c:crosses val="autoZero"/>
        <c:crossBetween val="between"/>
      </c:valAx>
      <c:spPr>
        <a:noFill/>
        <a:ln>
          <a:noFill/>
        </a:ln>
        <a:effectLst/>
      </c:spPr>
    </c:plotArea>
    <c:legend>
      <c:legendPos val="b"/>
      <c:legendEntry>
        <c:idx val="1"/>
        <c:txPr>
          <a:bodyPr rot="0" spcFirstLastPara="1" vertOverflow="ellipsis" vert="horz" wrap="square" anchor="t" anchorCtr="1"/>
          <a:lstStyle/>
          <a:p>
            <a:pPr rtl="1">
              <a:defRPr sz="900" b="0" i="0" u="none" strike="noStrike" kern="1200" baseline="0">
                <a:solidFill>
                  <a:schemeClr val="bg1"/>
                </a:solidFill>
                <a:latin typeface="Segoe UI" panose="020B0502040204020203" pitchFamily="34" charset="0"/>
                <a:ea typeface="+mn-ea"/>
                <a:cs typeface="Segoe UI" panose="020B0502040204020203" pitchFamily="34" charset="0"/>
              </a:defRPr>
            </a:pPr>
            <a:endParaRPr lang="he-IL"/>
          </a:p>
        </c:txPr>
      </c:legendEntry>
      <c:layout>
        <c:manualLayout>
          <c:xMode val="edge"/>
          <c:yMode val="edge"/>
          <c:x val="0.84999543760903307"/>
          <c:y val="7.4777777777777917E-4"/>
          <c:w val="3.550423797431284E-2"/>
          <c:h val="0.98333277777777794"/>
        </c:manualLayout>
      </c:layout>
      <c:overlay val="0"/>
      <c:spPr>
        <a:noFill/>
        <a:ln>
          <a:noFill/>
        </a:ln>
        <a:effectLst/>
      </c:spPr>
      <c:txPr>
        <a:bodyPr rot="0" spcFirstLastPara="1" vertOverflow="ellipsis" vert="horz" wrap="square" anchor="t" anchorCtr="1"/>
        <a:lstStyle/>
        <a:p>
          <a:pPr rtl="1">
            <a:defRPr sz="1000" b="0" i="0" u="none" strike="noStrike" kern="1200" baseline="0">
              <a:solidFill>
                <a:schemeClr val="bg1"/>
              </a:solidFill>
              <a:latin typeface="Segoe UI" panose="020B0502040204020203" pitchFamily="34" charset="0"/>
              <a:ea typeface="+mn-ea"/>
              <a:cs typeface="Segoe UI" panose="020B0502040204020203" pitchFamily="34" charset="0"/>
            </a:defRPr>
          </a:pPr>
          <a:endParaRPr lang="he-I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nchor="ctr" anchorCtr="1"/>
    <a:lstStyle/>
    <a:p>
      <a:pPr>
        <a:defRPr sz="1200">
          <a:latin typeface="Segoe UI" panose="020B0502040204020203" pitchFamily="34" charset="0"/>
          <a:cs typeface="Segoe UI" panose="020B0502040204020203" pitchFamily="34" charset="0"/>
        </a:defRPr>
      </a:pPr>
      <a:endParaRPr lang="he-IL"/>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9885389718566573E-2"/>
          <c:y val="0"/>
          <c:w val="0.89773239093608348"/>
          <c:h val="0.89644094661419926"/>
        </c:manualLayout>
      </c:layout>
      <c:barChart>
        <c:barDir val="col"/>
        <c:grouping val="clustered"/>
        <c:varyColors val="0"/>
        <c:ser>
          <c:idx val="0"/>
          <c:order val="0"/>
          <c:tx>
            <c:strRef>
              <c:f>Sheet1!$A$2</c:f>
              <c:strCache>
                <c:ptCount val="1"/>
                <c:pt idx="0">
                  <c:v>2025</c:v>
                </c:pt>
              </c:strCache>
            </c:strRef>
          </c:tx>
          <c:spPr>
            <a:solidFill>
              <a:srgbClr val="1D1C64"/>
            </a:solidFill>
            <a:ln w="31750">
              <a:noFill/>
            </a:ln>
          </c:spPr>
          <c:invertIfNegative val="0"/>
          <c:dLbls>
            <c:spPr>
              <a:noFill/>
              <a:ln>
                <a:noFill/>
              </a:ln>
              <a:effectLst/>
            </c:spPr>
            <c:txPr>
              <a:bodyPr/>
              <a:lstStyle/>
              <a:p>
                <a:pPr>
                  <a:defRPr sz="1200" b="1">
                    <a:solidFill>
                      <a:schemeClr val="bg1"/>
                    </a:solidFill>
                    <a:latin typeface="Segoe UI" panose="020B0502040204020203" pitchFamily="34" charset="0"/>
                    <a:cs typeface="Segoe UI" panose="020B0502040204020203" pitchFamily="34" charset="0"/>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Sheet1!$B$1:$E$1</c:f>
              <c:strCache>
                <c:ptCount val="4"/>
                <c:pt idx="0">
                  <c:v>מגזר יהודי</c:v>
                </c:pt>
                <c:pt idx="1">
                  <c:v>מגזר ערבי</c:v>
                </c:pt>
                <c:pt idx="2">
                  <c:v>מגזר יהודי</c:v>
                </c:pt>
                <c:pt idx="3">
                  <c:v>מגזר ערבי</c:v>
                </c:pt>
              </c:strCache>
            </c:strRef>
          </c:cat>
          <c:val>
            <c:numRef>
              <c:f>Sheet1!$B$2:$E$2</c:f>
              <c:numCache>
                <c:formatCode>0%</c:formatCode>
                <c:ptCount val="4"/>
                <c:pt idx="0">
                  <c:v>0.2824858757062147</c:v>
                </c:pt>
                <c:pt idx="1">
                  <c:v>0.24418604651162792</c:v>
                </c:pt>
                <c:pt idx="2">
                  <c:v>0.26708074534161491</c:v>
                </c:pt>
                <c:pt idx="3">
                  <c:v>0.28395061728395066</c:v>
                </c:pt>
              </c:numCache>
            </c:numRef>
          </c:val>
          <c:extLst>
            <c:ext xmlns:c16="http://schemas.microsoft.com/office/drawing/2014/chart" uri="{C3380CC4-5D6E-409C-BE32-E72D297353CC}">
              <c16:uniqueId val="{00000000-0DE3-413B-BCFA-E0921DF056CA}"/>
            </c:ext>
          </c:extLst>
        </c:ser>
        <c:ser>
          <c:idx val="1"/>
          <c:order val="1"/>
          <c:tx>
            <c:strRef>
              <c:f>Sheet1!$A$3</c:f>
              <c:strCache>
                <c:ptCount val="1"/>
                <c:pt idx="0">
                  <c:v>2024</c:v>
                </c:pt>
              </c:strCache>
            </c:strRef>
          </c:tx>
          <c:spPr>
            <a:solidFill>
              <a:srgbClr val="0070C0"/>
            </a:solidFill>
          </c:spPr>
          <c:invertIfNegative val="0"/>
          <c:dLbls>
            <c:spPr>
              <a:noFill/>
              <a:ln>
                <a:noFill/>
              </a:ln>
              <a:effectLst/>
            </c:spPr>
            <c:txPr>
              <a:bodyPr anchorCtr="0"/>
              <a:lstStyle/>
              <a:p>
                <a:pPr algn="ctr">
                  <a:defRPr lang="he-IL" sz="1200" b="1" i="0" u="none" strike="noStrike" kern="1200" baseline="0">
                    <a:solidFill>
                      <a:schemeClr val="bg1"/>
                    </a:solidFill>
                    <a:latin typeface="Segoe UI" panose="020B0502040204020203" pitchFamily="34" charset="0"/>
                    <a:ea typeface="Arial"/>
                    <a:cs typeface="Segoe UI" panose="020B0502040204020203" pitchFamily="34" charset="0"/>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Sheet1!$B$1:$E$1</c:f>
              <c:strCache>
                <c:ptCount val="4"/>
                <c:pt idx="0">
                  <c:v>מגזר יהודי</c:v>
                </c:pt>
                <c:pt idx="1">
                  <c:v>מגזר ערבי</c:v>
                </c:pt>
                <c:pt idx="2">
                  <c:v>מגזר יהודי</c:v>
                </c:pt>
                <c:pt idx="3">
                  <c:v>מגזר ערבי</c:v>
                </c:pt>
              </c:strCache>
            </c:strRef>
          </c:cat>
          <c:val>
            <c:numRef>
              <c:f>Sheet1!$B$3:$E$3</c:f>
              <c:numCache>
                <c:formatCode>0%</c:formatCode>
                <c:ptCount val="4"/>
                <c:pt idx="0">
                  <c:v>0.29943502824858759</c:v>
                </c:pt>
                <c:pt idx="1">
                  <c:v>0.26744186046511631</c:v>
                </c:pt>
                <c:pt idx="2">
                  <c:v>0.22981366459627328</c:v>
                </c:pt>
                <c:pt idx="3">
                  <c:v>0.28395061728395066</c:v>
                </c:pt>
              </c:numCache>
            </c:numRef>
          </c:val>
          <c:extLst>
            <c:ext xmlns:c16="http://schemas.microsoft.com/office/drawing/2014/chart" uri="{C3380CC4-5D6E-409C-BE32-E72D297353CC}">
              <c16:uniqueId val="{00000001-0DE3-413B-BCFA-E0921DF056CA}"/>
            </c:ext>
          </c:extLst>
        </c:ser>
        <c:ser>
          <c:idx val="2"/>
          <c:order val="2"/>
          <c:tx>
            <c:strRef>
              <c:f>Sheet1!$A$4</c:f>
              <c:strCache>
                <c:ptCount val="1"/>
                <c:pt idx="0">
                  <c:v>2023</c:v>
                </c:pt>
              </c:strCache>
            </c:strRef>
          </c:tx>
          <c:spPr>
            <a:solidFill>
              <a:srgbClr val="00B0F0"/>
            </a:solidFill>
          </c:spPr>
          <c:invertIfNegative val="0"/>
          <c:dLbls>
            <c:spPr>
              <a:noFill/>
              <a:ln>
                <a:noFill/>
              </a:ln>
              <a:effectLst/>
            </c:spPr>
            <c:txPr>
              <a:bodyPr wrap="square" lIns="38100" tIns="19050" rIns="38100" bIns="19050" anchor="ctr" anchorCtr="0">
                <a:spAutoFit/>
              </a:bodyPr>
              <a:lstStyle/>
              <a:p>
                <a:pPr algn="ctr">
                  <a:defRPr lang="he-IL" sz="1200" b="1" i="0" u="none" strike="noStrike" kern="1200" baseline="0">
                    <a:solidFill>
                      <a:schemeClr val="bg1"/>
                    </a:solidFill>
                    <a:latin typeface="Segoe UI" panose="020B0502040204020203" pitchFamily="34" charset="0"/>
                    <a:ea typeface="Arial"/>
                    <a:cs typeface="Segoe UI" panose="020B0502040204020203" pitchFamily="34" charset="0"/>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Sheet1!$B$1:$E$1</c:f>
              <c:strCache>
                <c:ptCount val="4"/>
                <c:pt idx="0">
                  <c:v>מגזר יהודי</c:v>
                </c:pt>
                <c:pt idx="1">
                  <c:v>מגזר ערבי</c:v>
                </c:pt>
                <c:pt idx="2">
                  <c:v>מגזר יהודי</c:v>
                </c:pt>
                <c:pt idx="3">
                  <c:v>מגזר ערבי</c:v>
                </c:pt>
              </c:strCache>
            </c:strRef>
          </c:cat>
          <c:val>
            <c:numRef>
              <c:f>Sheet1!$B$4:$E$4</c:f>
              <c:numCache>
                <c:formatCode>0%</c:formatCode>
                <c:ptCount val="4"/>
                <c:pt idx="0">
                  <c:v>0.15254237288135594</c:v>
                </c:pt>
                <c:pt idx="1">
                  <c:v>0.17441860465116277</c:v>
                </c:pt>
                <c:pt idx="2">
                  <c:v>0.18012422360248448</c:v>
                </c:pt>
                <c:pt idx="3">
                  <c:v>0.23456790123456792</c:v>
                </c:pt>
              </c:numCache>
            </c:numRef>
          </c:val>
          <c:extLst>
            <c:ext xmlns:c16="http://schemas.microsoft.com/office/drawing/2014/chart" uri="{C3380CC4-5D6E-409C-BE32-E72D297353CC}">
              <c16:uniqueId val="{00000002-0DE3-413B-BCFA-E0921DF056CA}"/>
            </c:ext>
          </c:extLst>
        </c:ser>
        <c:ser>
          <c:idx val="3"/>
          <c:order val="3"/>
          <c:tx>
            <c:strRef>
              <c:f>Sheet1!$A$5</c:f>
              <c:strCache>
                <c:ptCount val="1"/>
                <c:pt idx="0">
                  <c:v>2022</c:v>
                </c:pt>
              </c:strCache>
            </c:strRef>
          </c:tx>
          <c:spPr>
            <a:solidFill>
              <a:schemeClr val="accent5">
                <a:lumMod val="60000"/>
                <a:lumOff val="40000"/>
              </a:schemeClr>
            </a:solidFill>
          </c:spPr>
          <c:invertIfNegative val="0"/>
          <c:dLbls>
            <c:spPr>
              <a:noFill/>
              <a:ln>
                <a:noFill/>
              </a:ln>
              <a:effectLst/>
            </c:spPr>
            <c:txPr>
              <a:bodyPr wrap="square" lIns="38100" tIns="19050" rIns="38100" bIns="19050" anchor="ctr">
                <a:spAutoFit/>
              </a:bodyPr>
              <a:lstStyle/>
              <a:p>
                <a:pPr>
                  <a:defRPr sz="1200" b="1">
                    <a:solidFill>
                      <a:schemeClr val="bg1"/>
                    </a:solidFill>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Sheet1!$B$1:$E$1</c:f>
              <c:strCache>
                <c:ptCount val="4"/>
                <c:pt idx="0">
                  <c:v>מגזר יהודי</c:v>
                </c:pt>
                <c:pt idx="1">
                  <c:v>מגזר ערבי</c:v>
                </c:pt>
                <c:pt idx="2">
                  <c:v>מגזר יהודי</c:v>
                </c:pt>
                <c:pt idx="3">
                  <c:v>מגזר ערבי</c:v>
                </c:pt>
              </c:strCache>
            </c:strRef>
          </c:cat>
          <c:val>
            <c:numRef>
              <c:f>Sheet1!$B$5:$E$5</c:f>
              <c:numCache>
                <c:formatCode>0%</c:formatCode>
                <c:ptCount val="4"/>
                <c:pt idx="0">
                  <c:v>0.15254237288135594</c:v>
                </c:pt>
                <c:pt idx="1">
                  <c:v>0.11627906976744186</c:v>
                </c:pt>
                <c:pt idx="2">
                  <c:v>0.14906832298136646</c:v>
                </c:pt>
                <c:pt idx="3">
                  <c:v>0.13580246913580246</c:v>
                </c:pt>
              </c:numCache>
            </c:numRef>
          </c:val>
          <c:extLst>
            <c:ext xmlns:c16="http://schemas.microsoft.com/office/drawing/2014/chart" uri="{C3380CC4-5D6E-409C-BE32-E72D297353CC}">
              <c16:uniqueId val="{00000000-5AEA-45C7-8772-1ACAF543CB4B}"/>
            </c:ext>
          </c:extLst>
        </c:ser>
        <c:ser>
          <c:idx val="4"/>
          <c:order val="4"/>
          <c:tx>
            <c:strRef>
              <c:f>Sheet1!$A$6</c:f>
              <c:strCache>
                <c:ptCount val="1"/>
                <c:pt idx="0">
                  <c:v>2021</c:v>
                </c:pt>
              </c:strCache>
            </c:strRef>
          </c:tx>
          <c:spPr>
            <a:solidFill>
              <a:schemeClr val="accent5">
                <a:lumMod val="20000"/>
                <a:lumOff val="80000"/>
              </a:schemeClr>
            </a:solidFill>
          </c:spPr>
          <c:invertIfNegative val="0"/>
          <c:dLbls>
            <c:spPr>
              <a:noFill/>
              <a:ln>
                <a:noFill/>
              </a:ln>
              <a:effectLst/>
            </c:spPr>
            <c:txPr>
              <a:bodyPr wrap="square" lIns="38100" tIns="19050" rIns="38100" bIns="19050" anchor="ctr">
                <a:spAutoFit/>
              </a:bodyPr>
              <a:lstStyle/>
              <a:p>
                <a:pPr>
                  <a:defRPr sz="1200" b="1"/>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Sheet1!$B$1:$E$1</c:f>
              <c:strCache>
                <c:ptCount val="4"/>
                <c:pt idx="0">
                  <c:v>מגזר יהודי</c:v>
                </c:pt>
                <c:pt idx="1">
                  <c:v>מגזר ערבי</c:v>
                </c:pt>
                <c:pt idx="2">
                  <c:v>מגזר יהודי</c:v>
                </c:pt>
                <c:pt idx="3">
                  <c:v>מגזר ערבי</c:v>
                </c:pt>
              </c:strCache>
            </c:strRef>
          </c:cat>
          <c:val>
            <c:numRef>
              <c:f>Sheet1!$B$6:$E$6</c:f>
              <c:numCache>
                <c:formatCode>0%</c:formatCode>
                <c:ptCount val="4"/>
                <c:pt idx="0">
                  <c:v>5.084745762711864E-2</c:v>
                </c:pt>
                <c:pt idx="1">
                  <c:v>0.10465116279069768</c:v>
                </c:pt>
                <c:pt idx="2">
                  <c:v>0.10559006211180125</c:v>
                </c:pt>
                <c:pt idx="3">
                  <c:v>3.7037037037037035E-2</c:v>
                </c:pt>
              </c:numCache>
            </c:numRef>
          </c:val>
          <c:extLst>
            <c:ext xmlns:c16="http://schemas.microsoft.com/office/drawing/2014/chart" uri="{C3380CC4-5D6E-409C-BE32-E72D297353CC}">
              <c16:uniqueId val="{00000001-5AEA-45C7-8772-1ACAF543CB4B}"/>
            </c:ext>
          </c:extLst>
        </c:ser>
        <c:ser>
          <c:idx val="5"/>
          <c:order val="5"/>
          <c:tx>
            <c:strRef>
              <c:f>Sheet1!$A$7</c:f>
              <c:strCache>
                <c:ptCount val="1"/>
                <c:pt idx="0">
                  <c:v>2020</c:v>
                </c:pt>
              </c:strCache>
            </c:strRef>
          </c:tx>
          <c:spPr>
            <a:solidFill>
              <a:schemeClr val="bg1">
                <a:lumMod val="85000"/>
              </a:schemeClr>
            </a:solidFill>
          </c:spPr>
          <c:invertIfNegative val="0"/>
          <c:dLbls>
            <c:spPr>
              <a:noFill/>
              <a:ln>
                <a:noFill/>
              </a:ln>
              <a:effectLst/>
            </c:spPr>
            <c:txPr>
              <a:bodyPr wrap="square" lIns="38100" tIns="19050" rIns="38100" bIns="19050" anchor="ctr">
                <a:spAutoFit/>
              </a:bodyPr>
              <a:lstStyle/>
              <a:p>
                <a:pPr>
                  <a:defRPr sz="1200" b="1"/>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Sheet1!$B$1:$E$1</c:f>
              <c:strCache>
                <c:ptCount val="4"/>
                <c:pt idx="0">
                  <c:v>מגזר יהודי</c:v>
                </c:pt>
                <c:pt idx="1">
                  <c:v>מגזר ערבי</c:v>
                </c:pt>
                <c:pt idx="2">
                  <c:v>מגזר יהודי</c:v>
                </c:pt>
                <c:pt idx="3">
                  <c:v>מגזר ערבי</c:v>
                </c:pt>
              </c:strCache>
            </c:strRef>
          </c:cat>
          <c:val>
            <c:numRef>
              <c:f>Sheet1!$B$7:$E$7</c:f>
              <c:numCache>
                <c:formatCode>0%</c:formatCode>
                <c:ptCount val="4"/>
                <c:pt idx="0">
                  <c:v>6.2146892655367235E-2</c:v>
                </c:pt>
                <c:pt idx="1">
                  <c:v>9.3023255813953487E-2</c:v>
                </c:pt>
                <c:pt idx="2">
                  <c:v>6.8322981366459631E-2</c:v>
                </c:pt>
                <c:pt idx="3">
                  <c:v>2.4691358024691357E-2</c:v>
                </c:pt>
              </c:numCache>
            </c:numRef>
          </c:val>
          <c:extLst>
            <c:ext xmlns:c16="http://schemas.microsoft.com/office/drawing/2014/chart" uri="{C3380CC4-5D6E-409C-BE32-E72D297353CC}">
              <c16:uniqueId val="{00000002-5AEA-45C7-8772-1ACAF543CB4B}"/>
            </c:ext>
          </c:extLst>
        </c:ser>
        <c:dLbls>
          <c:showLegendKey val="0"/>
          <c:showVal val="0"/>
          <c:showCatName val="0"/>
          <c:showSerName val="0"/>
          <c:showPercent val="0"/>
          <c:showBubbleSize val="0"/>
        </c:dLbls>
        <c:gapWidth val="80"/>
        <c:axId val="184526720"/>
        <c:axId val="184528256"/>
      </c:barChart>
      <c:catAx>
        <c:axId val="184526720"/>
        <c:scaling>
          <c:orientation val="minMax"/>
        </c:scaling>
        <c:delete val="0"/>
        <c:axPos val="b"/>
        <c:numFmt formatCode="General" sourceLinked="1"/>
        <c:majorTickMark val="out"/>
        <c:minorTickMark val="none"/>
        <c:tickLblPos val="low"/>
        <c:spPr>
          <a:ln w="38100">
            <a:solidFill>
              <a:schemeClr val="bg1"/>
            </a:solidFill>
            <a:prstDash val="solid"/>
          </a:ln>
        </c:spPr>
        <c:txPr>
          <a:bodyPr rot="0" vert="horz"/>
          <a:lstStyle/>
          <a:p>
            <a:pPr>
              <a:defRPr sz="1200" b="1">
                <a:solidFill>
                  <a:schemeClr val="tx1">
                    <a:lumMod val="75000"/>
                    <a:lumOff val="25000"/>
                  </a:schemeClr>
                </a:solidFill>
              </a:defRPr>
            </a:pPr>
            <a:endParaRPr lang="he-IL"/>
          </a:p>
        </c:txPr>
        <c:crossAx val="184528256"/>
        <c:crosses val="autoZero"/>
        <c:auto val="1"/>
        <c:lblAlgn val="ctr"/>
        <c:lblOffset val="100"/>
        <c:noMultiLvlLbl val="0"/>
      </c:catAx>
      <c:valAx>
        <c:axId val="184528256"/>
        <c:scaling>
          <c:orientation val="minMax"/>
          <c:max val="1"/>
          <c:min val="0"/>
        </c:scaling>
        <c:delete val="1"/>
        <c:axPos val="l"/>
        <c:numFmt formatCode="0%" sourceLinked="1"/>
        <c:majorTickMark val="out"/>
        <c:minorTickMark val="none"/>
        <c:tickLblPos val="nextTo"/>
        <c:crossAx val="184526720"/>
        <c:crosses val="autoZero"/>
        <c:crossBetween val="between"/>
      </c:valAx>
      <c:spPr>
        <a:noFill/>
        <a:ln w="25965">
          <a:noFill/>
        </a:ln>
      </c:spPr>
    </c:plotArea>
    <c:legend>
      <c:legendPos val="r"/>
      <c:layout>
        <c:manualLayout>
          <c:xMode val="edge"/>
          <c:yMode val="edge"/>
          <c:x val="0.92082983971657684"/>
          <c:y val="0.11347413581173542"/>
          <c:w val="5.947484959116929E-2"/>
          <c:h val="0.58183810257153856"/>
        </c:manualLayout>
      </c:layout>
      <c:overlay val="0"/>
      <c:txPr>
        <a:bodyPr/>
        <a:lstStyle/>
        <a:p>
          <a:pPr rtl="0">
            <a:defRPr sz="1400"/>
          </a:pPr>
          <a:endParaRPr lang="he-IL"/>
        </a:p>
      </c:txPr>
    </c:legend>
    <c:plotVisOnly val="1"/>
    <c:dispBlanksAs val="gap"/>
    <c:showDLblsOverMax val="0"/>
  </c:chart>
  <c:spPr>
    <a:noFill/>
    <a:ln>
      <a:noFill/>
    </a:ln>
  </c:spPr>
  <c:txPr>
    <a:bodyPr/>
    <a:lstStyle/>
    <a:p>
      <a:pPr>
        <a:defRPr sz="1100" b="0" i="0" u="none" strike="noStrike" baseline="0">
          <a:solidFill>
            <a:schemeClr val="tx1"/>
          </a:solidFill>
          <a:latin typeface="Segoe UI" panose="020B0502040204020203" pitchFamily="34" charset="0"/>
          <a:ea typeface="Arial"/>
          <a:cs typeface="Segoe UI" panose="020B0502040204020203" pitchFamily="34" charset="0"/>
        </a:defRPr>
      </a:pPr>
      <a:endParaRPr lang="he-IL"/>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6627887535506753E-3"/>
          <c:y val="4.3281067273958265E-2"/>
          <c:w val="0.98311670274473462"/>
          <c:h val="0.68863833333333335"/>
        </c:manualLayout>
      </c:layout>
      <c:barChart>
        <c:barDir val="col"/>
        <c:grouping val="stacked"/>
        <c:varyColors val="0"/>
        <c:ser>
          <c:idx val="0"/>
          <c:order val="0"/>
          <c:tx>
            <c:strRef>
              <c:f>Sheet1!$A$2</c:f>
              <c:strCache>
                <c:ptCount val="1"/>
                <c:pt idx="0">
                  <c:v>2024-2025</c:v>
                </c:pt>
              </c:strCache>
            </c:strRef>
          </c:tx>
          <c:spPr>
            <a:solidFill>
              <a:srgbClr val="1D1C64"/>
            </a:solidFill>
            <a:ln w="31750">
              <a:noFill/>
            </a:ln>
          </c:spPr>
          <c:invertIfNegative val="0"/>
          <c:dLbls>
            <c:spPr>
              <a:noFill/>
              <a:ln>
                <a:noFill/>
              </a:ln>
              <a:effectLst/>
            </c:spPr>
            <c:txPr>
              <a:bodyPr/>
              <a:lstStyle/>
              <a:p>
                <a:pPr>
                  <a:defRPr sz="1000" b="1">
                    <a:solidFill>
                      <a:schemeClr val="bg1"/>
                    </a:solidFill>
                    <a:latin typeface="Segoe UI" panose="020B0502040204020203" pitchFamily="34" charset="0"/>
                    <a:cs typeface="Segoe UI" panose="020B0502040204020203" pitchFamily="34" charset="0"/>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Sheet1!$B$1:$U$1</c:f>
              <c:strCache>
                <c:ptCount val="12"/>
                <c:pt idx="0">
                  <c:v>18-29</c:v>
                </c:pt>
                <c:pt idx="1">
                  <c:v>30-49</c:v>
                </c:pt>
                <c:pt idx="2">
                  <c:v>50+</c:v>
                </c:pt>
                <c:pt idx="3">
                  <c:v>18-29</c:v>
                </c:pt>
                <c:pt idx="4">
                  <c:v>30-49</c:v>
                </c:pt>
                <c:pt idx="5">
                  <c:v>50+</c:v>
                </c:pt>
                <c:pt idx="6">
                  <c:v>18-29</c:v>
                </c:pt>
                <c:pt idx="7">
                  <c:v>30-49</c:v>
                </c:pt>
                <c:pt idx="8">
                  <c:v>50+</c:v>
                </c:pt>
                <c:pt idx="9">
                  <c:v>18-29</c:v>
                </c:pt>
                <c:pt idx="10">
                  <c:v>30-49</c:v>
                </c:pt>
                <c:pt idx="11">
                  <c:v>50+</c:v>
                </c:pt>
              </c:strCache>
              <c:extLst/>
            </c:strRef>
          </c:cat>
          <c:val>
            <c:numRef>
              <c:f>Sheet1!$B$2:$U$2</c:f>
              <c:numCache>
                <c:formatCode>0%</c:formatCode>
                <c:ptCount val="12"/>
                <c:pt idx="0">
                  <c:v>0.73529411764705888</c:v>
                </c:pt>
                <c:pt idx="1">
                  <c:v>0.58333333333333326</c:v>
                </c:pt>
                <c:pt idx="2">
                  <c:v>0.52631578947368418</c:v>
                </c:pt>
                <c:pt idx="3">
                  <c:v>0.5</c:v>
                </c:pt>
                <c:pt idx="4">
                  <c:v>0.48214285714285715</c:v>
                </c:pt>
                <c:pt idx="5">
                  <c:v>0.66666666666666663</c:v>
                </c:pt>
                <c:pt idx="6">
                  <c:v>0.56666666666666665</c:v>
                </c:pt>
                <c:pt idx="7">
                  <c:v>0.53164556962025322</c:v>
                </c:pt>
                <c:pt idx="8">
                  <c:v>0.40384615384615385</c:v>
                </c:pt>
                <c:pt idx="9">
                  <c:v>0.5714285714285714</c:v>
                </c:pt>
                <c:pt idx="10">
                  <c:v>0.56862745098039214</c:v>
                </c:pt>
                <c:pt idx="11">
                  <c:v>0.55555555555555558</c:v>
                </c:pt>
              </c:numCache>
              <c:extLst/>
            </c:numRef>
          </c:val>
          <c:extLst>
            <c:ext xmlns:c16="http://schemas.microsoft.com/office/drawing/2014/chart" uri="{C3380CC4-5D6E-409C-BE32-E72D297353CC}">
              <c16:uniqueId val="{00000000-0DE3-413B-BCFA-E0921DF056CA}"/>
            </c:ext>
          </c:extLst>
        </c:ser>
        <c:ser>
          <c:idx val="1"/>
          <c:order val="1"/>
          <c:tx>
            <c:strRef>
              <c:f>Sheet1!$A$3</c:f>
              <c:strCache>
                <c:ptCount val="1"/>
                <c:pt idx="0">
                  <c:v>2022-2023</c:v>
                </c:pt>
              </c:strCache>
            </c:strRef>
          </c:tx>
          <c:spPr>
            <a:solidFill>
              <a:srgbClr val="00B0F0"/>
            </a:solidFill>
          </c:spPr>
          <c:invertIfNegative val="0"/>
          <c:dLbls>
            <c:spPr>
              <a:noFill/>
              <a:ln>
                <a:noFill/>
              </a:ln>
              <a:effectLst/>
            </c:spPr>
            <c:txPr>
              <a:bodyPr anchorCtr="0"/>
              <a:lstStyle/>
              <a:p>
                <a:pPr algn="ctr">
                  <a:defRPr lang="he-IL" sz="1000" b="1" i="0" u="none" strike="noStrike" kern="1200" baseline="0">
                    <a:solidFill>
                      <a:schemeClr val="bg1"/>
                    </a:solidFill>
                    <a:latin typeface="Segoe UI" panose="020B0502040204020203" pitchFamily="34" charset="0"/>
                    <a:ea typeface="Arial"/>
                    <a:cs typeface="Segoe UI" panose="020B0502040204020203" pitchFamily="34" charset="0"/>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Sheet1!$B$1:$U$1</c:f>
              <c:strCache>
                <c:ptCount val="12"/>
                <c:pt idx="0">
                  <c:v>18-29</c:v>
                </c:pt>
                <c:pt idx="1">
                  <c:v>30-49</c:v>
                </c:pt>
                <c:pt idx="2">
                  <c:v>50+</c:v>
                </c:pt>
                <c:pt idx="3">
                  <c:v>18-29</c:v>
                </c:pt>
                <c:pt idx="4">
                  <c:v>30-49</c:v>
                </c:pt>
                <c:pt idx="5">
                  <c:v>50+</c:v>
                </c:pt>
                <c:pt idx="6">
                  <c:v>18-29</c:v>
                </c:pt>
                <c:pt idx="7">
                  <c:v>30-49</c:v>
                </c:pt>
                <c:pt idx="8">
                  <c:v>50+</c:v>
                </c:pt>
                <c:pt idx="9">
                  <c:v>18-29</c:v>
                </c:pt>
                <c:pt idx="10">
                  <c:v>30-49</c:v>
                </c:pt>
                <c:pt idx="11">
                  <c:v>50+</c:v>
                </c:pt>
              </c:strCache>
              <c:extLst/>
            </c:strRef>
          </c:cat>
          <c:val>
            <c:numRef>
              <c:f>Sheet1!$B$3:$U$3</c:f>
              <c:numCache>
                <c:formatCode>0%</c:formatCode>
                <c:ptCount val="12"/>
                <c:pt idx="0">
                  <c:v>0.20588235294117649</c:v>
                </c:pt>
                <c:pt idx="1">
                  <c:v>0.3125</c:v>
                </c:pt>
                <c:pt idx="2">
                  <c:v>0.33684210526315783</c:v>
                </c:pt>
                <c:pt idx="3">
                  <c:v>0.22222222222222224</c:v>
                </c:pt>
                <c:pt idx="4">
                  <c:v>0.32142857142857145</c:v>
                </c:pt>
                <c:pt idx="5">
                  <c:v>0.25</c:v>
                </c:pt>
                <c:pt idx="6">
                  <c:v>0.30000000000000004</c:v>
                </c:pt>
                <c:pt idx="7">
                  <c:v>0.34177215189873422</c:v>
                </c:pt>
                <c:pt idx="8">
                  <c:v>0.32692307692307693</c:v>
                </c:pt>
                <c:pt idx="9">
                  <c:v>0.38095238095238099</c:v>
                </c:pt>
                <c:pt idx="10">
                  <c:v>0.35294117647058826</c:v>
                </c:pt>
                <c:pt idx="11">
                  <c:v>0.44444444444444448</c:v>
                </c:pt>
              </c:numCache>
              <c:extLst/>
            </c:numRef>
          </c:val>
          <c:extLst>
            <c:ext xmlns:c16="http://schemas.microsoft.com/office/drawing/2014/chart" uri="{C3380CC4-5D6E-409C-BE32-E72D297353CC}">
              <c16:uniqueId val="{00000001-0DE3-413B-BCFA-E0921DF056CA}"/>
            </c:ext>
          </c:extLst>
        </c:ser>
        <c:ser>
          <c:idx val="2"/>
          <c:order val="2"/>
          <c:tx>
            <c:strRef>
              <c:f>Sheet1!$A$4</c:f>
              <c:strCache>
                <c:ptCount val="1"/>
                <c:pt idx="0">
                  <c:v>2020-2021</c:v>
                </c:pt>
              </c:strCache>
            </c:strRef>
          </c:tx>
          <c:spPr>
            <a:solidFill>
              <a:schemeClr val="accent5">
                <a:lumMod val="40000"/>
                <a:lumOff val="60000"/>
              </a:schemeClr>
            </a:solidFill>
          </c:spPr>
          <c:invertIfNegative val="0"/>
          <c:dLbls>
            <c:spPr>
              <a:noFill/>
              <a:ln>
                <a:noFill/>
              </a:ln>
              <a:effectLst/>
            </c:spPr>
            <c:txPr>
              <a:bodyPr wrap="square" lIns="38100" tIns="19050" rIns="38100" bIns="19050" anchor="ctr" anchorCtr="0">
                <a:spAutoFit/>
              </a:bodyPr>
              <a:lstStyle/>
              <a:p>
                <a:pPr algn="ctr">
                  <a:defRPr lang="he-IL" sz="1000" b="1" i="0" u="none" strike="noStrike" kern="1200" baseline="0">
                    <a:solidFill>
                      <a:schemeClr val="tx1"/>
                    </a:solidFill>
                    <a:latin typeface="Segoe UI" panose="020B0502040204020203" pitchFamily="34" charset="0"/>
                    <a:ea typeface="Arial"/>
                    <a:cs typeface="Segoe UI" panose="020B0502040204020203" pitchFamily="34" charset="0"/>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Sheet1!$B$1:$U$1</c:f>
              <c:strCache>
                <c:ptCount val="12"/>
                <c:pt idx="0">
                  <c:v>18-29</c:v>
                </c:pt>
                <c:pt idx="1">
                  <c:v>30-49</c:v>
                </c:pt>
                <c:pt idx="2">
                  <c:v>50+</c:v>
                </c:pt>
                <c:pt idx="3">
                  <c:v>18-29</c:v>
                </c:pt>
                <c:pt idx="4">
                  <c:v>30-49</c:v>
                </c:pt>
                <c:pt idx="5">
                  <c:v>50+</c:v>
                </c:pt>
                <c:pt idx="6">
                  <c:v>18-29</c:v>
                </c:pt>
                <c:pt idx="7">
                  <c:v>30-49</c:v>
                </c:pt>
                <c:pt idx="8">
                  <c:v>50+</c:v>
                </c:pt>
                <c:pt idx="9">
                  <c:v>18-29</c:v>
                </c:pt>
                <c:pt idx="10">
                  <c:v>30-49</c:v>
                </c:pt>
                <c:pt idx="11">
                  <c:v>50+</c:v>
                </c:pt>
              </c:strCache>
              <c:extLst/>
            </c:strRef>
          </c:cat>
          <c:val>
            <c:numRef>
              <c:f>Sheet1!$B$4:$U$4</c:f>
              <c:numCache>
                <c:formatCode>0%</c:formatCode>
                <c:ptCount val="12"/>
                <c:pt idx="0">
                  <c:v>5.8823529411764712E-2</c:v>
                </c:pt>
                <c:pt idx="1">
                  <c:v>0.10416666666666667</c:v>
                </c:pt>
                <c:pt idx="2">
                  <c:v>0.13684210526315788</c:v>
                </c:pt>
                <c:pt idx="3">
                  <c:v>0.27777777777777779</c:v>
                </c:pt>
                <c:pt idx="4">
                  <c:v>0.19642857142857142</c:v>
                </c:pt>
                <c:pt idx="5">
                  <c:v>8.3333333333333343E-2</c:v>
                </c:pt>
                <c:pt idx="6">
                  <c:v>0.13333333333333333</c:v>
                </c:pt>
                <c:pt idx="7">
                  <c:v>0.12658227848101267</c:v>
                </c:pt>
                <c:pt idx="8">
                  <c:v>0.26923076923076922</c:v>
                </c:pt>
                <c:pt idx="9">
                  <c:v>4.7619047619047616E-2</c:v>
                </c:pt>
                <c:pt idx="10">
                  <c:v>7.8431372549019607E-2</c:v>
                </c:pt>
              </c:numCache>
              <c:extLst/>
            </c:numRef>
          </c:val>
          <c:extLst>
            <c:ext xmlns:c16="http://schemas.microsoft.com/office/drawing/2014/chart" uri="{C3380CC4-5D6E-409C-BE32-E72D297353CC}">
              <c16:uniqueId val="{00000002-0DE3-413B-BCFA-E0921DF056CA}"/>
            </c:ext>
          </c:extLst>
        </c:ser>
        <c:dLbls>
          <c:showLegendKey val="0"/>
          <c:showVal val="0"/>
          <c:showCatName val="0"/>
          <c:showSerName val="0"/>
          <c:showPercent val="0"/>
          <c:showBubbleSize val="0"/>
        </c:dLbls>
        <c:gapWidth val="80"/>
        <c:overlap val="100"/>
        <c:axId val="184526720"/>
        <c:axId val="184528256"/>
      </c:barChart>
      <c:catAx>
        <c:axId val="184526720"/>
        <c:scaling>
          <c:orientation val="minMax"/>
        </c:scaling>
        <c:delete val="0"/>
        <c:axPos val="b"/>
        <c:numFmt formatCode="General" sourceLinked="1"/>
        <c:majorTickMark val="out"/>
        <c:minorTickMark val="none"/>
        <c:tickLblPos val="nextTo"/>
        <c:spPr>
          <a:ln w="38100">
            <a:solidFill>
              <a:schemeClr val="bg1"/>
            </a:solidFill>
            <a:prstDash val="solid"/>
          </a:ln>
        </c:spPr>
        <c:txPr>
          <a:bodyPr rot="0" vert="horz"/>
          <a:lstStyle/>
          <a:p>
            <a:pPr>
              <a:defRPr sz="1000" b="0">
                <a:solidFill>
                  <a:schemeClr val="tx1">
                    <a:lumMod val="75000"/>
                    <a:lumOff val="25000"/>
                  </a:schemeClr>
                </a:solidFill>
              </a:defRPr>
            </a:pPr>
            <a:endParaRPr lang="he-IL"/>
          </a:p>
        </c:txPr>
        <c:crossAx val="184528256"/>
        <c:crosses val="autoZero"/>
        <c:auto val="1"/>
        <c:lblAlgn val="ctr"/>
        <c:lblOffset val="20"/>
        <c:noMultiLvlLbl val="0"/>
      </c:catAx>
      <c:valAx>
        <c:axId val="184528256"/>
        <c:scaling>
          <c:orientation val="minMax"/>
          <c:max val="1.1000000000000001"/>
          <c:min val="0"/>
        </c:scaling>
        <c:delete val="1"/>
        <c:axPos val="l"/>
        <c:numFmt formatCode="0%" sourceLinked="1"/>
        <c:majorTickMark val="out"/>
        <c:minorTickMark val="none"/>
        <c:tickLblPos val="nextTo"/>
        <c:crossAx val="184526720"/>
        <c:crosses val="autoZero"/>
        <c:crossBetween val="between"/>
      </c:valAx>
      <c:spPr>
        <a:noFill/>
        <a:ln w="25965">
          <a:noFill/>
        </a:ln>
      </c:spPr>
    </c:plotArea>
    <c:plotVisOnly val="1"/>
    <c:dispBlanksAs val="gap"/>
    <c:showDLblsOverMax val="0"/>
  </c:chart>
  <c:spPr>
    <a:noFill/>
    <a:ln>
      <a:noFill/>
    </a:ln>
  </c:spPr>
  <c:txPr>
    <a:bodyPr/>
    <a:lstStyle/>
    <a:p>
      <a:pPr>
        <a:defRPr sz="1100" b="0" i="0" u="none" strike="noStrike" baseline="0">
          <a:solidFill>
            <a:schemeClr val="tx1"/>
          </a:solidFill>
          <a:latin typeface="Segoe UI" panose="020B0502040204020203" pitchFamily="34" charset="0"/>
          <a:ea typeface="Arial"/>
          <a:cs typeface="Segoe UI" panose="020B0502040204020203" pitchFamily="34" charset="0"/>
        </a:defRPr>
      </a:pPr>
      <a:endParaRPr lang="he-IL"/>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6627887535506753E-3"/>
          <c:y val="4.3281067273958265E-2"/>
          <c:w val="0.98311670274473462"/>
          <c:h val="0.68863833333333335"/>
        </c:manualLayout>
      </c:layout>
      <c:barChart>
        <c:barDir val="col"/>
        <c:grouping val="stacked"/>
        <c:varyColors val="0"/>
        <c:ser>
          <c:idx val="0"/>
          <c:order val="0"/>
          <c:tx>
            <c:strRef>
              <c:f>Sheet1!$A$2</c:f>
              <c:strCache>
                <c:ptCount val="1"/>
                <c:pt idx="0">
                  <c:v>2024-2025</c:v>
                </c:pt>
              </c:strCache>
            </c:strRef>
          </c:tx>
          <c:spPr>
            <a:solidFill>
              <a:srgbClr val="1D1C64"/>
            </a:solidFill>
            <a:ln w="31750">
              <a:noFill/>
            </a:ln>
          </c:spPr>
          <c:invertIfNegative val="0"/>
          <c:dLbls>
            <c:spPr>
              <a:noFill/>
              <a:ln>
                <a:noFill/>
              </a:ln>
              <a:effectLst/>
            </c:spPr>
            <c:txPr>
              <a:bodyPr/>
              <a:lstStyle/>
              <a:p>
                <a:pPr>
                  <a:defRPr sz="1000" b="1">
                    <a:solidFill>
                      <a:schemeClr val="bg1"/>
                    </a:solidFill>
                    <a:latin typeface="Segoe UI" panose="020B0502040204020203" pitchFamily="34" charset="0"/>
                    <a:cs typeface="Segoe UI" panose="020B0502040204020203" pitchFamily="34" charset="0"/>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Sheet1!$B$1:$I$1</c:f>
              <c:strCache>
                <c:ptCount val="8"/>
                <c:pt idx="0">
                  <c:v>קיבלו דוח אחד</c:v>
                </c:pt>
                <c:pt idx="1">
                  <c:v>קיבלו 2+ דוחות</c:v>
                </c:pt>
                <c:pt idx="2">
                  <c:v>קיבלו דוח אחד</c:v>
                </c:pt>
                <c:pt idx="3">
                  <c:v>קיבלו 2+ דוחות</c:v>
                </c:pt>
                <c:pt idx="4">
                  <c:v>קיבלו דוח אחד</c:v>
                </c:pt>
                <c:pt idx="5">
                  <c:v>קיבלו 2+ דוחות</c:v>
                </c:pt>
                <c:pt idx="6">
                  <c:v>קיבלו דוח אחד</c:v>
                </c:pt>
                <c:pt idx="7">
                  <c:v>קיבלו 2+ דוחות</c:v>
                </c:pt>
              </c:strCache>
            </c:strRef>
          </c:cat>
          <c:val>
            <c:numRef>
              <c:f>Sheet1!$B$2:$I$2</c:f>
              <c:numCache>
                <c:formatCode>0%</c:formatCode>
                <c:ptCount val="8"/>
                <c:pt idx="0">
                  <c:v>0.5379310344827587</c:v>
                </c:pt>
                <c:pt idx="1">
                  <c:v>0.78125</c:v>
                </c:pt>
                <c:pt idx="2">
                  <c:v>0.5</c:v>
                </c:pt>
                <c:pt idx="3">
                  <c:v>0.55000000000000004</c:v>
                </c:pt>
                <c:pt idx="4">
                  <c:v>0.4462809917355372</c:v>
                </c:pt>
                <c:pt idx="5">
                  <c:v>0.65</c:v>
                </c:pt>
                <c:pt idx="6">
                  <c:v>0.50819672131147542</c:v>
                </c:pt>
                <c:pt idx="7">
                  <c:v>0.75</c:v>
                </c:pt>
              </c:numCache>
            </c:numRef>
          </c:val>
          <c:extLst>
            <c:ext xmlns:c16="http://schemas.microsoft.com/office/drawing/2014/chart" uri="{C3380CC4-5D6E-409C-BE32-E72D297353CC}">
              <c16:uniqueId val="{00000000-1B76-41C8-8B30-2ACC5071C195}"/>
            </c:ext>
          </c:extLst>
        </c:ser>
        <c:ser>
          <c:idx val="1"/>
          <c:order val="1"/>
          <c:tx>
            <c:strRef>
              <c:f>Sheet1!$A$3</c:f>
              <c:strCache>
                <c:ptCount val="1"/>
                <c:pt idx="0">
                  <c:v>2022-2023</c:v>
                </c:pt>
              </c:strCache>
            </c:strRef>
          </c:tx>
          <c:spPr>
            <a:solidFill>
              <a:srgbClr val="00B0F0"/>
            </a:solidFill>
          </c:spPr>
          <c:invertIfNegative val="0"/>
          <c:dLbls>
            <c:spPr>
              <a:noFill/>
              <a:ln>
                <a:noFill/>
              </a:ln>
              <a:effectLst/>
            </c:spPr>
            <c:txPr>
              <a:bodyPr anchorCtr="0"/>
              <a:lstStyle/>
              <a:p>
                <a:pPr algn="ctr">
                  <a:defRPr lang="he-IL" sz="1000" b="1" i="0" u="none" strike="noStrike" kern="1200" baseline="0">
                    <a:solidFill>
                      <a:schemeClr val="bg1"/>
                    </a:solidFill>
                    <a:latin typeface="Segoe UI" panose="020B0502040204020203" pitchFamily="34" charset="0"/>
                    <a:ea typeface="Arial"/>
                    <a:cs typeface="Segoe UI" panose="020B0502040204020203" pitchFamily="34" charset="0"/>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Sheet1!$B$1:$I$1</c:f>
              <c:strCache>
                <c:ptCount val="8"/>
                <c:pt idx="0">
                  <c:v>קיבלו דוח אחד</c:v>
                </c:pt>
                <c:pt idx="1">
                  <c:v>קיבלו 2+ דוחות</c:v>
                </c:pt>
                <c:pt idx="2">
                  <c:v>קיבלו דוח אחד</c:v>
                </c:pt>
                <c:pt idx="3">
                  <c:v>קיבלו 2+ דוחות</c:v>
                </c:pt>
                <c:pt idx="4">
                  <c:v>קיבלו דוח אחד</c:v>
                </c:pt>
                <c:pt idx="5">
                  <c:v>קיבלו 2+ דוחות</c:v>
                </c:pt>
                <c:pt idx="6">
                  <c:v>קיבלו דוח אחד</c:v>
                </c:pt>
                <c:pt idx="7">
                  <c:v>קיבלו 2+ דוחות</c:v>
                </c:pt>
              </c:strCache>
            </c:strRef>
          </c:cat>
          <c:val>
            <c:numRef>
              <c:f>Sheet1!$B$3:$I$3</c:f>
              <c:numCache>
                <c:formatCode>0%</c:formatCode>
                <c:ptCount val="8"/>
                <c:pt idx="0">
                  <c:v>0.33103448275862069</c:v>
                </c:pt>
                <c:pt idx="1">
                  <c:v>0.1875</c:v>
                </c:pt>
                <c:pt idx="2">
                  <c:v>0.2878787878787879</c:v>
                </c:pt>
                <c:pt idx="3">
                  <c:v>0.30000000000000004</c:v>
                </c:pt>
                <c:pt idx="4">
                  <c:v>0.35537190082644632</c:v>
                </c:pt>
                <c:pt idx="5">
                  <c:v>0.25</c:v>
                </c:pt>
                <c:pt idx="6">
                  <c:v>0.4098360655737705</c:v>
                </c:pt>
                <c:pt idx="7">
                  <c:v>0.25</c:v>
                </c:pt>
              </c:numCache>
            </c:numRef>
          </c:val>
          <c:extLst>
            <c:ext xmlns:c16="http://schemas.microsoft.com/office/drawing/2014/chart" uri="{C3380CC4-5D6E-409C-BE32-E72D297353CC}">
              <c16:uniqueId val="{00000001-1B76-41C8-8B30-2ACC5071C195}"/>
            </c:ext>
          </c:extLst>
        </c:ser>
        <c:ser>
          <c:idx val="2"/>
          <c:order val="2"/>
          <c:tx>
            <c:strRef>
              <c:f>Sheet1!$A$4</c:f>
              <c:strCache>
                <c:ptCount val="1"/>
                <c:pt idx="0">
                  <c:v>2020-2021</c:v>
                </c:pt>
              </c:strCache>
            </c:strRef>
          </c:tx>
          <c:spPr>
            <a:solidFill>
              <a:schemeClr val="accent5">
                <a:lumMod val="40000"/>
                <a:lumOff val="60000"/>
              </a:schemeClr>
            </a:solidFill>
          </c:spPr>
          <c:invertIfNegative val="0"/>
          <c:dLbls>
            <c:spPr>
              <a:noFill/>
              <a:ln>
                <a:noFill/>
              </a:ln>
              <a:effectLst/>
            </c:spPr>
            <c:txPr>
              <a:bodyPr wrap="square" lIns="38100" tIns="19050" rIns="38100" bIns="19050" anchor="ctr" anchorCtr="0">
                <a:spAutoFit/>
              </a:bodyPr>
              <a:lstStyle/>
              <a:p>
                <a:pPr algn="ctr">
                  <a:defRPr lang="he-IL" sz="1000" b="1" i="0" u="none" strike="noStrike" kern="1200" baseline="0">
                    <a:solidFill>
                      <a:schemeClr val="tx1"/>
                    </a:solidFill>
                    <a:latin typeface="Segoe UI" panose="020B0502040204020203" pitchFamily="34" charset="0"/>
                    <a:ea typeface="Arial"/>
                    <a:cs typeface="Segoe UI" panose="020B0502040204020203" pitchFamily="34" charset="0"/>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Sheet1!$B$1:$I$1</c:f>
              <c:strCache>
                <c:ptCount val="8"/>
                <c:pt idx="0">
                  <c:v>קיבלו דוח אחד</c:v>
                </c:pt>
                <c:pt idx="1">
                  <c:v>קיבלו 2+ דוחות</c:v>
                </c:pt>
                <c:pt idx="2">
                  <c:v>קיבלו דוח אחד</c:v>
                </c:pt>
                <c:pt idx="3">
                  <c:v>קיבלו 2+ דוחות</c:v>
                </c:pt>
                <c:pt idx="4">
                  <c:v>קיבלו דוח אחד</c:v>
                </c:pt>
                <c:pt idx="5">
                  <c:v>קיבלו 2+ דוחות</c:v>
                </c:pt>
                <c:pt idx="6">
                  <c:v>קיבלו דוח אחד</c:v>
                </c:pt>
                <c:pt idx="7">
                  <c:v>קיבלו 2+ דוחות</c:v>
                </c:pt>
              </c:strCache>
            </c:strRef>
          </c:cat>
          <c:val>
            <c:numRef>
              <c:f>Sheet1!$B$4:$I$4</c:f>
              <c:numCache>
                <c:formatCode>0%</c:formatCode>
                <c:ptCount val="8"/>
                <c:pt idx="0">
                  <c:v>0.1310344827586207</c:v>
                </c:pt>
                <c:pt idx="1">
                  <c:v>3.125E-2</c:v>
                </c:pt>
                <c:pt idx="2">
                  <c:v>0.2121212121212121</c:v>
                </c:pt>
                <c:pt idx="3">
                  <c:v>0.15000000000000002</c:v>
                </c:pt>
                <c:pt idx="4">
                  <c:v>0.19834710743801653</c:v>
                </c:pt>
                <c:pt idx="5">
                  <c:v>0.1</c:v>
                </c:pt>
                <c:pt idx="6">
                  <c:v>8.1967213114754106E-2</c:v>
                </c:pt>
                <c:pt idx="7">
                  <c:v>0</c:v>
                </c:pt>
              </c:numCache>
            </c:numRef>
          </c:val>
          <c:extLst>
            <c:ext xmlns:c16="http://schemas.microsoft.com/office/drawing/2014/chart" uri="{C3380CC4-5D6E-409C-BE32-E72D297353CC}">
              <c16:uniqueId val="{00000002-1B76-41C8-8B30-2ACC5071C195}"/>
            </c:ext>
          </c:extLst>
        </c:ser>
        <c:dLbls>
          <c:showLegendKey val="0"/>
          <c:showVal val="0"/>
          <c:showCatName val="0"/>
          <c:showSerName val="0"/>
          <c:showPercent val="0"/>
          <c:showBubbleSize val="0"/>
        </c:dLbls>
        <c:gapWidth val="80"/>
        <c:overlap val="100"/>
        <c:axId val="184526720"/>
        <c:axId val="184528256"/>
      </c:barChart>
      <c:catAx>
        <c:axId val="184526720"/>
        <c:scaling>
          <c:orientation val="minMax"/>
        </c:scaling>
        <c:delete val="0"/>
        <c:axPos val="b"/>
        <c:numFmt formatCode="General" sourceLinked="1"/>
        <c:majorTickMark val="out"/>
        <c:minorTickMark val="none"/>
        <c:tickLblPos val="nextTo"/>
        <c:spPr>
          <a:ln w="38100">
            <a:solidFill>
              <a:schemeClr val="bg1"/>
            </a:solidFill>
            <a:prstDash val="solid"/>
          </a:ln>
        </c:spPr>
        <c:txPr>
          <a:bodyPr rot="0" vert="horz"/>
          <a:lstStyle/>
          <a:p>
            <a:pPr>
              <a:defRPr sz="1000" b="0">
                <a:solidFill>
                  <a:schemeClr val="tx1">
                    <a:lumMod val="75000"/>
                    <a:lumOff val="25000"/>
                  </a:schemeClr>
                </a:solidFill>
              </a:defRPr>
            </a:pPr>
            <a:endParaRPr lang="he-IL"/>
          </a:p>
        </c:txPr>
        <c:crossAx val="184528256"/>
        <c:crosses val="autoZero"/>
        <c:auto val="1"/>
        <c:lblAlgn val="ctr"/>
        <c:lblOffset val="20"/>
        <c:noMultiLvlLbl val="0"/>
      </c:catAx>
      <c:valAx>
        <c:axId val="184528256"/>
        <c:scaling>
          <c:orientation val="minMax"/>
          <c:max val="1.1000000000000001"/>
          <c:min val="0"/>
        </c:scaling>
        <c:delete val="1"/>
        <c:axPos val="l"/>
        <c:numFmt formatCode="0%" sourceLinked="1"/>
        <c:majorTickMark val="out"/>
        <c:minorTickMark val="none"/>
        <c:tickLblPos val="nextTo"/>
        <c:crossAx val="184526720"/>
        <c:crosses val="autoZero"/>
        <c:crossBetween val="between"/>
      </c:valAx>
      <c:spPr>
        <a:noFill/>
        <a:ln w="25965">
          <a:noFill/>
        </a:ln>
      </c:spPr>
    </c:plotArea>
    <c:plotVisOnly val="1"/>
    <c:dispBlanksAs val="gap"/>
    <c:showDLblsOverMax val="0"/>
  </c:chart>
  <c:spPr>
    <a:noFill/>
    <a:ln>
      <a:noFill/>
    </a:ln>
  </c:spPr>
  <c:txPr>
    <a:bodyPr/>
    <a:lstStyle/>
    <a:p>
      <a:pPr>
        <a:defRPr sz="1100" b="0" i="0" u="none" strike="noStrike" baseline="0">
          <a:solidFill>
            <a:schemeClr val="tx1"/>
          </a:solidFill>
          <a:latin typeface="Segoe UI" panose="020B0502040204020203" pitchFamily="34" charset="0"/>
          <a:ea typeface="Arial"/>
          <a:cs typeface="Segoe UI" panose="020B0502040204020203" pitchFamily="34" charset="0"/>
        </a:defRPr>
      </a:pPr>
      <a:endParaRPr lang="he-IL"/>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6627887535506753E-3"/>
          <c:y val="4.3281067273958265E-2"/>
          <c:w val="0.98311670274473462"/>
          <c:h val="0.68863833333333335"/>
        </c:manualLayout>
      </c:layout>
      <c:barChart>
        <c:barDir val="col"/>
        <c:grouping val="stacked"/>
        <c:varyColors val="0"/>
        <c:ser>
          <c:idx val="0"/>
          <c:order val="0"/>
          <c:tx>
            <c:strRef>
              <c:f>Sheet1!$A$2</c:f>
              <c:strCache>
                <c:ptCount val="1"/>
                <c:pt idx="0">
                  <c:v>2024-2025</c:v>
                </c:pt>
              </c:strCache>
            </c:strRef>
          </c:tx>
          <c:spPr>
            <a:solidFill>
              <a:srgbClr val="1D1C64"/>
            </a:solidFill>
            <a:ln w="31750">
              <a:noFill/>
            </a:ln>
          </c:spPr>
          <c:invertIfNegative val="0"/>
          <c:dLbls>
            <c:spPr>
              <a:noFill/>
              <a:ln>
                <a:noFill/>
              </a:ln>
              <a:effectLst/>
            </c:spPr>
            <c:txPr>
              <a:bodyPr/>
              <a:lstStyle/>
              <a:p>
                <a:pPr>
                  <a:defRPr sz="1000" b="1">
                    <a:solidFill>
                      <a:schemeClr val="bg1"/>
                    </a:solidFill>
                    <a:latin typeface="Segoe UI" panose="020B0502040204020203" pitchFamily="34" charset="0"/>
                    <a:cs typeface="Segoe UI" panose="020B0502040204020203" pitchFamily="34" charset="0"/>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Sheet1!$B$1:$I$1</c:f>
              <c:strCache>
                <c:ptCount val="8"/>
                <c:pt idx="0">
                  <c:v>גבר</c:v>
                </c:pt>
                <c:pt idx="1">
                  <c:v>אישה</c:v>
                </c:pt>
                <c:pt idx="2">
                  <c:v>גבר</c:v>
                </c:pt>
                <c:pt idx="3">
                  <c:v>אישה</c:v>
                </c:pt>
                <c:pt idx="4">
                  <c:v>גבר</c:v>
                </c:pt>
                <c:pt idx="5">
                  <c:v>אישה</c:v>
                </c:pt>
                <c:pt idx="6">
                  <c:v>גבר</c:v>
                </c:pt>
                <c:pt idx="7">
                  <c:v>אישה</c:v>
                </c:pt>
              </c:strCache>
            </c:strRef>
          </c:cat>
          <c:val>
            <c:numRef>
              <c:f>Sheet1!$B$2:$I$2</c:f>
              <c:numCache>
                <c:formatCode>0%</c:formatCode>
                <c:ptCount val="8"/>
                <c:pt idx="0">
                  <c:v>0.61403508771929827</c:v>
                </c:pt>
                <c:pt idx="1">
                  <c:v>0.52380952380952384</c:v>
                </c:pt>
                <c:pt idx="2">
                  <c:v>0.43243243243243246</c:v>
                </c:pt>
                <c:pt idx="3">
                  <c:v>0.5714285714285714</c:v>
                </c:pt>
                <c:pt idx="4">
                  <c:v>0.47115384615384615</c:v>
                </c:pt>
                <c:pt idx="5">
                  <c:v>0.54385964912280693</c:v>
                </c:pt>
                <c:pt idx="6">
                  <c:v>0.61290322580645162</c:v>
                </c:pt>
                <c:pt idx="7">
                  <c:v>0.54</c:v>
                </c:pt>
              </c:numCache>
            </c:numRef>
          </c:val>
          <c:extLst>
            <c:ext xmlns:c16="http://schemas.microsoft.com/office/drawing/2014/chart" uri="{C3380CC4-5D6E-409C-BE32-E72D297353CC}">
              <c16:uniqueId val="{00000000-DEE9-4B32-8CA5-DB682CE78E65}"/>
            </c:ext>
          </c:extLst>
        </c:ser>
        <c:ser>
          <c:idx val="1"/>
          <c:order val="1"/>
          <c:tx>
            <c:strRef>
              <c:f>Sheet1!$A$3</c:f>
              <c:strCache>
                <c:ptCount val="1"/>
                <c:pt idx="0">
                  <c:v>2022-2023</c:v>
                </c:pt>
              </c:strCache>
            </c:strRef>
          </c:tx>
          <c:spPr>
            <a:solidFill>
              <a:srgbClr val="00B0F0"/>
            </a:solidFill>
          </c:spPr>
          <c:invertIfNegative val="0"/>
          <c:dLbls>
            <c:spPr>
              <a:noFill/>
              <a:ln>
                <a:noFill/>
              </a:ln>
              <a:effectLst/>
            </c:spPr>
            <c:txPr>
              <a:bodyPr anchorCtr="0"/>
              <a:lstStyle/>
              <a:p>
                <a:pPr algn="ctr">
                  <a:defRPr lang="he-IL" sz="1000" b="1" i="0" u="none" strike="noStrike" kern="1200" baseline="0">
                    <a:solidFill>
                      <a:schemeClr val="bg1"/>
                    </a:solidFill>
                    <a:latin typeface="Segoe UI" panose="020B0502040204020203" pitchFamily="34" charset="0"/>
                    <a:ea typeface="Arial"/>
                    <a:cs typeface="Segoe UI" panose="020B0502040204020203" pitchFamily="34" charset="0"/>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Sheet1!$B$1:$I$1</c:f>
              <c:strCache>
                <c:ptCount val="8"/>
                <c:pt idx="0">
                  <c:v>גבר</c:v>
                </c:pt>
                <c:pt idx="1">
                  <c:v>אישה</c:v>
                </c:pt>
                <c:pt idx="2">
                  <c:v>גבר</c:v>
                </c:pt>
                <c:pt idx="3">
                  <c:v>אישה</c:v>
                </c:pt>
                <c:pt idx="4">
                  <c:v>גבר</c:v>
                </c:pt>
                <c:pt idx="5">
                  <c:v>אישה</c:v>
                </c:pt>
                <c:pt idx="6">
                  <c:v>גבר</c:v>
                </c:pt>
                <c:pt idx="7">
                  <c:v>אישה</c:v>
                </c:pt>
              </c:strCache>
            </c:strRef>
          </c:cat>
          <c:val>
            <c:numRef>
              <c:f>Sheet1!$B$3:$I$3</c:f>
              <c:numCache>
                <c:formatCode>0%</c:formatCode>
                <c:ptCount val="8"/>
                <c:pt idx="0">
                  <c:v>0.2807017543859649</c:v>
                </c:pt>
                <c:pt idx="1">
                  <c:v>0.34920634920634919</c:v>
                </c:pt>
                <c:pt idx="2">
                  <c:v>0.40540540540540537</c:v>
                </c:pt>
                <c:pt idx="3">
                  <c:v>0.20408163265306123</c:v>
                </c:pt>
                <c:pt idx="4">
                  <c:v>0.31730769230769229</c:v>
                </c:pt>
                <c:pt idx="5">
                  <c:v>0.35087719298245612</c:v>
                </c:pt>
                <c:pt idx="6">
                  <c:v>0.32258064516129031</c:v>
                </c:pt>
                <c:pt idx="7">
                  <c:v>0.4</c:v>
                </c:pt>
              </c:numCache>
            </c:numRef>
          </c:val>
          <c:extLst>
            <c:ext xmlns:c16="http://schemas.microsoft.com/office/drawing/2014/chart" uri="{C3380CC4-5D6E-409C-BE32-E72D297353CC}">
              <c16:uniqueId val="{00000001-DEE9-4B32-8CA5-DB682CE78E65}"/>
            </c:ext>
          </c:extLst>
        </c:ser>
        <c:ser>
          <c:idx val="2"/>
          <c:order val="2"/>
          <c:tx>
            <c:strRef>
              <c:f>Sheet1!$A$4</c:f>
              <c:strCache>
                <c:ptCount val="1"/>
                <c:pt idx="0">
                  <c:v>2020-2021</c:v>
                </c:pt>
              </c:strCache>
            </c:strRef>
          </c:tx>
          <c:spPr>
            <a:solidFill>
              <a:schemeClr val="accent5">
                <a:lumMod val="40000"/>
                <a:lumOff val="60000"/>
              </a:schemeClr>
            </a:solidFill>
          </c:spPr>
          <c:invertIfNegative val="0"/>
          <c:dLbls>
            <c:spPr>
              <a:noFill/>
              <a:ln>
                <a:noFill/>
              </a:ln>
              <a:effectLst/>
            </c:spPr>
            <c:txPr>
              <a:bodyPr wrap="square" lIns="38100" tIns="19050" rIns="38100" bIns="19050" anchor="ctr" anchorCtr="0">
                <a:spAutoFit/>
              </a:bodyPr>
              <a:lstStyle/>
              <a:p>
                <a:pPr algn="ctr">
                  <a:defRPr lang="he-IL" sz="1000" b="1" i="0" u="none" strike="noStrike" kern="1200" baseline="0">
                    <a:solidFill>
                      <a:schemeClr val="tx1"/>
                    </a:solidFill>
                    <a:latin typeface="Segoe UI" panose="020B0502040204020203" pitchFamily="34" charset="0"/>
                    <a:ea typeface="Arial"/>
                    <a:cs typeface="Segoe UI" panose="020B0502040204020203" pitchFamily="34" charset="0"/>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Sheet1!$B$1:$I$1</c:f>
              <c:strCache>
                <c:ptCount val="8"/>
                <c:pt idx="0">
                  <c:v>גבר</c:v>
                </c:pt>
                <c:pt idx="1">
                  <c:v>אישה</c:v>
                </c:pt>
                <c:pt idx="2">
                  <c:v>גבר</c:v>
                </c:pt>
                <c:pt idx="3">
                  <c:v>אישה</c:v>
                </c:pt>
                <c:pt idx="4">
                  <c:v>גבר</c:v>
                </c:pt>
                <c:pt idx="5">
                  <c:v>אישה</c:v>
                </c:pt>
                <c:pt idx="6">
                  <c:v>גבר</c:v>
                </c:pt>
                <c:pt idx="7">
                  <c:v>אישה</c:v>
                </c:pt>
              </c:strCache>
            </c:strRef>
          </c:cat>
          <c:val>
            <c:numRef>
              <c:f>Sheet1!$B$4:$I$4</c:f>
              <c:numCache>
                <c:formatCode>0%</c:formatCode>
                <c:ptCount val="8"/>
                <c:pt idx="0">
                  <c:v>0.10526315789473685</c:v>
                </c:pt>
                <c:pt idx="1">
                  <c:v>0.12698412698412698</c:v>
                </c:pt>
                <c:pt idx="2">
                  <c:v>0.16216216216216217</c:v>
                </c:pt>
                <c:pt idx="3">
                  <c:v>0.22448979591836735</c:v>
                </c:pt>
                <c:pt idx="4">
                  <c:v>0.21153846153846154</c:v>
                </c:pt>
                <c:pt idx="5">
                  <c:v>0.10526315789473685</c:v>
                </c:pt>
                <c:pt idx="6">
                  <c:v>6.4516129032258063E-2</c:v>
                </c:pt>
                <c:pt idx="7">
                  <c:v>0.06</c:v>
                </c:pt>
              </c:numCache>
            </c:numRef>
          </c:val>
          <c:extLst>
            <c:ext xmlns:c16="http://schemas.microsoft.com/office/drawing/2014/chart" uri="{C3380CC4-5D6E-409C-BE32-E72D297353CC}">
              <c16:uniqueId val="{00000002-DEE9-4B32-8CA5-DB682CE78E65}"/>
            </c:ext>
          </c:extLst>
        </c:ser>
        <c:dLbls>
          <c:showLegendKey val="0"/>
          <c:showVal val="0"/>
          <c:showCatName val="0"/>
          <c:showSerName val="0"/>
          <c:showPercent val="0"/>
          <c:showBubbleSize val="0"/>
        </c:dLbls>
        <c:gapWidth val="80"/>
        <c:overlap val="100"/>
        <c:axId val="184526720"/>
        <c:axId val="184528256"/>
      </c:barChart>
      <c:catAx>
        <c:axId val="184526720"/>
        <c:scaling>
          <c:orientation val="minMax"/>
        </c:scaling>
        <c:delete val="0"/>
        <c:axPos val="b"/>
        <c:numFmt formatCode="General" sourceLinked="1"/>
        <c:majorTickMark val="out"/>
        <c:minorTickMark val="none"/>
        <c:tickLblPos val="nextTo"/>
        <c:spPr>
          <a:ln w="38100">
            <a:solidFill>
              <a:schemeClr val="bg1"/>
            </a:solidFill>
            <a:prstDash val="solid"/>
          </a:ln>
        </c:spPr>
        <c:txPr>
          <a:bodyPr rot="0" vert="horz"/>
          <a:lstStyle/>
          <a:p>
            <a:pPr>
              <a:defRPr sz="1000" b="0">
                <a:solidFill>
                  <a:schemeClr val="tx1">
                    <a:lumMod val="75000"/>
                    <a:lumOff val="25000"/>
                  </a:schemeClr>
                </a:solidFill>
              </a:defRPr>
            </a:pPr>
            <a:endParaRPr lang="he-IL"/>
          </a:p>
        </c:txPr>
        <c:crossAx val="184528256"/>
        <c:crosses val="autoZero"/>
        <c:auto val="1"/>
        <c:lblAlgn val="ctr"/>
        <c:lblOffset val="20"/>
        <c:noMultiLvlLbl val="0"/>
      </c:catAx>
      <c:valAx>
        <c:axId val="184528256"/>
        <c:scaling>
          <c:orientation val="minMax"/>
          <c:max val="1.1000000000000001"/>
          <c:min val="0"/>
        </c:scaling>
        <c:delete val="1"/>
        <c:axPos val="l"/>
        <c:numFmt formatCode="0%" sourceLinked="1"/>
        <c:majorTickMark val="out"/>
        <c:minorTickMark val="none"/>
        <c:tickLblPos val="nextTo"/>
        <c:crossAx val="184526720"/>
        <c:crosses val="autoZero"/>
        <c:crossBetween val="between"/>
      </c:valAx>
      <c:spPr>
        <a:noFill/>
        <a:ln w="25965">
          <a:noFill/>
        </a:ln>
      </c:spPr>
    </c:plotArea>
    <c:plotVisOnly val="1"/>
    <c:dispBlanksAs val="gap"/>
    <c:showDLblsOverMax val="0"/>
  </c:chart>
  <c:spPr>
    <a:noFill/>
    <a:ln>
      <a:noFill/>
    </a:ln>
  </c:spPr>
  <c:txPr>
    <a:bodyPr/>
    <a:lstStyle/>
    <a:p>
      <a:pPr>
        <a:defRPr sz="1100" b="0" i="0" u="none" strike="noStrike" baseline="0">
          <a:solidFill>
            <a:schemeClr val="tx1"/>
          </a:solidFill>
          <a:latin typeface="Segoe UI" panose="020B0502040204020203" pitchFamily="34" charset="0"/>
          <a:ea typeface="Arial"/>
          <a:cs typeface="Segoe UI" panose="020B0502040204020203" pitchFamily="34" charset="0"/>
        </a:defRPr>
      </a:pPr>
      <a:endParaRPr lang="he-IL"/>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6627887535506753E-3"/>
          <c:y val="4.3281067273958265E-2"/>
          <c:w val="0.98311670274473462"/>
          <c:h val="0.68863833333333335"/>
        </c:manualLayout>
      </c:layout>
      <c:barChart>
        <c:barDir val="col"/>
        <c:grouping val="stacked"/>
        <c:varyColors val="0"/>
        <c:ser>
          <c:idx val="0"/>
          <c:order val="0"/>
          <c:tx>
            <c:strRef>
              <c:f>Sheet1!$A$2</c:f>
              <c:strCache>
                <c:ptCount val="1"/>
                <c:pt idx="0">
                  <c:v>2024-2025</c:v>
                </c:pt>
              </c:strCache>
            </c:strRef>
          </c:tx>
          <c:spPr>
            <a:solidFill>
              <a:srgbClr val="1D1C64"/>
            </a:solidFill>
            <a:ln w="31750">
              <a:noFill/>
            </a:ln>
          </c:spPr>
          <c:invertIfNegative val="0"/>
          <c:dLbls>
            <c:spPr>
              <a:noFill/>
              <a:ln>
                <a:noFill/>
              </a:ln>
              <a:effectLst/>
            </c:spPr>
            <c:txPr>
              <a:bodyPr/>
              <a:lstStyle/>
              <a:p>
                <a:pPr>
                  <a:defRPr sz="1000" b="1">
                    <a:solidFill>
                      <a:schemeClr val="bg1"/>
                    </a:solidFill>
                    <a:latin typeface="Segoe UI" panose="020B0502040204020203" pitchFamily="34" charset="0"/>
                    <a:cs typeface="Segoe UI" panose="020B0502040204020203" pitchFamily="34" charset="0"/>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Sheet1!$B$1:$I$1</c:f>
              <c:strCache>
                <c:ptCount val="8"/>
                <c:pt idx="0">
                  <c:v>פיזית משוטר </c:v>
                </c:pt>
                <c:pt idx="1">
                  <c:v>אחר*</c:v>
                </c:pt>
                <c:pt idx="2">
                  <c:v>פיזית משוטר </c:v>
                </c:pt>
                <c:pt idx="3">
                  <c:v>אחר*</c:v>
                </c:pt>
                <c:pt idx="4">
                  <c:v>פיזית משוטר </c:v>
                </c:pt>
                <c:pt idx="5">
                  <c:v>אחר*</c:v>
                </c:pt>
                <c:pt idx="6">
                  <c:v>פיזית משוטר </c:v>
                </c:pt>
                <c:pt idx="7">
                  <c:v>אחר*</c:v>
                </c:pt>
              </c:strCache>
            </c:strRef>
          </c:cat>
          <c:val>
            <c:numRef>
              <c:f>Sheet1!$B$2:$I$2</c:f>
              <c:numCache>
                <c:formatCode>0%</c:formatCode>
                <c:ptCount val="8"/>
                <c:pt idx="0">
                  <c:v>0.45454545454545453</c:v>
                </c:pt>
                <c:pt idx="1">
                  <c:v>0.6576576576576576</c:v>
                </c:pt>
                <c:pt idx="2">
                  <c:v>0.47368421052631582</c:v>
                </c:pt>
                <c:pt idx="3">
                  <c:v>0.5862068965517242</c:v>
                </c:pt>
                <c:pt idx="4">
                  <c:v>0.44186046511627908</c:v>
                </c:pt>
                <c:pt idx="5">
                  <c:v>0.56000000000000005</c:v>
                </c:pt>
                <c:pt idx="6">
                  <c:v>0.43478260869565222</c:v>
                </c:pt>
                <c:pt idx="7">
                  <c:v>0.74285714285714288</c:v>
                </c:pt>
              </c:numCache>
            </c:numRef>
          </c:val>
          <c:extLst>
            <c:ext xmlns:c16="http://schemas.microsoft.com/office/drawing/2014/chart" uri="{C3380CC4-5D6E-409C-BE32-E72D297353CC}">
              <c16:uniqueId val="{00000000-4902-4A56-B056-9117B13D4220}"/>
            </c:ext>
          </c:extLst>
        </c:ser>
        <c:ser>
          <c:idx val="1"/>
          <c:order val="1"/>
          <c:tx>
            <c:strRef>
              <c:f>Sheet1!$A$3</c:f>
              <c:strCache>
                <c:ptCount val="1"/>
                <c:pt idx="0">
                  <c:v>2022-2023</c:v>
                </c:pt>
              </c:strCache>
            </c:strRef>
          </c:tx>
          <c:spPr>
            <a:solidFill>
              <a:srgbClr val="00B0F0"/>
            </a:solidFill>
          </c:spPr>
          <c:invertIfNegative val="0"/>
          <c:dLbls>
            <c:spPr>
              <a:noFill/>
              <a:ln>
                <a:noFill/>
              </a:ln>
              <a:effectLst/>
            </c:spPr>
            <c:txPr>
              <a:bodyPr anchorCtr="0"/>
              <a:lstStyle/>
              <a:p>
                <a:pPr algn="ctr">
                  <a:defRPr lang="he-IL" sz="1000" b="1" i="0" u="none" strike="noStrike" kern="1200" baseline="0">
                    <a:solidFill>
                      <a:schemeClr val="bg1"/>
                    </a:solidFill>
                    <a:latin typeface="Segoe UI" panose="020B0502040204020203" pitchFamily="34" charset="0"/>
                    <a:ea typeface="Arial"/>
                    <a:cs typeface="Segoe UI" panose="020B0502040204020203" pitchFamily="34" charset="0"/>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Sheet1!$B$1:$I$1</c:f>
              <c:strCache>
                <c:ptCount val="8"/>
                <c:pt idx="0">
                  <c:v>פיזית משוטר </c:v>
                </c:pt>
                <c:pt idx="1">
                  <c:v>אחר*</c:v>
                </c:pt>
                <c:pt idx="2">
                  <c:v>פיזית משוטר </c:v>
                </c:pt>
                <c:pt idx="3">
                  <c:v>אחר*</c:v>
                </c:pt>
                <c:pt idx="4">
                  <c:v>פיזית משוטר </c:v>
                </c:pt>
                <c:pt idx="5">
                  <c:v>אחר*</c:v>
                </c:pt>
                <c:pt idx="6">
                  <c:v>פיזית משוטר </c:v>
                </c:pt>
                <c:pt idx="7">
                  <c:v>אחר*</c:v>
                </c:pt>
              </c:strCache>
            </c:strRef>
          </c:cat>
          <c:val>
            <c:numRef>
              <c:f>Sheet1!$B$3:$I$3</c:f>
              <c:numCache>
                <c:formatCode>0%</c:formatCode>
                <c:ptCount val="8"/>
                <c:pt idx="0">
                  <c:v>0.37878787878787878</c:v>
                </c:pt>
                <c:pt idx="1">
                  <c:v>0.26126126126126126</c:v>
                </c:pt>
                <c:pt idx="2">
                  <c:v>0.31578947368421051</c:v>
                </c:pt>
                <c:pt idx="3">
                  <c:v>0.2413793103448276</c:v>
                </c:pt>
                <c:pt idx="4">
                  <c:v>0.33720930232558138</c:v>
                </c:pt>
                <c:pt idx="5">
                  <c:v>0.31999999999999995</c:v>
                </c:pt>
                <c:pt idx="6">
                  <c:v>0.47826086956521741</c:v>
                </c:pt>
                <c:pt idx="7">
                  <c:v>0.22857142857142859</c:v>
                </c:pt>
              </c:numCache>
            </c:numRef>
          </c:val>
          <c:extLst>
            <c:ext xmlns:c16="http://schemas.microsoft.com/office/drawing/2014/chart" uri="{C3380CC4-5D6E-409C-BE32-E72D297353CC}">
              <c16:uniqueId val="{00000001-4902-4A56-B056-9117B13D4220}"/>
            </c:ext>
          </c:extLst>
        </c:ser>
        <c:ser>
          <c:idx val="2"/>
          <c:order val="2"/>
          <c:tx>
            <c:strRef>
              <c:f>Sheet1!$A$4</c:f>
              <c:strCache>
                <c:ptCount val="1"/>
                <c:pt idx="0">
                  <c:v>2020-2021</c:v>
                </c:pt>
              </c:strCache>
            </c:strRef>
          </c:tx>
          <c:spPr>
            <a:solidFill>
              <a:schemeClr val="accent5">
                <a:lumMod val="40000"/>
                <a:lumOff val="60000"/>
              </a:schemeClr>
            </a:solidFill>
          </c:spPr>
          <c:invertIfNegative val="0"/>
          <c:dLbls>
            <c:spPr>
              <a:noFill/>
              <a:ln>
                <a:noFill/>
              </a:ln>
              <a:effectLst/>
            </c:spPr>
            <c:txPr>
              <a:bodyPr wrap="square" lIns="38100" tIns="19050" rIns="38100" bIns="19050" anchor="ctr" anchorCtr="0">
                <a:spAutoFit/>
              </a:bodyPr>
              <a:lstStyle/>
              <a:p>
                <a:pPr algn="ctr">
                  <a:defRPr lang="he-IL" sz="1000" b="1" i="0" u="none" strike="noStrike" kern="1200" baseline="0">
                    <a:solidFill>
                      <a:schemeClr val="tx1"/>
                    </a:solidFill>
                    <a:latin typeface="Segoe UI" panose="020B0502040204020203" pitchFamily="34" charset="0"/>
                    <a:ea typeface="Arial"/>
                    <a:cs typeface="Segoe UI" panose="020B0502040204020203" pitchFamily="34" charset="0"/>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Sheet1!$B$1:$I$1</c:f>
              <c:strCache>
                <c:ptCount val="8"/>
                <c:pt idx="0">
                  <c:v>פיזית משוטר </c:v>
                </c:pt>
                <c:pt idx="1">
                  <c:v>אחר*</c:v>
                </c:pt>
                <c:pt idx="2">
                  <c:v>פיזית משוטר </c:v>
                </c:pt>
                <c:pt idx="3">
                  <c:v>אחר*</c:v>
                </c:pt>
                <c:pt idx="4">
                  <c:v>פיזית משוטר </c:v>
                </c:pt>
                <c:pt idx="5">
                  <c:v>אחר*</c:v>
                </c:pt>
                <c:pt idx="6">
                  <c:v>פיזית משוטר </c:v>
                </c:pt>
                <c:pt idx="7">
                  <c:v>אחר*</c:v>
                </c:pt>
              </c:strCache>
            </c:strRef>
          </c:cat>
          <c:val>
            <c:numRef>
              <c:f>Sheet1!$B$4:$I$4</c:f>
              <c:numCache>
                <c:formatCode>0%</c:formatCode>
                <c:ptCount val="8"/>
                <c:pt idx="0">
                  <c:v>0.16666666666666669</c:v>
                </c:pt>
                <c:pt idx="1">
                  <c:v>8.1081081081081086E-2</c:v>
                </c:pt>
                <c:pt idx="2">
                  <c:v>0.2105263157894737</c:v>
                </c:pt>
                <c:pt idx="3">
                  <c:v>0.17241379310344829</c:v>
                </c:pt>
                <c:pt idx="4">
                  <c:v>0.22093023255813954</c:v>
                </c:pt>
                <c:pt idx="5">
                  <c:v>0.12</c:v>
                </c:pt>
                <c:pt idx="6">
                  <c:v>8.6956521739130432E-2</c:v>
                </c:pt>
                <c:pt idx="7">
                  <c:v>2.8571428571428571E-2</c:v>
                </c:pt>
              </c:numCache>
            </c:numRef>
          </c:val>
          <c:extLst>
            <c:ext xmlns:c16="http://schemas.microsoft.com/office/drawing/2014/chart" uri="{C3380CC4-5D6E-409C-BE32-E72D297353CC}">
              <c16:uniqueId val="{00000002-4902-4A56-B056-9117B13D4220}"/>
            </c:ext>
          </c:extLst>
        </c:ser>
        <c:dLbls>
          <c:showLegendKey val="0"/>
          <c:showVal val="0"/>
          <c:showCatName val="0"/>
          <c:showSerName val="0"/>
          <c:showPercent val="0"/>
          <c:showBubbleSize val="0"/>
        </c:dLbls>
        <c:gapWidth val="80"/>
        <c:overlap val="100"/>
        <c:axId val="184526720"/>
        <c:axId val="184528256"/>
      </c:barChart>
      <c:catAx>
        <c:axId val="184526720"/>
        <c:scaling>
          <c:orientation val="minMax"/>
        </c:scaling>
        <c:delete val="0"/>
        <c:axPos val="b"/>
        <c:numFmt formatCode="General" sourceLinked="1"/>
        <c:majorTickMark val="out"/>
        <c:minorTickMark val="none"/>
        <c:tickLblPos val="nextTo"/>
        <c:spPr>
          <a:ln w="38100">
            <a:solidFill>
              <a:schemeClr val="bg1"/>
            </a:solidFill>
            <a:prstDash val="solid"/>
          </a:ln>
        </c:spPr>
        <c:txPr>
          <a:bodyPr rot="0" vert="horz"/>
          <a:lstStyle/>
          <a:p>
            <a:pPr>
              <a:defRPr sz="1000" b="0">
                <a:solidFill>
                  <a:schemeClr val="tx1">
                    <a:lumMod val="75000"/>
                    <a:lumOff val="25000"/>
                  </a:schemeClr>
                </a:solidFill>
              </a:defRPr>
            </a:pPr>
            <a:endParaRPr lang="he-IL"/>
          </a:p>
        </c:txPr>
        <c:crossAx val="184528256"/>
        <c:crosses val="autoZero"/>
        <c:auto val="1"/>
        <c:lblAlgn val="ctr"/>
        <c:lblOffset val="20"/>
        <c:noMultiLvlLbl val="0"/>
      </c:catAx>
      <c:valAx>
        <c:axId val="184528256"/>
        <c:scaling>
          <c:orientation val="minMax"/>
          <c:max val="1.1000000000000001"/>
          <c:min val="0"/>
        </c:scaling>
        <c:delete val="1"/>
        <c:axPos val="l"/>
        <c:numFmt formatCode="0%" sourceLinked="1"/>
        <c:majorTickMark val="out"/>
        <c:minorTickMark val="none"/>
        <c:tickLblPos val="nextTo"/>
        <c:crossAx val="184526720"/>
        <c:crosses val="autoZero"/>
        <c:crossBetween val="between"/>
      </c:valAx>
      <c:spPr>
        <a:noFill/>
        <a:ln w="25965">
          <a:noFill/>
        </a:ln>
      </c:spPr>
    </c:plotArea>
    <c:plotVisOnly val="1"/>
    <c:dispBlanksAs val="gap"/>
    <c:showDLblsOverMax val="0"/>
  </c:chart>
  <c:spPr>
    <a:noFill/>
    <a:ln>
      <a:noFill/>
    </a:ln>
  </c:spPr>
  <c:txPr>
    <a:bodyPr/>
    <a:lstStyle/>
    <a:p>
      <a:pPr>
        <a:defRPr sz="1100" b="0" i="0" u="none" strike="noStrike" baseline="0">
          <a:solidFill>
            <a:schemeClr val="tx1"/>
          </a:solidFill>
          <a:latin typeface="Segoe UI" panose="020B0502040204020203" pitchFamily="34" charset="0"/>
          <a:ea typeface="Arial"/>
          <a:cs typeface="Segoe UI" panose="020B0502040204020203" pitchFamily="34" charset="0"/>
        </a:defRPr>
      </a:pPr>
      <a:endParaRPr lang="he-IL"/>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8458828242818755E-3"/>
          <c:y val="8.0037037037037021E-3"/>
          <c:w val="0.98311670274473462"/>
          <c:h val="0.68863833333333335"/>
        </c:manualLayout>
      </c:layout>
      <c:barChart>
        <c:barDir val="col"/>
        <c:grouping val="stacked"/>
        <c:varyColors val="0"/>
        <c:ser>
          <c:idx val="0"/>
          <c:order val="0"/>
          <c:tx>
            <c:strRef>
              <c:f>Sheet1!$A$2</c:f>
              <c:strCache>
                <c:ptCount val="1"/>
                <c:pt idx="0">
                  <c:v>2024-2025</c:v>
                </c:pt>
              </c:strCache>
            </c:strRef>
          </c:tx>
          <c:spPr>
            <a:solidFill>
              <a:srgbClr val="1D1C64"/>
            </a:solidFill>
            <a:ln w="31750">
              <a:noFill/>
            </a:ln>
          </c:spPr>
          <c:invertIfNegative val="0"/>
          <c:dLbls>
            <c:spPr>
              <a:noFill/>
              <a:ln>
                <a:noFill/>
              </a:ln>
              <a:effectLst/>
            </c:spPr>
            <c:txPr>
              <a:bodyPr/>
              <a:lstStyle/>
              <a:p>
                <a:pPr>
                  <a:defRPr sz="1000" b="1">
                    <a:solidFill>
                      <a:schemeClr val="bg1"/>
                    </a:solidFill>
                    <a:latin typeface="Segoe UI" panose="020B0502040204020203" pitchFamily="34" charset="0"/>
                    <a:cs typeface="Segoe UI" panose="020B0502040204020203" pitchFamily="34" charset="0"/>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Sheet1!$B$1:$I$1</c:f>
              <c:strCache>
                <c:ptCount val="8"/>
                <c:pt idx="0">
                  <c:v>שילמו קנס</c:v>
                </c:pt>
                <c:pt idx="1">
                  <c:v>לא שילמו</c:v>
                </c:pt>
                <c:pt idx="2">
                  <c:v>שילמו קנס</c:v>
                </c:pt>
                <c:pt idx="3">
                  <c:v>לא שילמו</c:v>
                </c:pt>
                <c:pt idx="4">
                  <c:v>היה דיון</c:v>
                </c:pt>
                <c:pt idx="5">
                  <c:v>לא היה דיון</c:v>
                </c:pt>
                <c:pt idx="6">
                  <c:v>היה דיון</c:v>
                </c:pt>
                <c:pt idx="7">
                  <c:v>לא היה דיון</c:v>
                </c:pt>
              </c:strCache>
            </c:strRef>
          </c:cat>
          <c:val>
            <c:numRef>
              <c:f>Sheet1!$B$2:$I$2</c:f>
              <c:numCache>
                <c:formatCode>0%</c:formatCode>
                <c:ptCount val="8"/>
                <c:pt idx="0">
                  <c:v>0.56849315068493156</c:v>
                </c:pt>
                <c:pt idx="1">
                  <c:v>0.64516129032258074</c:v>
                </c:pt>
                <c:pt idx="2">
                  <c:v>0.5</c:v>
                </c:pt>
                <c:pt idx="3">
                  <c:v>0.625</c:v>
                </c:pt>
                <c:pt idx="4">
                  <c:v>0.36263736263736268</c:v>
                </c:pt>
                <c:pt idx="5">
                  <c:v>0.67142857142857149</c:v>
                </c:pt>
                <c:pt idx="6">
                  <c:v>0.53191489361702127</c:v>
                </c:pt>
                <c:pt idx="7">
                  <c:v>0.61764705882352944</c:v>
                </c:pt>
              </c:numCache>
            </c:numRef>
          </c:val>
          <c:extLst>
            <c:ext xmlns:c16="http://schemas.microsoft.com/office/drawing/2014/chart" uri="{C3380CC4-5D6E-409C-BE32-E72D297353CC}">
              <c16:uniqueId val="{00000000-751B-49EC-A004-1F2DF6997B6E}"/>
            </c:ext>
          </c:extLst>
        </c:ser>
        <c:ser>
          <c:idx val="1"/>
          <c:order val="1"/>
          <c:tx>
            <c:strRef>
              <c:f>Sheet1!$A$3</c:f>
              <c:strCache>
                <c:ptCount val="1"/>
                <c:pt idx="0">
                  <c:v>2022-2023</c:v>
                </c:pt>
              </c:strCache>
            </c:strRef>
          </c:tx>
          <c:spPr>
            <a:solidFill>
              <a:srgbClr val="00B0F0"/>
            </a:solidFill>
          </c:spPr>
          <c:invertIfNegative val="0"/>
          <c:dLbls>
            <c:spPr>
              <a:noFill/>
              <a:ln>
                <a:noFill/>
              </a:ln>
              <a:effectLst/>
            </c:spPr>
            <c:txPr>
              <a:bodyPr anchorCtr="0"/>
              <a:lstStyle/>
              <a:p>
                <a:pPr algn="ctr">
                  <a:defRPr lang="he-IL" sz="1000" b="1" i="0" u="none" strike="noStrike" kern="1200" baseline="0">
                    <a:solidFill>
                      <a:schemeClr val="bg1"/>
                    </a:solidFill>
                    <a:latin typeface="Segoe UI" panose="020B0502040204020203" pitchFamily="34" charset="0"/>
                    <a:ea typeface="Arial"/>
                    <a:cs typeface="Segoe UI" panose="020B0502040204020203" pitchFamily="34" charset="0"/>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Sheet1!$B$1:$I$1</c:f>
              <c:strCache>
                <c:ptCount val="8"/>
                <c:pt idx="0">
                  <c:v>שילמו קנס</c:v>
                </c:pt>
                <c:pt idx="1">
                  <c:v>לא שילמו</c:v>
                </c:pt>
                <c:pt idx="2">
                  <c:v>שילמו קנס</c:v>
                </c:pt>
                <c:pt idx="3">
                  <c:v>לא שילמו</c:v>
                </c:pt>
                <c:pt idx="4">
                  <c:v>היה דיון</c:v>
                </c:pt>
                <c:pt idx="5">
                  <c:v>לא היה דיון</c:v>
                </c:pt>
                <c:pt idx="6">
                  <c:v>היה דיון</c:v>
                </c:pt>
                <c:pt idx="7">
                  <c:v>לא היה דיון</c:v>
                </c:pt>
              </c:strCache>
            </c:strRef>
          </c:cat>
          <c:val>
            <c:numRef>
              <c:f>Sheet1!$B$3:$I$3</c:f>
              <c:numCache>
                <c:formatCode>0%</c:formatCode>
                <c:ptCount val="8"/>
                <c:pt idx="0">
                  <c:v>0.33561643835616439</c:v>
                </c:pt>
                <c:pt idx="1">
                  <c:v>0.16129032258064516</c:v>
                </c:pt>
                <c:pt idx="2">
                  <c:v>0.30769230769230765</c:v>
                </c:pt>
                <c:pt idx="3">
                  <c:v>0.125</c:v>
                </c:pt>
                <c:pt idx="4">
                  <c:v>0.43956043956043955</c:v>
                </c:pt>
                <c:pt idx="5">
                  <c:v>0.18571428571428572</c:v>
                </c:pt>
                <c:pt idx="6">
                  <c:v>0.4042553191489362</c:v>
                </c:pt>
                <c:pt idx="7">
                  <c:v>0.3235294117647059</c:v>
                </c:pt>
              </c:numCache>
            </c:numRef>
          </c:val>
          <c:extLst>
            <c:ext xmlns:c16="http://schemas.microsoft.com/office/drawing/2014/chart" uri="{C3380CC4-5D6E-409C-BE32-E72D297353CC}">
              <c16:uniqueId val="{00000001-751B-49EC-A004-1F2DF6997B6E}"/>
            </c:ext>
          </c:extLst>
        </c:ser>
        <c:ser>
          <c:idx val="2"/>
          <c:order val="2"/>
          <c:tx>
            <c:strRef>
              <c:f>Sheet1!$A$4</c:f>
              <c:strCache>
                <c:ptCount val="1"/>
                <c:pt idx="0">
                  <c:v>2020-2021</c:v>
                </c:pt>
              </c:strCache>
            </c:strRef>
          </c:tx>
          <c:spPr>
            <a:solidFill>
              <a:schemeClr val="accent5">
                <a:lumMod val="40000"/>
                <a:lumOff val="60000"/>
              </a:schemeClr>
            </a:solidFill>
          </c:spPr>
          <c:invertIfNegative val="0"/>
          <c:dLbls>
            <c:spPr>
              <a:noFill/>
              <a:ln>
                <a:noFill/>
              </a:ln>
              <a:effectLst/>
            </c:spPr>
            <c:txPr>
              <a:bodyPr wrap="square" lIns="38100" tIns="19050" rIns="38100" bIns="19050" anchor="ctr" anchorCtr="0">
                <a:spAutoFit/>
              </a:bodyPr>
              <a:lstStyle/>
              <a:p>
                <a:pPr algn="ctr">
                  <a:defRPr lang="he-IL" sz="1000" b="1" i="0" u="none" strike="noStrike" kern="1200" baseline="0">
                    <a:solidFill>
                      <a:schemeClr val="tx1"/>
                    </a:solidFill>
                    <a:latin typeface="Segoe UI" panose="020B0502040204020203" pitchFamily="34" charset="0"/>
                    <a:ea typeface="Arial"/>
                    <a:cs typeface="Segoe UI" panose="020B0502040204020203" pitchFamily="34" charset="0"/>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Sheet1!$B$1:$I$1</c:f>
              <c:strCache>
                <c:ptCount val="8"/>
                <c:pt idx="0">
                  <c:v>שילמו קנס</c:v>
                </c:pt>
                <c:pt idx="1">
                  <c:v>לא שילמו</c:v>
                </c:pt>
                <c:pt idx="2">
                  <c:v>שילמו קנס</c:v>
                </c:pt>
                <c:pt idx="3">
                  <c:v>לא שילמו</c:v>
                </c:pt>
                <c:pt idx="4">
                  <c:v>היה דיון</c:v>
                </c:pt>
                <c:pt idx="5">
                  <c:v>לא היה דיון</c:v>
                </c:pt>
                <c:pt idx="6">
                  <c:v>היה דיון</c:v>
                </c:pt>
                <c:pt idx="7">
                  <c:v>לא היה דיון</c:v>
                </c:pt>
              </c:strCache>
            </c:strRef>
          </c:cat>
          <c:val>
            <c:numRef>
              <c:f>Sheet1!$B$4:$I$4</c:f>
              <c:numCache>
                <c:formatCode>0%</c:formatCode>
                <c:ptCount val="8"/>
                <c:pt idx="0">
                  <c:v>9.5890410958904104E-2</c:v>
                </c:pt>
                <c:pt idx="1">
                  <c:v>0.19354838709677419</c:v>
                </c:pt>
                <c:pt idx="2">
                  <c:v>0.19230769230769229</c:v>
                </c:pt>
                <c:pt idx="3">
                  <c:v>0.25</c:v>
                </c:pt>
                <c:pt idx="4">
                  <c:v>0.19780219780219782</c:v>
                </c:pt>
                <c:pt idx="5">
                  <c:v>0.14285714285714285</c:v>
                </c:pt>
                <c:pt idx="6">
                  <c:v>6.3829787234042548E-2</c:v>
                </c:pt>
                <c:pt idx="7">
                  <c:v>5.8823529411764712E-2</c:v>
                </c:pt>
              </c:numCache>
            </c:numRef>
          </c:val>
          <c:extLst>
            <c:ext xmlns:c16="http://schemas.microsoft.com/office/drawing/2014/chart" uri="{C3380CC4-5D6E-409C-BE32-E72D297353CC}">
              <c16:uniqueId val="{00000002-751B-49EC-A004-1F2DF6997B6E}"/>
            </c:ext>
          </c:extLst>
        </c:ser>
        <c:dLbls>
          <c:showLegendKey val="0"/>
          <c:showVal val="0"/>
          <c:showCatName val="0"/>
          <c:showSerName val="0"/>
          <c:showPercent val="0"/>
          <c:showBubbleSize val="0"/>
        </c:dLbls>
        <c:gapWidth val="80"/>
        <c:overlap val="100"/>
        <c:axId val="184526720"/>
        <c:axId val="184528256"/>
      </c:barChart>
      <c:catAx>
        <c:axId val="184526720"/>
        <c:scaling>
          <c:orientation val="minMax"/>
        </c:scaling>
        <c:delete val="0"/>
        <c:axPos val="b"/>
        <c:numFmt formatCode="General" sourceLinked="1"/>
        <c:majorTickMark val="out"/>
        <c:minorTickMark val="none"/>
        <c:tickLblPos val="nextTo"/>
        <c:spPr>
          <a:ln w="38100">
            <a:solidFill>
              <a:schemeClr val="bg1"/>
            </a:solidFill>
            <a:prstDash val="solid"/>
          </a:ln>
        </c:spPr>
        <c:txPr>
          <a:bodyPr rot="0" vert="horz"/>
          <a:lstStyle/>
          <a:p>
            <a:pPr>
              <a:defRPr sz="1000" b="0">
                <a:solidFill>
                  <a:schemeClr val="tx1">
                    <a:lumMod val="75000"/>
                    <a:lumOff val="25000"/>
                  </a:schemeClr>
                </a:solidFill>
              </a:defRPr>
            </a:pPr>
            <a:endParaRPr lang="he-IL"/>
          </a:p>
        </c:txPr>
        <c:crossAx val="184528256"/>
        <c:crosses val="autoZero"/>
        <c:auto val="1"/>
        <c:lblAlgn val="ctr"/>
        <c:lblOffset val="20"/>
        <c:noMultiLvlLbl val="0"/>
      </c:catAx>
      <c:valAx>
        <c:axId val="184528256"/>
        <c:scaling>
          <c:orientation val="minMax"/>
          <c:max val="1.1000000000000001"/>
          <c:min val="0"/>
        </c:scaling>
        <c:delete val="1"/>
        <c:axPos val="l"/>
        <c:numFmt formatCode="0%" sourceLinked="1"/>
        <c:majorTickMark val="out"/>
        <c:minorTickMark val="none"/>
        <c:tickLblPos val="nextTo"/>
        <c:crossAx val="184526720"/>
        <c:crosses val="autoZero"/>
        <c:crossBetween val="between"/>
      </c:valAx>
      <c:spPr>
        <a:noFill/>
        <a:ln w="25965">
          <a:noFill/>
        </a:ln>
      </c:spPr>
    </c:plotArea>
    <c:plotVisOnly val="1"/>
    <c:dispBlanksAs val="gap"/>
    <c:showDLblsOverMax val="0"/>
  </c:chart>
  <c:spPr>
    <a:noFill/>
    <a:ln>
      <a:noFill/>
    </a:ln>
  </c:spPr>
  <c:txPr>
    <a:bodyPr/>
    <a:lstStyle/>
    <a:p>
      <a:pPr>
        <a:defRPr sz="1100" b="0" i="0" u="none" strike="noStrike" baseline="0">
          <a:solidFill>
            <a:schemeClr val="tx1"/>
          </a:solidFill>
          <a:latin typeface="Segoe UI" panose="020B0502040204020203" pitchFamily="34" charset="0"/>
          <a:ea typeface="Arial"/>
          <a:cs typeface="Segoe UI" panose="020B0502040204020203" pitchFamily="34" charset="0"/>
        </a:defRPr>
      </a:pPr>
      <a:endParaRPr lang="he-IL"/>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6866995454128806"/>
          <c:y val="3.7771860754247821E-2"/>
          <c:w val="0.73133004545871172"/>
          <c:h val="0.96222820200773551"/>
        </c:manualLayout>
      </c:layout>
      <c:barChart>
        <c:barDir val="bar"/>
        <c:grouping val="clustered"/>
        <c:varyColors val="0"/>
        <c:ser>
          <c:idx val="0"/>
          <c:order val="0"/>
          <c:tx>
            <c:strRef>
              <c:f>Sheet1!$B$1</c:f>
              <c:strCache>
                <c:ptCount val="1"/>
              </c:strCache>
            </c:strRef>
          </c:tx>
          <c:spPr>
            <a:solidFill>
              <a:srgbClr val="002060"/>
            </a:solidFill>
            <a:ln w="31750">
              <a:noFill/>
            </a:ln>
          </c:spPr>
          <c:invertIfNegative val="0"/>
          <c:dLbls>
            <c:spPr>
              <a:noFill/>
              <a:ln>
                <a:noFill/>
              </a:ln>
              <a:effectLst/>
            </c:spPr>
            <c:txPr>
              <a:bodyPr/>
              <a:lstStyle/>
              <a:p>
                <a:pPr>
                  <a:defRPr sz="1200" b="1">
                    <a:solidFill>
                      <a:srgbClr val="1D1C64"/>
                    </a:solidFill>
                    <a:latin typeface="Segoe UI" panose="020B0502040204020203" pitchFamily="34" charset="0"/>
                    <a:cs typeface="Segoe UI" panose="020B0502040204020203" pitchFamily="34" charset="0"/>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נסיעה בנתיב תחב"צ</c:v>
                </c:pt>
                <c:pt idx="1">
                  <c:v>מהירות</c:v>
                </c:pt>
                <c:pt idx="2">
                  <c:v>שימוש בטלפון</c:v>
                </c:pt>
                <c:pt idx="3">
                  <c:v>אי ציות לתמרור</c:v>
                </c:pt>
                <c:pt idx="4">
                  <c:v>חגורת בטיחות</c:v>
                </c:pt>
                <c:pt idx="5">
                  <c:v>אור אדום</c:v>
                </c:pt>
                <c:pt idx="6">
                  <c:v>נסיעה בשוליים</c:v>
                </c:pt>
                <c:pt idx="7">
                  <c:v>שינויים ברכב* </c:v>
                </c:pt>
              </c:strCache>
            </c:strRef>
          </c:cat>
          <c:val>
            <c:numRef>
              <c:f>Sheet1!$B$2:$B$9</c:f>
              <c:numCache>
                <c:formatCode>0%</c:formatCode>
                <c:ptCount val="8"/>
                <c:pt idx="0">
                  <c:v>0.3559322033898305</c:v>
                </c:pt>
                <c:pt idx="1">
                  <c:v>0.33898305084745767</c:v>
                </c:pt>
                <c:pt idx="2">
                  <c:v>0.14689265536723164</c:v>
                </c:pt>
                <c:pt idx="3">
                  <c:v>0.11299435028248589</c:v>
                </c:pt>
                <c:pt idx="4">
                  <c:v>4.519774011299435E-2</c:v>
                </c:pt>
                <c:pt idx="5">
                  <c:v>3.3898305084745763E-2</c:v>
                </c:pt>
                <c:pt idx="6">
                  <c:v>2.2598870056497175E-2</c:v>
                </c:pt>
              </c:numCache>
            </c:numRef>
          </c:val>
          <c:extLst>
            <c:ext xmlns:c16="http://schemas.microsoft.com/office/drawing/2014/chart" uri="{C3380CC4-5D6E-409C-BE32-E72D297353CC}">
              <c16:uniqueId val="{00000000-21DF-47E5-9251-D793AC4EFEE4}"/>
            </c:ext>
          </c:extLst>
        </c:ser>
        <c:dLbls>
          <c:dLblPos val="outEnd"/>
          <c:showLegendKey val="0"/>
          <c:showVal val="1"/>
          <c:showCatName val="0"/>
          <c:showSerName val="0"/>
          <c:showPercent val="0"/>
          <c:showBubbleSize val="0"/>
        </c:dLbls>
        <c:gapWidth val="80"/>
        <c:axId val="201487104"/>
        <c:axId val="201488640"/>
      </c:barChart>
      <c:catAx>
        <c:axId val="201487104"/>
        <c:scaling>
          <c:orientation val="maxMin"/>
        </c:scaling>
        <c:delete val="0"/>
        <c:axPos val="l"/>
        <c:numFmt formatCode="General" sourceLinked="1"/>
        <c:majorTickMark val="out"/>
        <c:minorTickMark val="none"/>
        <c:tickLblPos val="low"/>
        <c:spPr>
          <a:ln w="38100">
            <a:noFill/>
            <a:prstDash val="solid"/>
          </a:ln>
        </c:spPr>
        <c:txPr>
          <a:bodyPr rot="0" vert="horz"/>
          <a:lstStyle/>
          <a:p>
            <a:pPr>
              <a:defRPr sz="1100">
                <a:solidFill>
                  <a:schemeClr val="tx1">
                    <a:lumMod val="75000"/>
                    <a:lumOff val="25000"/>
                  </a:schemeClr>
                </a:solidFill>
              </a:defRPr>
            </a:pPr>
            <a:endParaRPr lang="he-IL"/>
          </a:p>
        </c:txPr>
        <c:crossAx val="201488640"/>
        <c:crosses val="autoZero"/>
        <c:auto val="1"/>
        <c:lblAlgn val="ctr"/>
        <c:lblOffset val="100"/>
        <c:noMultiLvlLbl val="0"/>
      </c:catAx>
      <c:valAx>
        <c:axId val="201488640"/>
        <c:scaling>
          <c:orientation val="minMax"/>
          <c:max val="0.8"/>
          <c:min val="0"/>
        </c:scaling>
        <c:delete val="1"/>
        <c:axPos val="t"/>
        <c:numFmt formatCode="0%" sourceLinked="1"/>
        <c:majorTickMark val="out"/>
        <c:minorTickMark val="none"/>
        <c:tickLblPos val="nextTo"/>
        <c:crossAx val="201487104"/>
        <c:crosses val="autoZero"/>
        <c:crossBetween val="between"/>
      </c:valAx>
      <c:spPr>
        <a:noFill/>
        <a:ln w="25965">
          <a:noFill/>
        </a:ln>
      </c:spPr>
    </c:plotArea>
    <c:plotVisOnly val="1"/>
    <c:dispBlanksAs val="gap"/>
    <c:showDLblsOverMax val="0"/>
  </c:chart>
  <c:spPr>
    <a:noFill/>
    <a:ln>
      <a:noFill/>
    </a:ln>
  </c:spPr>
  <c:txPr>
    <a:bodyPr/>
    <a:lstStyle/>
    <a:p>
      <a:pPr>
        <a:defRPr sz="1400" b="0" i="0" u="none" strike="noStrike" baseline="0">
          <a:solidFill>
            <a:schemeClr val="bg1"/>
          </a:solidFill>
          <a:latin typeface="Segoe UI" panose="020B0502040204020203" pitchFamily="34" charset="0"/>
          <a:ea typeface="Arial"/>
          <a:cs typeface="Segoe UI" panose="020B0502040204020203" pitchFamily="34" charset="0"/>
        </a:defRPr>
      </a:pPr>
      <a:endParaRPr lang="he-IL"/>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6866995454128806"/>
          <c:y val="3.7771860754247821E-2"/>
          <c:w val="0.73133004545871172"/>
          <c:h val="0.96222820200773551"/>
        </c:manualLayout>
      </c:layout>
      <c:barChart>
        <c:barDir val="bar"/>
        <c:grouping val="clustered"/>
        <c:varyColors val="0"/>
        <c:ser>
          <c:idx val="0"/>
          <c:order val="0"/>
          <c:tx>
            <c:strRef>
              <c:f>Sheet1!$B$1</c:f>
              <c:strCache>
                <c:ptCount val="1"/>
              </c:strCache>
            </c:strRef>
          </c:tx>
          <c:spPr>
            <a:solidFill>
              <a:srgbClr val="002060"/>
            </a:solidFill>
            <a:ln w="31750">
              <a:noFill/>
            </a:ln>
          </c:spPr>
          <c:invertIfNegative val="0"/>
          <c:dLbls>
            <c:spPr>
              <a:noFill/>
              <a:ln>
                <a:noFill/>
              </a:ln>
              <a:effectLst/>
            </c:spPr>
            <c:txPr>
              <a:bodyPr/>
              <a:lstStyle/>
              <a:p>
                <a:pPr>
                  <a:defRPr sz="1200" b="1">
                    <a:solidFill>
                      <a:srgbClr val="1D1C64"/>
                    </a:solidFill>
                    <a:latin typeface="Segoe UI" panose="020B0502040204020203" pitchFamily="34" charset="0"/>
                    <a:cs typeface="Segoe UI" panose="020B0502040204020203" pitchFamily="34" charset="0"/>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מהירות</c:v>
                </c:pt>
                <c:pt idx="1">
                  <c:v>שימוש בטלפון</c:v>
                </c:pt>
                <c:pt idx="2">
                  <c:v>חגורת בטיחות</c:v>
                </c:pt>
                <c:pt idx="3">
                  <c:v>אי ציות לתמרור</c:v>
                </c:pt>
                <c:pt idx="4">
                  <c:v>אור אדום</c:v>
                </c:pt>
                <c:pt idx="5">
                  <c:v>נסיעה בנתיב תחב"צ</c:v>
                </c:pt>
                <c:pt idx="6">
                  <c:v>נסיעה בשוליים</c:v>
                </c:pt>
                <c:pt idx="7">
                  <c:v>שינויים ברכב* </c:v>
                </c:pt>
              </c:strCache>
            </c:strRef>
          </c:cat>
          <c:val>
            <c:numRef>
              <c:f>Sheet1!$B$2:$B$9</c:f>
              <c:numCache>
                <c:formatCode>0%</c:formatCode>
                <c:ptCount val="8"/>
                <c:pt idx="0">
                  <c:v>0.29069767441860461</c:v>
                </c:pt>
                <c:pt idx="1">
                  <c:v>0.22093023255813954</c:v>
                </c:pt>
                <c:pt idx="2">
                  <c:v>0.16279069767441862</c:v>
                </c:pt>
                <c:pt idx="3">
                  <c:v>0.11627906976744186</c:v>
                </c:pt>
                <c:pt idx="4">
                  <c:v>9.3023255813953487E-2</c:v>
                </c:pt>
                <c:pt idx="5">
                  <c:v>8.1395348837209308E-2</c:v>
                </c:pt>
                <c:pt idx="6">
                  <c:v>6.9767441860465115E-2</c:v>
                </c:pt>
                <c:pt idx="7">
                  <c:v>2.3255813953488372E-2</c:v>
                </c:pt>
              </c:numCache>
            </c:numRef>
          </c:val>
          <c:extLst>
            <c:ext xmlns:c16="http://schemas.microsoft.com/office/drawing/2014/chart" uri="{C3380CC4-5D6E-409C-BE32-E72D297353CC}">
              <c16:uniqueId val="{00000000-64B2-4554-B261-BF84AEFBCEFA}"/>
            </c:ext>
          </c:extLst>
        </c:ser>
        <c:dLbls>
          <c:dLblPos val="outEnd"/>
          <c:showLegendKey val="0"/>
          <c:showVal val="1"/>
          <c:showCatName val="0"/>
          <c:showSerName val="0"/>
          <c:showPercent val="0"/>
          <c:showBubbleSize val="0"/>
        </c:dLbls>
        <c:gapWidth val="80"/>
        <c:axId val="201487104"/>
        <c:axId val="201488640"/>
      </c:barChart>
      <c:catAx>
        <c:axId val="201487104"/>
        <c:scaling>
          <c:orientation val="maxMin"/>
        </c:scaling>
        <c:delete val="0"/>
        <c:axPos val="l"/>
        <c:numFmt formatCode="General" sourceLinked="1"/>
        <c:majorTickMark val="out"/>
        <c:minorTickMark val="none"/>
        <c:tickLblPos val="low"/>
        <c:spPr>
          <a:ln w="38100">
            <a:noFill/>
            <a:prstDash val="solid"/>
          </a:ln>
        </c:spPr>
        <c:txPr>
          <a:bodyPr rot="0" vert="horz"/>
          <a:lstStyle/>
          <a:p>
            <a:pPr>
              <a:defRPr sz="1100">
                <a:solidFill>
                  <a:schemeClr val="tx1">
                    <a:lumMod val="75000"/>
                    <a:lumOff val="25000"/>
                  </a:schemeClr>
                </a:solidFill>
              </a:defRPr>
            </a:pPr>
            <a:endParaRPr lang="he-IL"/>
          </a:p>
        </c:txPr>
        <c:crossAx val="201488640"/>
        <c:crosses val="autoZero"/>
        <c:auto val="1"/>
        <c:lblAlgn val="ctr"/>
        <c:lblOffset val="100"/>
        <c:noMultiLvlLbl val="0"/>
      </c:catAx>
      <c:valAx>
        <c:axId val="201488640"/>
        <c:scaling>
          <c:orientation val="minMax"/>
          <c:max val="0.8"/>
          <c:min val="0"/>
        </c:scaling>
        <c:delete val="1"/>
        <c:axPos val="t"/>
        <c:numFmt formatCode="0%" sourceLinked="1"/>
        <c:majorTickMark val="out"/>
        <c:minorTickMark val="none"/>
        <c:tickLblPos val="nextTo"/>
        <c:crossAx val="201487104"/>
        <c:crosses val="autoZero"/>
        <c:crossBetween val="between"/>
      </c:valAx>
      <c:spPr>
        <a:noFill/>
        <a:ln w="25965">
          <a:noFill/>
        </a:ln>
      </c:spPr>
    </c:plotArea>
    <c:plotVisOnly val="1"/>
    <c:dispBlanksAs val="gap"/>
    <c:showDLblsOverMax val="0"/>
  </c:chart>
  <c:spPr>
    <a:noFill/>
    <a:ln>
      <a:noFill/>
    </a:ln>
  </c:spPr>
  <c:txPr>
    <a:bodyPr/>
    <a:lstStyle/>
    <a:p>
      <a:pPr>
        <a:defRPr sz="1400" b="0" i="0" u="none" strike="noStrike" baseline="0">
          <a:solidFill>
            <a:schemeClr val="bg1"/>
          </a:solidFill>
          <a:latin typeface="Segoe UI" panose="020B0502040204020203" pitchFamily="34" charset="0"/>
          <a:ea typeface="Arial"/>
          <a:cs typeface="Segoe UI" panose="020B0502040204020203" pitchFamily="34" charset="0"/>
        </a:defRPr>
      </a:pPr>
      <a:endParaRPr lang="he-IL"/>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6866995454128806"/>
          <c:y val="3.7771860754247821E-2"/>
          <c:w val="0.73133004545871172"/>
          <c:h val="0.96222820200773551"/>
        </c:manualLayout>
      </c:layout>
      <c:barChart>
        <c:barDir val="bar"/>
        <c:grouping val="clustered"/>
        <c:varyColors val="0"/>
        <c:ser>
          <c:idx val="0"/>
          <c:order val="0"/>
          <c:tx>
            <c:strRef>
              <c:f>Sheet1!$B$1</c:f>
              <c:strCache>
                <c:ptCount val="1"/>
              </c:strCache>
            </c:strRef>
          </c:tx>
          <c:spPr>
            <a:solidFill>
              <a:srgbClr val="002060"/>
            </a:solidFill>
            <a:ln w="31750">
              <a:noFill/>
            </a:ln>
          </c:spPr>
          <c:invertIfNegative val="0"/>
          <c:dLbls>
            <c:spPr>
              <a:noFill/>
              <a:ln>
                <a:noFill/>
              </a:ln>
              <a:effectLst/>
            </c:spPr>
            <c:txPr>
              <a:bodyPr/>
              <a:lstStyle/>
              <a:p>
                <a:pPr>
                  <a:defRPr sz="1200" b="1">
                    <a:solidFill>
                      <a:srgbClr val="1D1C64"/>
                    </a:solidFill>
                    <a:latin typeface="Segoe UI" panose="020B0502040204020203" pitchFamily="34" charset="0"/>
                    <a:cs typeface="Segoe UI" panose="020B0502040204020203" pitchFamily="34" charset="0"/>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מהירות</c:v>
                </c:pt>
                <c:pt idx="1">
                  <c:v>שימוש בטלפון</c:v>
                </c:pt>
                <c:pt idx="2">
                  <c:v>נסיעה בנתיב תחב"צ</c:v>
                </c:pt>
                <c:pt idx="3">
                  <c:v>אור אדום</c:v>
                </c:pt>
                <c:pt idx="4">
                  <c:v>חגורת בטיחות</c:v>
                </c:pt>
                <c:pt idx="5">
                  <c:v>אי ציות לתמרור</c:v>
                </c:pt>
                <c:pt idx="6">
                  <c:v>נסיעה בשוליים</c:v>
                </c:pt>
                <c:pt idx="7">
                  <c:v>שינויים ברכב* </c:v>
                </c:pt>
              </c:strCache>
            </c:strRef>
          </c:cat>
          <c:val>
            <c:numRef>
              <c:f>Sheet1!$B$2:$B$9</c:f>
              <c:numCache>
                <c:formatCode>0%</c:formatCode>
                <c:ptCount val="8"/>
                <c:pt idx="0">
                  <c:v>0.2608695652173913</c:v>
                </c:pt>
                <c:pt idx="1">
                  <c:v>0.2360248447204969</c:v>
                </c:pt>
                <c:pt idx="2">
                  <c:v>0.2360248447204969</c:v>
                </c:pt>
                <c:pt idx="3">
                  <c:v>0.10559006211180125</c:v>
                </c:pt>
                <c:pt idx="4">
                  <c:v>8.0745341614906832E-2</c:v>
                </c:pt>
                <c:pt idx="5">
                  <c:v>8.0745341614906832E-2</c:v>
                </c:pt>
                <c:pt idx="6">
                  <c:v>3.1055900621118012E-2</c:v>
                </c:pt>
                <c:pt idx="7">
                  <c:v>1.2422360248447204E-2</c:v>
                </c:pt>
              </c:numCache>
            </c:numRef>
          </c:val>
          <c:extLst>
            <c:ext xmlns:c16="http://schemas.microsoft.com/office/drawing/2014/chart" uri="{C3380CC4-5D6E-409C-BE32-E72D297353CC}">
              <c16:uniqueId val="{00000000-F344-4EF3-BA67-BA28C51F2535}"/>
            </c:ext>
          </c:extLst>
        </c:ser>
        <c:dLbls>
          <c:dLblPos val="outEnd"/>
          <c:showLegendKey val="0"/>
          <c:showVal val="1"/>
          <c:showCatName val="0"/>
          <c:showSerName val="0"/>
          <c:showPercent val="0"/>
          <c:showBubbleSize val="0"/>
        </c:dLbls>
        <c:gapWidth val="80"/>
        <c:axId val="201487104"/>
        <c:axId val="201488640"/>
      </c:barChart>
      <c:catAx>
        <c:axId val="201487104"/>
        <c:scaling>
          <c:orientation val="maxMin"/>
        </c:scaling>
        <c:delete val="0"/>
        <c:axPos val="l"/>
        <c:numFmt formatCode="General" sourceLinked="1"/>
        <c:majorTickMark val="out"/>
        <c:minorTickMark val="none"/>
        <c:tickLblPos val="low"/>
        <c:spPr>
          <a:ln w="38100">
            <a:noFill/>
            <a:prstDash val="solid"/>
          </a:ln>
        </c:spPr>
        <c:txPr>
          <a:bodyPr rot="0" vert="horz"/>
          <a:lstStyle/>
          <a:p>
            <a:pPr>
              <a:defRPr sz="1100">
                <a:solidFill>
                  <a:schemeClr val="tx1">
                    <a:lumMod val="75000"/>
                    <a:lumOff val="25000"/>
                  </a:schemeClr>
                </a:solidFill>
              </a:defRPr>
            </a:pPr>
            <a:endParaRPr lang="he-IL"/>
          </a:p>
        </c:txPr>
        <c:crossAx val="201488640"/>
        <c:crosses val="autoZero"/>
        <c:auto val="1"/>
        <c:lblAlgn val="ctr"/>
        <c:lblOffset val="100"/>
        <c:noMultiLvlLbl val="0"/>
      </c:catAx>
      <c:valAx>
        <c:axId val="201488640"/>
        <c:scaling>
          <c:orientation val="minMax"/>
          <c:max val="0.8"/>
          <c:min val="0"/>
        </c:scaling>
        <c:delete val="1"/>
        <c:axPos val="t"/>
        <c:numFmt formatCode="0%" sourceLinked="1"/>
        <c:majorTickMark val="out"/>
        <c:minorTickMark val="none"/>
        <c:tickLblPos val="nextTo"/>
        <c:crossAx val="201487104"/>
        <c:crosses val="autoZero"/>
        <c:crossBetween val="between"/>
      </c:valAx>
      <c:spPr>
        <a:noFill/>
        <a:ln w="25965">
          <a:noFill/>
        </a:ln>
      </c:spPr>
    </c:plotArea>
    <c:plotVisOnly val="1"/>
    <c:dispBlanksAs val="gap"/>
    <c:showDLblsOverMax val="0"/>
  </c:chart>
  <c:spPr>
    <a:noFill/>
    <a:ln>
      <a:noFill/>
    </a:ln>
  </c:spPr>
  <c:txPr>
    <a:bodyPr/>
    <a:lstStyle/>
    <a:p>
      <a:pPr>
        <a:defRPr sz="1400" b="0" i="0" u="none" strike="noStrike" baseline="0">
          <a:solidFill>
            <a:schemeClr val="bg1"/>
          </a:solidFill>
          <a:latin typeface="Segoe UI" panose="020B0502040204020203" pitchFamily="34" charset="0"/>
          <a:ea typeface="Arial"/>
          <a:cs typeface="Segoe UI" panose="020B0502040204020203" pitchFamily="34" charset="0"/>
        </a:defRPr>
      </a:pPr>
      <a:endParaRPr lang="he-IL"/>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6866995454128806"/>
          <c:y val="3.7771860754247821E-2"/>
          <c:w val="0.73133004545871172"/>
          <c:h val="0.96222820200773551"/>
        </c:manualLayout>
      </c:layout>
      <c:barChart>
        <c:barDir val="bar"/>
        <c:grouping val="clustered"/>
        <c:varyColors val="0"/>
        <c:ser>
          <c:idx val="0"/>
          <c:order val="0"/>
          <c:tx>
            <c:strRef>
              <c:f>Sheet1!$B$1</c:f>
              <c:strCache>
                <c:ptCount val="1"/>
              </c:strCache>
            </c:strRef>
          </c:tx>
          <c:spPr>
            <a:solidFill>
              <a:srgbClr val="002060"/>
            </a:solidFill>
            <a:ln w="31750">
              <a:noFill/>
            </a:ln>
          </c:spPr>
          <c:invertIfNegative val="0"/>
          <c:dLbls>
            <c:spPr>
              <a:noFill/>
              <a:ln>
                <a:noFill/>
              </a:ln>
              <a:effectLst/>
            </c:spPr>
            <c:txPr>
              <a:bodyPr/>
              <a:lstStyle/>
              <a:p>
                <a:pPr>
                  <a:defRPr sz="1200" b="1">
                    <a:solidFill>
                      <a:srgbClr val="1D1C64"/>
                    </a:solidFill>
                    <a:latin typeface="Segoe UI" panose="020B0502040204020203" pitchFamily="34" charset="0"/>
                    <a:cs typeface="Segoe UI" panose="020B0502040204020203" pitchFamily="34" charset="0"/>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שימוש בטלפון</c:v>
                </c:pt>
                <c:pt idx="1">
                  <c:v>מהירות</c:v>
                </c:pt>
                <c:pt idx="2">
                  <c:v>אור אדום</c:v>
                </c:pt>
                <c:pt idx="3">
                  <c:v>חגורת בטיחות</c:v>
                </c:pt>
                <c:pt idx="4">
                  <c:v>אי ציות לתמרור</c:v>
                </c:pt>
                <c:pt idx="5">
                  <c:v>נסיעה בשוליים</c:v>
                </c:pt>
                <c:pt idx="6">
                  <c:v>נסיעה בנתיב תחב"צ</c:v>
                </c:pt>
                <c:pt idx="7">
                  <c:v>שינויים ברכב* </c:v>
                </c:pt>
              </c:strCache>
            </c:strRef>
          </c:cat>
          <c:val>
            <c:numRef>
              <c:f>Sheet1!$B$2:$B$9</c:f>
              <c:numCache>
                <c:formatCode>0%</c:formatCode>
                <c:ptCount val="8"/>
                <c:pt idx="0">
                  <c:v>0.41975308641975312</c:v>
                </c:pt>
                <c:pt idx="1">
                  <c:v>0.23456790123456792</c:v>
                </c:pt>
                <c:pt idx="2">
                  <c:v>0.14814814814814814</c:v>
                </c:pt>
                <c:pt idx="3">
                  <c:v>0.14814814814814814</c:v>
                </c:pt>
                <c:pt idx="4">
                  <c:v>0.12345679012345678</c:v>
                </c:pt>
                <c:pt idx="5">
                  <c:v>0.1111111111111111</c:v>
                </c:pt>
                <c:pt idx="6">
                  <c:v>6.1728395061728392E-2</c:v>
                </c:pt>
                <c:pt idx="7">
                  <c:v>1.2345679012345678E-2</c:v>
                </c:pt>
              </c:numCache>
            </c:numRef>
          </c:val>
          <c:extLst>
            <c:ext xmlns:c16="http://schemas.microsoft.com/office/drawing/2014/chart" uri="{C3380CC4-5D6E-409C-BE32-E72D297353CC}">
              <c16:uniqueId val="{00000000-07AD-4343-A951-FBDFBE5975BC}"/>
            </c:ext>
          </c:extLst>
        </c:ser>
        <c:dLbls>
          <c:dLblPos val="outEnd"/>
          <c:showLegendKey val="0"/>
          <c:showVal val="1"/>
          <c:showCatName val="0"/>
          <c:showSerName val="0"/>
          <c:showPercent val="0"/>
          <c:showBubbleSize val="0"/>
        </c:dLbls>
        <c:gapWidth val="80"/>
        <c:axId val="201487104"/>
        <c:axId val="201488640"/>
      </c:barChart>
      <c:catAx>
        <c:axId val="201487104"/>
        <c:scaling>
          <c:orientation val="maxMin"/>
        </c:scaling>
        <c:delete val="0"/>
        <c:axPos val="l"/>
        <c:numFmt formatCode="General" sourceLinked="1"/>
        <c:majorTickMark val="out"/>
        <c:minorTickMark val="none"/>
        <c:tickLblPos val="low"/>
        <c:spPr>
          <a:ln w="38100">
            <a:noFill/>
            <a:prstDash val="solid"/>
          </a:ln>
        </c:spPr>
        <c:txPr>
          <a:bodyPr rot="0" vert="horz"/>
          <a:lstStyle/>
          <a:p>
            <a:pPr>
              <a:defRPr sz="1100">
                <a:solidFill>
                  <a:schemeClr val="tx1">
                    <a:lumMod val="75000"/>
                    <a:lumOff val="25000"/>
                  </a:schemeClr>
                </a:solidFill>
              </a:defRPr>
            </a:pPr>
            <a:endParaRPr lang="he-IL"/>
          </a:p>
        </c:txPr>
        <c:crossAx val="201488640"/>
        <c:crosses val="autoZero"/>
        <c:auto val="1"/>
        <c:lblAlgn val="ctr"/>
        <c:lblOffset val="100"/>
        <c:noMultiLvlLbl val="0"/>
      </c:catAx>
      <c:valAx>
        <c:axId val="201488640"/>
        <c:scaling>
          <c:orientation val="minMax"/>
          <c:max val="0.8"/>
          <c:min val="0"/>
        </c:scaling>
        <c:delete val="1"/>
        <c:axPos val="t"/>
        <c:numFmt formatCode="0%" sourceLinked="1"/>
        <c:majorTickMark val="out"/>
        <c:minorTickMark val="none"/>
        <c:tickLblPos val="nextTo"/>
        <c:crossAx val="201487104"/>
        <c:crosses val="autoZero"/>
        <c:crossBetween val="between"/>
      </c:valAx>
      <c:spPr>
        <a:noFill/>
        <a:ln w="25965">
          <a:noFill/>
        </a:ln>
      </c:spPr>
    </c:plotArea>
    <c:plotVisOnly val="1"/>
    <c:dispBlanksAs val="gap"/>
    <c:showDLblsOverMax val="0"/>
  </c:chart>
  <c:spPr>
    <a:noFill/>
    <a:ln>
      <a:noFill/>
    </a:ln>
  </c:spPr>
  <c:txPr>
    <a:bodyPr/>
    <a:lstStyle/>
    <a:p>
      <a:pPr>
        <a:defRPr sz="1400" b="0" i="0" u="none" strike="noStrike" baseline="0">
          <a:solidFill>
            <a:schemeClr val="bg1"/>
          </a:solidFill>
          <a:latin typeface="Segoe UI" panose="020B0502040204020203" pitchFamily="34" charset="0"/>
          <a:ea typeface="Arial"/>
          <a:cs typeface="Segoe UI" panose="020B0502040204020203" pitchFamily="34" charset="0"/>
        </a:defRPr>
      </a:pPr>
      <a:endParaRPr lang="he-IL"/>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4535224465980901"/>
          <c:y val="3.5154220910064447E-2"/>
          <c:w val="0.72193627516925563"/>
          <c:h val="0.94893358709308251"/>
        </c:manualLayout>
      </c:layout>
      <c:barChart>
        <c:barDir val="bar"/>
        <c:grouping val="clustered"/>
        <c:varyColors val="0"/>
        <c:ser>
          <c:idx val="0"/>
          <c:order val="0"/>
          <c:tx>
            <c:strRef>
              <c:f>Sheet1!$B$1</c:f>
              <c:strCache>
                <c:ptCount val="1"/>
                <c:pt idx="0">
                  <c:v>גבר</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rgbClr val="00B0F0"/>
                    </a:solidFill>
                    <a:latin typeface="Segoe UI" panose="020B0502040204020203" pitchFamily="34" charset="0"/>
                    <a:ea typeface="+mn-ea"/>
                    <a:cs typeface="Segoe UI" panose="020B0502040204020203" pitchFamily="34" charset="0"/>
                  </a:defRPr>
                </a:pPr>
                <a:endParaRPr lang="he-IL"/>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מהירות</c:v>
                </c:pt>
                <c:pt idx="1">
                  <c:v>שימוש בטלפון</c:v>
                </c:pt>
                <c:pt idx="2">
                  <c:v>נסיעה בנתיב תחב"צ</c:v>
                </c:pt>
                <c:pt idx="3">
                  <c:v>אי ציות לתמרור</c:v>
                </c:pt>
                <c:pt idx="4">
                  <c:v>חגורת בטיחות</c:v>
                </c:pt>
                <c:pt idx="5">
                  <c:v>אור אדום</c:v>
                </c:pt>
                <c:pt idx="6">
                  <c:v>נסיעה בשוליים</c:v>
                </c:pt>
                <c:pt idx="7">
                  <c:v>שינויים ברכב בניגוד לחוק (כמו חלונות כהים)</c:v>
                </c:pt>
              </c:strCache>
            </c:strRef>
          </c:cat>
          <c:val>
            <c:numRef>
              <c:f>Sheet1!$B$2:$B$9</c:f>
              <c:numCache>
                <c:formatCode>0%</c:formatCode>
                <c:ptCount val="8"/>
                <c:pt idx="0">
                  <c:v>0.37719298245614036</c:v>
                </c:pt>
                <c:pt idx="1">
                  <c:v>0.14912280701754385</c:v>
                </c:pt>
                <c:pt idx="2">
                  <c:v>0.31578947368421051</c:v>
                </c:pt>
                <c:pt idx="3">
                  <c:v>0.11403508771929825</c:v>
                </c:pt>
                <c:pt idx="4">
                  <c:v>3.5087719298245612E-2</c:v>
                </c:pt>
                <c:pt idx="5">
                  <c:v>3.5087719298245612E-2</c:v>
                </c:pt>
                <c:pt idx="6">
                  <c:v>2.6315789473684213E-2</c:v>
                </c:pt>
              </c:numCache>
            </c:numRef>
          </c:val>
          <c:extLst xmlns:c15="http://schemas.microsoft.com/office/drawing/2012/chart">
            <c:ext xmlns:c16="http://schemas.microsoft.com/office/drawing/2014/chart" uri="{C3380CC4-5D6E-409C-BE32-E72D297353CC}">
              <c16:uniqueId val="{00000000-D261-4F96-966C-D53E5B09CA24}"/>
            </c:ext>
          </c:extLst>
        </c:ser>
        <c:ser>
          <c:idx val="1"/>
          <c:order val="1"/>
          <c:tx>
            <c:strRef>
              <c:f>Sheet1!$C$1</c:f>
              <c:strCache>
                <c:ptCount val="1"/>
                <c:pt idx="0">
                  <c:v>אישה</c:v>
                </c:pt>
              </c:strCache>
            </c:strRef>
          </c:tx>
          <c:spPr>
            <a:solidFill>
              <a:srgbClr val="FA6A89"/>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rgbClr val="FA4C75"/>
                    </a:solidFill>
                    <a:latin typeface="Segoe UI" panose="020B0502040204020203" pitchFamily="34" charset="0"/>
                    <a:ea typeface="+mn-ea"/>
                    <a:cs typeface="Segoe UI" panose="020B0502040204020203" pitchFamily="34" charset="0"/>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מהירות</c:v>
                </c:pt>
                <c:pt idx="1">
                  <c:v>שימוש בטלפון</c:v>
                </c:pt>
                <c:pt idx="2">
                  <c:v>נסיעה בנתיב תחב"צ</c:v>
                </c:pt>
                <c:pt idx="3">
                  <c:v>אי ציות לתמרור</c:v>
                </c:pt>
                <c:pt idx="4">
                  <c:v>חגורת בטיחות</c:v>
                </c:pt>
                <c:pt idx="5">
                  <c:v>אור אדום</c:v>
                </c:pt>
                <c:pt idx="6">
                  <c:v>נסיעה בשוליים</c:v>
                </c:pt>
                <c:pt idx="7">
                  <c:v>שינויים ברכב בניגוד לחוק (כמו חלונות כהים)</c:v>
                </c:pt>
              </c:strCache>
            </c:strRef>
          </c:cat>
          <c:val>
            <c:numRef>
              <c:f>Sheet1!$C$2:$C$9</c:f>
              <c:numCache>
                <c:formatCode>0%</c:formatCode>
                <c:ptCount val="8"/>
                <c:pt idx="0">
                  <c:v>0.26984126984126983</c:v>
                </c:pt>
                <c:pt idx="1">
                  <c:v>0.14285714285714288</c:v>
                </c:pt>
                <c:pt idx="2">
                  <c:v>0.42857142857142855</c:v>
                </c:pt>
                <c:pt idx="3">
                  <c:v>0.1111111111111111</c:v>
                </c:pt>
                <c:pt idx="4">
                  <c:v>6.3492063492063489E-2</c:v>
                </c:pt>
                <c:pt idx="5">
                  <c:v>3.1746031746031744E-2</c:v>
                </c:pt>
                <c:pt idx="6">
                  <c:v>1.5873015873015872E-2</c:v>
                </c:pt>
              </c:numCache>
            </c:numRef>
          </c:val>
          <c:extLst>
            <c:ext xmlns:c16="http://schemas.microsoft.com/office/drawing/2014/chart" uri="{C3380CC4-5D6E-409C-BE32-E72D297353CC}">
              <c16:uniqueId val="{00000001-D261-4F96-966C-D53E5B09CA24}"/>
            </c:ext>
          </c:extLst>
        </c:ser>
        <c:dLbls>
          <c:dLblPos val="outEnd"/>
          <c:showLegendKey val="0"/>
          <c:showVal val="1"/>
          <c:showCatName val="0"/>
          <c:showSerName val="0"/>
          <c:showPercent val="0"/>
          <c:showBubbleSize val="0"/>
        </c:dLbls>
        <c:gapWidth val="80"/>
        <c:axId val="218240"/>
        <c:axId val="12131296"/>
        <c:extLst/>
      </c:barChart>
      <c:catAx>
        <c:axId val="218240"/>
        <c:scaling>
          <c:orientation val="maxMin"/>
        </c:scaling>
        <c:delete val="1"/>
        <c:axPos val="l"/>
        <c:numFmt formatCode="General" sourceLinked="1"/>
        <c:majorTickMark val="none"/>
        <c:minorTickMark val="none"/>
        <c:tickLblPos val="nextTo"/>
        <c:crossAx val="12131296"/>
        <c:crosses val="autoZero"/>
        <c:auto val="1"/>
        <c:lblAlgn val="ctr"/>
        <c:lblOffset val="100"/>
        <c:tickLblSkip val="1"/>
        <c:noMultiLvlLbl val="0"/>
      </c:catAx>
      <c:valAx>
        <c:axId val="12131296"/>
        <c:scaling>
          <c:orientation val="minMax"/>
          <c:max val="0.70000000000000007"/>
          <c:min val="0"/>
        </c:scaling>
        <c:delete val="1"/>
        <c:axPos val="t"/>
        <c:numFmt formatCode="0%" sourceLinked="1"/>
        <c:majorTickMark val="out"/>
        <c:minorTickMark val="none"/>
        <c:tickLblPos val="nextTo"/>
        <c:crossAx val="21824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latin typeface="Segoe UI" panose="020B0502040204020203" pitchFamily="34" charset="0"/>
          <a:cs typeface="Segoe UI" panose="020B0502040204020203" pitchFamily="34" charset="0"/>
        </a:defRPr>
      </a:pPr>
      <a:endParaRPr lang="he-IL"/>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4535224465980901"/>
          <c:y val="3.5154220910064447E-2"/>
          <c:w val="0.72193627516925563"/>
          <c:h val="0.94893358709308251"/>
        </c:manualLayout>
      </c:layout>
      <c:barChart>
        <c:barDir val="bar"/>
        <c:grouping val="clustered"/>
        <c:varyColors val="0"/>
        <c:ser>
          <c:idx val="0"/>
          <c:order val="0"/>
          <c:tx>
            <c:strRef>
              <c:f>Sheet1!$B$1</c:f>
              <c:strCache>
                <c:ptCount val="1"/>
                <c:pt idx="0">
                  <c:v>גבר</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rgbClr val="00B0F0"/>
                    </a:solidFill>
                    <a:latin typeface="Segoe UI" panose="020B0502040204020203" pitchFamily="34" charset="0"/>
                    <a:ea typeface="+mn-ea"/>
                    <a:cs typeface="Segoe UI" panose="020B0502040204020203" pitchFamily="34" charset="0"/>
                  </a:defRPr>
                </a:pPr>
                <a:endParaRPr lang="he-IL"/>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מהירות</c:v>
                </c:pt>
                <c:pt idx="1">
                  <c:v>שימוש בטלפון</c:v>
                </c:pt>
                <c:pt idx="2">
                  <c:v>נסיעה בנתיב תחב"צ</c:v>
                </c:pt>
                <c:pt idx="3">
                  <c:v>אי ציות לתמרור</c:v>
                </c:pt>
                <c:pt idx="4">
                  <c:v>חגורת בטיחות</c:v>
                </c:pt>
                <c:pt idx="5">
                  <c:v>אור אדום</c:v>
                </c:pt>
                <c:pt idx="6">
                  <c:v>נסיעה בשוליים</c:v>
                </c:pt>
                <c:pt idx="7">
                  <c:v>שינויים ברכב בניגוד לחוק (כמו חלונות כהים)</c:v>
                </c:pt>
              </c:strCache>
            </c:strRef>
          </c:cat>
          <c:val>
            <c:numRef>
              <c:f>Sheet1!$B$2:$B$9</c:f>
              <c:numCache>
                <c:formatCode>0%</c:formatCode>
                <c:ptCount val="8"/>
                <c:pt idx="0">
                  <c:v>0.24324324324324323</c:v>
                </c:pt>
                <c:pt idx="1">
                  <c:v>0.27027027027027029</c:v>
                </c:pt>
                <c:pt idx="2">
                  <c:v>0.1081081081081081</c:v>
                </c:pt>
                <c:pt idx="3">
                  <c:v>0.2162162162162162</c:v>
                </c:pt>
                <c:pt idx="4">
                  <c:v>0.2162162162162162</c:v>
                </c:pt>
                <c:pt idx="5">
                  <c:v>0.1081081081081081</c:v>
                </c:pt>
                <c:pt idx="6">
                  <c:v>2.7027027027027025E-2</c:v>
                </c:pt>
              </c:numCache>
            </c:numRef>
          </c:val>
          <c:extLst xmlns:c15="http://schemas.microsoft.com/office/drawing/2012/chart">
            <c:ext xmlns:c16="http://schemas.microsoft.com/office/drawing/2014/chart" uri="{C3380CC4-5D6E-409C-BE32-E72D297353CC}">
              <c16:uniqueId val="{00000000-4CD6-450D-8441-106AFB518746}"/>
            </c:ext>
          </c:extLst>
        </c:ser>
        <c:ser>
          <c:idx val="1"/>
          <c:order val="1"/>
          <c:tx>
            <c:strRef>
              <c:f>Sheet1!$C$1</c:f>
              <c:strCache>
                <c:ptCount val="1"/>
                <c:pt idx="0">
                  <c:v>אישה</c:v>
                </c:pt>
              </c:strCache>
            </c:strRef>
          </c:tx>
          <c:spPr>
            <a:solidFill>
              <a:srgbClr val="FA6A89"/>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rgbClr val="FA4C75"/>
                    </a:solidFill>
                    <a:latin typeface="Segoe UI" panose="020B0502040204020203" pitchFamily="34" charset="0"/>
                    <a:ea typeface="+mn-ea"/>
                    <a:cs typeface="Segoe UI" panose="020B0502040204020203" pitchFamily="34" charset="0"/>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מהירות</c:v>
                </c:pt>
                <c:pt idx="1">
                  <c:v>שימוש בטלפון</c:v>
                </c:pt>
                <c:pt idx="2">
                  <c:v>נסיעה בנתיב תחב"צ</c:v>
                </c:pt>
                <c:pt idx="3">
                  <c:v>אי ציות לתמרור</c:v>
                </c:pt>
                <c:pt idx="4">
                  <c:v>חגורת בטיחות</c:v>
                </c:pt>
                <c:pt idx="5">
                  <c:v>אור אדום</c:v>
                </c:pt>
                <c:pt idx="6">
                  <c:v>נסיעה בשוליים</c:v>
                </c:pt>
                <c:pt idx="7">
                  <c:v>שינויים ברכב בניגוד לחוק (כמו חלונות כהים)</c:v>
                </c:pt>
              </c:strCache>
            </c:strRef>
          </c:cat>
          <c:val>
            <c:numRef>
              <c:f>Sheet1!$C$2:$C$9</c:f>
              <c:numCache>
                <c:formatCode>0%</c:formatCode>
                <c:ptCount val="8"/>
                <c:pt idx="0">
                  <c:v>0.32653061224489799</c:v>
                </c:pt>
                <c:pt idx="1">
                  <c:v>0.18367346938775511</c:v>
                </c:pt>
                <c:pt idx="2">
                  <c:v>6.1224489795918366E-2</c:v>
                </c:pt>
                <c:pt idx="3">
                  <c:v>4.0816326530612249E-2</c:v>
                </c:pt>
                <c:pt idx="4">
                  <c:v>0.12244897959183673</c:v>
                </c:pt>
                <c:pt idx="5">
                  <c:v>8.1632653061224497E-2</c:v>
                </c:pt>
                <c:pt idx="6">
                  <c:v>0.10204081632653061</c:v>
                </c:pt>
                <c:pt idx="7">
                  <c:v>4.0816326530612249E-2</c:v>
                </c:pt>
              </c:numCache>
            </c:numRef>
          </c:val>
          <c:extLst>
            <c:ext xmlns:c16="http://schemas.microsoft.com/office/drawing/2014/chart" uri="{C3380CC4-5D6E-409C-BE32-E72D297353CC}">
              <c16:uniqueId val="{00000001-4CD6-450D-8441-106AFB518746}"/>
            </c:ext>
          </c:extLst>
        </c:ser>
        <c:dLbls>
          <c:dLblPos val="outEnd"/>
          <c:showLegendKey val="0"/>
          <c:showVal val="1"/>
          <c:showCatName val="0"/>
          <c:showSerName val="0"/>
          <c:showPercent val="0"/>
          <c:showBubbleSize val="0"/>
        </c:dLbls>
        <c:gapWidth val="80"/>
        <c:axId val="218240"/>
        <c:axId val="12131296"/>
        <c:extLst/>
      </c:barChart>
      <c:catAx>
        <c:axId val="218240"/>
        <c:scaling>
          <c:orientation val="maxMin"/>
        </c:scaling>
        <c:delete val="1"/>
        <c:axPos val="l"/>
        <c:numFmt formatCode="General" sourceLinked="1"/>
        <c:majorTickMark val="none"/>
        <c:minorTickMark val="none"/>
        <c:tickLblPos val="nextTo"/>
        <c:crossAx val="12131296"/>
        <c:crosses val="autoZero"/>
        <c:auto val="1"/>
        <c:lblAlgn val="ctr"/>
        <c:lblOffset val="100"/>
        <c:tickLblSkip val="1"/>
        <c:noMultiLvlLbl val="0"/>
      </c:catAx>
      <c:valAx>
        <c:axId val="12131296"/>
        <c:scaling>
          <c:orientation val="minMax"/>
          <c:max val="0.70000000000000007"/>
          <c:min val="0"/>
        </c:scaling>
        <c:delete val="1"/>
        <c:axPos val="t"/>
        <c:numFmt formatCode="0%" sourceLinked="1"/>
        <c:majorTickMark val="out"/>
        <c:minorTickMark val="none"/>
        <c:tickLblPos val="nextTo"/>
        <c:crossAx val="21824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latin typeface="Segoe UI" panose="020B0502040204020203" pitchFamily="34" charset="0"/>
          <a:cs typeface="Segoe UI" panose="020B0502040204020203" pitchFamily="34" charset="0"/>
        </a:defRPr>
      </a:pPr>
      <a:endParaRPr lang="he-IL"/>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4535224465980901"/>
          <c:y val="3.5154220910064447E-2"/>
          <c:w val="0.72193627516925563"/>
          <c:h val="0.94893358709308251"/>
        </c:manualLayout>
      </c:layout>
      <c:barChart>
        <c:barDir val="bar"/>
        <c:grouping val="clustered"/>
        <c:varyColors val="0"/>
        <c:ser>
          <c:idx val="0"/>
          <c:order val="0"/>
          <c:tx>
            <c:strRef>
              <c:f>Sheet1!$B$1</c:f>
              <c:strCache>
                <c:ptCount val="1"/>
                <c:pt idx="0">
                  <c:v>גבר</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rgbClr val="00B0F0"/>
                    </a:solidFill>
                    <a:latin typeface="Segoe UI" panose="020B0502040204020203" pitchFamily="34" charset="0"/>
                    <a:ea typeface="+mn-ea"/>
                    <a:cs typeface="Segoe UI" panose="020B0502040204020203" pitchFamily="34" charset="0"/>
                  </a:defRPr>
                </a:pPr>
                <a:endParaRPr lang="he-IL"/>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מהירות</c:v>
                </c:pt>
                <c:pt idx="1">
                  <c:v>שימוש בטלפון</c:v>
                </c:pt>
                <c:pt idx="2">
                  <c:v>נסיעה בנתיב תחב"צ</c:v>
                </c:pt>
                <c:pt idx="3">
                  <c:v>אי ציות לתמרור</c:v>
                </c:pt>
                <c:pt idx="4">
                  <c:v>חגורת בטיחות</c:v>
                </c:pt>
                <c:pt idx="5">
                  <c:v>אור אדום</c:v>
                </c:pt>
                <c:pt idx="6">
                  <c:v>נסיעה בשוליים</c:v>
                </c:pt>
                <c:pt idx="7">
                  <c:v>שינויים ברכב בניגוד לחוק (כמו חלונות כהים)</c:v>
                </c:pt>
              </c:strCache>
            </c:strRef>
          </c:cat>
          <c:val>
            <c:numRef>
              <c:f>Sheet1!$B$2:$B$9</c:f>
              <c:numCache>
                <c:formatCode>0%</c:formatCode>
                <c:ptCount val="8"/>
                <c:pt idx="0">
                  <c:v>0.29807692307692307</c:v>
                </c:pt>
                <c:pt idx="1">
                  <c:v>0.25961538461538458</c:v>
                </c:pt>
                <c:pt idx="2">
                  <c:v>0.23076923076923075</c:v>
                </c:pt>
                <c:pt idx="3">
                  <c:v>0.10576923076923077</c:v>
                </c:pt>
                <c:pt idx="4">
                  <c:v>7.6923076923076927E-2</c:v>
                </c:pt>
                <c:pt idx="5">
                  <c:v>6.7307692307692304E-2</c:v>
                </c:pt>
                <c:pt idx="6">
                  <c:v>1.9230769230769232E-2</c:v>
                </c:pt>
                <c:pt idx="7">
                  <c:v>1.9230769230769232E-2</c:v>
                </c:pt>
              </c:numCache>
            </c:numRef>
          </c:val>
          <c:extLst xmlns:c15="http://schemas.microsoft.com/office/drawing/2012/chart">
            <c:ext xmlns:c16="http://schemas.microsoft.com/office/drawing/2014/chart" uri="{C3380CC4-5D6E-409C-BE32-E72D297353CC}">
              <c16:uniqueId val="{00000000-DF08-48FC-BB43-FB2C7E3BBE2D}"/>
            </c:ext>
          </c:extLst>
        </c:ser>
        <c:ser>
          <c:idx val="1"/>
          <c:order val="1"/>
          <c:tx>
            <c:strRef>
              <c:f>Sheet1!$C$1</c:f>
              <c:strCache>
                <c:ptCount val="1"/>
                <c:pt idx="0">
                  <c:v>אישה</c:v>
                </c:pt>
              </c:strCache>
            </c:strRef>
          </c:tx>
          <c:spPr>
            <a:solidFill>
              <a:srgbClr val="FA6A89"/>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rgbClr val="FA4C75"/>
                    </a:solidFill>
                    <a:latin typeface="Segoe UI" panose="020B0502040204020203" pitchFamily="34" charset="0"/>
                    <a:ea typeface="+mn-ea"/>
                    <a:cs typeface="Segoe UI" panose="020B0502040204020203" pitchFamily="34" charset="0"/>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מהירות</c:v>
                </c:pt>
                <c:pt idx="1">
                  <c:v>שימוש בטלפון</c:v>
                </c:pt>
                <c:pt idx="2">
                  <c:v>נסיעה בנתיב תחב"צ</c:v>
                </c:pt>
                <c:pt idx="3">
                  <c:v>אי ציות לתמרור</c:v>
                </c:pt>
                <c:pt idx="4">
                  <c:v>חגורת בטיחות</c:v>
                </c:pt>
                <c:pt idx="5">
                  <c:v>אור אדום</c:v>
                </c:pt>
                <c:pt idx="6">
                  <c:v>נסיעה בשוליים</c:v>
                </c:pt>
                <c:pt idx="7">
                  <c:v>שינויים ברכב בניגוד לחוק (כמו חלונות כהים)</c:v>
                </c:pt>
              </c:strCache>
            </c:strRef>
          </c:cat>
          <c:val>
            <c:numRef>
              <c:f>Sheet1!$C$2:$C$9</c:f>
              <c:numCache>
                <c:formatCode>0%</c:formatCode>
                <c:ptCount val="8"/>
                <c:pt idx="0">
                  <c:v>0.19298245614035089</c:v>
                </c:pt>
                <c:pt idx="1">
                  <c:v>0.19298245614035089</c:v>
                </c:pt>
                <c:pt idx="2">
                  <c:v>0.24561403508771931</c:v>
                </c:pt>
                <c:pt idx="3">
                  <c:v>3.5087719298245612E-2</c:v>
                </c:pt>
                <c:pt idx="4">
                  <c:v>8.7719298245614044E-2</c:v>
                </c:pt>
                <c:pt idx="5">
                  <c:v>0.17543859649122809</c:v>
                </c:pt>
                <c:pt idx="6">
                  <c:v>5.2631578947368425E-2</c:v>
                </c:pt>
              </c:numCache>
            </c:numRef>
          </c:val>
          <c:extLst>
            <c:ext xmlns:c16="http://schemas.microsoft.com/office/drawing/2014/chart" uri="{C3380CC4-5D6E-409C-BE32-E72D297353CC}">
              <c16:uniqueId val="{00000001-DF08-48FC-BB43-FB2C7E3BBE2D}"/>
            </c:ext>
          </c:extLst>
        </c:ser>
        <c:dLbls>
          <c:dLblPos val="outEnd"/>
          <c:showLegendKey val="0"/>
          <c:showVal val="1"/>
          <c:showCatName val="0"/>
          <c:showSerName val="0"/>
          <c:showPercent val="0"/>
          <c:showBubbleSize val="0"/>
        </c:dLbls>
        <c:gapWidth val="80"/>
        <c:axId val="218240"/>
        <c:axId val="12131296"/>
        <c:extLst/>
      </c:barChart>
      <c:catAx>
        <c:axId val="218240"/>
        <c:scaling>
          <c:orientation val="maxMin"/>
        </c:scaling>
        <c:delete val="1"/>
        <c:axPos val="l"/>
        <c:numFmt formatCode="General" sourceLinked="1"/>
        <c:majorTickMark val="none"/>
        <c:minorTickMark val="none"/>
        <c:tickLblPos val="nextTo"/>
        <c:crossAx val="12131296"/>
        <c:crosses val="autoZero"/>
        <c:auto val="1"/>
        <c:lblAlgn val="ctr"/>
        <c:lblOffset val="100"/>
        <c:tickLblSkip val="1"/>
        <c:noMultiLvlLbl val="0"/>
      </c:catAx>
      <c:valAx>
        <c:axId val="12131296"/>
        <c:scaling>
          <c:orientation val="minMax"/>
          <c:max val="0.70000000000000007"/>
          <c:min val="0"/>
        </c:scaling>
        <c:delete val="1"/>
        <c:axPos val="t"/>
        <c:numFmt formatCode="0%" sourceLinked="1"/>
        <c:majorTickMark val="out"/>
        <c:minorTickMark val="none"/>
        <c:tickLblPos val="nextTo"/>
        <c:crossAx val="21824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latin typeface="Segoe UI" panose="020B0502040204020203" pitchFamily="34" charset="0"/>
          <a:cs typeface="Segoe UI" panose="020B0502040204020203" pitchFamily="34" charset="0"/>
        </a:defRPr>
      </a:pPr>
      <a:endParaRPr lang="he-IL"/>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4535224465980901"/>
          <c:y val="3.5154220910064447E-2"/>
          <c:w val="0.72193627516925563"/>
          <c:h val="0.94893358709308251"/>
        </c:manualLayout>
      </c:layout>
      <c:barChart>
        <c:barDir val="bar"/>
        <c:grouping val="clustered"/>
        <c:varyColors val="0"/>
        <c:ser>
          <c:idx val="0"/>
          <c:order val="0"/>
          <c:tx>
            <c:strRef>
              <c:f>Sheet1!$B$1</c:f>
              <c:strCache>
                <c:ptCount val="1"/>
                <c:pt idx="0">
                  <c:v>גבר</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rgbClr val="00B0F0"/>
                    </a:solidFill>
                    <a:latin typeface="Segoe UI" panose="020B0502040204020203" pitchFamily="34" charset="0"/>
                    <a:ea typeface="+mn-ea"/>
                    <a:cs typeface="Segoe UI" panose="020B0502040204020203" pitchFamily="34" charset="0"/>
                  </a:defRPr>
                </a:pPr>
                <a:endParaRPr lang="he-IL"/>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מהירות</c:v>
                </c:pt>
                <c:pt idx="1">
                  <c:v>שימוש בטלפון</c:v>
                </c:pt>
                <c:pt idx="2">
                  <c:v>נסיעה בנתיב תחב"צ</c:v>
                </c:pt>
                <c:pt idx="3">
                  <c:v>אי ציות לתמרור</c:v>
                </c:pt>
                <c:pt idx="4">
                  <c:v>חגורת בטיחות</c:v>
                </c:pt>
                <c:pt idx="5">
                  <c:v>אור אדום</c:v>
                </c:pt>
                <c:pt idx="6">
                  <c:v>נסיעה בשוליים</c:v>
                </c:pt>
                <c:pt idx="7">
                  <c:v>שינויים ברכב בניגוד לחוק (כמו חלונות כהים)</c:v>
                </c:pt>
              </c:strCache>
            </c:strRef>
          </c:cat>
          <c:val>
            <c:numRef>
              <c:f>Sheet1!$B$2:$B$9</c:f>
              <c:numCache>
                <c:formatCode>0%</c:formatCode>
                <c:ptCount val="8"/>
                <c:pt idx="0">
                  <c:v>0.19354838709677419</c:v>
                </c:pt>
                <c:pt idx="1">
                  <c:v>0.45161290322580649</c:v>
                </c:pt>
                <c:pt idx="2">
                  <c:v>3.2258064516129031E-2</c:v>
                </c:pt>
                <c:pt idx="3">
                  <c:v>0.12903225806451613</c:v>
                </c:pt>
                <c:pt idx="4">
                  <c:v>0.16129032258064516</c:v>
                </c:pt>
                <c:pt idx="5">
                  <c:v>9.6774193548387094E-2</c:v>
                </c:pt>
                <c:pt idx="6">
                  <c:v>6.4516129032258063E-2</c:v>
                </c:pt>
                <c:pt idx="7">
                  <c:v>3.2258064516129031E-2</c:v>
                </c:pt>
              </c:numCache>
            </c:numRef>
          </c:val>
          <c:extLst xmlns:c15="http://schemas.microsoft.com/office/drawing/2012/chart">
            <c:ext xmlns:c16="http://schemas.microsoft.com/office/drawing/2014/chart" uri="{C3380CC4-5D6E-409C-BE32-E72D297353CC}">
              <c16:uniqueId val="{00000000-28B2-4E9E-A6A1-7E6ACEAAC334}"/>
            </c:ext>
          </c:extLst>
        </c:ser>
        <c:ser>
          <c:idx val="1"/>
          <c:order val="1"/>
          <c:tx>
            <c:strRef>
              <c:f>Sheet1!$C$1</c:f>
              <c:strCache>
                <c:ptCount val="1"/>
                <c:pt idx="0">
                  <c:v>אישה</c:v>
                </c:pt>
              </c:strCache>
            </c:strRef>
          </c:tx>
          <c:spPr>
            <a:solidFill>
              <a:srgbClr val="FA6A89"/>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rgbClr val="FA4C75"/>
                    </a:solidFill>
                    <a:latin typeface="Segoe UI" panose="020B0502040204020203" pitchFamily="34" charset="0"/>
                    <a:ea typeface="+mn-ea"/>
                    <a:cs typeface="Segoe UI" panose="020B0502040204020203" pitchFamily="34" charset="0"/>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מהירות</c:v>
                </c:pt>
                <c:pt idx="1">
                  <c:v>שימוש בטלפון</c:v>
                </c:pt>
                <c:pt idx="2">
                  <c:v>נסיעה בנתיב תחב"צ</c:v>
                </c:pt>
                <c:pt idx="3">
                  <c:v>אי ציות לתמרור</c:v>
                </c:pt>
                <c:pt idx="4">
                  <c:v>חגורת בטיחות</c:v>
                </c:pt>
                <c:pt idx="5">
                  <c:v>אור אדום</c:v>
                </c:pt>
                <c:pt idx="6">
                  <c:v>נסיעה בשוליים</c:v>
                </c:pt>
                <c:pt idx="7">
                  <c:v>שינויים ברכב בניגוד לחוק (כמו חלונות כהים)</c:v>
                </c:pt>
              </c:strCache>
            </c:strRef>
          </c:cat>
          <c:val>
            <c:numRef>
              <c:f>Sheet1!$C$2:$C$9</c:f>
              <c:numCache>
                <c:formatCode>0%</c:formatCode>
                <c:ptCount val="8"/>
                <c:pt idx="0">
                  <c:v>0.26</c:v>
                </c:pt>
                <c:pt idx="1">
                  <c:v>0.4</c:v>
                </c:pt>
                <c:pt idx="2">
                  <c:v>0.08</c:v>
                </c:pt>
                <c:pt idx="3">
                  <c:v>0.12</c:v>
                </c:pt>
                <c:pt idx="4">
                  <c:v>0.14000000000000001</c:v>
                </c:pt>
                <c:pt idx="5">
                  <c:v>0.18</c:v>
                </c:pt>
                <c:pt idx="6">
                  <c:v>0.14000000000000001</c:v>
                </c:pt>
              </c:numCache>
            </c:numRef>
          </c:val>
          <c:extLst>
            <c:ext xmlns:c16="http://schemas.microsoft.com/office/drawing/2014/chart" uri="{C3380CC4-5D6E-409C-BE32-E72D297353CC}">
              <c16:uniqueId val="{00000001-28B2-4E9E-A6A1-7E6ACEAAC334}"/>
            </c:ext>
          </c:extLst>
        </c:ser>
        <c:dLbls>
          <c:dLblPos val="outEnd"/>
          <c:showLegendKey val="0"/>
          <c:showVal val="1"/>
          <c:showCatName val="0"/>
          <c:showSerName val="0"/>
          <c:showPercent val="0"/>
          <c:showBubbleSize val="0"/>
        </c:dLbls>
        <c:gapWidth val="80"/>
        <c:axId val="218240"/>
        <c:axId val="12131296"/>
        <c:extLst/>
      </c:barChart>
      <c:catAx>
        <c:axId val="218240"/>
        <c:scaling>
          <c:orientation val="maxMin"/>
        </c:scaling>
        <c:delete val="1"/>
        <c:axPos val="l"/>
        <c:numFmt formatCode="General" sourceLinked="1"/>
        <c:majorTickMark val="none"/>
        <c:minorTickMark val="none"/>
        <c:tickLblPos val="nextTo"/>
        <c:crossAx val="12131296"/>
        <c:crosses val="autoZero"/>
        <c:auto val="1"/>
        <c:lblAlgn val="ctr"/>
        <c:lblOffset val="100"/>
        <c:tickLblSkip val="1"/>
        <c:noMultiLvlLbl val="0"/>
      </c:catAx>
      <c:valAx>
        <c:axId val="12131296"/>
        <c:scaling>
          <c:orientation val="minMax"/>
          <c:max val="0.70000000000000007"/>
          <c:min val="0"/>
        </c:scaling>
        <c:delete val="1"/>
        <c:axPos val="t"/>
        <c:numFmt formatCode="0%" sourceLinked="1"/>
        <c:majorTickMark val="out"/>
        <c:minorTickMark val="none"/>
        <c:tickLblPos val="nextTo"/>
        <c:crossAx val="218240"/>
        <c:crosses val="autoZero"/>
        <c:crossBetween val="between"/>
      </c:valAx>
      <c:spPr>
        <a:noFill/>
        <a:ln>
          <a:noFill/>
        </a:ln>
        <a:effectLst/>
      </c:spPr>
    </c:plotArea>
    <c:legend>
      <c:legendPos val="r"/>
      <c:layout>
        <c:manualLayout>
          <c:xMode val="edge"/>
          <c:yMode val="edge"/>
          <c:x val="0.57041665160890509"/>
          <c:y val="0.88869595959595948"/>
          <c:w val="0.27421080598509218"/>
          <c:h val="0.11096666666666666"/>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Segoe UI" panose="020B0502040204020203" pitchFamily="34" charset="0"/>
              <a:ea typeface="+mn-ea"/>
              <a:cs typeface="Segoe UI" panose="020B0502040204020203" pitchFamily="34" charset="0"/>
            </a:defRPr>
          </a:pPr>
          <a:endParaRPr lang="he-I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latin typeface="Segoe UI" panose="020B0502040204020203" pitchFamily="34" charset="0"/>
          <a:cs typeface="Segoe UI" panose="020B0502040204020203" pitchFamily="34" charset="0"/>
        </a:defRPr>
      </a:pPr>
      <a:endParaRPr lang="he-IL"/>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4535224465980901"/>
          <c:y val="3.5154220910064447E-2"/>
          <c:w val="0.72193627516925563"/>
          <c:h val="0.94893358709308251"/>
        </c:manualLayout>
      </c:layout>
      <c:barChart>
        <c:barDir val="bar"/>
        <c:grouping val="clustered"/>
        <c:varyColors val="0"/>
        <c:ser>
          <c:idx val="0"/>
          <c:order val="0"/>
          <c:tx>
            <c:strRef>
              <c:f>Sheet1!$B$1</c:f>
              <c:strCache>
                <c:ptCount val="1"/>
                <c:pt idx="0">
                  <c:v>18-29</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rgbClr val="00B0F0"/>
                    </a:solidFill>
                    <a:latin typeface="Segoe UI" panose="020B0502040204020203" pitchFamily="34" charset="0"/>
                    <a:ea typeface="+mn-ea"/>
                    <a:cs typeface="Segoe UI" panose="020B0502040204020203" pitchFamily="34" charset="0"/>
                  </a:defRPr>
                </a:pPr>
                <a:endParaRPr lang="he-IL"/>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מהירות</c:v>
                </c:pt>
                <c:pt idx="1">
                  <c:v>שימוש בטלפון</c:v>
                </c:pt>
                <c:pt idx="2">
                  <c:v>נסיעה בנתיב תחב"צ</c:v>
                </c:pt>
                <c:pt idx="3">
                  <c:v>אי ציות לתמרור</c:v>
                </c:pt>
                <c:pt idx="4">
                  <c:v>חגורת בטיחות</c:v>
                </c:pt>
                <c:pt idx="5">
                  <c:v>אור אדום</c:v>
                </c:pt>
                <c:pt idx="6">
                  <c:v>נסיעה בשוליים</c:v>
                </c:pt>
                <c:pt idx="7">
                  <c:v>שינויים ברכב בניגוד לחוק (כמו חלונות כהים)</c:v>
                </c:pt>
              </c:strCache>
            </c:strRef>
          </c:cat>
          <c:val>
            <c:numRef>
              <c:f>Sheet1!$B$2:$B$9</c:f>
              <c:numCache>
                <c:formatCode>0%</c:formatCode>
                <c:ptCount val="8"/>
                <c:pt idx="0">
                  <c:v>0.19047619047619047</c:v>
                </c:pt>
                <c:pt idx="1">
                  <c:v>0.57142857142857151</c:v>
                </c:pt>
                <c:pt idx="2">
                  <c:v>0.14285714285714288</c:v>
                </c:pt>
                <c:pt idx="3">
                  <c:v>0.14285714285714288</c:v>
                </c:pt>
                <c:pt idx="4">
                  <c:v>0.23809523809523811</c:v>
                </c:pt>
                <c:pt idx="5">
                  <c:v>9.5238095238095233E-2</c:v>
                </c:pt>
                <c:pt idx="6">
                  <c:v>4.7619047619047616E-2</c:v>
                </c:pt>
                <c:pt idx="7">
                  <c:v>0.14285714285714288</c:v>
                </c:pt>
              </c:numCache>
            </c:numRef>
          </c:val>
          <c:extLst xmlns:c15="http://schemas.microsoft.com/office/drawing/2012/chart">
            <c:ext xmlns:c16="http://schemas.microsoft.com/office/drawing/2014/chart" uri="{C3380CC4-5D6E-409C-BE32-E72D297353CC}">
              <c16:uniqueId val="{00000000-28B2-4E9E-A6A1-7E6ACEAAC334}"/>
            </c:ext>
          </c:extLst>
        </c:ser>
        <c:ser>
          <c:idx val="1"/>
          <c:order val="1"/>
          <c:tx>
            <c:strRef>
              <c:f>Sheet1!$C$1</c:f>
              <c:strCache>
                <c:ptCount val="1"/>
                <c:pt idx="0">
                  <c:v>30-49</c:v>
                </c:pt>
              </c:strCache>
            </c:strRef>
          </c:tx>
          <c:spPr>
            <a:solidFill>
              <a:srgbClr val="0070C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rgbClr val="0070C0"/>
                    </a:solidFill>
                    <a:latin typeface="Segoe UI" panose="020B0502040204020203" pitchFamily="34" charset="0"/>
                    <a:ea typeface="+mn-ea"/>
                    <a:cs typeface="Segoe UI" panose="020B0502040204020203" pitchFamily="34" charset="0"/>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מהירות</c:v>
                </c:pt>
                <c:pt idx="1">
                  <c:v>שימוש בטלפון</c:v>
                </c:pt>
                <c:pt idx="2">
                  <c:v>נסיעה בנתיב תחב"צ</c:v>
                </c:pt>
                <c:pt idx="3">
                  <c:v>אי ציות לתמרור</c:v>
                </c:pt>
                <c:pt idx="4">
                  <c:v>חגורת בטיחות</c:v>
                </c:pt>
                <c:pt idx="5">
                  <c:v>אור אדום</c:v>
                </c:pt>
                <c:pt idx="6">
                  <c:v>נסיעה בשוליים</c:v>
                </c:pt>
                <c:pt idx="7">
                  <c:v>שינויים ברכב בניגוד לחוק (כמו חלונות כהים)</c:v>
                </c:pt>
              </c:strCache>
            </c:strRef>
          </c:cat>
          <c:val>
            <c:numRef>
              <c:f>Sheet1!$C$2:$C$9</c:f>
              <c:numCache>
                <c:formatCode>0%</c:formatCode>
                <c:ptCount val="8"/>
                <c:pt idx="0">
                  <c:v>0.23529411764705885</c:v>
                </c:pt>
                <c:pt idx="1">
                  <c:v>0.39215686274509809</c:v>
                </c:pt>
                <c:pt idx="2">
                  <c:v>1.9607843137254902E-2</c:v>
                </c:pt>
                <c:pt idx="3">
                  <c:v>0.1372549019607843</c:v>
                </c:pt>
                <c:pt idx="4">
                  <c:v>0.1372549019607843</c:v>
                </c:pt>
                <c:pt idx="5">
                  <c:v>0.1372549019607843</c:v>
                </c:pt>
                <c:pt idx="6">
                  <c:v>7.8431372549019607E-2</c:v>
                </c:pt>
                <c:pt idx="7">
                  <c:v>0.11764705882352942</c:v>
                </c:pt>
              </c:numCache>
            </c:numRef>
          </c:val>
          <c:extLst>
            <c:ext xmlns:c16="http://schemas.microsoft.com/office/drawing/2014/chart" uri="{C3380CC4-5D6E-409C-BE32-E72D297353CC}">
              <c16:uniqueId val="{00000001-28B2-4E9E-A6A1-7E6ACEAAC334}"/>
            </c:ext>
          </c:extLst>
        </c:ser>
        <c:ser>
          <c:idx val="2"/>
          <c:order val="2"/>
          <c:tx>
            <c:strRef>
              <c:f>Sheet1!$D$1</c:f>
              <c:strCache>
                <c:ptCount val="1"/>
                <c:pt idx="0">
                  <c:v>50+</c:v>
                </c:pt>
              </c:strCache>
            </c:strRef>
          </c:tx>
          <c:spPr>
            <a:solidFill>
              <a:srgbClr val="00206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Segoe UI" panose="020B0502040204020203" pitchFamily="34" charset="0"/>
                    <a:ea typeface="+mn-ea"/>
                    <a:cs typeface="Segoe UI" panose="020B0502040204020203" pitchFamily="34" charset="0"/>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מהירות</c:v>
                </c:pt>
                <c:pt idx="1">
                  <c:v>שימוש בטלפון</c:v>
                </c:pt>
                <c:pt idx="2">
                  <c:v>נסיעה בנתיב תחב"צ</c:v>
                </c:pt>
                <c:pt idx="3">
                  <c:v>אי ציות לתמרור</c:v>
                </c:pt>
                <c:pt idx="4">
                  <c:v>חגורת בטיחות</c:v>
                </c:pt>
                <c:pt idx="5">
                  <c:v>אור אדום</c:v>
                </c:pt>
                <c:pt idx="6">
                  <c:v>נסיעה בשוליים</c:v>
                </c:pt>
                <c:pt idx="7">
                  <c:v>שינויים ברכב בניגוד לחוק (כמו חלונות כהים)</c:v>
                </c:pt>
              </c:strCache>
            </c:strRef>
          </c:cat>
          <c:val>
            <c:numRef>
              <c:f>Sheet1!$D$2:$D$9</c:f>
              <c:numCache>
                <c:formatCode>0%</c:formatCode>
                <c:ptCount val="8"/>
                <c:pt idx="0">
                  <c:v>0.33333333333333337</c:v>
                </c:pt>
                <c:pt idx="1">
                  <c:v>0.22222222222222221</c:v>
                </c:pt>
                <c:pt idx="2">
                  <c:v>0.1111111111111111</c:v>
                </c:pt>
                <c:pt idx="5">
                  <c:v>0.33333333333333337</c:v>
                </c:pt>
              </c:numCache>
            </c:numRef>
          </c:val>
          <c:extLst>
            <c:ext xmlns:c16="http://schemas.microsoft.com/office/drawing/2014/chart" uri="{C3380CC4-5D6E-409C-BE32-E72D297353CC}">
              <c16:uniqueId val="{00000000-71B9-4364-8500-7D9FFAD83472}"/>
            </c:ext>
          </c:extLst>
        </c:ser>
        <c:dLbls>
          <c:dLblPos val="outEnd"/>
          <c:showLegendKey val="0"/>
          <c:showVal val="1"/>
          <c:showCatName val="0"/>
          <c:showSerName val="0"/>
          <c:showPercent val="0"/>
          <c:showBubbleSize val="0"/>
        </c:dLbls>
        <c:gapWidth val="80"/>
        <c:axId val="218240"/>
        <c:axId val="12131296"/>
        <c:extLst/>
      </c:barChart>
      <c:catAx>
        <c:axId val="218240"/>
        <c:scaling>
          <c:orientation val="maxMin"/>
        </c:scaling>
        <c:delete val="1"/>
        <c:axPos val="l"/>
        <c:numFmt formatCode="General" sourceLinked="1"/>
        <c:majorTickMark val="none"/>
        <c:minorTickMark val="none"/>
        <c:tickLblPos val="nextTo"/>
        <c:crossAx val="12131296"/>
        <c:crosses val="autoZero"/>
        <c:auto val="1"/>
        <c:lblAlgn val="ctr"/>
        <c:lblOffset val="100"/>
        <c:tickLblSkip val="1"/>
        <c:noMultiLvlLbl val="0"/>
      </c:catAx>
      <c:valAx>
        <c:axId val="12131296"/>
        <c:scaling>
          <c:orientation val="minMax"/>
          <c:max val="0.70000000000000007"/>
          <c:min val="0"/>
        </c:scaling>
        <c:delete val="1"/>
        <c:axPos val="t"/>
        <c:numFmt formatCode="0%" sourceLinked="1"/>
        <c:majorTickMark val="out"/>
        <c:minorTickMark val="none"/>
        <c:tickLblPos val="nextTo"/>
        <c:crossAx val="218240"/>
        <c:crosses val="autoZero"/>
        <c:crossBetween val="between"/>
      </c:valAx>
      <c:spPr>
        <a:noFill/>
        <a:ln>
          <a:noFill/>
        </a:ln>
        <a:effectLst/>
      </c:spPr>
    </c:plotArea>
    <c:legend>
      <c:legendPos val="r"/>
      <c:layout>
        <c:manualLayout>
          <c:xMode val="edge"/>
          <c:yMode val="edge"/>
          <c:x val="0.64516850537682924"/>
          <c:y val="0.83670760233918129"/>
          <c:w val="0.31573952903121588"/>
          <c:h val="0.1555280701754386"/>
        </c:manualLayout>
      </c:layout>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Segoe UI" panose="020B0502040204020203" pitchFamily="34" charset="0"/>
              <a:ea typeface="+mn-ea"/>
              <a:cs typeface="Segoe UI" panose="020B0502040204020203" pitchFamily="34" charset="0"/>
            </a:defRPr>
          </a:pPr>
          <a:endParaRPr lang="he-I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latin typeface="Segoe UI" panose="020B0502040204020203" pitchFamily="34" charset="0"/>
          <a:cs typeface="Segoe UI" panose="020B0502040204020203" pitchFamily="34" charset="0"/>
        </a:defRPr>
      </a:pPr>
      <a:endParaRPr lang="he-IL"/>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4535224465980901"/>
          <c:y val="3.5154220910064447E-2"/>
          <c:w val="0.72193627516925563"/>
          <c:h val="0.94893358709308251"/>
        </c:manualLayout>
      </c:layout>
      <c:barChart>
        <c:barDir val="bar"/>
        <c:grouping val="clustered"/>
        <c:varyColors val="0"/>
        <c:ser>
          <c:idx val="0"/>
          <c:order val="0"/>
          <c:tx>
            <c:strRef>
              <c:f>Sheet1!$B$1</c:f>
              <c:strCache>
                <c:ptCount val="1"/>
                <c:pt idx="0">
                  <c:v>18-29</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rgbClr val="00B0F0"/>
                    </a:solidFill>
                    <a:latin typeface="Segoe UI" panose="020B0502040204020203" pitchFamily="34" charset="0"/>
                    <a:ea typeface="+mn-ea"/>
                    <a:cs typeface="Segoe UI" panose="020B0502040204020203" pitchFamily="34" charset="0"/>
                  </a:defRPr>
                </a:pPr>
                <a:endParaRPr lang="he-IL"/>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מהירות</c:v>
                </c:pt>
                <c:pt idx="1">
                  <c:v>שימוש בטלפון</c:v>
                </c:pt>
                <c:pt idx="2">
                  <c:v>נסיעה בנתיב תחב"צ</c:v>
                </c:pt>
                <c:pt idx="3">
                  <c:v>אי ציות לתמרור</c:v>
                </c:pt>
                <c:pt idx="4">
                  <c:v>חגורת בטיחות</c:v>
                </c:pt>
                <c:pt idx="5">
                  <c:v>אור אדום</c:v>
                </c:pt>
                <c:pt idx="6">
                  <c:v>נסיעה בשוליים</c:v>
                </c:pt>
                <c:pt idx="7">
                  <c:v>שינויים ברכב בניגוד לחוק (כמו חלונות כהים)</c:v>
                </c:pt>
              </c:strCache>
            </c:strRef>
          </c:cat>
          <c:val>
            <c:numRef>
              <c:f>Sheet1!$B$2:$B$9</c:f>
              <c:numCache>
                <c:formatCode>0%</c:formatCode>
                <c:ptCount val="8"/>
                <c:pt idx="0">
                  <c:v>0.23333333333333331</c:v>
                </c:pt>
                <c:pt idx="1">
                  <c:v>0.2</c:v>
                </c:pt>
                <c:pt idx="2">
                  <c:v>0.16666666666666669</c:v>
                </c:pt>
                <c:pt idx="3">
                  <c:v>0.13333333333333333</c:v>
                </c:pt>
                <c:pt idx="4">
                  <c:v>0.2</c:v>
                </c:pt>
                <c:pt idx="5">
                  <c:v>0.1</c:v>
                </c:pt>
                <c:pt idx="6">
                  <c:v>0.13333333333333333</c:v>
                </c:pt>
              </c:numCache>
            </c:numRef>
          </c:val>
          <c:extLst xmlns:c15="http://schemas.microsoft.com/office/drawing/2012/chart">
            <c:ext xmlns:c16="http://schemas.microsoft.com/office/drawing/2014/chart" uri="{C3380CC4-5D6E-409C-BE32-E72D297353CC}">
              <c16:uniqueId val="{00000000-213A-4D3F-99B3-7DCC959B1448}"/>
            </c:ext>
          </c:extLst>
        </c:ser>
        <c:ser>
          <c:idx val="1"/>
          <c:order val="1"/>
          <c:tx>
            <c:strRef>
              <c:f>Sheet1!$C$1</c:f>
              <c:strCache>
                <c:ptCount val="1"/>
                <c:pt idx="0">
                  <c:v>30-49</c:v>
                </c:pt>
              </c:strCache>
            </c:strRef>
          </c:tx>
          <c:spPr>
            <a:solidFill>
              <a:srgbClr val="0070C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rgbClr val="0070C0"/>
                    </a:solidFill>
                    <a:latin typeface="Segoe UI" panose="020B0502040204020203" pitchFamily="34" charset="0"/>
                    <a:ea typeface="+mn-ea"/>
                    <a:cs typeface="Segoe UI" panose="020B0502040204020203" pitchFamily="34" charset="0"/>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מהירות</c:v>
                </c:pt>
                <c:pt idx="1">
                  <c:v>שימוש בטלפון</c:v>
                </c:pt>
                <c:pt idx="2">
                  <c:v>נסיעה בנתיב תחב"צ</c:v>
                </c:pt>
                <c:pt idx="3">
                  <c:v>אי ציות לתמרור</c:v>
                </c:pt>
                <c:pt idx="4">
                  <c:v>חגורת בטיחות</c:v>
                </c:pt>
                <c:pt idx="5">
                  <c:v>אור אדום</c:v>
                </c:pt>
                <c:pt idx="6">
                  <c:v>נסיעה בשוליים</c:v>
                </c:pt>
                <c:pt idx="7">
                  <c:v>שינויים ברכב בניגוד לחוק (כמו חלונות כהים)</c:v>
                </c:pt>
              </c:strCache>
            </c:strRef>
          </c:cat>
          <c:val>
            <c:numRef>
              <c:f>Sheet1!$C$2:$C$9</c:f>
              <c:numCache>
                <c:formatCode>0%</c:formatCode>
                <c:ptCount val="8"/>
                <c:pt idx="0">
                  <c:v>0.25316455696202533</c:v>
                </c:pt>
                <c:pt idx="1">
                  <c:v>0.26582278481012656</c:v>
                </c:pt>
                <c:pt idx="2">
                  <c:v>0.25316455696202533</c:v>
                </c:pt>
                <c:pt idx="3">
                  <c:v>8.8607594936708847E-2</c:v>
                </c:pt>
                <c:pt idx="4">
                  <c:v>6.3291139240506333E-2</c:v>
                </c:pt>
                <c:pt idx="5">
                  <c:v>0.15189873417721519</c:v>
                </c:pt>
                <c:pt idx="6">
                  <c:v>7.5949367088607597E-2</c:v>
                </c:pt>
                <c:pt idx="7">
                  <c:v>5.0632911392405069E-2</c:v>
                </c:pt>
              </c:numCache>
            </c:numRef>
          </c:val>
          <c:extLst>
            <c:ext xmlns:c16="http://schemas.microsoft.com/office/drawing/2014/chart" uri="{C3380CC4-5D6E-409C-BE32-E72D297353CC}">
              <c16:uniqueId val="{00000001-213A-4D3F-99B3-7DCC959B1448}"/>
            </c:ext>
          </c:extLst>
        </c:ser>
        <c:ser>
          <c:idx val="2"/>
          <c:order val="2"/>
          <c:tx>
            <c:strRef>
              <c:f>Sheet1!$D$1</c:f>
              <c:strCache>
                <c:ptCount val="1"/>
                <c:pt idx="0">
                  <c:v>50+</c:v>
                </c:pt>
              </c:strCache>
            </c:strRef>
          </c:tx>
          <c:spPr>
            <a:solidFill>
              <a:srgbClr val="00206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Segoe UI" panose="020B0502040204020203" pitchFamily="34" charset="0"/>
                    <a:ea typeface="+mn-ea"/>
                    <a:cs typeface="Segoe UI" panose="020B0502040204020203" pitchFamily="34" charset="0"/>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מהירות</c:v>
                </c:pt>
                <c:pt idx="1">
                  <c:v>שימוש בטלפון</c:v>
                </c:pt>
                <c:pt idx="2">
                  <c:v>נסיעה בנתיב תחב"צ</c:v>
                </c:pt>
                <c:pt idx="3">
                  <c:v>אי ציות לתמרור</c:v>
                </c:pt>
                <c:pt idx="4">
                  <c:v>חגורת בטיחות</c:v>
                </c:pt>
                <c:pt idx="5">
                  <c:v>אור אדום</c:v>
                </c:pt>
                <c:pt idx="6">
                  <c:v>נסיעה בשוליים</c:v>
                </c:pt>
                <c:pt idx="7">
                  <c:v>שינויים ברכב בניגוד לחוק (כמו חלונות כהים)</c:v>
                </c:pt>
              </c:strCache>
            </c:strRef>
          </c:cat>
          <c:val>
            <c:numRef>
              <c:f>Sheet1!$D$2:$D$9</c:f>
              <c:numCache>
                <c:formatCode>0%</c:formatCode>
                <c:ptCount val="8"/>
                <c:pt idx="0">
                  <c:v>0.28846153846153849</c:v>
                </c:pt>
                <c:pt idx="1">
                  <c:v>0.21153846153846154</c:v>
                </c:pt>
                <c:pt idx="2">
                  <c:v>0.25</c:v>
                </c:pt>
                <c:pt idx="3">
                  <c:v>3.8461538461538464E-2</c:v>
                </c:pt>
                <c:pt idx="4">
                  <c:v>3.8461538461538464E-2</c:v>
                </c:pt>
                <c:pt idx="5">
                  <c:v>3.8461538461538464E-2</c:v>
                </c:pt>
                <c:pt idx="6">
                  <c:v>0.15384615384615385</c:v>
                </c:pt>
                <c:pt idx="7">
                  <c:v>1.9230769230769232E-2</c:v>
                </c:pt>
              </c:numCache>
            </c:numRef>
          </c:val>
          <c:extLst>
            <c:ext xmlns:c16="http://schemas.microsoft.com/office/drawing/2014/chart" uri="{C3380CC4-5D6E-409C-BE32-E72D297353CC}">
              <c16:uniqueId val="{00000002-213A-4D3F-99B3-7DCC959B1448}"/>
            </c:ext>
          </c:extLst>
        </c:ser>
        <c:dLbls>
          <c:dLblPos val="outEnd"/>
          <c:showLegendKey val="0"/>
          <c:showVal val="1"/>
          <c:showCatName val="0"/>
          <c:showSerName val="0"/>
          <c:showPercent val="0"/>
          <c:showBubbleSize val="0"/>
        </c:dLbls>
        <c:gapWidth val="80"/>
        <c:axId val="218240"/>
        <c:axId val="12131296"/>
        <c:extLst/>
      </c:barChart>
      <c:catAx>
        <c:axId val="218240"/>
        <c:scaling>
          <c:orientation val="maxMin"/>
        </c:scaling>
        <c:delete val="1"/>
        <c:axPos val="l"/>
        <c:numFmt formatCode="General" sourceLinked="1"/>
        <c:majorTickMark val="none"/>
        <c:minorTickMark val="none"/>
        <c:tickLblPos val="nextTo"/>
        <c:crossAx val="12131296"/>
        <c:crosses val="autoZero"/>
        <c:auto val="1"/>
        <c:lblAlgn val="ctr"/>
        <c:lblOffset val="100"/>
        <c:tickLblSkip val="1"/>
        <c:noMultiLvlLbl val="0"/>
      </c:catAx>
      <c:valAx>
        <c:axId val="12131296"/>
        <c:scaling>
          <c:orientation val="minMax"/>
          <c:max val="0.70000000000000007"/>
          <c:min val="0"/>
        </c:scaling>
        <c:delete val="1"/>
        <c:axPos val="t"/>
        <c:numFmt formatCode="0%" sourceLinked="1"/>
        <c:majorTickMark val="out"/>
        <c:minorTickMark val="none"/>
        <c:tickLblPos val="nextTo"/>
        <c:crossAx val="21824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latin typeface="Segoe UI" panose="020B0502040204020203" pitchFamily="34" charset="0"/>
          <a:cs typeface="Segoe UI" panose="020B0502040204020203" pitchFamily="34" charset="0"/>
        </a:defRPr>
      </a:pPr>
      <a:endParaRPr lang="he-IL"/>
    </a:p>
  </c:txPr>
  <c:externalData r:id="rId3">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4535224465980901"/>
          <c:y val="3.5154220910064447E-2"/>
          <c:w val="0.72193627516925563"/>
          <c:h val="0.94893358709308251"/>
        </c:manualLayout>
      </c:layout>
      <c:barChart>
        <c:barDir val="bar"/>
        <c:grouping val="clustered"/>
        <c:varyColors val="0"/>
        <c:ser>
          <c:idx val="0"/>
          <c:order val="0"/>
          <c:tx>
            <c:strRef>
              <c:f>Sheet1!$B$1</c:f>
              <c:strCache>
                <c:ptCount val="1"/>
                <c:pt idx="0">
                  <c:v>18-29</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rgbClr val="00B0F0"/>
                    </a:solidFill>
                    <a:latin typeface="Segoe UI" panose="020B0502040204020203" pitchFamily="34" charset="0"/>
                    <a:ea typeface="+mn-ea"/>
                    <a:cs typeface="Segoe UI" panose="020B0502040204020203" pitchFamily="34" charset="0"/>
                  </a:defRPr>
                </a:pPr>
                <a:endParaRPr lang="he-IL"/>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מהירות</c:v>
                </c:pt>
                <c:pt idx="1">
                  <c:v>שימוש בטלפון</c:v>
                </c:pt>
                <c:pt idx="2">
                  <c:v>נסיעה בנתיב תחב"צ</c:v>
                </c:pt>
                <c:pt idx="3">
                  <c:v>אי ציות לתמרור</c:v>
                </c:pt>
                <c:pt idx="4">
                  <c:v>חגורת בטיחות</c:v>
                </c:pt>
                <c:pt idx="5">
                  <c:v>אור אדום</c:v>
                </c:pt>
                <c:pt idx="6">
                  <c:v>נסיעה בשוליים</c:v>
                </c:pt>
                <c:pt idx="7">
                  <c:v>שינויים ברכב בניגוד לחוק (כמו חלונות כהים)</c:v>
                </c:pt>
              </c:strCache>
            </c:strRef>
          </c:cat>
          <c:val>
            <c:numRef>
              <c:f>Sheet1!$B$2:$B$9</c:f>
              <c:numCache>
                <c:formatCode>0%</c:formatCode>
                <c:ptCount val="8"/>
                <c:pt idx="0">
                  <c:v>0.38888888888888884</c:v>
                </c:pt>
                <c:pt idx="1">
                  <c:v>0.22222222222222221</c:v>
                </c:pt>
                <c:pt idx="3">
                  <c:v>0.1111111111111111</c:v>
                </c:pt>
                <c:pt idx="4">
                  <c:v>0.27777777777777779</c:v>
                </c:pt>
                <c:pt idx="5">
                  <c:v>5.5555555555555552E-2</c:v>
                </c:pt>
                <c:pt idx="6">
                  <c:v>5.5555555555555552E-2</c:v>
                </c:pt>
              </c:numCache>
            </c:numRef>
          </c:val>
          <c:extLst xmlns:c15="http://schemas.microsoft.com/office/drawing/2012/chart">
            <c:ext xmlns:c16="http://schemas.microsoft.com/office/drawing/2014/chart" uri="{C3380CC4-5D6E-409C-BE32-E72D297353CC}">
              <c16:uniqueId val="{00000000-73A1-434A-AAF0-6F5E40E6554C}"/>
            </c:ext>
          </c:extLst>
        </c:ser>
        <c:ser>
          <c:idx val="1"/>
          <c:order val="1"/>
          <c:tx>
            <c:strRef>
              <c:f>Sheet1!$C$1</c:f>
              <c:strCache>
                <c:ptCount val="1"/>
                <c:pt idx="0">
                  <c:v>30-49</c:v>
                </c:pt>
              </c:strCache>
            </c:strRef>
          </c:tx>
          <c:spPr>
            <a:solidFill>
              <a:srgbClr val="0070C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rgbClr val="0070C0"/>
                    </a:solidFill>
                    <a:latin typeface="Segoe UI" panose="020B0502040204020203" pitchFamily="34" charset="0"/>
                    <a:ea typeface="+mn-ea"/>
                    <a:cs typeface="Segoe UI" panose="020B0502040204020203" pitchFamily="34" charset="0"/>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מהירות</c:v>
                </c:pt>
                <c:pt idx="1">
                  <c:v>שימוש בטלפון</c:v>
                </c:pt>
                <c:pt idx="2">
                  <c:v>נסיעה בנתיב תחב"צ</c:v>
                </c:pt>
                <c:pt idx="3">
                  <c:v>אי ציות לתמרור</c:v>
                </c:pt>
                <c:pt idx="4">
                  <c:v>חגורת בטיחות</c:v>
                </c:pt>
                <c:pt idx="5">
                  <c:v>אור אדום</c:v>
                </c:pt>
                <c:pt idx="6">
                  <c:v>נסיעה בשוליים</c:v>
                </c:pt>
                <c:pt idx="7">
                  <c:v>שינויים ברכב בניגוד לחוק (כמו חלונות כהים)</c:v>
                </c:pt>
              </c:strCache>
            </c:strRef>
          </c:cat>
          <c:val>
            <c:numRef>
              <c:f>Sheet1!$C$2:$C$9</c:f>
              <c:numCache>
                <c:formatCode>0%</c:formatCode>
                <c:ptCount val="8"/>
                <c:pt idx="0">
                  <c:v>0.3035714285714286</c:v>
                </c:pt>
                <c:pt idx="1">
                  <c:v>0.23214285714285715</c:v>
                </c:pt>
                <c:pt idx="2">
                  <c:v>0.125</c:v>
                </c:pt>
                <c:pt idx="3">
                  <c:v>0.125</c:v>
                </c:pt>
                <c:pt idx="4">
                  <c:v>8.9285714285714288E-2</c:v>
                </c:pt>
                <c:pt idx="5">
                  <c:v>0.125</c:v>
                </c:pt>
                <c:pt idx="6">
                  <c:v>0.10714285714285714</c:v>
                </c:pt>
                <c:pt idx="7">
                  <c:v>7.1428571428571438E-2</c:v>
                </c:pt>
              </c:numCache>
            </c:numRef>
          </c:val>
          <c:extLst>
            <c:ext xmlns:c16="http://schemas.microsoft.com/office/drawing/2014/chart" uri="{C3380CC4-5D6E-409C-BE32-E72D297353CC}">
              <c16:uniqueId val="{00000001-73A1-434A-AAF0-6F5E40E6554C}"/>
            </c:ext>
          </c:extLst>
        </c:ser>
        <c:ser>
          <c:idx val="2"/>
          <c:order val="2"/>
          <c:tx>
            <c:strRef>
              <c:f>Sheet1!$D$1</c:f>
              <c:strCache>
                <c:ptCount val="1"/>
                <c:pt idx="0">
                  <c:v>50+</c:v>
                </c:pt>
              </c:strCache>
            </c:strRef>
          </c:tx>
          <c:spPr>
            <a:solidFill>
              <a:srgbClr val="00206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Segoe UI" panose="020B0502040204020203" pitchFamily="34" charset="0"/>
                    <a:ea typeface="+mn-ea"/>
                    <a:cs typeface="Segoe UI" panose="020B0502040204020203" pitchFamily="34" charset="0"/>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מהירות</c:v>
                </c:pt>
                <c:pt idx="1">
                  <c:v>שימוש בטלפון</c:v>
                </c:pt>
                <c:pt idx="2">
                  <c:v>נסיעה בנתיב תחב"צ</c:v>
                </c:pt>
                <c:pt idx="3">
                  <c:v>אי ציות לתמרור</c:v>
                </c:pt>
                <c:pt idx="4">
                  <c:v>חגורת בטיחות</c:v>
                </c:pt>
                <c:pt idx="5">
                  <c:v>אור אדום</c:v>
                </c:pt>
                <c:pt idx="6">
                  <c:v>נסיעה בשוליים</c:v>
                </c:pt>
                <c:pt idx="7">
                  <c:v>שינויים ברכב בניגוד לחוק (כמו חלונות כהים)</c:v>
                </c:pt>
              </c:strCache>
            </c:strRef>
          </c:cat>
          <c:val>
            <c:numRef>
              <c:f>Sheet1!$D$2:$D$9</c:f>
              <c:numCache>
                <c:formatCode>0%</c:formatCode>
                <c:ptCount val="8"/>
                <c:pt idx="0">
                  <c:v>8.3333333333333343E-2</c:v>
                </c:pt>
                <c:pt idx="1">
                  <c:v>0.16666666666666669</c:v>
                </c:pt>
                <c:pt idx="3">
                  <c:v>8.3333333333333343E-2</c:v>
                </c:pt>
                <c:pt idx="4">
                  <c:v>0.33333333333333337</c:v>
                </c:pt>
                <c:pt idx="6">
                  <c:v>0.16666666666666669</c:v>
                </c:pt>
                <c:pt idx="7">
                  <c:v>0.16666666666666669</c:v>
                </c:pt>
              </c:numCache>
            </c:numRef>
          </c:val>
          <c:extLst>
            <c:ext xmlns:c16="http://schemas.microsoft.com/office/drawing/2014/chart" uri="{C3380CC4-5D6E-409C-BE32-E72D297353CC}">
              <c16:uniqueId val="{00000002-73A1-434A-AAF0-6F5E40E6554C}"/>
            </c:ext>
          </c:extLst>
        </c:ser>
        <c:dLbls>
          <c:dLblPos val="outEnd"/>
          <c:showLegendKey val="0"/>
          <c:showVal val="1"/>
          <c:showCatName val="0"/>
          <c:showSerName val="0"/>
          <c:showPercent val="0"/>
          <c:showBubbleSize val="0"/>
        </c:dLbls>
        <c:gapWidth val="80"/>
        <c:axId val="218240"/>
        <c:axId val="12131296"/>
        <c:extLst/>
      </c:barChart>
      <c:catAx>
        <c:axId val="218240"/>
        <c:scaling>
          <c:orientation val="maxMin"/>
        </c:scaling>
        <c:delete val="1"/>
        <c:axPos val="l"/>
        <c:numFmt formatCode="General" sourceLinked="1"/>
        <c:majorTickMark val="none"/>
        <c:minorTickMark val="none"/>
        <c:tickLblPos val="nextTo"/>
        <c:crossAx val="12131296"/>
        <c:crosses val="autoZero"/>
        <c:auto val="1"/>
        <c:lblAlgn val="ctr"/>
        <c:lblOffset val="100"/>
        <c:tickLblSkip val="1"/>
        <c:noMultiLvlLbl val="0"/>
      </c:catAx>
      <c:valAx>
        <c:axId val="12131296"/>
        <c:scaling>
          <c:orientation val="minMax"/>
          <c:max val="0.70000000000000007"/>
          <c:min val="0"/>
        </c:scaling>
        <c:delete val="1"/>
        <c:axPos val="t"/>
        <c:numFmt formatCode="0%" sourceLinked="1"/>
        <c:majorTickMark val="out"/>
        <c:minorTickMark val="none"/>
        <c:tickLblPos val="nextTo"/>
        <c:crossAx val="21824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latin typeface="Segoe UI" panose="020B0502040204020203" pitchFamily="34" charset="0"/>
          <a:cs typeface="Segoe UI" panose="020B0502040204020203" pitchFamily="34" charset="0"/>
        </a:defRPr>
      </a:pPr>
      <a:endParaRPr lang="he-IL"/>
    </a:p>
  </c:txPr>
  <c:externalData r:id="rId3">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4535224465980901"/>
          <c:y val="3.5154220910064447E-2"/>
          <c:w val="0.72193627516925563"/>
          <c:h val="0.94893358709308251"/>
        </c:manualLayout>
      </c:layout>
      <c:barChart>
        <c:barDir val="bar"/>
        <c:grouping val="clustered"/>
        <c:varyColors val="0"/>
        <c:ser>
          <c:idx val="0"/>
          <c:order val="0"/>
          <c:tx>
            <c:strRef>
              <c:f>Sheet1!$B$1</c:f>
              <c:strCache>
                <c:ptCount val="1"/>
                <c:pt idx="0">
                  <c:v>18-29</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rgbClr val="00B0F0"/>
                    </a:solidFill>
                    <a:latin typeface="Segoe UI" panose="020B0502040204020203" pitchFamily="34" charset="0"/>
                    <a:ea typeface="+mn-ea"/>
                    <a:cs typeface="Segoe UI" panose="020B0502040204020203" pitchFamily="34" charset="0"/>
                  </a:defRPr>
                </a:pPr>
                <a:endParaRPr lang="he-IL"/>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מהירות</c:v>
                </c:pt>
                <c:pt idx="1">
                  <c:v>שימוש בטלפון</c:v>
                </c:pt>
                <c:pt idx="2">
                  <c:v>נסיעה בנתיב תחב"צ</c:v>
                </c:pt>
                <c:pt idx="3">
                  <c:v>אי ציות לתמרור</c:v>
                </c:pt>
                <c:pt idx="4">
                  <c:v>חגורת בטיחות</c:v>
                </c:pt>
                <c:pt idx="5">
                  <c:v>אור אדום</c:v>
                </c:pt>
                <c:pt idx="6">
                  <c:v>נסיעה בשוליים</c:v>
                </c:pt>
                <c:pt idx="7">
                  <c:v>שינויים ברכב בניגוד לחוק (כמו חלונות כהים)</c:v>
                </c:pt>
              </c:strCache>
            </c:strRef>
          </c:cat>
          <c:val>
            <c:numRef>
              <c:f>Sheet1!$B$2:$B$9</c:f>
              <c:numCache>
                <c:formatCode>0%</c:formatCode>
                <c:ptCount val="8"/>
                <c:pt idx="0">
                  <c:v>0.35294117647058826</c:v>
                </c:pt>
                <c:pt idx="1">
                  <c:v>0.11764705882352942</c:v>
                </c:pt>
                <c:pt idx="2">
                  <c:v>0.38235294117647056</c:v>
                </c:pt>
                <c:pt idx="3">
                  <c:v>8.8235294117647065E-2</c:v>
                </c:pt>
                <c:pt idx="4">
                  <c:v>5.8823529411764712E-2</c:v>
                </c:pt>
                <c:pt idx="5">
                  <c:v>5.8823529411764712E-2</c:v>
                </c:pt>
                <c:pt idx="6">
                  <c:v>2.9411764705882356E-2</c:v>
                </c:pt>
              </c:numCache>
            </c:numRef>
          </c:val>
          <c:extLst xmlns:c15="http://schemas.microsoft.com/office/drawing/2012/chart">
            <c:ext xmlns:c16="http://schemas.microsoft.com/office/drawing/2014/chart" uri="{C3380CC4-5D6E-409C-BE32-E72D297353CC}">
              <c16:uniqueId val="{00000000-E6CE-4C89-B9D1-8F0D40AD7D35}"/>
            </c:ext>
          </c:extLst>
        </c:ser>
        <c:ser>
          <c:idx val="1"/>
          <c:order val="1"/>
          <c:tx>
            <c:strRef>
              <c:f>Sheet1!$C$1</c:f>
              <c:strCache>
                <c:ptCount val="1"/>
                <c:pt idx="0">
                  <c:v>30-49</c:v>
                </c:pt>
              </c:strCache>
            </c:strRef>
          </c:tx>
          <c:spPr>
            <a:solidFill>
              <a:srgbClr val="0070C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rgbClr val="0070C0"/>
                    </a:solidFill>
                    <a:latin typeface="Segoe UI" panose="020B0502040204020203" pitchFamily="34" charset="0"/>
                    <a:ea typeface="+mn-ea"/>
                    <a:cs typeface="Segoe UI" panose="020B0502040204020203" pitchFamily="34" charset="0"/>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מהירות</c:v>
                </c:pt>
                <c:pt idx="1">
                  <c:v>שימוש בטלפון</c:v>
                </c:pt>
                <c:pt idx="2">
                  <c:v>נסיעה בנתיב תחב"צ</c:v>
                </c:pt>
                <c:pt idx="3">
                  <c:v>אי ציות לתמרור</c:v>
                </c:pt>
                <c:pt idx="4">
                  <c:v>חגורת בטיחות</c:v>
                </c:pt>
                <c:pt idx="5">
                  <c:v>אור אדום</c:v>
                </c:pt>
                <c:pt idx="6">
                  <c:v>נסיעה בשוליים</c:v>
                </c:pt>
                <c:pt idx="7">
                  <c:v>שינויים ברכב בניגוד לחוק (כמו חלונות כהים)</c:v>
                </c:pt>
              </c:strCache>
            </c:strRef>
          </c:cat>
          <c:val>
            <c:numRef>
              <c:f>Sheet1!$C$2:$C$9</c:f>
              <c:numCache>
                <c:formatCode>0%</c:formatCode>
                <c:ptCount val="8"/>
                <c:pt idx="0">
                  <c:v>0.25</c:v>
                </c:pt>
                <c:pt idx="1">
                  <c:v>0.22916666666666669</c:v>
                </c:pt>
                <c:pt idx="2">
                  <c:v>0.3125</c:v>
                </c:pt>
                <c:pt idx="3">
                  <c:v>0.14583333333333334</c:v>
                </c:pt>
                <c:pt idx="4">
                  <c:v>8.3333333333333343E-2</c:v>
                </c:pt>
                <c:pt idx="5">
                  <c:v>4.1666666666666671E-2</c:v>
                </c:pt>
                <c:pt idx="6">
                  <c:v>8.3333333333333343E-2</c:v>
                </c:pt>
                <c:pt idx="7">
                  <c:v>2.0833333333333336E-2</c:v>
                </c:pt>
              </c:numCache>
            </c:numRef>
          </c:val>
          <c:extLst>
            <c:ext xmlns:c16="http://schemas.microsoft.com/office/drawing/2014/chart" uri="{C3380CC4-5D6E-409C-BE32-E72D297353CC}">
              <c16:uniqueId val="{00000001-E6CE-4C89-B9D1-8F0D40AD7D35}"/>
            </c:ext>
          </c:extLst>
        </c:ser>
        <c:ser>
          <c:idx val="2"/>
          <c:order val="2"/>
          <c:tx>
            <c:strRef>
              <c:f>Sheet1!$D$1</c:f>
              <c:strCache>
                <c:ptCount val="1"/>
                <c:pt idx="0">
                  <c:v>50+</c:v>
                </c:pt>
              </c:strCache>
            </c:strRef>
          </c:tx>
          <c:spPr>
            <a:solidFill>
              <a:srgbClr val="00206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Segoe UI" panose="020B0502040204020203" pitchFamily="34" charset="0"/>
                    <a:ea typeface="+mn-ea"/>
                    <a:cs typeface="Segoe UI" panose="020B0502040204020203" pitchFamily="34" charset="0"/>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מהירות</c:v>
                </c:pt>
                <c:pt idx="1">
                  <c:v>שימוש בטלפון</c:v>
                </c:pt>
                <c:pt idx="2">
                  <c:v>נסיעה בנתיב תחב"צ</c:v>
                </c:pt>
                <c:pt idx="3">
                  <c:v>אי ציות לתמרור</c:v>
                </c:pt>
                <c:pt idx="4">
                  <c:v>חגורת בטיחות</c:v>
                </c:pt>
                <c:pt idx="5">
                  <c:v>אור אדום</c:v>
                </c:pt>
                <c:pt idx="6">
                  <c:v>נסיעה בשוליים</c:v>
                </c:pt>
                <c:pt idx="7">
                  <c:v>שינויים ברכב בניגוד לחוק (כמו חלונות כהים)</c:v>
                </c:pt>
              </c:strCache>
            </c:strRef>
          </c:cat>
          <c:val>
            <c:numRef>
              <c:f>Sheet1!$D$2:$D$9</c:f>
              <c:numCache>
                <c:formatCode>0%</c:formatCode>
                <c:ptCount val="8"/>
                <c:pt idx="0">
                  <c:v>0.37894736842105259</c:v>
                </c:pt>
                <c:pt idx="1">
                  <c:v>0.11578947368421053</c:v>
                </c:pt>
                <c:pt idx="2">
                  <c:v>0.36842105263157898</c:v>
                </c:pt>
                <c:pt idx="3">
                  <c:v>0.10526315789473685</c:v>
                </c:pt>
                <c:pt idx="4">
                  <c:v>2.1052631578947368E-2</c:v>
                </c:pt>
                <c:pt idx="5">
                  <c:v>2.1052631578947368E-2</c:v>
                </c:pt>
                <c:pt idx="6">
                  <c:v>2.1052631578947368E-2</c:v>
                </c:pt>
                <c:pt idx="7">
                  <c:v>3.1578947368421054E-2</c:v>
                </c:pt>
              </c:numCache>
            </c:numRef>
          </c:val>
          <c:extLst>
            <c:ext xmlns:c16="http://schemas.microsoft.com/office/drawing/2014/chart" uri="{C3380CC4-5D6E-409C-BE32-E72D297353CC}">
              <c16:uniqueId val="{00000002-E6CE-4C89-B9D1-8F0D40AD7D35}"/>
            </c:ext>
          </c:extLst>
        </c:ser>
        <c:dLbls>
          <c:dLblPos val="outEnd"/>
          <c:showLegendKey val="0"/>
          <c:showVal val="1"/>
          <c:showCatName val="0"/>
          <c:showSerName val="0"/>
          <c:showPercent val="0"/>
          <c:showBubbleSize val="0"/>
        </c:dLbls>
        <c:gapWidth val="80"/>
        <c:axId val="218240"/>
        <c:axId val="12131296"/>
        <c:extLst/>
      </c:barChart>
      <c:catAx>
        <c:axId val="218240"/>
        <c:scaling>
          <c:orientation val="maxMin"/>
        </c:scaling>
        <c:delete val="1"/>
        <c:axPos val="l"/>
        <c:numFmt formatCode="General" sourceLinked="1"/>
        <c:majorTickMark val="none"/>
        <c:minorTickMark val="none"/>
        <c:tickLblPos val="nextTo"/>
        <c:crossAx val="12131296"/>
        <c:crosses val="autoZero"/>
        <c:auto val="1"/>
        <c:lblAlgn val="ctr"/>
        <c:lblOffset val="100"/>
        <c:tickLblSkip val="1"/>
        <c:noMultiLvlLbl val="0"/>
      </c:catAx>
      <c:valAx>
        <c:axId val="12131296"/>
        <c:scaling>
          <c:orientation val="minMax"/>
          <c:max val="0.70000000000000007"/>
          <c:min val="0"/>
        </c:scaling>
        <c:delete val="1"/>
        <c:axPos val="t"/>
        <c:numFmt formatCode="0%" sourceLinked="1"/>
        <c:majorTickMark val="out"/>
        <c:minorTickMark val="none"/>
        <c:tickLblPos val="nextTo"/>
        <c:crossAx val="21824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latin typeface="Segoe UI" panose="020B0502040204020203" pitchFamily="34" charset="0"/>
          <a:cs typeface="Segoe UI" panose="020B0502040204020203" pitchFamily="34" charset="0"/>
        </a:defRPr>
      </a:pPr>
      <a:endParaRPr lang="he-IL"/>
    </a:p>
  </c:txPr>
  <c:externalData r:id="rId3">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4535224465980901"/>
          <c:y val="3.5154220910064447E-2"/>
          <c:w val="0.72193627516925563"/>
          <c:h val="0.94893358709308251"/>
        </c:manualLayout>
      </c:layout>
      <c:barChart>
        <c:barDir val="bar"/>
        <c:grouping val="clustered"/>
        <c:varyColors val="0"/>
        <c:ser>
          <c:idx val="0"/>
          <c:order val="0"/>
          <c:tx>
            <c:strRef>
              <c:f>Sheet1!$B$1</c:f>
              <c:strCache>
                <c:ptCount val="1"/>
                <c:pt idx="0">
                  <c:v>קיבלתי דו"ח  אחד</c:v>
                </c:pt>
              </c:strCache>
            </c:strRef>
          </c:tx>
          <c:spPr>
            <a:solidFill>
              <a:srgbClr val="00206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rgbClr val="002060"/>
                    </a:solidFill>
                    <a:latin typeface="Segoe UI" panose="020B0502040204020203" pitchFamily="34" charset="0"/>
                    <a:ea typeface="+mn-ea"/>
                    <a:cs typeface="Segoe UI" panose="020B0502040204020203" pitchFamily="34" charset="0"/>
                  </a:defRPr>
                </a:pPr>
                <a:endParaRPr lang="he-IL"/>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מהירות</c:v>
                </c:pt>
                <c:pt idx="1">
                  <c:v>שימוש בטלפון</c:v>
                </c:pt>
                <c:pt idx="2">
                  <c:v>נסיעה בנתיב תחב"צ</c:v>
                </c:pt>
                <c:pt idx="3">
                  <c:v>אי ציות לתמרור</c:v>
                </c:pt>
                <c:pt idx="4">
                  <c:v>חגורת בטיחות</c:v>
                </c:pt>
                <c:pt idx="5">
                  <c:v>אור אדום</c:v>
                </c:pt>
                <c:pt idx="6">
                  <c:v>נסיעה בשוליים</c:v>
                </c:pt>
                <c:pt idx="7">
                  <c:v>שינויים ברכב בניגוד לחוק (כמו חלונות כהים)</c:v>
                </c:pt>
              </c:strCache>
            </c:strRef>
          </c:cat>
          <c:val>
            <c:numRef>
              <c:f>Sheet1!$B$2:$B$9</c:f>
              <c:numCache>
                <c:formatCode>0%</c:formatCode>
                <c:ptCount val="8"/>
                <c:pt idx="0">
                  <c:v>0.31034482758620691</c:v>
                </c:pt>
                <c:pt idx="1">
                  <c:v>0.13793103448275862</c:v>
                </c:pt>
                <c:pt idx="2">
                  <c:v>0.33103448275862069</c:v>
                </c:pt>
                <c:pt idx="3">
                  <c:v>0.10344827586206896</c:v>
                </c:pt>
                <c:pt idx="4">
                  <c:v>3.4482758620689655E-2</c:v>
                </c:pt>
                <c:pt idx="5">
                  <c:v>3.4482758620689655E-2</c:v>
                </c:pt>
                <c:pt idx="6">
                  <c:v>2.0689655172413793E-2</c:v>
                </c:pt>
              </c:numCache>
            </c:numRef>
          </c:val>
          <c:extLst xmlns:c15="http://schemas.microsoft.com/office/drawing/2012/chart">
            <c:ext xmlns:c16="http://schemas.microsoft.com/office/drawing/2014/chart" uri="{C3380CC4-5D6E-409C-BE32-E72D297353CC}">
              <c16:uniqueId val="{00000000-D261-4F96-966C-D53E5B09CA24}"/>
            </c:ext>
          </c:extLst>
        </c:ser>
        <c:ser>
          <c:idx val="1"/>
          <c:order val="1"/>
          <c:tx>
            <c:strRef>
              <c:f>Sheet1!$C$1</c:f>
              <c:strCache>
                <c:ptCount val="1"/>
                <c:pt idx="0">
                  <c:v>קיבלתי יותר מדו"ח אחד</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rgbClr val="00B0F0"/>
                    </a:solidFill>
                    <a:latin typeface="Segoe UI" panose="020B0502040204020203" pitchFamily="34" charset="0"/>
                    <a:ea typeface="+mn-ea"/>
                    <a:cs typeface="Segoe UI" panose="020B0502040204020203" pitchFamily="34" charset="0"/>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מהירות</c:v>
                </c:pt>
                <c:pt idx="1">
                  <c:v>שימוש בטלפון</c:v>
                </c:pt>
                <c:pt idx="2">
                  <c:v>נסיעה בנתיב תחב"צ</c:v>
                </c:pt>
                <c:pt idx="3">
                  <c:v>אי ציות לתמרור</c:v>
                </c:pt>
                <c:pt idx="4">
                  <c:v>חגורת בטיחות</c:v>
                </c:pt>
                <c:pt idx="5">
                  <c:v>אור אדום</c:v>
                </c:pt>
                <c:pt idx="6">
                  <c:v>נסיעה בשוליים</c:v>
                </c:pt>
                <c:pt idx="7">
                  <c:v>שינויים ברכב בניגוד לחוק (כמו חלונות כהים)</c:v>
                </c:pt>
              </c:strCache>
            </c:strRef>
          </c:cat>
          <c:val>
            <c:numRef>
              <c:f>Sheet1!$C$2:$C$9</c:f>
              <c:numCache>
                <c:formatCode>0%</c:formatCode>
                <c:ptCount val="8"/>
                <c:pt idx="0">
                  <c:v>0.46875</c:v>
                </c:pt>
                <c:pt idx="1">
                  <c:v>0.1875</c:v>
                </c:pt>
                <c:pt idx="2">
                  <c:v>0.46875</c:v>
                </c:pt>
                <c:pt idx="3">
                  <c:v>0.15625</c:v>
                </c:pt>
                <c:pt idx="4">
                  <c:v>9.375E-2</c:v>
                </c:pt>
                <c:pt idx="5">
                  <c:v>3.125E-2</c:v>
                </c:pt>
                <c:pt idx="6">
                  <c:v>3.125E-2</c:v>
                </c:pt>
              </c:numCache>
            </c:numRef>
          </c:val>
          <c:extLst>
            <c:ext xmlns:c16="http://schemas.microsoft.com/office/drawing/2014/chart" uri="{C3380CC4-5D6E-409C-BE32-E72D297353CC}">
              <c16:uniqueId val="{00000001-D261-4F96-966C-D53E5B09CA24}"/>
            </c:ext>
          </c:extLst>
        </c:ser>
        <c:dLbls>
          <c:dLblPos val="outEnd"/>
          <c:showLegendKey val="0"/>
          <c:showVal val="1"/>
          <c:showCatName val="0"/>
          <c:showSerName val="0"/>
          <c:showPercent val="0"/>
          <c:showBubbleSize val="0"/>
        </c:dLbls>
        <c:gapWidth val="80"/>
        <c:axId val="218240"/>
        <c:axId val="12131296"/>
        <c:extLst/>
      </c:barChart>
      <c:catAx>
        <c:axId val="218240"/>
        <c:scaling>
          <c:orientation val="maxMin"/>
        </c:scaling>
        <c:delete val="1"/>
        <c:axPos val="l"/>
        <c:numFmt formatCode="General" sourceLinked="1"/>
        <c:majorTickMark val="none"/>
        <c:minorTickMark val="none"/>
        <c:tickLblPos val="nextTo"/>
        <c:crossAx val="12131296"/>
        <c:crosses val="autoZero"/>
        <c:auto val="1"/>
        <c:lblAlgn val="ctr"/>
        <c:lblOffset val="100"/>
        <c:tickLblSkip val="1"/>
        <c:noMultiLvlLbl val="0"/>
      </c:catAx>
      <c:valAx>
        <c:axId val="12131296"/>
        <c:scaling>
          <c:orientation val="minMax"/>
          <c:max val="0.70000000000000007"/>
          <c:min val="0"/>
        </c:scaling>
        <c:delete val="1"/>
        <c:axPos val="t"/>
        <c:numFmt formatCode="0%" sourceLinked="1"/>
        <c:majorTickMark val="out"/>
        <c:minorTickMark val="none"/>
        <c:tickLblPos val="nextTo"/>
        <c:crossAx val="21824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latin typeface="Segoe UI" panose="020B0502040204020203" pitchFamily="34" charset="0"/>
          <a:cs typeface="Segoe UI" panose="020B0502040204020203" pitchFamily="34" charset="0"/>
        </a:defRPr>
      </a:pPr>
      <a:endParaRPr lang="he-IL"/>
    </a:p>
  </c:txPr>
  <c:externalData r:id="rId3">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4535224465980901"/>
          <c:y val="3.5154220910064447E-2"/>
          <c:w val="0.72193627516925563"/>
          <c:h val="0.94893358709308251"/>
        </c:manualLayout>
      </c:layout>
      <c:barChart>
        <c:barDir val="bar"/>
        <c:grouping val="clustered"/>
        <c:varyColors val="0"/>
        <c:ser>
          <c:idx val="0"/>
          <c:order val="0"/>
          <c:tx>
            <c:strRef>
              <c:f>Sheet1!$B$1</c:f>
              <c:strCache>
                <c:ptCount val="1"/>
                <c:pt idx="0">
                  <c:v>קיבלתי דו"ח  אחד</c:v>
                </c:pt>
              </c:strCache>
            </c:strRef>
          </c:tx>
          <c:spPr>
            <a:solidFill>
              <a:srgbClr val="00206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rgbClr val="002060"/>
                    </a:solidFill>
                    <a:latin typeface="Segoe UI" panose="020B0502040204020203" pitchFamily="34" charset="0"/>
                    <a:ea typeface="+mn-ea"/>
                    <a:cs typeface="Segoe UI" panose="020B0502040204020203" pitchFamily="34" charset="0"/>
                  </a:defRPr>
                </a:pPr>
                <a:endParaRPr lang="he-IL"/>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מהירות</c:v>
                </c:pt>
                <c:pt idx="1">
                  <c:v>שימוש בטלפון</c:v>
                </c:pt>
                <c:pt idx="2">
                  <c:v>נסיעה בנתיב תחב"צ</c:v>
                </c:pt>
                <c:pt idx="3">
                  <c:v>אי ציות לתמרור</c:v>
                </c:pt>
                <c:pt idx="4">
                  <c:v>חגורת בטיחות</c:v>
                </c:pt>
                <c:pt idx="5">
                  <c:v>אור אדום</c:v>
                </c:pt>
                <c:pt idx="6">
                  <c:v>נסיעה בשוליים</c:v>
                </c:pt>
                <c:pt idx="7">
                  <c:v>שינויים ברכב בניגוד לחוק (כמו חלונות כהים)</c:v>
                </c:pt>
              </c:strCache>
            </c:strRef>
          </c:cat>
          <c:val>
            <c:numRef>
              <c:f>Sheet1!$B$2:$B$9</c:f>
              <c:numCache>
                <c:formatCode>0%</c:formatCode>
                <c:ptCount val="8"/>
                <c:pt idx="0">
                  <c:v>0.2878787878787879</c:v>
                </c:pt>
                <c:pt idx="1">
                  <c:v>0.18181818181818182</c:v>
                </c:pt>
                <c:pt idx="2">
                  <c:v>7.575757575757576E-2</c:v>
                </c:pt>
                <c:pt idx="3">
                  <c:v>9.0909090909090912E-2</c:v>
                </c:pt>
                <c:pt idx="4">
                  <c:v>0.15151515151515152</c:v>
                </c:pt>
                <c:pt idx="5">
                  <c:v>7.575757575757576E-2</c:v>
                </c:pt>
                <c:pt idx="6">
                  <c:v>4.5454545454545456E-2</c:v>
                </c:pt>
                <c:pt idx="7">
                  <c:v>3.0303030303030304E-2</c:v>
                </c:pt>
              </c:numCache>
            </c:numRef>
          </c:val>
          <c:extLst xmlns:c15="http://schemas.microsoft.com/office/drawing/2012/chart">
            <c:ext xmlns:c16="http://schemas.microsoft.com/office/drawing/2014/chart" uri="{C3380CC4-5D6E-409C-BE32-E72D297353CC}">
              <c16:uniqueId val="{00000000-4CD6-450D-8441-106AFB518746}"/>
            </c:ext>
          </c:extLst>
        </c:ser>
        <c:ser>
          <c:idx val="1"/>
          <c:order val="1"/>
          <c:tx>
            <c:strRef>
              <c:f>Sheet1!$C$1</c:f>
              <c:strCache>
                <c:ptCount val="1"/>
                <c:pt idx="0">
                  <c:v>קיבלתי יותר מדו"ח אחד</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rgbClr val="00B0F0"/>
                    </a:solidFill>
                    <a:latin typeface="Segoe UI" panose="020B0502040204020203" pitchFamily="34" charset="0"/>
                    <a:ea typeface="+mn-ea"/>
                    <a:cs typeface="Segoe UI" panose="020B0502040204020203" pitchFamily="34" charset="0"/>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מהירות</c:v>
                </c:pt>
                <c:pt idx="1">
                  <c:v>שימוש בטלפון</c:v>
                </c:pt>
                <c:pt idx="2">
                  <c:v>נסיעה בנתיב תחב"צ</c:v>
                </c:pt>
                <c:pt idx="3">
                  <c:v>אי ציות לתמרור</c:v>
                </c:pt>
                <c:pt idx="4">
                  <c:v>חגורת בטיחות</c:v>
                </c:pt>
                <c:pt idx="5">
                  <c:v>אור אדום</c:v>
                </c:pt>
                <c:pt idx="6">
                  <c:v>נסיעה בשוליים</c:v>
                </c:pt>
                <c:pt idx="7">
                  <c:v>שינויים ברכב בניגוד לחוק (כמו חלונות כהים)</c:v>
                </c:pt>
              </c:strCache>
            </c:strRef>
          </c:cat>
          <c:val>
            <c:numRef>
              <c:f>Sheet1!$C$2:$C$9</c:f>
              <c:numCache>
                <c:formatCode>0%</c:formatCode>
                <c:ptCount val="8"/>
                <c:pt idx="0">
                  <c:v>0.3</c:v>
                </c:pt>
                <c:pt idx="1">
                  <c:v>0.35</c:v>
                </c:pt>
                <c:pt idx="2">
                  <c:v>0.1</c:v>
                </c:pt>
                <c:pt idx="3">
                  <c:v>0.2</c:v>
                </c:pt>
                <c:pt idx="4">
                  <c:v>0.2</c:v>
                </c:pt>
                <c:pt idx="5">
                  <c:v>0.15</c:v>
                </c:pt>
                <c:pt idx="6">
                  <c:v>0.15</c:v>
                </c:pt>
              </c:numCache>
            </c:numRef>
          </c:val>
          <c:extLst>
            <c:ext xmlns:c16="http://schemas.microsoft.com/office/drawing/2014/chart" uri="{C3380CC4-5D6E-409C-BE32-E72D297353CC}">
              <c16:uniqueId val="{00000001-4CD6-450D-8441-106AFB518746}"/>
            </c:ext>
          </c:extLst>
        </c:ser>
        <c:dLbls>
          <c:dLblPos val="outEnd"/>
          <c:showLegendKey val="0"/>
          <c:showVal val="1"/>
          <c:showCatName val="0"/>
          <c:showSerName val="0"/>
          <c:showPercent val="0"/>
          <c:showBubbleSize val="0"/>
        </c:dLbls>
        <c:gapWidth val="80"/>
        <c:axId val="218240"/>
        <c:axId val="12131296"/>
        <c:extLst/>
      </c:barChart>
      <c:catAx>
        <c:axId val="218240"/>
        <c:scaling>
          <c:orientation val="maxMin"/>
        </c:scaling>
        <c:delete val="1"/>
        <c:axPos val="l"/>
        <c:numFmt formatCode="General" sourceLinked="1"/>
        <c:majorTickMark val="none"/>
        <c:minorTickMark val="none"/>
        <c:tickLblPos val="nextTo"/>
        <c:crossAx val="12131296"/>
        <c:crosses val="autoZero"/>
        <c:auto val="1"/>
        <c:lblAlgn val="ctr"/>
        <c:lblOffset val="100"/>
        <c:tickLblSkip val="1"/>
        <c:noMultiLvlLbl val="0"/>
      </c:catAx>
      <c:valAx>
        <c:axId val="12131296"/>
        <c:scaling>
          <c:orientation val="minMax"/>
          <c:max val="0.70000000000000007"/>
          <c:min val="0"/>
        </c:scaling>
        <c:delete val="1"/>
        <c:axPos val="t"/>
        <c:numFmt formatCode="0%" sourceLinked="1"/>
        <c:majorTickMark val="out"/>
        <c:minorTickMark val="none"/>
        <c:tickLblPos val="nextTo"/>
        <c:crossAx val="21824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latin typeface="Segoe UI" panose="020B0502040204020203" pitchFamily="34" charset="0"/>
          <a:cs typeface="Segoe UI" panose="020B0502040204020203" pitchFamily="34" charset="0"/>
        </a:defRPr>
      </a:pPr>
      <a:endParaRPr lang="he-IL"/>
    </a:p>
  </c:txPr>
  <c:externalData r:id="rId3">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4535224465980901"/>
          <c:y val="3.5154220910064447E-2"/>
          <c:w val="0.72193627516925563"/>
          <c:h val="0.94893358709308251"/>
        </c:manualLayout>
      </c:layout>
      <c:barChart>
        <c:barDir val="bar"/>
        <c:grouping val="clustered"/>
        <c:varyColors val="0"/>
        <c:ser>
          <c:idx val="0"/>
          <c:order val="0"/>
          <c:tx>
            <c:strRef>
              <c:f>Sheet1!$B$1</c:f>
              <c:strCache>
                <c:ptCount val="1"/>
                <c:pt idx="0">
                  <c:v>קיבלתי דו"ח  אחד</c:v>
                </c:pt>
              </c:strCache>
            </c:strRef>
          </c:tx>
          <c:spPr>
            <a:solidFill>
              <a:srgbClr val="00206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rgbClr val="002060"/>
                    </a:solidFill>
                    <a:latin typeface="Segoe UI" panose="020B0502040204020203" pitchFamily="34" charset="0"/>
                    <a:ea typeface="+mn-ea"/>
                    <a:cs typeface="Segoe UI" panose="020B0502040204020203" pitchFamily="34" charset="0"/>
                  </a:defRPr>
                </a:pPr>
                <a:endParaRPr lang="he-IL"/>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מהירות</c:v>
                </c:pt>
                <c:pt idx="1">
                  <c:v>שימוש בטלפון</c:v>
                </c:pt>
                <c:pt idx="2">
                  <c:v>נסיעה בנתיב תחב"צ</c:v>
                </c:pt>
                <c:pt idx="3">
                  <c:v>אי ציות לתמרור</c:v>
                </c:pt>
                <c:pt idx="4">
                  <c:v>חגורת בטיחות</c:v>
                </c:pt>
                <c:pt idx="5">
                  <c:v>אור אדום</c:v>
                </c:pt>
                <c:pt idx="6">
                  <c:v>נסיעה בשוליים</c:v>
                </c:pt>
                <c:pt idx="7">
                  <c:v>שינויים ברכב בניגוד לחוק (כמו חלונות כהים)</c:v>
                </c:pt>
              </c:strCache>
            </c:strRef>
          </c:cat>
          <c:val>
            <c:numRef>
              <c:f>Sheet1!$B$2:$B$9</c:f>
              <c:numCache>
                <c:formatCode>0%</c:formatCode>
                <c:ptCount val="8"/>
                <c:pt idx="0">
                  <c:v>0.21487603305785125</c:v>
                </c:pt>
                <c:pt idx="1">
                  <c:v>0.23966942148760331</c:v>
                </c:pt>
                <c:pt idx="2">
                  <c:v>0.2231404958677686</c:v>
                </c:pt>
                <c:pt idx="3">
                  <c:v>6.6115702479338845E-2</c:v>
                </c:pt>
                <c:pt idx="4">
                  <c:v>8.2644628099173542E-2</c:v>
                </c:pt>
                <c:pt idx="5">
                  <c:v>9.9173553719008267E-2</c:v>
                </c:pt>
                <c:pt idx="6">
                  <c:v>3.3057851239669422E-2</c:v>
                </c:pt>
                <c:pt idx="7">
                  <c:v>1.6528925619834711E-2</c:v>
                </c:pt>
              </c:numCache>
            </c:numRef>
          </c:val>
          <c:extLst xmlns:c15="http://schemas.microsoft.com/office/drawing/2012/chart">
            <c:ext xmlns:c16="http://schemas.microsoft.com/office/drawing/2014/chart" uri="{C3380CC4-5D6E-409C-BE32-E72D297353CC}">
              <c16:uniqueId val="{00000000-DF08-48FC-BB43-FB2C7E3BBE2D}"/>
            </c:ext>
          </c:extLst>
        </c:ser>
        <c:ser>
          <c:idx val="1"/>
          <c:order val="1"/>
          <c:tx>
            <c:strRef>
              <c:f>Sheet1!$C$1</c:f>
              <c:strCache>
                <c:ptCount val="1"/>
                <c:pt idx="0">
                  <c:v>קיבלתי יותר מדו"ח אחד</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rgbClr val="00B0F0"/>
                    </a:solidFill>
                    <a:latin typeface="Segoe UI" panose="020B0502040204020203" pitchFamily="34" charset="0"/>
                    <a:ea typeface="+mn-ea"/>
                    <a:cs typeface="Segoe UI" panose="020B0502040204020203" pitchFamily="34" charset="0"/>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מהירות</c:v>
                </c:pt>
                <c:pt idx="1">
                  <c:v>שימוש בטלפון</c:v>
                </c:pt>
                <c:pt idx="2">
                  <c:v>נסיעה בנתיב תחב"צ</c:v>
                </c:pt>
                <c:pt idx="3">
                  <c:v>אי ציות לתמרור</c:v>
                </c:pt>
                <c:pt idx="4">
                  <c:v>חגורת בטיחות</c:v>
                </c:pt>
                <c:pt idx="5">
                  <c:v>אור אדום</c:v>
                </c:pt>
                <c:pt idx="6">
                  <c:v>נסיעה בשוליים</c:v>
                </c:pt>
                <c:pt idx="7">
                  <c:v>שינויים ברכב בניגוד לחוק (כמו חלונות כהים)</c:v>
                </c:pt>
              </c:strCache>
            </c:strRef>
          </c:cat>
          <c:val>
            <c:numRef>
              <c:f>Sheet1!$C$2:$C$9</c:f>
              <c:numCache>
                <c:formatCode>0%</c:formatCode>
                <c:ptCount val="8"/>
                <c:pt idx="0">
                  <c:v>0.4</c:v>
                </c:pt>
                <c:pt idx="1">
                  <c:v>0.22500000000000001</c:v>
                </c:pt>
                <c:pt idx="2">
                  <c:v>0.27500000000000002</c:v>
                </c:pt>
                <c:pt idx="3">
                  <c:v>0.125</c:v>
                </c:pt>
                <c:pt idx="4">
                  <c:v>7.4999999999999997E-2</c:v>
                </c:pt>
                <c:pt idx="5">
                  <c:v>0.125</c:v>
                </c:pt>
                <c:pt idx="6">
                  <c:v>2.5000000000000001E-2</c:v>
                </c:pt>
              </c:numCache>
            </c:numRef>
          </c:val>
          <c:extLst>
            <c:ext xmlns:c16="http://schemas.microsoft.com/office/drawing/2014/chart" uri="{C3380CC4-5D6E-409C-BE32-E72D297353CC}">
              <c16:uniqueId val="{00000001-DF08-48FC-BB43-FB2C7E3BBE2D}"/>
            </c:ext>
          </c:extLst>
        </c:ser>
        <c:dLbls>
          <c:dLblPos val="outEnd"/>
          <c:showLegendKey val="0"/>
          <c:showVal val="1"/>
          <c:showCatName val="0"/>
          <c:showSerName val="0"/>
          <c:showPercent val="0"/>
          <c:showBubbleSize val="0"/>
        </c:dLbls>
        <c:gapWidth val="80"/>
        <c:axId val="218240"/>
        <c:axId val="12131296"/>
        <c:extLst/>
      </c:barChart>
      <c:catAx>
        <c:axId val="218240"/>
        <c:scaling>
          <c:orientation val="maxMin"/>
        </c:scaling>
        <c:delete val="1"/>
        <c:axPos val="l"/>
        <c:numFmt formatCode="General" sourceLinked="1"/>
        <c:majorTickMark val="none"/>
        <c:minorTickMark val="none"/>
        <c:tickLblPos val="nextTo"/>
        <c:crossAx val="12131296"/>
        <c:crosses val="autoZero"/>
        <c:auto val="1"/>
        <c:lblAlgn val="ctr"/>
        <c:lblOffset val="100"/>
        <c:tickLblSkip val="1"/>
        <c:noMultiLvlLbl val="0"/>
      </c:catAx>
      <c:valAx>
        <c:axId val="12131296"/>
        <c:scaling>
          <c:orientation val="minMax"/>
          <c:max val="0.70000000000000007"/>
          <c:min val="0"/>
        </c:scaling>
        <c:delete val="1"/>
        <c:axPos val="t"/>
        <c:numFmt formatCode="0%" sourceLinked="1"/>
        <c:majorTickMark val="out"/>
        <c:minorTickMark val="none"/>
        <c:tickLblPos val="nextTo"/>
        <c:crossAx val="21824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latin typeface="Segoe UI" panose="020B0502040204020203" pitchFamily="34" charset="0"/>
          <a:cs typeface="Segoe UI" panose="020B0502040204020203" pitchFamily="34" charset="0"/>
        </a:defRPr>
      </a:pPr>
      <a:endParaRPr lang="he-IL"/>
    </a:p>
  </c:txPr>
  <c:externalData r:id="rId3">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4535224465980901"/>
          <c:y val="3.5154220910064447E-2"/>
          <c:w val="0.72193627516925563"/>
          <c:h val="0.94893358709308251"/>
        </c:manualLayout>
      </c:layout>
      <c:barChart>
        <c:barDir val="bar"/>
        <c:grouping val="clustered"/>
        <c:varyColors val="0"/>
        <c:ser>
          <c:idx val="0"/>
          <c:order val="0"/>
          <c:tx>
            <c:strRef>
              <c:f>Sheet1!$B$1</c:f>
              <c:strCache>
                <c:ptCount val="1"/>
                <c:pt idx="0">
                  <c:v>קיבלו דוח אחד</c:v>
                </c:pt>
              </c:strCache>
            </c:strRef>
          </c:tx>
          <c:spPr>
            <a:solidFill>
              <a:srgbClr val="00206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rgbClr val="002060"/>
                    </a:solidFill>
                    <a:latin typeface="Segoe UI" panose="020B0502040204020203" pitchFamily="34" charset="0"/>
                    <a:ea typeface="+mn-ea"/>
                    <a:cs typeface="Segoe UI" panose="020B0502040204020203" pitchFamily="34" charset="0"/>
                  </a:defRPr>
                </a:pPr>
                <a:endParaRPr lang="he-IL"/>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מהירות</c:v>
                </c:pt>
                <c:pt idx="1">
                  <c:v>שימוש בטלפון</c:v>
                </c:pt>
                <c:pt idx="2">
                  <c:v>נסיעה בנתיב תחב"צ</c:v>
                </c:pt>
                <c:pt idx="3">
                  <c:v>אי ציות לתמרור</c:v>
                </c:pt>
                <c:pt idx="4">
                  <c:v>חגורת בטיחות</c:v>
                </c:pt>
                <c:pt idx="5">
                  <c:v>אור אדום</c:v>
                </c:pt>
                <c:pt idx="6">
                  <c:v>נסיעה בשוליים</c:v>
                </c:pt>
                <c:pt idx="7">
                  <c:v>שינויים ברכב בניגוד לחוק (כמו חלונות כהים)</c:v>
                </c:pt>
              </c:strCache>
            </c:strRef>
          </c:cat>
          <c:val>
            <c:numRef>
              <c:f>Sheet1!$B$2:$B$9</c:f>
              <c:numCache>
                <c:formatCode>0%</c:formatCode>
                <c:ptCount val="8"/>
                <c:pt idx="0">
                  <c:v>0.21311475409836067</c:v>
                </c:pt>
                <c:pt idx="1">
                  <c:v>0.37704918032786883</c:v>
                </c:pt>
                <c:pt idx="2">
                  <c:v>8.1967213114754092E-2</c:v>
                </c:pt>
                <c:pt idx="3">
                  <c:v>0.11475409836065573</c:v>
                </c:pt>
                <c:pt idx="4">
                  <c:v>0.14754098360655737</c:v>
                </c:pt>
                <c:pt idx="5">
                  <c:v>0.16393442622950818</c:v>
                </c:pt>
                <c:pt idx="6">
                  <c:v>0.13114754098360656</c:v>
                </c:pt>
              </c:numCache>
            </c:numRef>
          </c:val>
          <c:extLst xmlns:c15="http://schemas.microsoft.com/office/drawing/2012/chart">
            <c:ext xmlns:c16="http://schemas.microsoft.com/office/drawing/2014/chart" uri="{C3380CC4-5D6E-409C-BE32-E72D297353CC}">
              <c16:uniqueId val="{00000000-28B2-4E9E-A6A1-7E6ACEAAC334}"/>
            </c:ext>
          </c:extLst>
        </c:ser>
        <c:ser>
          <c:idx val="1"/>
          <c:order val="1"/>
          <c:tx>
            <c:strRef>
              <c:f>Sheet1!$C$1</c:f>
              <c:strCache>
                <c:ptCount val="1"/>
                <c:pt idx="0">
                  <c:v>קיבלו 2+ דוחות</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rgbClr val="00B0F0"/>
                    </a:solidFill>
                    <a:latin typeface="Segoe UI" panose="020B0502040204020203" pitchFamily="34" charset="0"/>
                    <a:ea typeface="+mn-ea"/>
                    <a:cs typeface="Segoe UI" panose="020B0502040204020203" pitchFamily="34" charset="0"/>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מהירות</c:v>
                </c:pt>
                <c:pt idx="1">
                  <c:v>שימוש בטלפון</c:v>
                </c:pt>
                <c:pt idx="2">
                  <c:v>נסיעה בנתיב תחב"צ</c:v>
                </c:pt>
                <c:pt idx="3">
                  <c:v>אי ציות לתמרור</c:v>
                </c:pt>
                <c:pt idx="4">
                  <c:v>חגורת בטיחות</c:v>
                </c:pt>
                <c:pt idx="5">
                  <c:v>אור אדום</c:v>
                </c:pt>
                <c:pt idx="6">
                  <c:v>נסיעה בשוליים</c:v>
                </c:pt>
                <c:pt idx="7">
                  <c:v>שינויים ברכב בניגוד לחוק (כמו חלונות כהים)</c:v>
                </c:pt>
              </c:strCache>
            </c:strRef>
          </c:cat>
          <c:val>
            <c:numRef>
              <c:f>Sheet1!$C$2:$C$9</c:f>
              <c:numCache>
                <c:formatCode>0%</c:formatCode>
                <c:ptCount val="8"/>
                <c:pt idx="0">
                  <c:v>0.3</c:v>
                </c:pt>
                <c:pt idx="1">
                  <c:v>0.55000000000000004</c:v>
                </c:pt>
                <c:pt idx="3">
                  <c:v>0.15</c:v>
                </c:pt>
                <c:pt idx="4">
                  <c:v>0.15</c:v>
                </c:pt>
                <c:pt idx="5">
                  <c:v>0.1</c:v>
                </c:pt>
                <c:pt idx="6">
                  <c:v>0.05</c:v>
                </c:pt>
                <c:pt idx="7">
                  <c:v>0.05</c:v>
                </c:pt>
              </c:numCache>
            </c:numRef>
          </c:val>
          <c:extLst>
            <c:ext xmlns:c16="http://schemas.microsoft.com/office/drawing/2014/chart" uri="{C3380CC4-5D6E-409C-BE32-E72D297353CC}">
              <c16:uniqueId val="{00000001-28B2-4E9E-A6A1-7E6ACEAAC334}"/>
            </c:ext>
          </c:extLst>
        </c:ser>
        <c:dLbls>
          <c:dLblPos val="outEnd"/>
          <c:showLegendKey val="0"/>
          <c:showVal val="1"/>
          <c:showCatName val="0"/>
          <c:showSerName val="0"/>
          <c:showPercent val="0"/>
          <c:showBubbleSize val="0"/>
        </c:dLbls>
        <c:gapWidth val="80"/>
        <c:axId val="218240"/>
        <c:axId val="12131296"/>
        <c:extLst/>
      </c:barChart>
      <c:catAx>
        <c:axId val="218240"/>
        <c:scaling>
          <c:orientation val="maxMin"/>
        </c:scaling>
        <c:delete val="1"/>
        <c:axPos val="l"/>
        <c:numFmt formatCode="General" sourceLinked="1"/>
        <c:majorTickMark val="none"/>
        <c:minorTickMark val="none"/>
        <c:tickLblPos val="nextTo"/>
        <c:crossAx val="12131296"/>
        <c:crosses val="autoZero"/>
        <c:auto val="1"/>
        <c:lblAlgn val="ctr"/>
        <c:lblOffset val="100"/>
        <c:tickLblSkip val="1"/>
        <c:noMultiLvlLbl val="0"/>
      </c:catAx>
      <c:valAx>
        <c:axId val="12131296"/>
        <c:scaling>
          <c:orientation val="minMax"/>
          <c:max val="0.70000000000000007"/>
          <c:min val="0"/>
        </c:scaling>
        <c:delete val="1"/>
        <c:axPos val="t"/>
        <c:numFmt formatCode="0%" sourceLinked="1"/>
        <c:majorTickMark val="out"/>
        <c:minorTickMark val="none"/>
        <c:tickLblPos val="nextTo"/>
        <c:crossAx val="218240"/>
        <c:crosses val="autoZero"/>
        <c:crossBetween val="between"/>
      </c:valAx>
      <c:spPr>
        <a:noFill/>
        <a:ln>
          <a:noFill/>
        </a:ln>
        <a:effectLst/>
      </c:spPr>
    </c:plotArea>
    <c:legend>
      <c:legendPos val="r"/>
      <c:layout>
        <c:manualLayout>
          <c:xMode val="edge"/>
          <c:yMode val="edge"/>
          <c:x val="0.5039707375964726"/>
          <c:y val="0.88869595959595948"/>
          <c:w val="0.4320200436738626"/>
          <c:h val="0.11096666666666666"/>
        </c:manualLayout>
      </c:layout>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Segoe UI" panose="020B0502040204020203" pitchFamily="34" charset="0"/>
              <a:ea typeface="+mn-ea"/>
              <a:cs typeface="Segoe UI" panose="020B0502040204020203" pitchFamily="34" charset="0"/>
            </a:defRPr>
          </a:pPr>
          <a:endParaRPr lang="he-I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latin typeface="Segoe UI" panose="020B0502040204020203" pitchFamily="34" charset="0"/>
          <a:cs typeface="Segoe UI" panose="020B0502040204020203" pitchFamily="34" charset="0"/>
        </a:defRPr>
      </a:pPr>
      <a:endParaRPr lang="he-IL"/>
    </a:p>
  </c:txPr>
  <c:externalData r:id="rId3">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4535224465980901"/>
          <c:y val="3.5154220910064447E-2"/>
          <c:w val="0.72193627516925563"/>
          <c:h val="0.94893358709308251"/>
        </c:manualLayout>
      </c:layout>
      <c:barChart>
        <c:barDir val="bar"/>
        <c:grouping val="clustered"/>
        <c:varyColors val="0"/>
        <c:ser>
          <c:idx val="0"/>
          <c:order val="0"/>
          <c:tx>
            <c:strRef>
              <c:f>Sheet1!$B$1</c:f>
              <c:strCache>
                <c:ptCount val="1"/>
                <c:pt idx="0">
                  <c:v>קיבלתי דו"ח  אחד</c:v>
                </c:pt>
              </c:strCache>
            </c:strRef>
          </c:tx>
          <c:spPr>
            <a:solidFill>
              <a:srgbClr val="00206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rgbClr val="002060"/>
                    </a:solidFill>
                    <a:latin typeface="Segoe UI" panose="020B0502040204020203" pitchFamily="34" charset="0"/>
                    <a:ea typeface="+mn-ea"/>
                    <a:cs typeface="Segoe UI" panose="020B0502040204020203" pitchFamily="34" charset="0"/>
                  </a:defRPr>
                </a:pPr>
                <a:endParaRPr lang="he-IL"/>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מהירות</c:v>
                </c:pt>
                <c:pt idx="1">
                  <c:v>שימוש בטלפון</c:v>
                </c:pt>
                <c:pt idx="2">
                  <c:v>נסיעה בנתיב תחב"צ</c:v>
                </c:pt>
                <c:pt idx="3">
                  <c:v>אי ציות לתמרור</c:v>
                </c:pt>
                <c:pt idx="4">
                  <c:v>חגורת בטיחות</c:v>
                </c:pt>
                <c:pt idx="5">
                  <c:v>אור אדום</c:v>
                </c:pt>
                <c:pt idx="6">
                  <c:v>נסיעה בשוליים</c:v>
                </c:pt>
                <c:pt idx="7">
                  <c:v>שינויים ברכב בניגוד לחוק (כמו חלונות כהים)</c:v>
                </c:pt>
              </c:strCache>
            </c:strRef>
          </c:cat>
          <c:val>
            <c:numRef>
              <c:f>Sheet1!$B$2:$B$9</c:f>
              <c:numCache>
                <c:formatCode>0%</c:formatCode>
                <c:ptCount val="8"/>
                <c:pt idx="0">
                  <c:v>0.30097087378640774</c:v>
                </c:pt>
                <c:pt idx="1">
                  <c:v>0.14563106796116507</c:v>
                </c:pt>
                <c:pt idx="2">
                  <c:v>0.44660194174757278</c:v>
                </c:pt>
                <c:pt idx="3">
                  <c:v>9.7087378640776698E-2</c:v>
                </c:pt>
                <c:pt idx="4">
                  <c:v>2.9126213592233011E-2</c:v>
                </c:pt>
                <c:pt idx="5">
                  <c:v>3.8834951456310683E-2</c:v>
                </c:pt>
                <c:pt idx="6">
                  <c:v>9.7087378640776708E-3</c:v>
                </c:pt>
              </c:numCache>
            </c:numRef>
          </c:val>
          <c:extLst xmlns:c15="http://schemas.microsoft.com/office/drawing/2012/chart">
            <c:ext xmlns:c16="http://schemas.microsoft.com/office/drawing/2014/chart" uri="{C3380CC4-5D6E-409C-BE32-E72D297353CC}">
              <c16:uniqueId val="{00000000-D261-4F96-966C-D53E5B09CA24}"/>
            </c:ext>
          </c:extLst>
        </c:ser>
        <c:ser>
          <c:idx val="1"/>
          <c:order val="1"/>
          <c:tx>
            <c:strRef>
              <c:f>Sheet1!$C$1</c:f>
              <c:strCache>
                <c:ptCount val="1"/>
                <c:pt idx="0">
                  <c:v>קיבלתי יותר מדו"ח אחד</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rgbClr val="00B0F0"/>
                    </a:solidFill>
                    <a:latin typeface="Segoe UI" panose="020B0502040204020203" pitchFamily="34" charset="0"/>
                    <a:ea typeface="+mn-ea"/>
                    <a:cs typeface="Segoe UI" panose="020B0502040204020203" pitchFamily="34" charset="0"/>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מהירות</c:v>
                </c:pt>
                <c:pt idx="1">
                  <c:v>שימוש בטלפון</c:v>
                </c:pt>
                <c:pt idx="2">
                  <c:v>נסיעה בנתיב תחב"צ</c:v>
                </c:pt>
                <c:pt idx="3">
                  <c:v>אי ציות לתמרור</c:v>
                </c:pt>
                <c:pt idx="4">
                  <c:v>חגורת בטיחות</c:v>
                </c:pt>
                <c:pt idx="5">
                  <c:v>אור אדום</c:v>
                </c:pt>
                <c:pt idx="6">
                  <c:v>נסיעה בשוליים</c:v>
                </c:pt>
                <c:pt idx="7">
                  <c:v>שינויים ברכב בניגוד לחוק (כמו חלונות כהים)</c:v>
                </c:pt>
              </c:strCache>
            </c:strRef>
          </c:cat>
          <c:val>
            <c:numRef>
              <c:f>Sheet1!$C$2:$C$9</c:f>
              <c:numCache>
                <c:formatCode>0%</c:formatCode>
                <c:ptCount val="8"/>
                <c:pt idx="0">
                  <c:v>0.39189189189189189</c:v>
                </c:pt>
                <c:pt idx="1">
                  <c:v>0.14864864864864866</c:v>
                </c:pt>
                <c:pt idx="2">
                  <c:v>0.22972972972972971</c:v>
                </c:pt>
                <c:pt idx="3">
                  <c:v>0.13513513513513514</c:v>
                </c:pt>
                <c:pt idx="4">
                  <c:v>6.7567567567567571E-2</c:v>
                </c:pt>
                <c:pt idx="5">
                  <c:v>2.7027027027027025E-2</c:v>
                </c:pt>
                <c:pt idx="6">
                  <c:v>4.0540540540540543E-2</c:v>
                </c:pt>
              </c:numCache>
            </c:numRef>
          </c:val>
          <c:extLst>
            <c:ext xmlns:c16="http://schemas.microsoft.com/office/drawing/2014/chart" uri="{C3380CC4-5D6E-409C-BE32-E72D297353CC}">
              <c16:uniqueId val="{00000001-D261-4F96-966C-D53E5B09CA24}"/>
            </c:ext>
          </c:extLst>
        </c:ser>
        <c:dLbls>
          <c:dLblPos val="outEnd"/>
          <c:showLegendKey val="0"/>
          <c:showVal val="1"/>
          <c:showCatName val="0"/>
          <c:showSerName val="0"/>
          <c:showPercent val="0"/>
          <c:showBubbleSize val="0"/>
        </c:dLbls>
        <c:gapWidth val="80"/>
        <c:axId val="218240"/>
        <c:axId val="12131296"/>
        <c:extLst/>
      </c:barChart>
      <c:catAx>
        <c:axId val="218240"/>
        <c:scaling>
          <c:orientation val="maxMin"/>
        </c:scaling>
        <c:delete val="1"/>
        <c:axPos val="l"/>
        <c:numFmt formatCode="General" sourceLinked="1"/>
        <c:majorTickMark val="none"/>
        <c:minorTickMark val="none"/>
        <c:tickLblPos val="nextTo"/>
        <c:crossAx val="12131296"/>
        <c:crosses val="autoZero"/>
        <c:auto val="1"/>
        <c:lblAlgn val="ctr"/>
        <c:lblOffset val="100"/>
        <c:tickLblSkip val="1"/>
        <c:noMultiLvlLbl val="0"/>
      </c:catAx>
      <c:valAx>
        <c:axId val="12131296"/>
        <c:scaling>
          <c:orientation val="minMax"/>
          <c:max val="0.70000000000000007"/>
          <c:min val="0"/>
        </c:scaling>
        <c:delete val="1"/>
        <c:axPos val="t"/>
        <c:numFmt formatCode="0%" sourceLinked="1"/>
        <c:majorTickMark val="out"/>
        <c:minorTickMark val="none"/>
        <c:tickLblPos val="nextTo"/>
        <c:crossAx val="21824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latin typeface="Segoe UI" panose="020B0502040204020203" pitchFamily="34" charset="0"/>
          <a:cs typeface="Segoe UI" panose="020B0502040204020203" pitchFamily="34" charset="0"/>
        </a:defRPr>
      </a:pPr>
      <a:endParaRPr lang="he-IL"/>
    </a:p>
  </c:txPr>
  <c:externalData r:id="rId3">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4535224465980901"/>
          <c:y val="3.5154220910064447E-2"/>
          <c:w val="0.72193627516925563"/>
          <c:h val="0.94893358709308251"/>
        </c:manualLayout>
      </c:layout>
      <c:barChart>
        <c:barDir val="bar"/>
        <c:grouping val="clustered"/>
        <c:varyColors val="0"/>
        <c:ser>
          <c:idx val="0"/>
          <c:order val="0"/>
          <c:tx>
            <c:strRef>
              <c:f>Sheet1!$B$1</c:f>
              <c:strCache>
                <c:ptCount val="1"/>
                <c:pt idx="0">
                  <c:v>דוח בשנים 24-25</c:v>
                </c:pt>
              </c:strCache>
            </c:strRef>
          </c:tx>
          <c:spPr>
            <a:solidFill>
              <a:srgbClr val="00206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rgbClr val="002060"/>
                    </a:solidFill>
                    <a:latin typeface="Segoe UI" panose="020B0502040204020203" pitchFamily="34" charset="0"/>
                    <a:ea typeface="+mn-ea"/>
                    <a:cs typeface="Segoe UI" panose="020B0502040204020203" pitchFamily="34" charset="0"/>
                  </a:defRPr>
                </a:pPr>
                <a:endParaRPr lang="he-IL"/>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מהירות</c:v>
                </c:pt>
                <c:pt idx="1">
                  <c:v>שימוש בטלפון</c:v>
                </c:pt>
                <c:pt idx="2">
                  <c:v>נסיעה בנתיב תחב"צ</c:v>
                </c:pt>
                <c:pt idx="3">
                  <c:v>אי ציות לתמרור</c:v>
                </c:pt>
                <c:pt idx="4">
                  <c:v>חגורת בטיחות</c:v>
                </c:pt>
                <c:pt idx="5">
                  <c:v>אור אדום</c:v>
                </c:pt>
                <c:pt idx="6">
                  <c:v>נסיעה בשוליים</c:v>
                </c:pt>
                <c:pt idx="7">
                  <c:v>שינויים ברכב בניגוד לחוק (כמו חלונות כהים)</c:v>
                </c:pt>
              </c:strCache>
            </c:strRef>
          </c:cat>
          <c:val>
            <c:numRef>
              <c:f>Sheet1!$B$2:$B$9</c:f>
              <c:numCache>
                <c:formatCode>0%</c:formatCode>
                <c:ptCount val="8"/>
                <c:pt idx="0">
                  <c:v>0.36363636363636365</c:v>
                </c:pt>
                <c:pt idx="1">
                  <c:v>0.11363636363636363</c:v>
                </c:pt>
                <c:pt idx="2">
                  <c:v>9.0909090909090912E-2</c:v>
                </c:pt>
                <c:pt idx="3">
                  <c:v>0.15909090909090909</c:v>
                </c:pt>
                <c:pt idx="4">
                  <c:v>0.18181818181818182</c:v>
                </c:pt>
                <c:pt idx="5">
                  <c:v>4.5454545454545456E-2</c:v>
                </c:pt>
                <c:pt idx="6">
                  <c:v>0.11363636363636363</c:v>
                </c:pt>
                <c:pt idx="7">
                  <c:v>2.2727272727272728E-2</c:v>
                </c:pt>
              </c:numCache>
            </c:numRef>
          </c:val>
          <c:extLst xmlns:c15="http://schemas.microsoft.com/office/drawing/2012/chart">
            <c:ext xmlns:c16="http://schemas.microsoft.com/office/drawing/2014/chart" uri="{C3380CC4-5D6E-409C-BE32-E72D297353CC}">
              <c16:uniqueId val="{00000000-4CD6-450D-8441-106AFB518746}"/>
            </c:ext>
          </c:extLst>
        </c:ser>
        <c:ser>
          <c:idx val="1"/>
          <c:order val="1"/>
          <c:tx>
            <c:strRef>
              <c:f>Sheet1!$C$1</c:f>
              <c:strCache>
                <c:ptCount val="1"/>
                <c:pt idx="0">
                  <c:v>דוחות ישנים יותר</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rgbClr val="00B0F0"/>
                    </a:solidFill>
                    <a:latin typeface="Segoe UI" panose="020B0502040204020203" pitchFamily="34" charset="0"/>
                    <a:ea typeface="+mn-ea"/>
                    <a:cs typeface="Segoe UI" panose="020B0502040204020203" pitchFamily="34" charset="0"/>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מהירות</c:v>
                </c:pt>
                <c:pt idx="1">
                  <c:v>שימוש בטלפון</c:v>
                </c:pt>
                <c:pt idx="2">
                  <c:v>נסיעה בנתיב תחב"צ</c:v>
                </c:pt>
                <c:pt idx="3">
                  <c:v>אי ציות לתמרור</c:v>
                </c:pt>
                <c:pt idx="4">
                  <c:v>חגורת בטיחות</c:v>
                </c:pt>
                <c:pt idx="5">
                  <c:v>אור אדום</c:v>
                </c:pt>
                <c:pt idx="6">
                  <c:v>נסיעה בשוליים</c:v>
                </c:pt>
                <c:pt idx="7">
                  <c:v>שינויים ברכב בניגוד לחוק (כמו חלונות כהים)</c:v>
                </c:pt>
              </c:strCache>
            </c:strRef>
          </c:cat>
          <c:val>
            <c:numRef>
              <c:f>Sheet1!$C$2:$C$9</c:f>
              <c:numCache>
                <c:formatCode>0%</c:formatCode>
                <c:ptCount val="8"/>
                <c:pt idx="0">
                  <c:v>0.21428571428571427</c:v>
                </c:pt>
                <c:pt idx="1">
                  <c:v>0.33333333333333337</c:v>
                </c:pt>
                <c:pt idx="2">
                  <c:v>7.1428571428571438E-2</c:v>
                </c:pt>
                <c:pt idx="3">
                  <c:v>7.1428571428571438E-2</c:v>
                </c:pt>
                <c:pt idx="4">
                  <c:v>0.14285714285714288</c:v>
                </c:pt>
                <c:pt idx="5">
                  <c:v>0.14285714285714288</c:v>
                </c:pt>
                <c:pt idx="6">
                  <c:v>2.3809523809523808E-2</c:v>
                </c:pt>
                <c:pt idx="7">
                  <c:v>2.3809523809523808E-2</c:v>
                </c:pt>
              </c:numCache>
            </c:numRef>
          </c:val>
          <c:extLst>
            <c:ext xmlns:c16="http://schemas.microsoft.com/office/drawing/2014/chart" uri="{C3380CC4-5D6E-409C-BE32-E72D297353CC}">
              <c16:uniqueId val="{00000001-4CD6-450D-8441-106AFB518746}"/>
            </c:ext>
          </c:extLst>
        </c:ser>
        <c:dLbls>
          <c:dLblPos val="outEnd"/>
          <c:showLegendKey val="0"/>
          <c:showVal val="1"/>
          <c:showCatName val="0"/>
          <c:showSerName val="0"/>
          <c:showPercent val="0"/>
          <c:showBubbleSize val="0"/>
        </c:dLbls>
        <c:gapWidth val="80"/>
        <c:axId val="218240"/>
        <c:axId val="12131296"/>
        <c:extLst/>
      </c:barChart>
      <c:catAx>
        <c:axId val="218240"/>
        <c:scaling>
          <c:orientation val="maxMin"/>
        </c:scaling>
        <c:delete val="1"/>
        <c:axPos val="l"/>
        <c:numFmt formatCode="General" sourceLinked="1"/>
        <c:majorTickMark val="none"/>
        <c:minorTickMark val="none"/>
        <c:tickLblPos val="nextTo"/>
        <c:crossAx val="12131296"/>
        <c:crosses val="autoZero"/>
        <c:auto val="1"/>
        <c:lblAlgn val="ctr"/>
        <c:lblOffset val="100"/>
        <c:tickLblSkip val="1"/>
        <c:noMultiLvlLbl val="0"/>
      </c:catAx>
      <c:valAx>
        <c:axId val="12131296"/>
        <c:scaling>
          <c:orientation val="minMax"/>
          <c:max val="0.70000000000000007"/>
          <c:min val="0"/>
        </c:scaling>
        <c:delete val="1"/>
        <c:axPos val="t"/>
        <c:numFmt formatCode="0%" sourceLinked="1"/>
        <c:majorTickMark val="out"/>
        <c:minorTickMark val="none"/>
        <c:tickLblPos val="nextTo"/>
        <c:crossAx val="21824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latin typeface="Segoe UI" panose="020B0502040204020203" pitchFamily="34" charset="0"/>
          <a:cs typeface="Segoe UI" panose="020B0502040204020203" pitchFamily="34" charset="0"/>
        </a:defRPr>
      </a:pPr>
      <a:endParaRPr lang="he-IL"/>
    </a:p>
  </c:txPr>
  <c:externalData r:id="rId3">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4535224465980901"/>
          <c:y val="3.5154220910064447E-2"/>
          <c:w val="0.72193627516925563"/>
          <c:h val="0.94893358709308251"/>
        </c:manualLayout>
      </c:layout>
      <c:barChart>
        <c:barDir val="bar"/>
        <c:grouping val="clustered"/>
        <c:varyColors val="0"/>
        <c:ser>
          <c:idx val="0"/>
          <c:order val="0"/>
          <c:tx>
            <c:strRef>
              <c:f>Sheet1!$B$1</c:f>
              <c:strCache>
                <c:ptCount val="1"/>
                <c:pt idx="0">
                  <c:v>דוח בשנים 24-25</c:v>
                </c:pt>
              </c:strCache>
            </c:strRef>
          </c:tx>
          <c:spPr>
            <a:solidFill>
              <a:srgbClr val="00206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rgbClr val="002060"/>
                    </a:solidFill>
                    <a:latin typeface="Segoe UI" panose="020B0502040204020203" pitchFamily="34" charset="0"/>
                    <a:ea typeface="+mn-ea"/>
                    <a:cs typeface="Segoe UI" panose="020B0502040204020203" pitchFamily="34" charset="0"/>
                  </a:defRPr>
                </a:pPr>
                <a:endParaRPr lang="he-IL"/>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מהירות</c:v>
                </c:pt>
                <c:pt idx="1">
                  <c:v>שימוש בטלפון</c:v>
                </c:pt>
                <c:pt idx="2">
                  <c:v>נסיעה בנתיב תחב"צ</c:v>
                </c:pt>
                <c:pt idx="3">
                  <c:v>אי ציות לתמרור</c:v>
                </c:pt>
                <c:pt idx="4">
                  <c:v>חגורת בטיחות</c:v>
                </c:pt>
                <c:pt idx="5">
                  <c:v>אור אדום</c:v>
                </c:pt>
                <c:pt idx="6">
                  <c:v>נסיעה בשוליים</c:v>
                </c:pt>
                <c:pt idx="7">
                  <c:v>שינויים ברכב בניגוד לחוק (כמו חלונות כהים)</c:v>
                </c:pt>
              </c:strCache>
            </c:strRef>
          </c:cat>
          <c:val>
            <c:numRef>
              <c:f>Sheet1!$B$2:$B$9</c:f>
              <c:numCache>
                <c:formatCode>0%</c:formatCode>
                <c:ptCount val="8"/>
                <c:pt idx="0">
                  <c:v>0.22500000000000001</c:v>
                </c:pt>
                <c:pt idx="1">
                  <c:v>0.25</c:v>
                </c:pt>
                <c:pt idx="2">
                  <c:v>0.28749999999999998</c:v>
                </c:pt>
                <c:pt idx="3">
                  <c:v>0.125</c:v>
                </c:pt>
                <c:pt idx="4">
                  <c:v>8.7499999999999994E-2</c:v>
                </c:pt>
                <c:pt idx="5">
                  <c:v>0.1125</c:v>
                </c:pt>
                <c:pt idx="6">
                  <c:v>3.7499999999999999E-2</c:v>
                </c:pt>
                <c:pt idx="7">
                  <c:v>2.5000000000000001E-2</c:v>
                </c:pt>
              </c:numCache>
            </c:numRef>
          </c:val>
          <c:extLst xmlns:c15="http://schemas.microsoft.com/office/drawing/2012/chart">
            <c:ext xmlns:c16="http://schemas.microsoft.com/office/drawing/2014/chart" uri="{C3380CC4-5D6E-409C-BE32-E72D297353CC}">
              <c16:uniqueId val="{00000000-DF08-48FC-BB43-FB2C7E3BBE2D}"/>
            </c:ext>
          </c:extLst>
        </c:ser>
        <c:ser>
          <c:idx val="1"/>
          <c:order val="1"/>
          <c:tx>
            <c:strRef>
              <c:f>Sheet1!$C$1</c:f>
              <c:strCache>
                <c:ptCount val="1"/>
                <c:pt idx="0">
                  <c:v>דוחות ישנים יותר</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rgbClr val="00B0F0"/>
                    </a:solidFill>
                    <a:latin typeface="Segoe UI" panose="020B0502040204020203" pitchFamily="34" charset="0"/>
                    <a:ea typeface="+mn-ea"/>
                    <a:cs typeface="Segoe UI" panose="020B0502040204020203" pitchFamily="34" charset="0"/>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מהירות</c:v>
                </c:pt>
                <c:pt idx="1">
                  <c:v>שימוש בטלפון</c:v>
                </c:pt>
                <c:pt idx="2">
                  <c:v>נסיעה בנתיב תחב"צ</c:v>
                </c:pt>
                <c:pt idx="3">
                  <c:v>אי ציות לתמרור</c:v>
                </c:pt>
                <c:pt idx="4">
                  <c:v>חגורת בטיחות</c:v>
                </c:pt>
                <c:pt idx="5">
                  <c:v>אור אדום</c:v>
                </c:pt>
                <c:pt idx="6">
                  <c:v>נסיעה בשוליים</c:v>
                </c:pt>
                <c:pt idx="7">
                  <c:v>שינויים ברכב בניגוד לחוק (כמו חלונות כהים)</c:v>
                </c:pt>
              </c:strCache>
            </c:strRef>
          </c:cat>
          <c:val>
            <c:numRef>
              <c:f>Sheet1!$C$2:$C$9</c:f>
              <c:numCache>
                <c:formatCode>0%</c:formatCode>
                <c:ptCount val="8"/>
                <c:pt idx="0">
                  <c:v>0.29629629629629628</c:v>
                </c:pt>
                <c:pt idx="1">
                  <c:v>0.22222222222222221</c:v>
                </c:pt>
                <c:pt idx="2">
                  <c:v>0.1851851851851852</c:v>
                </c:pt>
                <c:pt idx="3">
                  <c:v>3.7037037037037035E-2</c:v>
                </c:pt>
                <c:pt idx="4">
                  <c:v>7.407407407407407E-2</c:v>
                </c:pt>
                <c:pt idx="5">
                  <c:v>9.8765432098765427E-2</c:v>
                </c:pt>
                <c:pt idx="6">
                  <c:v>2.4691358024691357E-2</c:v>
                </c:pt>
              </c:numCache>
            </c:numRef>
          </c:val>
          <c:extLst>
            <c:ext xmlns:c16="http://schemas.microsoft.com/office/drawing/2014/chart" uri="{C3380CC4-5D6E-409C-BE32-E72D297353CC}">
              <c16:uniqueId val="{00000001-DF08-48FC-BB43-FB2C7E3BBE2D}"/>
            </c:ext>
          </c:extLst>
        </c:ser>
        <c:dLbls>
          <c:dLblPos val="outEnd"/>
          <c:showLegendKey val="0"/>
          <c:showVal val="1"/>
          <c:showCatName val="0"/>
          <c:showSerName val="0"/>
          <c:showPercent val="0"/>
          <c:showBubbleSize val="0"/>
        </c:dLbls>
        <c:gapWidth val="80"/>
        <c:axId val="218240"/>
        <c:axId val="12131296"/>
        <c:extLst/>
      </c:barChart>
      <c:catAx>
        <c:axId val="218240"/>
        <c:scaling>
          <c:orientation val="maxMin"/>
        </c:scaling>
        <c:delete val="1"/>
        <c:axPos val="l"/>
        <c:numFmt formatCode="General" sourceLinked="1"/>
        <c:majorTickMark val="none"/>
        <c:minorTickMark val="none"/>
        <c:tickLblPos val="nextTo"/>
        <c:crossAx val="12131296"/>
        <c:crosses val="autoZero"/>
        <c:auto val="1"/>
        <c:lblAlgn val="ctr"/>
        <c:lblOffset val="100"/>
        <c:tickLblSkip val="1"/>
        <c:noMultiLvlLbl val="0"/>
      </c:catAx>
      <c:valAx>
        <c:axId val="12131296"/>
        <c:scaling>
          <c:orientation val="minMax"/>
          <c:max val="0.70000000000000007"/>
          <c:min val="0"/>
        </c:scaling>
        <c:delete val="1"/>
        <c:axPos val="t"/>
        <c:numFmt formatCode="0%" sourceLinked="1"/>
        <c:majorTickMark val="out"/>
        <c:minorTickMark val="none"/>
        <c:tickLblPos val="nextTo"/>
        <c:crossAx val="21824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latin typeface="Segoe UI" panose="020B0502040204020203" pitchFamily="34" charset="0"/>
          <a:cs typeface="Segoe UI" panose="020B0502040204020203" pitchFamily="34" charset="0"/>
        </a:defRPr>
      </a:pPr>
      <a:endParaRPr lang="he-IL"/>
    </a:p>
  </c:txPr>
  <c:externalData r:id="rId3">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4535224465980901"/>
          <c:y val="3.5154220910064447E-2"/>
          <c:w val="0.72193627516925563"/>
          <c:h val="0.94893358709308251"/>
        </c:manualLayout>
      </c:layout>
      <c:barChart>
        <c:barDir val="bar"/>
        <c:grouping val="clustered"/>
        <c:varyColors val="0"/>
        <c:ser>
          <c:idx val="0"/>
          <c:order val="0"/>
          <c:tx>
            <c:strRef>
              <c:f>Sheet1!$B$1</c:f>
              <c:strCache>
                <c:ptCount val="1"/>
                <c:pt idx="0">
                  <c:v>2024-2025</c:v>
                </c:pt>
              </c:strCache>
            </c:strRef>
          </c:tx>
          <c:spPr>
            <a:solidFill>
              <a:srgbClr val="00206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rgbClr val="002060"/>
                    </a:solidFill>
                    <a:latin typeface="Segoe UI" panose="020B0502040204020203" pitchFamily="34" charset="0"/>
                    <a:ea typeface="+mn-ea"/>
                    <a:cs typeface="Segoe UI" panose="020B0502040204020203" pitchFamily="34" charset="0"/>
                  </a:defRPr>
                </a:pPr>
                <a:endParaRPr lang="he-IL"/>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מהירות</c:v>
                </c:pt>
                <c:pt idx="1">
                  <c:v>שימוש בטלפון</c:v>
                </c:pt>
                <c:pt idx="2">
                  <c:v>נסיעה בנתיב תחב"צ</c:v>
                </c:pt>
                <c:pt idx="3">
                  <c:v>אי ציות לתמרור</c:v>
                </c:pt>
                <c:pt idx="4">
                  <c:v>חגורת בטיחות</c:v>
                </c:pt>
                <c:pt idx="5">
                  <c:v>אור אדום</c:v>
                </c:pt>
                <c:pt idx="6">
                  <c:v>נסיעה בשוליים</c:v>
                </c:pt>
                <c:pt idx="7">
                  <c:v>שינויים ברכב בניגוד לחוק (כמו חלונות כהים)</c:v>
                </c:pt>
              </c:strCache>
            </c:strRef>
          </c:cat>
          <c:val>
            <c:numRef>
              <c:f>Sheet1!$B$2:$B$9</c:f>
              <c:numCache>
                <c:formatCode>0%</c:formatCode>
                <c:ptCount val="8"/>
                <c:pt idx="0">
                  <c:v>0.28260869565217389</c:v>
                </c:pt>
                <c:pt idx="1">
                  <c:v>0.34782608695652173</c:v>
                </c:pt>
                <c:pt idx="2">
                  <c:v>2.1739130434782608E-2</c:v>
                </c:pt>
                <c:pt idx="3">
                  <c:v>0.19565217391304349</c:v>
                </c:pt>
                <c:pt idx="4">
                  <c:v>0.10869565217391304</c:v>
                </c:pt>
                <c:pt idx="5">
                  <c:v>0.15217391304347827</c:v>
                </c:pt>
                <c:pt idx="6">
                  <c:v>0.13043478260869565</c:v>
                </c:pt>
                <c:pt idx="7">
                  <c:v>2.1739130434782608E-2</c:v>
                </c:pt>
              </c:numCache>
            </c:numRef>
          </c:val>
          <c:extLst xmlns:c15="http://schemas.microsoft.com/office/drawing/2012/chart">
            <c:ext xmlns:c16="http://schemas.microsoft.com/office/drawing/2014/chart" uri="{C3380CC4-5D6E-409C-BE32-E72D297353CC}">
              <c16:uniqueId val="{00000000-28B2-4E9E-A6A1-7E6ACEAAC334}"/>
            </c:ext>
          </c:extLst>
        </c:ser>
        <c:ser>
          <c:idx val="1"/>
          <c:order val="1"/>
          <c:tx>
            <c:strRef>
              <c:f>Sheet1!$C$1</c:f>
              <c:strCache>
                <c:ptCount val="1"/>
                <c:pt idx="0">
                  <c:v>2020-2023</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rgbClr val="00B0F0"/>
                    </a:solidFill>
                    <a:latin typeface="Segoe UI" panose="020B0502040204020203" pitchFamily="34" charset="0"/>
                    <a:ea typeface="+mn-ea"/>
                    <a:cs typeface="Segoe UI" panose="020B0502040204020203" pitchFamily="34" charset="0"/>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מהירות</c:v>
                </c:pt>
                <c:pt idx="1">
                  <c:v>שימוש בטלפון</c:v>
                </c:pt>
                <c:pt idx="2">
                  <c:v>נסיעה בנתיב תחב"צ</c:v>
                </c:pt>
                <c:pt idx="3">
                  <c:v>אי ציות לתמרור</c:v>
                </c:pt>
                <c:pt idx="4">
                  <c:v>חגורת בטיחות</c:v>
                </c:pt>
                <c:pt idx="5">
                  <c:v>אור אדום</c:v>
                </c:pt>
                <c:pt idx="6">
                  <c:v>נסיעה בשוליים</c:v>
                </c:pt>
                <c:pt idx="7">
                  <c:v>שינויים ברכב בניגוד לחוק (כמו חלונות כהים)</c:v>
                </c:pt>
              </c:strCache>
            </c:strRef>
          </c:cat>
          <c:val>
            <c:numRef>
              <c:f>Sheet1!$C$2:$C$9</c:f>
              <c:numCache>
                <c:formatCode>0%</c:formatCode>
                <c:ptCount val="8"/>
                <c:pt idx="0">
                  <c:v>0.17142857142857143</c:v>
                </c:pt>
                <c:pt idx="1">
                  <c:v>0.51428571428571435</c:v>
                </c:pt>
                <c:pt idx="2">
                  <c:v>0.11428571428571428</c:v>
                </c:pt>
                <c:pt idx="3">
                  <c:v>2.8571428571428571E-2</c:v>
                </c:pt>
                <c:pt idx="4">
                  <c:v>0.2</c:v>
                </c:pt>
                <c:pt idx="5">
                  <c:v>0.14285714285714288</c:v>
                </c:pt>
                <c:pt idx="6">
                  <c:v>8.5714285714285715E-2</c:v>
                </c:pt>
              </c:numCache>
            </c:numRef>
          </c:val>
          <c:extLst>
            <c:ext xmlns:c16="http://schemas.microsoft.com/office/drawing/2014/chart" uri="{C3380CC4-5D6E-409C-BE32-E72D297353CC}">
              <c16:uniqueId val="{00000001-28B2-4E9E-A6A1-7E6ACEAAC334}"/>
            </c:ext>
          </c:extLst>
        </c:ser>
        <c:dLbls>
          <c:dLblPos val="outEnd"/>
          <c:showLegendKey val="0"/>
          <c:showVal val="1"/>
          <c:showCatName val="0"/>
          <c:showSerName val="0"/>
          <c:showPercent val="0"/>
          <c:showBubbleSize val="0"/>
        </c:dLbls>
        <c:gapWidth val="80"/>
        <c:axId val="218240"/>
        <c:axId val="12131296"/>
        <c:extLst/>
      </c:barChart>
      <c:catAx>
        <c:axId val="218240"/>
        <c:scaling>
          <c:orientation val="maxMin"/>
        </c:scaling>
        <c:delete val="1"/>
        <c:axPos val="l"/>
        <c:numFmt formatCode="General" sourceLinked="1"/>
        <c:majorTickMark val="none"/>
        <c:minorTickMark val="none"/>
        <c:tickLblPos val="nextTo"/>
        <c:crossAx val="12131296"/>
        <c:crosses val="autoZero"/>
        <c:auto val="1"/>
        <c:lblAlgn val="ctr"/>
        <c:lblOffset val="100"/>
        <c:tickLblSkip val="1"/>
        <c:noMultiLvlLbl val="0"/>
      </c:catAx>
      <c:valAx>
        <c:axId val="12131296"/>
        <c:scaling>
          <c:orientation val="minMax"/>
          <c:max val="0.70000000000000007"/>
          <c:min val="0"/>
        </c:scaling>
        <c:delete val="1"/>
        <c:axPos val="t"/>
        <c:numFmt formatCode="0%" sourceLinked="1"/>
        <c:majorTickMark val="out"/>
        <c:minorTickMark val="none"/>
        <c:tickLblPos val="nextTo"/>
        <c:crossAx val="218240"/>
        <c:crosses val="autoZero"/>
        <c:crossBetween val="between"/>
      </c:valAx>
      <c:spPr>
        <a:noFill/>
        <a:ln>
          <a:noFill/>
        </a:ln>
        <a:effectLst/>
      </c:spPr>
    </c:plotArea>
    <c:legend>
      <c:legendPos val="r"/>
      <c:layout>
        <c:manualLayout>
          <c:xMode val="edge"/>
          <c:yMode val="edge"/>
          <c:x val="0.5039707375964726"/>
          <c:y val="0.88869595959595948"/>
          <c:w val="0.4320200436738626"/>
          <c:h val="0.11096666666666666"/>
        </c:manualLayout>
      </c:layout>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Segoe UI" panose="020B0502040204020203" pitchFamily="34" charset="0"/>
              <a:ea typeface="+mn-ea"/>
              <a:cs typeface="Segoe UI" panose="020B0502040204020203" pitchFamily="34" charset="0"/>
            </a:defRPr>
          </a:pPr>
          <a:endParaRPr lang="he-I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latin typeface="Segoe UI" panose="020B0502040204020203" pitchFamily="34" charset="0"/>
          <a:cs typeface="Segoe UI" panose="020B0502040204020203" pitchFamily="34" charset="0"/>
        </a:defRPr>
      </a:pPr>
      <a:endParaRPr lang="he-IL"/>
    </a:p>
  </c:txPr>
  <c:externalData r:id="rId3">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4535224465980901"/>
          <c:y val="3.5154220910064447E-2"/>
          <c:w val="0.72193627516925563"/>
          <c:h val="0.94893358709308251"/>
        </c:manualLayout>
      </c:layout>
      <c:barChart>
        <c:barDir val="bar"/>
        <c:grouping val="clustered"/>
        <c:varyColors val="0"/>
        <c:ser>
          <c:idx val="0"/>
          <c:order val="0"/>
          <c:tx>
            <c:strRef>
              <c:f>Sheet1!$B$1</c:f>
              <c:strCache>
                <c:ptCount val="1"/>
                <c:pt idx="0">
                  <c:v>פיזית משוטר בשטח</c:v>
                </c:pt>
              </c:strCache>
            </c:strRef>
          </c:tx>
          <c:spPr>
            <a:solidFill>
              <a:srgbClr val="00206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rgbClr val="002060"/>
                    </a:solidFill>
                    <a:latin typeface="Segoe UI" panose="020B0502040204020203" pitchFamily="34" charset="0"/>
                    <a:ea typeface="+mn-ea"/>
                    <a:cs typeface="Segoe UI" panose="020B0502040204020203" pitchFamily="34" charset="0"/>
                  </a:defRPr>
                </a:pPr>
                <a:endParaRPr lang="he-IL"/>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מהירות</c:v>
                </c:pt>
                <c:pt idx="1">
                  <c:v>שימוש בטלפון</c:v>
                </c:pt>
                <c:pt idx="2">
                  <c:v>נסיעה בנתיב תחב"צ</c:v>
                </c:pt>
                <c:pt idx="3">
                  <c:v>אי ציות לתמרור</c:v>
                </c:pt>
                <c:pt idx="4">
                  <c:v>חגורת בטיחות</c:v>
                </c:pt>
                <c:pt idx="5">
                  <c:v>אור אדום</c:v>
                </c:pt>
                <c:pt idx="6">
                  <c:v>נסיעה בשוליים</c:v>
                </c:pt>
                <c:pt idx="7">
                  <c:v>שינויים ברכב בניגוד לחוק (כמו חלונות כהים)</c:v>
                </c:pt>
              </c:strCache>
            </c:strRef>
          </c:cat>
          <c:val>
            <c:numRef>
              <c:f>Sheet1!$B$2:$B$9</c:f>
              <c:numCache>
                <c:formatCode>0%</c:formatCode>
                <c:ptCount val="8"/>
                <c:pt idx="0">
                  <c:v>0.32</c:v>
                </c:pt>
                <c:pt idx="1">
                  <c:v>0.3</c:v>
                </c:pt>
                <c:pt idx="2">
                  <c:v>0.09</c:v>
                </c:pt>
                <c:pt idx="3">
                  <c:v>0.18</c:v>
                </c:pt>
                <c:pt idx="4">
                  <c:v>0.09</c:v>
                </c:pt>
                <c:pt idx="5">
                  <c:v>0.03</c:v>
                </c:pt>
                <c:pt idx="6">
                  <c:v>0.03</c:v>
                </c:pt>
              </c:numCache>
            </c:numRef>
          </c:val>
          <c:extLst xmlns:c15="http://schemas.microsoft.com/office/drawing/2012/chart">
            <c:ext xmlns:c16="http://schemas.microsoft.com/office/drawing/2014/chart" uri="{C3380CC4-5D6E-409C-BE32-E72D297353CC}">
              <c16:uniqueId val="{00000000-D261-4F96-966C-D53E5B09CA24}"/>
            </c:ext>
          </c:extLst>
        </c:ser>
        <c:ser>
          <c:idx val="1"/>
          <c:order val="1"/>
          <c:tx>
            <c:strRef>
              <c:f>Sheet1!$C$1</c:f>
              <c:strCache>
                <c:ptCount val="1"/>
                <c:pt idx="0">
                  <c:v>כל השאר</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rgbClr val="00B0F0"/>
                    </a:solidFill>
                    <a:latin typeface="Segoe UI" panose="020B0502040204020203" pitchFamily="34" charset="0"/>
                    <a:ea typeface="+mn-ea"/>
                    <a:cs typeface="Segoe UI" panose="020B0502040204020203" pitchFamily="34" charset="0"/>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מהירות</c:v>
                </c:pt>
                <c:pt idx="1">
                  <c:v>שימוש בטלפון</c:v>
                </c:pt>
                <c:pt idx="2">
                  <c:v>נסיעה בנתיב תחב"צ</c:v>
                </c:pt>
                <c:pt idx="3">
                  <c:v>אי ציות לתמרור</c:v>
                </c:pt>
                <c:pt idx="4">
                  <c:v>חגורת בטיחות</c:v>
                </c:pt>
                <c:pt idx="5">
                  <c:v>אור אדום</c:v>
                </c:pt>
                <c:pt idx="6">
                  <c:v>נסיעה בשוליים</c:v>
                </c:pt>
                <c:pt idx="7">
                  <c:v>שינויים ברכב בניגוד לחוק (כמו חלונות כהים)</c:v>
                </c:pt>
              </c:strCache>
            </c:strRef>
          </c:cat>
          <c:val>
            <c:numRef>
              <c:f>Sheet1!$C$2:$C$9</c:f>
              <c:numCache>
                <c:formatCode>0%</c:formatCode>
                <c:ptCount val="8"/>
                <c:pt idx="0">
                  <c:v>0.35</c:v>
                </c:pt>
                <c:pt idx="1">
                  <c:v>0.05</c:v>
                </c:pt>
                <c:pt idx="2">
                  <c:v>0.51</c:v>
                </c:pt>
                <c:pt idx="3">
                  <c:v>7.0000000000000007E-2</c:v>
                </c:pt>
                <c:pt idx="4">
                  <c:v>0.02</c:v>
                </c:pt>
                <c:pt idx="5">
                  <c:v>0.04</c:v>
                </c:pt>
                <c:pt idx="6">
                  <c:v>0.02</c:v>
                </c:pt>
              </c:numCache>
            </c:numRef>
          </c:val>
          <c:extLst>
            <c:ext xmlns:c16="http://schemas.microsoft.com/office/drawing/2014/chart" uri="{C3380CC4-5D6E-409C-BE32-E72D297353CC}">
              <c16:uniqueId val="{00000001-D261-4F96-966C-D53E5B09CA24}"/>
            </c:ext>
          </c:extLst>
        </c:ser>
        <c:dLbls>
          <c:dLblPos val="outEnd"/>
          <c:showLegendKey val="0"/>
          <c:showVal val="1"/>
          <c:showCatName val="0"/>
          <c:showSerName val="0"/>
          <c:showPercent val="0"/>
          <c:showBubbleSize val="0"/>
        </c:dLbls>
        <c:gapWidth val="80"/>
        <c:axId val="218240"/>
        <c:axId val="12131296"/>
        <c:extLst/>
      </c:barChart>
      <c:catAx>
        <c:axId val="218240"/>
        <c:scaling>
          <c:orientation val="maxMin"/>
        </c:scaling>
        <c:delete val="1"/>
        <c:axPos val="l"/>
        <c:numFmt formatCode="General" sourceLinked="1"/>
        <c:majorTickMark val="none"/>
        <c:minorTickMark val="none"/>
        <c:tickLblPos val="nextTo"/>
        <c:crossAx val="12131296"/>
        <c:crosses val="autoZero"/>
        <c:auto val="1"/>
        <c:lblAlgn val="ctr"/>
        <c:lblOffset val="100"/>
        <c:tickLblSkip val="1"/>
        <c:noMultiLvlLbl val="0"/>
      </c:catAx>
      <c:valAx>
        <c:axId val="12131296"/>
        <c:scaling>
          <c:orientation val="minMax"/>
          <c:max val="0.70000000000000007"/>
          <c:min val="0"/>
        </c:scaling>
        <c:delete val="1"/>
        <c:axPos val="t"/>
        <c:numFmt formatCode="0%" sourceLinked="1"/>
        <c:majorTickMark val="out"/>
        <c:minorTickMark val="none"/>
        <c:tickLblPos val="nextTo"/>
        <c:crossAx val="21824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latin typeface="Segoe UI" panose="020B0502040204020203" pitchFamily="34" charset="0"/>
          <a:cs typeface="Segoe UI" panose="020B0502040204020203" pitchFamily="34" charset="0"/>
        </a:defRPr>
      </a:pPr>
      <a:endParaRPr lang="he-IL"/>
    </a:p>
  </c:txPr>
  <c:externalData r:id="rId3">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4535224465980901"/>
          <c:y val="3.5154220910064447E-2"/>
          <c:w val="0.72193627516925563"/>
          <c:h val="0.94893358709308251"/>
        </c:manualLayout>
      </c:layout>
      <c:barChart>
        <c:barDir val="bar"/>
        <c:grouping val="clustered"/>
        <c:varyColors val="0"/>
        <c:ser>
          <c:idx val="0"/>
          <c:order val="0"/>
          <c:tx>
            <c:strRef>
              <c:f>Sheet1!$B$1</c:f>
              <c:strCache>
                <c:ptCount val="1"/>
                <c:pt idx="0">
                  <c:v>פיזית משוטר בשטח</c:v>
                </c:pt>
              </c:strCache>
            </c:strRef>
          </c:tx>
          <c:spPr>
            <a:solidFill>
              <a:srgbClr val="00206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rgbClr val="002060"/>
                    </a:solidFill>
                    <a:latin typeface="Segoe UI" panose="020B0502040204020203" pitchFamily="34" charset="0"/>
                    <a:ea typeface="+mn-ea"/>
                    <a:cs typeface="Segoe UI" panose="020B0502040204020203" pitchFamily="34" charset="0"/>
                  </a:defRPr>
                </a:pPr>
                <a:endParaRPr lang="he-IL"/>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מהירות</c:v>
                </c:pt>
                <c:pt idx="1">
                  <c:v>שימוש בטלפון</c:v>
                </c:pt>
                <c:pt idx="2">
                  <c:v>נסיעה בנתיב תחב"צ</c:v>
                </c:pt>
                <c:pt idx="3">
                  <c:v>אי ציות לתמרור</c:v>
                </c:pt>
                <c:pt idx="4">
                  <c:v>חגורת בטיחות</c:v>
                </c:pt>
                <c:pt idx="5">
                  <c:v>אור אדום</c:v>
                </c:pt>
                <c:pt idx="6">
                  <c:v>נסיעה בשוליים</c:v>
                </c:pt>
                <c:pt idx="7">
                  <c:v>שינויים ברכב בניגוד לחוק (כמו חלונות כהים)</c:v>
                </c:pt>
              </c:strCache>
            </c:strRef>
          </c:cat>
          <c:val>
            <c:numRef>
              <c:f>Sheet1!$B$2:$B$9</c:f>
              <c:numCache>
                <c:formatCode>0%</c:formatCode>
                <c:ptCount val="8"/>
                <c:pt idx="0">
                  <c:v>0.19298245614035089</c:v>
                </c:pt>
                <c:pt idx="1">
                  <c:v>0.33333333333333337</c:v>
                </c:pt>
                <c:pt idx="3">
                  <c:v>8.7719298245614044E-2</c:v>
                </c:pt>
                <c:pt idx="4">
                  <c:v>0.22807017543859651</c:v>
                </c:pt>
                <c:pt idx="5">
                  <c:v>7.0175438596491224E-2</c:v>
                </c:pt>
                <c:pt idx="6">
                  <c:v>7.0175438596491224E-2</c:v>
                </c:pt>
                <c:pt idx="7">
                  <c:v>3.5087719298245612E-2</c:v>
                </c:pt>
              </c:numCache>
            </c:numRef>
          </c:val>
          <c:extLst xmlns:c15="http://schemas.microsoft.com/office/drawing/2012/chart">
            <c:ext xmlns:c16="http://schemas.microsoft.com/office/drawing/2014/chart" uri="{C3380CC4-5D6E-409C-BE32-E72D297353CC}">
              <c16:uniqueId val="{00000000-4CD6-450D-8441-106AFB518746}"/>
            </c:ext>
          </c:extLst>
        </c:ser>
        <c:ser>
          <c:idx val="1"/>
          <c:order val="1"/>
          <c:tx>
            <c:strRef>
              <c:f>Sheet1!$C$1</c:f>
              <c:strCache>
                <c:ptCount val="1"/>
                <c:pt idx="0">
                  <c:v>כל השאר</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rgbClr val="00B0F0"/>
                    </a:solidFill>
                    <a:latin typeface="Segoe UI" panose="020B0502040204020203" pitchFamily="34" charset="0"/>
                    <a:ea typeface="+mn-ea"/>
                    <a:cs typeface="Segoe UI" panose="020B0502040204020203" pitchFamily="34" charset="0"/>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מהירות</c:v>
                </c:pt>
                <c:pt idx="1">
                  <c:v>שימוש בטלפון</c:v>
                </c:pt>
                <c:pt idx="2">
                  <c:v>נסיעה בנתיב תחב"צ</c:v>
                </c:pt>
                <c:pt idx="3">
                  <c:v>אי ציות לתמרור</c:v>
                </c:pt>
                <c:pt idx="4">
                  <c:v>חגורת בטיחות</c:v>
                </c:pt>
                <c:pt idx="5">
                  <c:v>אור אדום</c:v>
                </c:pt>
                <c:pt idx="6">
                  <c:v>נסיעה בשוליים</c:v>
                </c:pt>
                <c:pt idx="7">
                  <c:v>שינויים ברכב בניגוד לחוק (כמו חלונות כהים)</c:v>
                </c:pt>
              </c:strCache>
            </c:strRef>
          </c:cat>
          <c:val>
            <c:numRef>
              <c:f>Sheet1!$C$2:$C$9</c:f>
              <c:numCache>
                <c:formatCode>General</c:formatCode>
                <c:ptCount val="8"/>
                <c:pt idx="0" formatCode="0%">
                  <c:v>0.48275862068965514</c:v>
                </c:pt>
                <c:pt idx="2" formatCode="0%">
                  <c:v>0.24137931034482757</c:v>
                </c:pt>
                <c:pt idx="3" formatCode="0%">
                  <c:v>0.17241379310344829</c:v>
                </c:pt>
                <c:pt idx="4" formatCode="0%">
                  <c:v>3.4482758620689655E-2</c:v>
                </c:pt>
                <c:pt idx="5" formatCode="0%">
                  <c:v>0.13793103448275862</c:v>
                </c:pt>
                <c:pt idx="6" formatCode="0%">
                  <c:v>6.8965517241379309E-2</c:v>
                </c:pt>
              </c:numCache>
            </c:numRef>
          </c:val>
          <c:extLst>
            <c:ext xmlns:c16="http://schemas.microsoft.com/office/drawing/2014/chart" uri="{C3380CC4-5D6E-409C-BE32-E72D297353CC}">
              <c16:uniqueId val="{00000001-4CD6-450D-8441-106AFB518746}"/>
            </c:ext>
          </c:extLst>
        </c:ser>
        <c:dLbls>
          <c:dLblPos val="outEnd"/>
          <c:showLegendKey val="0"/>
          <c:showVal val="1"/>
          <c:showCatName val="0"/>
          <c:showSerName val="0"/>
          <c:showPercent val="0"/>
          <c:showBubbleSize val="0"/>
        </c:dLbls>
        <c:gapWidth val="80"/>
        <c:axId val="218240"/>
        <c:axId val="12131296"/>
        <c:extLst/>
      </c:barChart>
      <c:catAx>
        <c:axId val="218240"/>
        <c:scaling>
          <c:orientation val="maxMin"/>
        </c:scaling>
        <c:delete val="1"/>
        <c:axPos val="l"/>
        <c:numFmt formatCode="General" sourceLinked="1"/>
        <c:majorTickMark val="none"/>
        <c:minorTickMark val="none"/>
        <c:tickLblPos val="nextTo"/>
        <c:crossAx val="12131296"/>
        <c:crosses val="autoZero"/>
        <c:auto val="1"/>
        <c:lblAlgn val="ctr"/>
        <c:lblOffset val="100"/>
        <c:tickLblSkip val="1"/>
        <c:noMultiLvlLbl val="0"/>
      </c:catAx>
      <c:valAx>
        <c:axId val="12131296"/>
        <c:scaling>
          <c:orientation val="minMax"/>
          <c:max val="0.70000000000000007"/>
          <c:min val="0"/>
        </c:scaling>
        <c:delete val="1"/>
        <c:axPos val="t"/>
        <c:numFmt formatCode="0%" sourceLinked="1"/>
        <c:majorTickMark val="out"/>
        <c:minorTickMark val="none"/>
        <c:tickLblPos val="nextTo"/>
        <c:crossAx val="21824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latin typeface="Segoe UI" panose="020B0502040204020203" pitchFamily="34" charset="0"/>
          <a:cs typeface="Segoe UI" panose="020B0502040204020203" pitchFamily="34" charset="0"/>
        </a:defRPr>
      </a:pPr>
      <a:endParaRPr lang="he-IL"/>
    </a:p>
  </c:txPr>
  <c:externalData r:id="rId3">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4535224465980901"/>
          <c:y val="3.5154220910064447E-2"/>
          <c:w val="0.72193627516925563"/>
          <c:h val="0.94893358709308251"/>
        </c:manualLayout>
      </c:layout>
      <c:barChart>
        <c:barDir val="bar"/>
        <c:grouping val="clustered"/>
        <c:varyColors val="0"/>
        <c:ser>
          <c:idx val="0"/>
          <c:order val="0"/>
          <c:tx>
            <c:strRef>
              <c:f>Sheet1!$B$1</c:f>
              <c:strCache>
                <c:ptCount val="1"/>
                <c:pt idx="0">
                  <c:v>פיזית משוטר בשטח</c:v>
                </c:pt>
              </c:strCache>
            </c:strRef>
          </c:tx>
          <c:spPr>
            <a:solidFill>
              <a:srgbClr val="00206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rgbClr val="002060"/>
                    </a:solidFill>
                    <a:latin typeface="Segoe UI" panose="020B0502040204020203" pitchFamily="34" charset="0"/>
                    <a:ea typeface="+mn-ea"/>
                    <a:cs typeface="Segoe UI" panose="020B0502040204020203" pitchFamily="34" charset="0"/>
                  </a:defRPr>
                </a:pPr>
                <a:endParaRPr lang="he-IL"/>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מהירות</c:v>
                </c:pt>
                <c:pt idx="1">
                  <c:v>שימוש בטלפון</c:v>
                </c:pt>
                <c:pt idx="2">
                  <c:v>נסיעה בנתיב תחב"צ</c:v>
                </c:pt>
                <c:pt idx="3">
                  <c:v>אי ציות לתמרור</c:v>
                </c:pt>
                <c:pt idx="4">
                  <c:v>חגורת בטיחות</c:v>
                </c:pt>
                <c:pt idx="5">
                  <c:v>אור אדום</c:v>
                </c:pt>
                <c:pt idx="6">
                  <c:v>נסיעה בשוליים</c:v>
                </c:pt>
                <c:pt idx="7">
                  <c:v>שינויים ברכב בניגוד לחוק (כמו חלונות כהים)</c:v>
                </c:pt>
              </c:strCache>
            </c:strRef>
          </c:cat>
          <c:val>
            <c:numRef>
              <c:f>Sheet1!$B$2:$B$9</c:f>
              <c:numCache>
                <c:formatCode>0%</c:formatCode>
                <c:ptCount val="8"/>
                <c:pt idx="0">
                  <c:v>0.27</c:v>
                </c:pt>
                <c:pt idx="1">
                  <c:v>0.35</c:v>
                </c:pt>
                <c:pt idx="2">
                  <c:v>0.1</c:v>
                </c:pt>
                <c:pt idx="3">
                  <c:v>0.08</c:v>
                </c:pt>
                <c:pt idx="4">
                  <c:v>0.1</c:v>
                </c:pt>
                <c:pt idx="5">
                  <c:v>0.08</c:v>
                </c:pt>
                <c:pt idx="6">
                  <c:v>0.03</c:v>
                </c:pt>
                <c:pt idx="7">
                  <c:v>0.02</c:v>
                </c:pt>
              </c:numCache>
            </c:numRef>
          </c:val>
          <c:extLst xmlns:c15="http://schemas.microsoft.com/office/drawing/2012/chart">
            <c:ext xmlns:c16="http://schemas.microsoft.com/office/drawing/2014/chart" uri="{C3380CC4-5D6E-409C-BE32-E72D297353CC}">
              <c16:uniqueId val="{00000000-DF08-48FC-BB43-FB2C7E3BBE2D}"/>
            </c:ext>
          </c:extLst>
        </c:ser>
        <c:ser>
          <c:idx val="1"/>
          <c:order val="1"/>
          <c:tx>
            <c:strRef>
              <c:f>Sheet1!$C$1</c:f>
              <c:strCache>
                <c:ptCount val="1"/>
                <c:pt idx="0">
                  <c:v>כל השאר</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rgbClr val="00B0F0"/>
                    </a:solidFill>
                    <a:latin typeface="Segoe UI" panose="020B0502040204020203" pitchFamily="34" charset="0"/>
                    <a:ea typeface="+mn-ea"/>
                    <a:cs typeface="Segoe UI" panose="020B0502040204020203" pitchFamily="34" charset="0"/>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מהירות</c:v>
                </c:pt>
                <c:pt idx="1">
                  <c:v>שימוש בטלפון</c:v>
                </c:pt>
                <c:pt idx="2">
                  <c:v>נסיעה בנתיב תחב"צ</c:v>
                </c:pt>
                <c:pt idx="3">
                  <c:v>אי ציות לתמרור</c:v>
                </c:pt>
                <c:pt idx="4">
                  <c:v>חגורת בטיחות</c:v>
                </c:pt>
                <c:pt idx="5">
                  <c:v>אור אדום</c:v>
                </c:pt>
                <c:pt idx="6">
                  <c:v>נסיעה בשוליים</c:v>
                </c:pt>
                <c:pt idx="7">
                  <c:v>שינויים ברכב בניגוד לחוק (כמו חלונות כהים)</c:v>
                </c:pt>
              </c:strCache>
            </c:strRef>
          </c:cat>
          <c:val>
            <c:numRef>
              <c:f>Sheet1!$C$2:$C$9</c:f>
              <c:numCache>
                <c:formatCode>0%</c:formatCode>
                <c:ptCount val="8"/>
                <c:pt idx="0">
                  <c:v>0.25</c:v>
                </c:pt>
                <c:pt idx="1">
                  <c:v>0.11</c:v>
                </c:pt>
                <c:pt idx="2">
                  <c:v>0.39</c:v>
                </c:pt>
                <c:pt idx="3">
                  <c:v>0.08</c:v>
                </c:pt>
                <c:pt idx="4">
                  <c:v>0.05</c:v>
                </c:pt>
                <c:pt idx="5">
                  <c:v>0.13</c:v>
                </c:pt>
                <c:pt idx="6">
                  <c:v>0.03</c:v>
                </c:pt>
              </c:numCache>
            </c:numRef>
          </c:val>
          <c:extLst>
            <c:ext xmlns:c16="http://schemas.microsoft.com/office/drawing/2014/chart" uri="{C3380CC4-5D6E-409C-BE32-E72D297353CC}">
              <c16:uniqueId val="{00000001-DF08-48FC-BB43-FB2C7E3BBE2D}"/>
            </c:ext>
          </c:extLst>
        </c:ser>
        <c:dLbls>
          <c:dLblPos val="outEnd"/>
          <c:showLegendKey val="0"/>
          <c:showVal val="1"/>
          <c:showCatName val="0"/>
          <c:showSerName val="0"/>
          <c:showPercent val="0"/>
          <c:showBubbleSize val="0"/>
        </c:dLbls>
        <c:gapWidth val="80"/>
        <c:axId val="218240"/>
        <c:axId val="12131296"/>
        <c:extLst/>
      </c:barChart>
      <c:catAx>
        <c:axId val="218240"/>
        <c:scaling>
          <c:orientation val="maxMin"/>
        </c:scaling>
        <c:delete val="1"/>
        <c:axPos val="l"/>
        <c:numFmt formatCode="General" sourceLinked="1"/>
        <c:majorTickMark val="none"/>
        <c:minorTickMark val="none"/>
        <c:tickLblPos val="nextTo"/>
        <c:crossAx val="12131296"/>
        <c:crosses val="autoZero"/>
        <c:auto val="1"/>
        <c:lblAlgn val="ctr"/>
        <c:lblOffset val="100"/>
        <c:tickLblSkip val="1"/>
        <c:noMultiLvlLbl val="0"/>
      </c:catAx>
      <c:valAx>
        <c:axId val="12131296"/>
        <c:scaling>
          <c:orientation val="minMax"/>
          <c:max val="0.70000000000000007"/>
          <c:min val="0"/>
        </c:scaling>
        <c:delete val="1"/>
        <c:axPos val="t"/>
        <c:numFmt formatCode="0%" sourceLinked="1"/>
        <c:majorTickMark val="out"/>
        <c:minorTickMark val="none"/>
        <c:tickLblPos val="nextTo"/>
        <c:crossAx val="21824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latin typeface="Segoe UI" panose="020B0502040204020203" pitchFamily="34" charset="0"/>
          <a:cs typeface="Segoe UI" panose="020B0502040204020203" pitchFamily="34" charset="0"/>
        </a:defRPr>
      </a:pPr>
      <a:endParaRPr lang="he-IL"/>
    </a:p>
  </c:txPr>
  <c:externalData r:id="rId3">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4535224465980901"/>
          <c:y val="3.5154220910064447E-2"/>
          <c:w val="0.72193627516925563"/>
          <c:h val="0.94893358709308251"/>
        </c:manualLayout>
      </c:layout>
      <c:barChart>
        <c:barDir val="bar"/>
        <c:grouping val="clustered"/>
        <c:varyColors val="0"/>
        <c:ser>
          <c:idx val="0"/>
          <c:order val="0"/>
          <c:tx>
            <c:strRef>
              <c:f>Sheet1!$B$1</c:f>
              <c:strCache>
                <c:ptCount val="1"/>
                <c:pt idx="0">
                  <c:v>פיזית משוטר בשטח</c:v>
                </c:pt>
              </c:strCache>
            </c:strRef>
          </c:tx>
          <c:spPr>
            <a:solidFill>
              <a:srgbClr val="00206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rgbClr val="002060"/>
                    </a:solidFill>
                    <a:latin typeface="Segoe UI" panose="020B0502040204020203" pitchFamily="34" charset="0"/>
                    <a:ea typeface="+mn-ea"/>
                    <a:cs typeface="Segoe UI" panose="020B0502040204020203" pitchFamily="34" charset="0"/>
                  </a:defRPr>
                </a:pPr>
                <a:endParaRPr lang="he-IL"/>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מהירות</c:v>
                </c:pt>
                <c:pt idx="1">
                  <c:v>שימוש בטלפון</c:v>
                </c:pt>
                <c:pt idx="2">
                  <c:v>נסיעה בנתיב תחב"צ</c:v>
                </c:pt>
                <c:pt idx="3">
                  <c:v>אי ציות לתמרור</c:v>
                </c:pt>
                <c:pt idx="4">
                  <c:v>חגורת בטיחות</c:v>
                </c:pt>
                <c:pt idx="5">
                  <c:v>אור אדום</c:v>
                </c:pt>
                <c:pt idx="6">
                  <c:v>נסיעה בשוליים</c:v>
                </c:pt>
                <c:pt idx="7">
                  <c:v>שינויים ברכב בניגוד לחוק (כמו חלונות כהים)</c:v>
                </c:pt>
              </c:strCache>
            </c:strRef>
          </c:cat>
          <c:val>
            <c:numRef>
              <c:f>Sheet1!$B$2:$B$9</c:f>
              <c:numCache>
                <c:formatCode>0%</c:formatCode>
                <c:ptCount val="8"/>
                <c:pt idx="0">
                  <c:v>0.2608695652173913</c:v>
                </c:pt>
                <c:pt idx="1">
                  <c:v>0.52173913043478259</c:v>
                </c:pt>
                <c:pt idx="2">
                  <c:v>4.3478260869565216E-2</c:v>
                </c:pt>
                <c:pt idx="3">
                  <c:v>4.3478260869565216E-2</c:v>
                </c:pt>
                <c:pt idx="4">
                  <c:v>0.13043478260869565</c:v>
                </c:pt>
                <c:pt idx="5">
                  <c:v>0.10869565217391304</c:v>
                </c:pt>
                <c:pt idx="6">
                  <c:v>8.6956521739130432E-2</c:v>
                </c:pt>
                <c:pt idx="7">
                  <c:v>2.1739130434782608E-2</c:v>
                </c:pt>
              </c:numCache>
            </c:numRef>
          </c:val>
          <c:extLst xmlns:c15="http://schemas.microsoft.com/office/drawing/2012/chart">
            <c:ext xmlns:c16="http://schemas.microsoft.com/office/drawing/2014/chart" uri="{C3380CC4-5D6E-409C-BE32-E72D297353CC}">
              <c16:uniqueId val="{00000000-28B2-4E9E-A6A1-7E6ACEAAC334}"/>
            </c:ext>
          </c:extLst>
        </c:ser>
        <c:ser>
          <c:idx val="1"/>
          <c:order val="1"/>
          <c:tx>
            <c:strRef>
              <c:f>Sheet1!$C$1</c:f>
              <c:strCache>
                <c:ptCount val="1"/>
                <c:pt idx="0">
                  <c:v>אחר (דואר, מכוון, הדבקה לרכב)</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rgbClr val="00B0F0"/>
                    </a:solidFill>
                    <a:latin typeface="Segoe UI" panose="020B0502040204020203" pitchFamily="34" charset="0"/>
                    <a:ea typeface="+mn-ea"/>
                    <a:cs typeface="Segoe UI" panose="020B0502040204020203" pitchFamily="34" charset="0"/>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מהירות</c:v>
                </c:pt>
                <c:pt idx="1">
                  <c:v>שימוש בטלפון</c:v>
                </c:pt>
                <c:pt idx="2">
                  <c:v>נסיעה בנתיב תחב"צ</c:v>
                </c:pt>
                <c:pt idx="3">
                  <c:v>אי ציות לתמרור</c:v>
                </c:pt>
                <c:pt idx="4">
                  <c:v>חגורת בטיחות</c:v>
                </c:pt>
                <c:pt idx="5">
                  <c:v>אור אדום</c:v>
                </c:pt>
                <c:pt idx="6">
                  <c:v>נסיעה בשוליים</c:v>
                </c:pt>
                <c:pt idx="7">
                  <c:v>שינויים ברכב בניגוד לחוק (כמו חלונות כהים)</c:v>
                </c:pt>
              </c:strCache>
            </c:strRef>
          </c:cat>
          <c:val>
            <c:numRef>
              <c:f>Sheet1!$C$2:$C$9</c:f>
              <c:numCache>
                <c:formatCode>0%</c:formatCode>
                <c:ptCount val="8"/>
                <c:pt idx="0">
                  <c:v>0.2</c:v>
                </c:pt>
                <c:pt idx="1">
                  <c:v>0.28571428571428575</c:v>
                </c:pt>
                <c:pt idx="2">
                  <c:v>8.5714285714285715E-2</c:v>
                </c:pt>
                <c:pt idx="3">
                  <c:v>0.22857142857142856</c:v>
                </c:pt>
                <c:pt idx="4">
                  <c:v>0.17142857142857143</c:v>
                </c:pt>
                <c:pt idx="5">
                  <c:v>0.2</c:v>
                </c:pt>
                <c:pt idx="6">
                  <c:v>0.14285714285714288</c:v>
                </c:pt>
              </c:numCache>
            </c:numRef>
          </c:val>
          <c:extLst>
            <c:ext xmlns:c16="http://schemas.microsoft.com/office/drawing/2014/chart" uri="{C3380CC4-5D6E-409C-BE32-E72D297353CC}">
              <c16:uniqueId val="{00000001-28B2-4E9E-A6A1-7E6ACEAAC334}"/>
            </c:ext>
          </c:extLst>
        </c:ser>
        <c:dLbls>
          <c:dLblPos val="outEnd"/>
          <c:showLegendKey val="0"/>
          <c:showVal val="1"/>
          <c:showCatName val="0"/>
          <c:showSerName val="0"/>
          <c:showPercent val="0"/>
          <c:showBubbleSize val="0"/>
        </c:dLbls>
        <c:gapWidth val="80"/>
        <c:axId val="218240"/>
        <c:axId val="12131296"/>
        <c:extLst/>
      </c:barChart>
      <c:catAx>
        <c:axId val="218240"/>
        <c:scaling>
          <c:orientation val="maxMin"/>
        </c:scaling>
        <c:delete val="1"/>
        <c:axPos val="l"/>
        <c:numFmt formatCode="General" sourceLinked="1"/>
        <c:majorTickMark val="none"/>
        <c:minorTickMark val="none"/>
        <c:tickLblPos val="nextTo"/>
        <c:crossAx val="12131296"/>
        <c:crosses val="autoZero"/>
        <c:auto val="1"/>
        <c:lblAlgn val="ctr"/>
        <c:lblOffset val="100"/>
        <c:tickLblSkip val="1"/>
        <c:noMultiLvlLbl val="0"/>
      </c:catAx>
      <c:valAx>
        <c:axId val="12131296"/>
        <c:scaling>
          <c:orientation val="minMax"/>
          <c:max val="0.70000000000000007"/>
          <c:min val="0"/>
        </c:scaling>
        <c:delete val="1"/>
        <c:axPos val="t"/>
        <c:numFmt formatCode="0%" sourceLinked="1"/>
        <c:majorTickMark val="out"/>
        <c:minorTickMark val="none"/>
        <c:tickLblPos val="nextTo"/>
        <c:crossAx val="218240"/>
        <c:crosses val="autoZero"/>
        <c:crossBetween val="between"/>
      </c:valAx>
      <c:spPr>
        <a:noFill/>
        <a:ln>
          <a:noFill/>
        </a:ln>
        <a:effectLst/>
      </c:spPr>
    </c:plotArea>
    <c:legend>
      <c:legendPos val="r"/>
      <c:layout>
        <c:manualLayout>
          <c:xMode val="edge"/>
          <c:yMode val="edge"/>
          <c:x val="0.37523159638497089"/>
          <c:y val="0.90726315789473688"/>
          <c:w val="0.61889944220668769"/>
          <c:h val="9.2399415204678342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Segoe UI" panose="020B0502040204020203" pitchFamily="34" charset="0"/>
              <a:ea typeface="+mn-ea"/>
              <a:cs typeface="Segoe UI" panose="020B0502040204020203" pitchFamily="34" charset="0"/>
            </a:defRPr>
          </a:pPr>
          <a:endParaRPr lang="he-I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latin typeface="Segoe UI" panose="020B0502040204020203" pitchFamily="34" charset="0"/>
          <a:cs typeface="Segoe UI" panose="020B0502040204020203" pitchFamily="34" charset="0"/>
        </a:defRPr>
      </a:pPr>
      <a:endParaRPr lang="he-IL"/>
    </a:p>
  </c:txPr>
  <c:externalData r:id="rId3">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9885389718566573E-2"/>
          <c:y val="4.3281067273958265E-2"/>
          <c:w val="0.86315854736124409"/>
          <c:h val="0.77475140901771333"/>
        </c:manualLayout>
      </c:layout>
      <c:barChart>
        <c:barDir val="col"/>
        <c:grouping val="clustered"/>
        <c:varyColors val="0"/>
        <c:ser>
          <c:idx val="0"/>
          <c:order val="0"/>
          <c:tx>
            <c:strRef>
              <c:f>Sheet1!$A$2</c:f>
              <c:strCache>
                <c:ptCount val="1"/>
                <c:pt idx="0">
                  <c:v>פיזית משוטר בשטח</c:v>
                </c:pt>
              </c:strCache>
            </c:strRef>
          </c:tx>
          <c:spPr>
            <a:solidFill>
              <a:srgbClr val="1D1C64"/>
            </a:solidFill>
            <a:ln w="31750">
              <a:noFill/>
            </a:ln>
          </c:spPr>
          <c:invertIfNegative val="0"/>
          <c:dLbls>
            <c:spPr>
              <a:noFill/>
              <a:ln>
                <a:noFill/>
              </a:ln>
              <a:effectLst/>
            </c:spPr>
            <c:txPr>
              <a:bodyPr/>
              <a:lstStyle/>
              <a:p>
                <a:pPr>
                  <a:defRPr sz="1200" b="1" cap="none" spc="0">
                    <a:ln/>
                    <a:solidFill>
                      <a:schemeClr val="accent3"/>
                    </a:solidFill>
                    <a:effectLst/>
                    <a:latin typeface="Segoe UI" panose="020B0502040204020203" pitchFamily="34" charset="0"/>
                    <a:cs typeface="Segoe UI" panose="020B0502040204020203" pitchFamily="34" charset="0"/>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Sheet1!$B$1:$E$1</c:f>
              <c:strCache>
                <c:ptCount val="4"/>
                <c:pt idx="0">
                  <c:v>מגזר יהודי</c:v>
                </c:pt>
                <c:pt idx="1">
                  <c:v>מגזר ערבי</c:v>
                </c:pt>
                <c:pt idx="2">
                  <c:v>מגזר יהודי</c:v>
                </c:pt>
                <c:pt idx="3">
                  <c:v>מגזר ערבי</c:v>
                </c:pt>
              </c:strCache>
            </c:strRef>
          </c:cat>
          <c:val>
            <c:numRef>
              <c:f>Sheet1!$B$2:$E$2</c:f>
              <c:numCache>
                <c:formatCode>0%</c:formatCode>
                <c:ptCount val="4"/>
                <c:pt idx="0">
                  <c:v>0.38596491228070179</c:v>
                </c:pt>
                <c:pt idx="1">
                  <c:v>0.6785714285714286</c:v>
                </c:pt>
                <c:pt idx="2">
                  <c:v>0.54088050314465408</c:v>
                </c:pt>
                <c:pt idx="3">
                  <c:v>0.57500000000000007</c:v>
                </c:pt>
              </c:numCache>
            </c:numRef>
          </c:val>
          <c:extLst>
            <c:ext xmlns:c16="http://schemas.microsoft.com/office/drawing/2014/chart" uri="{C3380CC4-5D6E-409C-BE32-E72D297353CC}">
              <c16:uniqueId val="{00000000-0DE3-413B-BCFA-E0921DF056CA}"/>
            </c:ext>
          </c:extLst>
        </c:ser>
        <c:ser>
          <c:idx val="1"/>
          <c:order val="1"/>
          <c:tx>
            <c:strRef>
              <c:f>Sheet1!$A$3</c:f>
              <c:strCache>
                <c:ptCount val="1"/>
                <c:pt idx="0">
                  <c:v>בדואר</c:v>
                </c:pt>
              </c:strCache>
            </c:strRef>
          </c:tx>
          <c:spPr>
            <a:solidFill>
              <a:srgbClr val="0070C0"/>
            </a:solidFill>
          </c:spPr>
          <c:invertIfNegative val="0"/>
          <c:dLbls>
            <c:spPr>
              <a:noFill/>
              <a:ln>
                <a:noFill/>
              </a:ln>
              <a:effectLst/>
            </c:spPr>
            <c:txPr>
              <a:bodyPr anchorCtr="0"/>
              <a:lstStyle/>
              <a:p>
                <a:pPr algn="ctr">
                  <a:defRPr lang="he-IL" sz="1200" b="1" i="0" u="none" strike="noStrike" kern="1200" cap="none" spc="0" baseline="0">
                    <a:ln/>
                    <a:solidFill>
                      <a:schemeClr val="accent3"/>
                    </a:solidFill>
                    <a:effectLst/>
                    <a:latin typeface="Segoe UI" panose="020B0502040204020203" pitchFamily="34" charset="0"/>
                    <a:ea typeface="Arial"/>
                    <a:cs typeface="Segoe UI" panose="020B0502040204020203" pitchFamily="34" charset="0"/>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Sheet1!$B$1:$E$1</c:f>
              <c:strCache>
                <c:ptCount val="4"/>
                <c:pt idx="0">
                  <c:v>מגזר יהודי</c:v>
                </c:pt>
                <c:pt idx="1">
                  <c:v>מגזר ערבי</c:v>
                </c:pt>
                <c:pt idx="2">
                  <c:v>מגזר יהודי</c:v>
                </c:pt>
                <c:pt idx="3">
                  <c:v>מגזר ערבי</c:v>
                </c:pt>
              </c:strCache>
            </c:strRef>
          </c:cat>
          <c:val>
            <c:numRef>
              <c:f>Sheet1!$B$3:$E$3</c:f>
              <c:numCache>
                <c:formatCode>0%</c:formatCode>
                <c:ptCount val="4"/>
                <c:pt idx="0">
                  <c:v>0.48538011695906436</c:v>
                </c:pt>
                <c:pt idx="1">
                  <c:v>0.27380952380952384</c:v>
                </c:pt>
                <c:pt idx="2">
                  <c:v>0.36477987421383651</c:v>
                </c:pt>
                <c:pt idx="3">
                  <c:v>0.28750000000000003</c:v>
                </c:pt>
              </c:numCache>
            </c:numRef>
          </c:val>
          <c:extLst>
            <c:ext xmlns:c16="http://schemas.microsoft.com/office/drawing/2014/chart" uri="{C3380CC4-5D6E-409C-BE32-E72D297353CC}">
              <c16:uniqueId val="{00000001-0DE3-413B-BCFA-E0921DF056CA}"/>
            </c:ext>
          </c:extLst>
        </c:ser>
        <c:ser>
          <c:idx val="2"/>
          <c:order val="2"/>
          <c:tx>
            <c:strRef>
              <c:f>Sheet1!$A$4</c:f>
              <c:strCache>
                <c:ptCount val="1"/>
                <c:pt idx="0">
                  <c:v>מקוון /SMS/אימייל</c:v>
                </c:pt>
              </c:strCache>
            </c:strRef>
          </c:tx>
          <c:spPr>
            <a:solidFill>
              <a:srgbClr val="00B0F0"/>
            </a:solidFill>
          </c:spPr>
          <c:invertIfNegative val="0"/>
          <c:dLbls>
            <c:dLbl>
              <c:idx val="0"/>
              <c:layout>
                <c:manualLayout>
                  <c:x val="2.2305709585457171E-3"/>
                  <c:y val="3.0180021367521369E-2"/>
                </c:manualLayout>
              </c:layout>
              <c:spPr>
                <a:noFill/>
                <a:ln>
                  <a:noFill/>
                </a:ln>
                <a:effectLst/>
              </c:spPr>
              <c:txPr>
                <a:bodyPr wrap="square" lIns="38100" tIns="19050" rIns="38100" bIns="19050" anchor="ctr" anchorCtr="0">
                  <a:spAutoFit/>
                </a:bodyPr>
                <a:lstStyle/>
                <a:p>
                  <a:pPr algn="ctr">
                    <a:defRPr lang="he-IL" sz="1200" b="1" i="0" u="none" strike="noStrike" kern="1200" cap="none" spc="0" baseline="0">
                      <a:ln/>
                      <a:solidFill>
                        <a:schemeClr val="accent3"/>
                      </a:solidFill>
                      <a:effectLst/>
                      <a:latin typeface="Segoe UI" panose="020B0502040204020203" pitchFamily="34" charset="0"/>
                      <a:ea typeface="Arial"/>
                      <a:cs typeface="Segoe UI" panose="020B0502040204020203" pitchFamily="34" charset="0"/>
                    </a:defRPr>
                  </a:pPr>
                  <a:endParaRPr lang="he-IL"/>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B6C2-4F70-AF73-972F948C4343}"/>
                </c:ext>
              </c:extLst>
            </c:dLbl>
            <c:dLbl>
              <c:idx val="3"/>
              <c:layout>
                <c:manualLayout>
                  <c:x val="5.5764273963642926E-4"/>
                  <c:y val="2.8735576923076923E-2"/>
                </c:manualLayout>
              </c:layout>
              <c:spPr>
                <a:noFill/>
                <a:ln>
                  <a:noFill/>
                </a:ln>
                <a:effectLst/>
              </c:spPr>
              <c:txPr>
                <a:bodyPr wrap="square" lIns="38100" tIns="19050" rIns="38100" bIns="19050" anchor="ctr" anchorCtr="0">
                  <a:noAutofit/>
                </a:bodyPr>
                <a:lstStyle/>
                <a:p>
                  <a:pPr algn="ctr">
                    <a:defRPr lang="he-IL" sz="1200" b="1" i="0" u="none" strike="noStrike" kern="1200" cap="none" spc="0" baseline="0">
                      <a:ln/>
                      <a:solidFill>
                        <a:schemeClr val="accent3"/>
                      </a:solidFill>
                      <a:effectLst/>
                      <a:latin typeface="Segoe UI" panose="020B0502040204020203" pitchFamily="34" charset="0"/>
                      <a:ea typeface="Arial"/>
                      <a:cs typeface="Segoe UI" panose="020B0502040204020203" pitchFamily="34" charset="0"/>
                    </a:defRPr>
                  </a:pPr>
                  <a:endParaRPr lang="he-IL"/>
                </a:p>
              </c:txPr>
              <c:dLblPos val="outEnd"/>
              <c:showLegendKey val="0"/>
              <c:showVal val="1"/>
              <c:showCatName val="0"/>
              <c:showSerName val="0"/>
              <c:showPercent val="0"/>
              <c:showBubbleSize val="0"/>
              <c:extLst>
                <c:ext xmlns:c15="http://schemas.microsoft.com/office/drawing/2012/chart" uri="{CE6537A1-D6FC-4f65-9D91-7224C49458BB}">
                  <c15:layout>
                    <c:manualLayout>
                      <c:w val="3.4802527289586688E-2"/>
                      <c:h val="8.7923076923076923E-2"/>
                    </c:manualLayout>
                  </c15:layout>
                </c:ext>
                <c:ext xmlns:c16="http://schemas.microsoft.com/office/drawing/2014/chart" uri="{C3380CC4-5D6E-409C-BE32-E72D297353CC}">
                  <c16:uniqueId val="{00000001-B6C2-4F70-AF73-972F948C4343}"/>
                </c:ext>
              </c:extLst>
            </c:dLbl>
            <c:spPr>
              <a:noFill/>
              <a:ln>
                <a:noFill/>
              </a:ln>
              <a:effectLst/>
            </c:spPr>
            <c:txPr>
              <a:bodyPr wrap="square" lIns="38100" tIns="19050" rIns="38100" bIns="19050" anchor="ctr" anchorCtr="0">
                <a:spAutoFit/>
              </a:bodyPr>
              <a:lstStyle/>
              <a:p>
                <a:pPr algn="ctr">
                  <a:defRPr lang="he-IL" sz="1200" b="1" i="0" u="none" strike="noStrike" kern="1200" cap="none" spc="0" baseline="0">
                    <a:ln/>
                    <a:solidFill>
                      <a:schemeClr val="accent3"/>
                    </a:solidFill>
                    <a:effectLst/>
                    <a:latin typeface="Segoe UI" panose="020B0502040204020203" pitchFamily="34" charset="0"/>
                    <a:ea typeface="Arial"/>
                    <a:cs typeface="Segoe UI" panose="020B0502040204020203" pitchFamily="34" charset="0"/>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Sheet1!$B$1:$E$1</c:f>
              <c:strCache>
                <c:ptCount val="4"/>
                <c:pt idx="0">
                  <c:v>מגזר יהודי</c:v>
                </c:pt>
                <c:pt idx="1">
                  <c:v>מגזר ערבי</c:v>
                </c:pt>
                <c:pt idx="2">
                  <c:v>מגזר יהודי</c:v>
                </c:pt>
                <c:pt idx="3">
                  <c:v>מגזר ערבי</c:v>
                </c:pt>
              </c:strCache>
            </c:strRef>
          </c:cat>
          <c:val>
            <c:numRef>
              <c:f>Sheet1!$B$4:$E$4</c:f>
              <c:numCache>
                <c:formatCode>0%</c:formatCode>
                <c:ptCount val="4"/>
                <c:pt idx="0">
                  <c:v>0.10526315789473684</c:v>
                </c:pt>
                <c:pt idx="1">
                  <c:v>3.5714285714285712E-2</c:v>
                </c:pt>
                <c:pt idx="2">
                  <c:v>6.2893081761006289E-2</c:v>
                </c:pt>
                <c:pt idx="3">
                  <c:v>0.1125</c:v>
                </c:pt>
              </c:numCache>
            </c:numRef>
          </c:val>
          <c:extLst>
            <c:ext xmlns:c16="http://schemas.microsoft.com/office/drawing/2014/chart" uri="{C3380CC4-5D6E-409C-BE32-E72D297353CC}">
              <c16:uniqueId val="{00000002-0DE3-413B-BCFA-E0921DF056CA}"/>
            </c:ext>
          </c:extLst>
        </c:ser>
        <c:ser>
          <c:idx val="3"/>
          <c:order val="3"/>
          <c:tx>
            <c:strRef>
              <c:f>Sheet1!$A$5</c:f>
              <c:strCache>
                <c:ptCount val="1"/>
                <c:pt idx="0">
                  <c:v>הדבקה לרכב</c:v>
                </c:pt>
              </c:strCache>
            </c:strRef>
          </c:tx>
          <c:spPr>
            <a:solidFill>
              <a:schemeClr val="accent5">
                <a:lumMod val="60000"/>
                <a:lumOff val="40000"/>
              </a:schemeClr>
            </a:solidFill>
          </c:spPr>
          <c:invertIfNegative val="0"/>
          <c:dLbls>
            <c:spPr>
              <a:noFill/>
              <a:ln>
                <a:noFill/>
              </a:ln>
              <a:effectLst/>
            </c:spPr>
            <c:txPr>
              <a:bodyPr wrap="square" lIns="38100" tIns="19050" rIns="38100" bIns="19050" anchor="ctr">
                <a:spAutoFit/>
              </a:bodyPr>
              <a:lstStyle/>
              <a:p>
                <a:pPr>
                  <a:defRPr sz="1200" b="1">
                    <a:solidFill>
                      <a:schemeClr val="tx1"/>
                    </a:solidFill>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Sheet1!$B$1:$E$1</c:f>
              <c:strCache>
                <c:ptCount val="4"/>
                <c:pt idx="0">
                  <c:v>מגזר יהודי</c:v>
                </c:pt>
                <c:pt idx="1">
                  <c:v>מגזר ערבי</c:v>
                </c:pt>
                <c:pt idx="2">
                  <c:v>מגזר יהודי</c:v>
                </c:pt>
                <c:pt idx="3">
                  <c:v>מגזר ערבי</c:v>
                </c:pt>
              </c:strCache>
            </c:strRef>
          </c:cat>
          <c:val>
            <c:numRef>
              <c:f>Sheet1!$B$5:$E$5</c:f>
              <c:numCache>
                <c:formatCode>0%</c:formatCode>
                <c:ptCount val="4"/>
                <c:pt idx="0">
                  <c:v>2.3391812865497075E-2</c:v>
                </c:pt>
                <c:pt idx="1">
                  <c:v>1.1904761904761906E-2</c:v>
                </c:pt>
                <c:pt idx="2">
                  <c:v>3.1446540880503145E-2</c:v>
                </c:pt>
                <c:pt idx="3">
                  <c:v>2.5000000000000001E-2</c:v>
                </c:pt>
              </c:numCache>
            </c:numRef>
          </c:val>
          <c:extLst>
            <c:ext xmlns:c16="http://schemas.microsoft.com/office/drawing/2014/chart" uri="{C3380CC4-5D6E-409C-BE32-E72D297353CC}">
              <c16:uniqueId val="{00000000-5AEA-45C7-8772-1ACAF543CB4B}"/>
            </c:ext>
          </c:extLst>
        </c:ser>
        <c:dLbls>
          <c:showLegendKey val="0"/>
          <c:showVal val="0"/>
          <c:showCatName val="0"/>
          <c:showSerName val="0"/>
          <c:showPercent val="0"/>
          <c:showBubbleSize val="0"/>
        </c:dLbls>
        <c:gapWidth val="80"/>
        <c:axId val="184526720"/>
        <c:axId val="184528256"/>
        <c:extLst>
          <c:ext xmlns:c15="http://schemas.microsoft.com/office/drawing/2012/chart" uri="{02D57815-91ED-43cb-92C2-25804820EDAC}">
            <c15:filteredBarSeries>
              <c15:ser>
                <c:idx val="4"/>
                <c:order val="4"/>
                <c:tx>
                  <c:strRef>
                    <c:extLst>
                      <c:ext uri="{02D57815-91ED-43cb-92C2-25804820EDAC}">
                        <c15:formulaRef>
                          <c15:sqref>Sheet1!$A$6</c15:sqref>
                        </c15:formulaRef>
                      </c:ext>
                    </c:extLst>
                    <c:strCache>
                      <c:ptCount val="1"/>
                    </c:strCache>
                  </c:strRef>
                </c:tx>
                <c:spPr>
                  <a:solidFill>
                    <a:schemeClr val="accent5">
                      <a:lumMod val="20000"/>
                      <a:lumOff val="80000"/>
                    </a:schemeClr>
                  </a:solidFill>
                </c:spPr>
                <c:invertIfNegative val="0"/>
                <c:dLbls>
                  <c:spPr>
                    <a:noFill/>
                    <a:ln>
                      <a:noFill/>
                    </a:ln>
                    <a:effectLst/>
                  </c:spPr>
                  <c:txPr>
                    <a:bodyPr wrap="square" lIns="38100" tIns="19050" rIns="38100" bIns="19050" anchor="ctr">
                      <a:spAutoFit/>
                    </a:bodyPr>
                    <a:lstStyle/>
                    <a:p>
                      <a:pPr>
                        <a:defRPr sz="1200" b="1"/>
                      </a:pPr>
                      <a:endParaRPr lang="he-IL"/>
                    </a:p>
                  </c:txPr>
                  <c:dLblPos val="ctr"/>
                  <c:showLegendKey val="0"/>
                  <c:showVal val="1"/>
                  <c:showCatName val="0"/>
                  <c:showSerName val="0"/>
                  <c:showPercent val="0"/>
                  <c:showBubbleSize val="0"/>
                  <c:showLeaderLines val="0"/>
                  <c:extLst>
                    <c:ext uri="{CE6537A1-D6FC-4f65-9D91-7224C49458BB}">
                      <c15:showLeaderLines val="1"/>
                    </c:ext>
                  </c:extLst>
                </c:dLbls>
                <c:cat>
                  <c:strRef>
                    <c:extLst>
                      <c:ext uri="{02D57815-91ED-43cb-92C2-25804820EDAC}">
                        <c15:formulaRef>
                          <c15:sqref>Sheet1!$B$1:$E$1</c15:sqref>
                        </c15:formulaRef>
                      </c:ext>
                    </c:extLst>
                    <c:strCache>
                      <c:ptCount val="4"/>
                      <c:pt idx="0">
                        <c:v>מגזר יהודי</c:v>
                      </c:pt>
                      <c:pt idx="1">
                        <c:v>מגזר ערבי</c:v>
                      </c:pt>
                      <c:pt idx="2">
                        <c:v>מגזר יהודי</c:v>
                      </c:pt>
                      <c:pt idx="3">
                        <c:v>מגזר ערבי</c:v>
                      </c:pt>
                    </c:strCache>
                  </c:strRef>
                </c:cat>
                <c:val>
                  <c:numRef>
                    <c:extLst>
                      <c:ext uri="{02D57815-91ED-43cb-92C2-25804820EDAC}">
                        <c15:formulaRef>
                          <c15:sqref>Sheet1!$B$6:$E$6</c15:sqref>
                        </c15:formulaRef>
                      </c:ext>
                    </c:extLst>
                    <c:numCache>
                      <c:formatCode>General</c:formatCode>
                      <c:ptCount val="4"/>
                    </c:numCache>
                  </c:numRef>
                </c:val>
                <c:extLst>
                  <c:ext xmlns:c16="http://schemas.microsoft.com/office/drawing/2014/chart" uri="{C3380CC4-5D6E-409C-BE32-E72D297353CC}">
                    <c16:uniqueId val="{00000001-5AEA-45C7-8772-1ACAF543CB4B}"/>
                  </c:ext>
                </c:extLst>
              </c15:ser>
            </c15:filteredBarSeries>
            <c15:filteredBarSeries>
              <c15:ser>
                <c:idx val="5"/>
                <c:order val="5"/>
                <c:tx>
                  <c:strRef>
                    <c:extLst xmlns:c15="http://schemas.microsoft.com/office/drawing/2012/chart">
                      <c:ext xmlns:c15="http://schemas.microsoft.com/office/drawing/2012/chart" uri="{02D57815-91ED-43cb-92C2-25804820EDAC}">
                        <c15:formulaRef>
                          <c15:sqref>Sheet1!$A$7</c15:sqref>
                        </c15:formulaRef>
                      </c:ext>
                    </c:extLst>
                    <c:strCache>
                      <c:ptCount val="1"/>
                    </c:strCache>
                  </c:strRef>
                </c:tx>
                <c:spPr>
                  <a:solidFill>
                    <a:schemeClr val="bg1">
                      <a:lumMod val="85000"/>
                    </a:schemeClr>
                  </a:solidFill>
                </c:spPr>
                <c:invertIfNegative val="0"/>
                <c:dLbls>
                  <c:spPr>
                    <a:noFill/>
                    <a:ln>
                      <a:noFill/>
                    </a:ln>
                    <a:effectLst/>
                  </c:spPr>
                  <c:txPr>
                    <a:bodyPr wrap="square" lIns="38100" tIns="19050" rIns="38100" bIns="19050" anchor="ctr">
                      <a:spAutoFit/>
                    </a:bodyPr>
                    <a:lstStyle/>
                    <a:p>
                      <a:pPr>
                        <a:defRPr sz="1200" b="1"/>
                      </a:pPr>
                      <a:endParaRPr lang="he-IL"/>
                    </a:p>
                  </c:txPr>
                  <c:dLblPos val="ct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ext>
                  </c:extLst>
                </c:dLbls>
                <c:cat>
                  <c:strRef>
                    <c:extLst xmlns:c15="http://schemas.microsoft.com/office/drawing/2012/chart">
                      <c:ext xmlns:c15="http://schemas.microsoft.com/office/drawing/2012/chart" uri="{02D57815-91ED-43cb-92C2-25804820EDAC}">
                        <c15:formulaRef>
                          <c15:sqref>Sheet1!$B$1:$E$1</c15:sqref>
                        </c15:formulaRef>
                      </c:ext>
                    </c:extLst>
                    <c:strCache>
                      <c:ptCount val="4"/>
                      <c:pt idx="0">
                        <c:v>מגזר יהודי</c:v>
                      </c:pt>
                      <c:pt idx="1">
                        <c:v>מגזר ערבי</c:v>
                      </c:pt>
                      <c:pt idx="2">
                        <c:v>מגזר יהודי</c:v>
                      </c:pt>
                      <c:pt idx="3">
                        <c:v>מגזר ערבי</c:v>
                      </c:pt>
                    </c:strCache>
                  </c:strRef>
                </c:cat>
                <c:val>
                  <c:numRef>
                    <c:extLst xmlns:c15="http://schemas.microsoft.com/office/drawing/2012/chart">
                      <c:ext xmlns:c15="http://schemas.microsoft.com/office/drawing/2012/chart" uri="{02D57815-91ED-43cb-92C2-25804820EDAC}">
                        <c15:formulaRef>
                          <c15:sqref>Sheet1!$B$7:$E$7</c15:sqref>
                        </c15:formulaRef>
                      </c:ext>
                    </c:extLst>
                    <c:numCache>
                      <c:formatCode>General</c:formatCode>
                      <c:ptCount val="4"/>
                    </c:numCache>
                  </c:numRef>
                </c:val>
                <c:extLst xmlns:c15="http://schemas.microsoft.com/office/drawing/2012/chart">
                  <c:ext xmlns:c16="http://schemas.microsoft.com/office/drawing/2014/chart" uri="{C3380CC4-5D6E-409C-BE32-E72D297353CC}">
                    <c16:uniqueId val="{00000002-5AEA-45C7-8772-1ACAF543CB4B}"/>
                  </c:ext>
                </c:extLst>
              </c15:ser>
            </c15:filteredBarSeries>
          </c:ext>
        </c:extLst>
      </c:barChart>
      <c:catAx>
        <c:axId val="184526720"/>
        <c:scaling>
          <c:orientation val="minMax"/>
        </c:scaling>
        <c:delete val="0"/>
        <c:axPos val="b"/>
        <c:numFmt formatCode="General" sourceLinked="1"/>
        <c:majorTickMark val="out"/>
        <c:minorTickMark val="none"/>
        <c:tickLblPos val="low"/>
        <c:spPr>
          <a:ln w="38100">
            <a:solidFill>
              <a:schemeClr val="bg1"/>
            </a:solidFill>
            <a:prstDash val="solid"/>
          </a:ln>
        </c:spPr>
        <c:txPr>
          <a:bodyPr rot="0" vert="horz"/>
          <a:lstStyle/>
          <a:p>
            <a:pPr>
              <a:defRPr sz="1200" b="1">
                <a:solidFill>
                  <a:schemeClr val="tx1">
                    <a:lumMod val="75000"/>
                    <a:lumOff val="25000"/>
                  </a:schemeClr>
                </a:solidFill>
              </a:defRPr>
            </a:pPr>
            <a:endParaRPr lang="he-IL"/>
          </a:p>
        </c:txPr>
        <c:crossAx val="184528256"/>
        <c:crosses val="autoZero"/>
        <c:auto val="1"/>
        <c:lblAlgn val="ctr"/>
        <c:lblOffset val="100"/>
        <c:noMultiLvlLbl val="0"/>
      </c:catAx>
      <c:valAx>
        <c:axId val="184528256"/>
        <c:scaling>
          <c:orientation val="minMax"/>
          <c:max val="1.05"/>
          <c:min val="0"/>
        </c:scaling>
        <c:delete val="1"/>
        <c:axPos val="l"/>
        <c:numFmt formatCode="0%" sourceLinked="1"/>
        <c:majorTickMark val="out"/>
        <c:minorTickMark val="none"/>
        <c:tickLblPos val="nextTo"/>
        <c:crossAx val="184526720"/>
        <c:crosses val="autoZero"/>
        <c:crossBetween val="between"/>
      </c:valAx>
      <c:spPr>
        <a:noFill/>
        <a:ln w="25965">
          <a:noFill/>
        </a:ln>
      </c:spPr>
    </c:plotArea>
    <c:legend>
      <c:legendPos val="r"/>
      <c:layout>
        <c:manualLayout>
          <c:xMode val="edge"/>
          <c:yMode val="edge"/>
          <c:x val="0.84721971697750342"/>
          <c:y val="0.11347413581173542"/>
          <c:w val="0.13572910119670131"/>
          <c:h val="0.59158974358974359"/>
        </c:manualLayout>
      </c:layout>
      <c:overlay val="0"/>
      <c:txPr>
        <a:bodyPr/>
        <a:lstStyle/>
        <a:p>
          <a:pPr rtl="0">
            <a:defRPr sz="1200"/>
          </a:pPr>
          <a:endParaRPr lang="he-IL"/>
        </a:p>
      </c:txPr>
    </c:legend>
    <c:plotVisOnly val="1"/>
    <c:dispBlanksAs val="gap"/>
    <c:showDLblsOverMax val="0"/>
  </c:chart>
  <c:spPr>
    <a:noFill/>
    <a:ln>
      <a:noFill/>
    </a:ln>
  </c:spPr>
  <c:txPr>
    <a:bodyPr/>
    <a:lstStyle/>
    <a:p>
      <a:pPr>
        <a:defRPr sz="1100" b="0" i="0" u="none" strike="noStrike" baseline="0">
          <a:solidFill>
            <a:schemeClr val="tx1"/>
          </a:solidFill>
          <a:latin typeface="Segoe UI" panose="020B0502040204020203" pitchFamily="34" charset="0"/>
          <a:ea typeface="Arial"/>
          <a:cs typeface="Segoe UI" panose="020B0502040204020203" pitchFamily="34" charset="0"/>
        </a:defRPr>
      </a:pPr>
      <a:endParaRPr lang="he-IL"/>
    </a:p>
  </c:txPr>
  <c:externalData r:id="rId1">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9885389718566573E-2"/>
          <c:y val="4.3281067273958265E-2"/>
          <c:w val="0.86204326217579674"/>
          <c:h val="0.77475140901771333"/>
        </c:manualLayout>
      </c:layout>
      <c:barChart>
        <c:barDir val="col"/>
        <c:grouping val="clustered"/>
        <c:varyColors val="0"/>
        <c:ser>
          <c:idx val="0"/>
          <c:order val="0"/>
          <c:tx>
            <c:strRef>
              <c:f>Sheet1!$A$2</c:f>
              <c:strCache>
                <c:ptCount val="1"/>
                <c:pt idx="0">
                  <c:v>משטרת ישראל</c:v>
                </c:pt>
              </c:strCache>
            </c:strRef>
          </c:tx>
          <c:spPr>
            <a:solidFill>
              <a:srgbClr val="1D1C64"/>
            </a:solidFill>
            <a:ln w="31750">
              <a:noFill/>
            </a:ln>
          </c:spPr>
          <c:invertIfNegative val="0"/>
          <c:dLbls>
            <c:spPr>
              <a:noFill/>
              <a:ln>
                <a:noFill/>
              </a:ln>
              <a:effectLst/>
            </c:spPr>
            <c:txPr>
              <a:bodyPr/>
              <a:lstStyle/>
              <a:p>
                <a:pPr>
                  <a:defRPr sz="1200" b="1" cap="none" spc="0">
                    <a:ln/>
                    <a:solidFill>
                      <a:schemeClr val="accent3"/>
                    </a:solidFill>
                    <a:effectLst/>
                    <a:latin typeface="Segoe UI" panose="020B0502040204020203" pitchFamily="34" charset="0"/>
                    <a:cs typeface="Segoe UI" panose="020B0502040204020203" pitchFamily="34" charset="0"/>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Sheet1!$B$1:$E$1</c:f>
              <c:strCache>
                <c:ptCount val="4"/>
                <c:pt idx="0">
                  <c:v>מגזר יהודי</c:v>
                </c:pt>
                <c:pt idx="1">
                  <c:v>מגזר ערבי</c:v>
                </c:pt>
                <c:pt idx="2">
                  <c:v>מגזר יהודי</c:v>
                </c:pt>
                <c:pt idx="3">
                  <c:v>מגזר ערבי</c:v>
                </c:pt>
              </c:strCache>
            </c:strRef>
          </c:cat>
          <c:val>
            <c:numRef>
              <c:f>Sheet1!$B$2:$E$2</c:f>
              <c:numCache>
                <c:formatCode>0%</c:formatCode>
                <c:ptCount val="4"/>
                <c:pt idx="0">
                  <c:v>0.68902439024390238</c:v>
                </c:pt>
                <c:pt idx="1">
                  <c:v>0.90476190476190477</c:v>
                </c:pt>
                <c:pt idx="2">
                  <c:v>0.83333333333333326</c:v>
                </c:pt>
                <c:pt idx="3">
                  <c:v>0.85526315789473695</c:v>
                </c:pt>
              </c:numCache>
            </c:numRef>
          </c:val>
          <c:extLst>
            <c:ext xmlns:c16="http://schemas.microsoft.com/office/drawing/2014/chart" uri="{C3380CC4-5D6E-409C-BE32-E72D297353CC}">
              <c16:uniqueId val="{00000000-8A40-4007-8B61-3FA0686FDB13}"/>
            </c:ext>
          </c:extLst>
        </c:ser>
        <c:ser>
          <c:idx val="1"/>
          <c:order val="1"/>
          <c:tx>
            <c:strRef>
              <c:f>Sheet1!$A$3</c:f>
              <c:strCache>
                <c:ptCount val="1"/>
                <c:pt idx="0">
                  <c:v>עירייה / רשות מוניציפאלית</c:v>
                </c:pt>
              </c:strCache>
            </c:strRef>
          </c:tx>
          <c:spPr>
            <a:solidFill>
              <a:srgbClr val="0070C0"/>
            </a:solidFill>
          </c:spPr>
          <c:invertIfNegative val="0"/>
          <c:dLbls>
            <c:dLbl>
              <c:idx val="1"/>
              <c:layout>
                <c:manualLayout>
                  <c:x val="4.3908877136726712E-8"/>
                  <c:y val="0.11808589925748848"/>
                </c:manualLayout>
              </c:layout>
              <c:dLblPos val="outEnd"/>
              <c:showLegendKey val="0"/>
              <c:showVal val="1"/>
              <c:showCatName val="0"/>
              <c:showSerName val="0"/>
              <c:showPercent val="0"/>
              <c:showBubbleSize val="0"/>
              <c:extLst>
                <c:ext xmlns:c15="http://schemas.microsoft.com/office/drawing/2012/chart" uri="{CE6537A1-D6FC-4f65-9D91-7224C49458BB}">
                  <c15:layout>
                    <c:manualLayout>
                      <c:w val="4.0378954685950964E-2"/>
                      <c:h val="0.13998655898350568"/>
                    </c:manualLayout>
                  </c15:layout>
                </c:ext>
                <c:ext xmlns:c16="http://schemas.microsoft.com/office/drawing/2014/chart" uri="{C3380CC4-5D6E-409C-BE32-E72D297353CC}">
                  <c16:uniqueId val="{00000000-A069-4DE7-BD6A-3D31AF44C793}"/>
                </c:ext>
              </c:extLst>
            </c:dLbl>
            <c:dLbl>
              <c:idx val="3"/>
              <c:layout>
                <c:manualLayout>
                  <c:x val="2.2305709585457171E-3"/>
                  <c:y val="0.1342845914326308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A069-4DE7-BD6A-3D31AF44C793}"/>
                </c:ext>
              </c:extLst>
            </c:dLbl>
            <c:spPr>
              <a:noFill/>
              <a:ln>
                <a:noFill/>
              </a:ln>
              <a:effectLst/>
            </c:spPr>
            <c:txPr>
              <a:bodyPr anchorCtr="0"/>
              <a:lstStyle/>
              <a:p>
                <a:pPr algn="ctr">
                  <a:defRPr lang="he-IL" sz="1200" b="1" i="0" u="none" strike="noStrike" kern="1200" cap="none" spc="0" baseline="0">
                    <a:ln/>
                    <a:solidFill>
                      <a:schemeClr val="accent3"/>
                    </a:solidFill>
                    <a:effectLst/>
                    <a:latin typeface="Segoe UI" panose="020B0502040204020203" pitchFamily="34" charset="0"/>
                    <a:ea typeface="Arial"/>
                    <a:cs typeface="Segoe UI" panose="020B0502040204020203" pitchFamily="34" charset="0"/>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Sheet1!$B$1:$E$1</c:f>
              <c:strCache>
                <c:ptCount val="4"/>
                <c:pt idx="0">
                  <c:v>מגזר יהודי</c:v>
                </c:pt>
                <c:pt idx="1">
                  <c:v>מגזר ערבי</c:v>
                </c:pt>
                <c:pt idx="2">
                  <c:v>מגזר יהודי</c:v>
                </c:pt>
                <c:pt idx="3">
                  <c:v>מגזר ערבי</c:v>
                </c:pt>
              </c:strCache>
            </c:strRef>
          </c:cat>
          <c:val>
            <c:numRef>
              <c:f>Sheet1!$B$3:$E$3</c:f>
              <c:numCache>
                <c:formatCode>0%</c:formatCode>
                <c:ptCount val="4"/>
                <c:pt idx="0">
                  <c:v>0.31097560975609756</c:v>
                </c:pt>
                <c:pt idx="1">
                  <c:v>9.5238095238095247E-2</c:v>
                </c:pt>
                <c:pt idx="2">
                  <c:v>0.16666666666666666</c:v>
                </c:pt>
                <c:pt idx="3">
                  <c:v>0.14473684210526316</c:v>
                </c:pt>
              </c:numCache>
            </c:numRef>
          </c:val>
          <c:extLst>
            <c:ext xmlns:c16="http://schemas.microsoft.com/office/drawing/2014/chart" uri="{C3380CC4-5D6E-409C-BE32-E72D297353CC}">
              <c16:uniqueId val="{00000001-8A40-4007-8B61-3FA0686FDB13}"/>
            </c:ext>
          </c:extLst>
        </c:ser>
        <c:dLbls>
          <c:showLegendKey val="0"/>
          <c:showVal val="0"/>
          <c:showCatName val="0"/>
          <c:showSerName val="0"/>
          <c:showPercent val="0"/>
          <c:showBubbleSize val="0"/>
        </c:dLbls>
        <c:gapWidth val="80"/>
        <c:axId val="184526720"/>
        <c:axId val="184528256"/>
      </c:barChart>
      <c:catAx>
        <c:axId val="184526720"/>
        <c:scaling>
          <c:orientation val="minMax"/>
        </c:scaling>
        <c:delete val="1"/>
        <c:axPos val="b"/>
        <c:numFmt formatCode="General" sourceLinked="1"/>
        <c:majorTickMark val="out"/>
        <c:minorTickMark val="none"/>
        <c:tickLblPos val="low"/>
        <c:crossAx val="184528256"/>
        <c:crosses val="autoZero"/>
        <c:auto val="1"/>
        <c:lblAlgn val="ctr"/>
        <c:lblOffset val="100"/>
        <c:noMultiLvlLbl val="0"/>
      </c:catAx>
      <c:valAx>
        <c:axId val="184528256"/>
        <c:scaling>
          <c:orientation val="minMax"/>
          <c:max val="1"/>
          <c:min val="0"/>
        </c:scaling>
        <c:delete val="1"/>
        <c:axPos val="l"/>
        <c:numFmt formatCode="0%" sourceLinked="1"/>
        <c:majorTickMark val="out"/>
        <c:minorTickMark val="none"/>
        <c:tickLblPos val="nextTo"/>
        <c:crossAx val="184526720"/>
        <c:crosses val="autoZero"/>
        <c:crossBetween val="between"/>
      </c:valAx>
      <c:spPr>
        <a:noFill/>
        <a:ln w="25965">
          <a:noFill/>
        </a:ln>
      </c:spPr>
    </c:plotArea>
    <c:legend>
      <c:legendPos val="r"/>
      <c:layout>
        <c:manualLayout>
          <c:xMode val="edge"/>
          <c:yMode val="edge"/>
          <c:x val="0.82475453626881079"/>
          <c:y val="0.11347413581173542"/>
          <c:w val="0.17524542208242416"/>
          <c:h val="0.32191467047417954"/>
        </c:manualLayout>
      </c:layout>
      <c:overlay val="0"/>
      <c:txPr>
        <a:bodyPr/>
        <a:lstStyle/>
        <a:p>
          <a:pPr rtl="0">
            <a:defRPr sz="1200"/>
          </a:pPr>
          <a:endParaRPr lang="he-IL"/>
        </a:p>
      </c:txPr>
    </c:legend>
    <c:plotVisOnly val="1"/>
    <c:dispBlanksAs val="gap"/>
    <c:showDLblsOverMax val="0"/>
  </c:chart>
  <c:spPr>
    <a:noFill/>
    <a:ln>
      <a:noFill/>
    </a:ln>
  </c:spPr>
  <c:txPr>
    <a:bodyPr/>
    <a:lstStyle/>
    <a:p>
      <a:pPr>
        <a:defRPr sz="1100" b="0" i="0" u="none" strike="noStrike" baseline="0">
          <a:solidFill>
            <a:schemeClr val="tx1"/>
          </a:solidFill>
          <a:latin typeface="Segoe UI" panose="020B0502040204020203" pitchFamily="34" charset="0"/>
          <a:ea typeface="Arial"/>
          <a:cs typeface="Segoe UI" panose="020B0502040204020203" pitchFamily="34" charset="0"/>
        </a:defRPr>
      </a:pPr>
      <a:endParaRPr lang="he-IL"/>
    </a:p>
  </c:txPr>
  <c:externalData r:id="rId1">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9885389718566573E-2"/>
          <c:y val="4.3281067273958265E-2"/>
          <c:w val="0.94792022145524168"/>
          <c:h val="0.77475140901771333"/>
        </c:manualLayout>
      </c:layout>
      <c:barChart>
        <c:barDir val="col"/>
        <c:grouping val="clustered"/>
        <c:varyColors val="0"/>
        <c:ser>
          <c:idx val="0"/>
          <c:order val="0"/>
          <c:tx>
            <c:strRef>
              <c:f>Sheet1!$A$2</c:f>
              <c:strCache>
                <c:ptCount val="1"/>
                <c:pt idx="0">
                  <c:v>פיזית משוטר בשטח</c:v>
                </c:pt>
              </c:strCache>
            </c:strRef>
          </c:tx>
          <c:spPr>
            <a:solidFill>
              <a:schemeClr val="accent1"/>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Sheet1!$B$1:$I$1</c:f>
              <c:strCache>
                <c:ptCount val="8"/>
                <c:pt idx="0">
                  <c:v>שילמו</c:v>
                </c:pt>
                <c:pt idx="1">
                  <c:v>לא שילמו</c:v>
                </c:pt>
                <c:pt idx="2">
                  <c:v>שילמו</c:v>
                </c:pt>
                <c:pt idx="3">
                  <c:v>לא שילמו</c:v>
                </c:pt>
                <c:pt idx="4">
                  <c:v>היה דיון</c:v>
                </c:pt>
                <c:pt idx="5">
                  <c:v>לא היה דיון</c:v>
                </c:pt>
                <c:pt idx="6">
                  <c:v>היה דיון</c:v>
                </c:pt>
                <c:pt idx="7">
                  <c:v>לא היה דיון</c:v>
                </c:pt>
              </c:strCache>
            </c:strRef>
          </c:cat>
          <c:val>
            <c:numRef>
              <c:f>Sheet1!$B$2:$I$2</c:f>
              <c:numCache>
                <c:formatCode>0%</c:formatCode>
                <c:ptCount val="8"/>
                <c:pt idx="0">
                  <c:v>0.36879432624113473</c:v>
                </c:pt>
                <c:pt idx="1">
                  <c:v>0.46666666666666667</c:v>
                </c:pt>
                <c:pt idx="2">
                  <c:v>0.66375704673577007</c:v>
                </c:pt>
                <c:pt idx="3">
                  <c:v>0.90416666666666667</c:v>
                </c:pt>
                <c:pt idx="4">
                  <c:v>0.60307068817707121</c:v>
                </c:pt>
                <c:pt idx="5">
                  <c:v>0.48714285714285716</c:v>
                </c:pt>
                <c:pt idx="6">
                  <c:v>0.55077712388712841</c:v>
                </c:pt>
                <c:pt idx="7">
                  <c:v>0.63823529411764701</c:v>
                </c:pt>
              </c:numCache>
            </c:numRef>
          </c:val>
          <c:extLst>
            <c:ext xmlns:c16="http://schemas.microsoft.com/office/drawing/2014/chart" uri="{C3380CC4-5D6E-409C-BE32-E72D297353CC}">
              <c16:uniqueId val="{00000000-339D-4105-8999-204B28D3DC50}"/>
            </c:ext>
          </c:extLst>
        </c:ser>
        <c:ser>
          <c:idx val="1"/>
          <c:order val="1"/>
          <c:tx>
            <c:strRef>
              <c:f>Sheet1!$A$3</c:f>
              <c:strCache>
                <c:ptCount val="1"/>
                <c:pt idx="0">
                  <c:v>בדואר</c:v>
                </c:pt>
              </c:strCache>
            </c:strRef>
          </c:tx>
          <c:spPr>
            <a:solidFill>
              <a:schemeClr val="accent2"/>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Sheet1!$B$1:$I$1</c:f>
              <c:strCache>
                <c:ptCount val="8"/>
                <c:pt idx="0">
                  <c:v>שילמו</c:v>
                </c:pt>
                <c:pt idx="1">
                  <c:v>לא שילמו</c:v>
                </c:pt>
                <c:pt idx="2">
                  <c:v>שילמו</c:v>
                </c:pt>
                <c:pt idx="3">
                  <c:v>לא שילמו</c:v>
                </c:pt>
                <c:pt idx="4">
                  <c:v>היה דיון</c:v>
                </c:pt>
                <c:pt idx="5">
                  <c:v>לא היה דיון</c:v>
                </c:pt>
                <c:pt idx="6">
                  <c:v>היה דיון</c:v>
                </c:pt>
                <c:pt idx="7">
                  <c:v>לא היה דיון</c:v>
                </c:pt>
              </c:strCache>
            </c:strRef>
          </c:cat>
          <c:val>
            <c:numRef>
              <c:f>Sheet1!$B$3:$I$3</c:f>
              <c:numCache>
                <c:formatCode>0%</c:formatCode>
                <c:ptCount val="8"/>
                <c:pt idx="0">
                  <c:v>0.5035460992907802</c:v>
                </c:pt>
                <c:pt idx="1">
                  <c:v>0.39999999999999997</c:v>
                </c:pt>
                <c:pt idx="2">
                  <c:v>0.29205310056373884</c:v>
                </c:pt>
                <c:pt idx="3">
                  <c:v>0.12916666666666665</c:v>
                </c:pt>
                <c:pt idx="4">
                  <c:v>0.31860338243316971</c:v>
                </c:pt>
                <c:pt idx="5">
                  <c:v>0.44285714285714284</c:v>
                </c:pt>
                <c:pt idx="6">
                  <c:v>0.3304662743322771</c:v>
                </c:pt>
                <c:pt idx="7">
                  <c:v>0.24313725490196081</c:v>
                </c:pt>
              </c:numCache>
            </c:numRef>
          </c:val>
          <c:extLst>
            <c:ext xmlns:c16="http://schemas.microsoft.com/office/drawing/2014/chart" uri="{C3380CC4-5D6E-409C-BE32-E72D297353CC}">
              <c16:uniqueId val="{00000001-339D-4105-8999-204B28D3DC50}"/>
            </c:ext>
          </c:extLst>
        </c:ser>
        <c:ser>
          <c:idx val="2"/>
          <c:order val="2"/>
          <c:tx>
            <c:strRef>
              <c:f>Sheet1!$A$4</c:f>
              <c:strCache>
                <c:ptCount val="1"/>
                <c:pt idx="0">
                  <c:v>אחר*</c:v>
                </c:pt>
              </c:strCache>
            </c:strRef>
          </c:tx>
          <c:spPr>
            <a:solidFill>
              <a:schemeClr val="accent3"/>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Sheet1!$B$1:$I$1</c:f>
              <c:strCache>
                <c:ptCount val="8"/>
                <c:pt idx="0">
                  <c:v>שילמו</c:v>
                </c:pt>
                <c:pt idx="1">
                  <c:v>לא שילמו</c:v>
                </c:pt>
                <c:pt idx="2">
                  <c:v>שילמו</c:v>
                </c:pt>
                <c:pt idx="3">
                  <c:v>לא שילמו</c:v>
                </c:pt>
                <c:pt idx="4">
                  <c:v>היה דיון</c:v>
                </c:pt>
                <c:pt idx="5">
                  <c:v>לא היה דיון</c:v>
                </c:pt>
                <c:pt idx="6">
                  <c:v>היה דיון</c:v>
                </c:pt>
                <c:pt idx="7">
                  <c:v>לא היה דיון</c:v>
                </c:pt>
              </c:strCache>
            </c:strRef>
          </c:cat>
          <c:val>
            <c:numRef>
              <c:f>Sheet1!$B$4:$I$4</c:f>
              <c:numCache>
                <c:formatCode>0%</c:formatCode>
                <c:ptCount val="8"/>
                <c:pt idx="0">
                  <c:v>0.1276595744680851</c:v>
                </c:pt>
                <c:pt idx="1">
                  <c:v>0.13333333333333333</c:v>
                </c:pt>
                <c:pt idx="2">
                  <c:v>5.3100563738861621E-2</c:v>
                </c:pt>
                <c:pt idx="3">
                  <c:v>0</c:v>
                </c:pt>
                <c:pt idx="4">
                  <c:v>0.10240823006780454</c:v>
                </c:pt>
                <c:pt idx="5">
                  <c:v>8.8571428571428579E-2</c:v>
                </c:pt>
                <c:pt idx="6">
                  <c:v>0.15421759468839596</c:v>
                </c:pt>
                <c:pt idx="7">
                  <c:v>0.1215686274509804</c:v>
                </c:pt>
              </c:numCache>
            </c:numRef>
          </c:val>
          <c:extLst>
            <c:ext xmlns:c16="http://schemas.microsoft.com/office/drawing/2014/chart" uri="{C3380CC4-5D6E-409C-BE32-E72D297353CC}">
              <c16:uniqueId val="{00000002-339D-4105-8999-204B28D3DC50}"/>
            </c:ext>
          </c:extLst>
        </c:ser>
        <c:dLbls>
          <c:dLblPos val="outEnd"/>
          <c:showLegendKey val="0"/>
          <c:showVal val="1"/>
          <c:showCatName val="0"/>
          <c:showSerName val="0"/>
          <c:showPercent val="0"/>
          <c:showBubbleSize val="0"/>
        </c:dLbls>
        <c:gapWidth val="444"/>
        <c:overlap val="-90"/>
        <c:axId val="184526720"/>
        <c:axId val="184528256"/>
        <c:extLst/>
      </c:barChart>
      <c:catAx>
        <c:axId val="184526720"/>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0" spcFirstLastPara="1" vertOverflow="ellipsis" vert="horz" wrap="square" anchor="ctr" anchorCtr="1"/>
          <a:lstStyle/>
          <a:p>
            <a:pPr>
              <a:defRPr sz="1064" b="0" i="0" u="none" strike="noStrike" kern="1200" cap="all" spc="120" normalizeH="0" baseline="0">
                <a:solidFill>
                  <a:schemeClr val="tx1">
                    <a:lumMod val="65000"/>
                    <a:lumOff val="35000"/>
                  </a:schemeClr>
                </a:solidFill>
                <a:latin typeface="+mn-lt"/>
                <a:ea typeface="+mn-ea"/>
                <a:cs typeface="+mn-cs"/>
              </a:defRPr>
            </a:pPr>
            <a:endParaRPr lang="he-IL"/>
          </a:p>
        </c:txPr>
        <c:crossAx val="184528256"/>
        <c:crosses val="autoZero"/>
        <c:auto val="1"/>
        <c:lblAlgn val="ctr"/>
        <c:lblOffset val="100"/>
        <c:noMultiLvlLbl val="0"/>
      </c:catAx>
      <c:valAx>
        <c:axId val="184528256"/>
        <c:scaling>
          <c:orientation val="minMax"/>
          <c:max val="1.05"/>
          <c:min val="0"/>
        </c:scaling>
        <c:delete val="1"/>
        <c:axPos val="l"/>
        <c:numFmt formatCode="0%" sourceLinked="1"/>
        <c:majorTickMark val="none"/>
        <c:minorTickMark val="none"/>
        <c:tickLblPos val="nextTo"/>
        <c:crossAx val="18452672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9885389718566573E-2"/>
          <c:y val="4.3281067273958265E-2"/>
          <c:w val="0.94792022145524168"/>
          <c:h val="0.77475140901771333"/>
        </c:manualLayout>
      </c:layout>
      <c:barChart>
        <c:barDir val="col"/>
        <c:grouping val="clustered"/>
        <c:varyColors val="0"/>
        <c:ser>
          <c:idx val="0"/>
          <c:order val="0"/>
          <c:tx>
            <c:strRef>
              <c:f>Sheet1!$A$2</c:f>
              <c:strCache>
                <c:ptCount val="1"/>
                <c:pt idx="0">
                  <c:v>פיזית משוטר בשטח</c:v>
                </c:pt>
              </c:strCache>
            </c:strRef>
          </c:tx>
          <c:spPr>
            <a:solidFill>
              <a:schemeClr val="accent1"/>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Sheet1!$B$1:$I$1</c:f>
              <c:strCache>
                <c:ptCount val="8"/>
                <c:pt idx="0">
                  <c:v>24-25</c:v>
                </c:pt>
                <c:pt idx="1">
                  <c:v>20-23</c:v>
                </c:pt>
                <c:pt idx="2">
                  <c:v>24-25</c:v>
                </c:pt>
                <c:pt idx="3">
                  <c:v>20-23</c:v>
                </c:pt>
                <c:pt idx="4">
                  <c:v>24-25</c:v>
                </c:pt>
                <c:pt idx="5">
                  <c:v>20-23</c:v>
                </c:pt>
                <c:pt idx="6">
                  <c:v>24-25</c:v>
                </c:pt>
                <c:pt idx="7">
                  <c:v>20-23</c:v>
                </c:pt>
              </c:strCache>
            </c:strRef>
          </c:cat>
          <c:val>
            <c:numRef>
              <c:f>Sheet1!$B$2:$I$2</c:f>
              <c:numCache>
                <c:formatCode>0%</c:formatCode>
                <c:ptCount val="8"/>
                <c:pt idx="0">
                  <c:v>0.30612244897959184</c:v>
                </c:pt>
                <c:pt idx="1">
                  <c:v>0.49315068493150682</c:v>
                </c:pt>
                <c:pt idx="2">
                  <c:v>0.64494434137291279</c:v>
                </c:pt>
                <c:pt idx="3">
                  <c:v>0.72407045009784732</c:v>
                </c:pt>
                <c:pt idx="4">
                  <c:v>0.49923469387755098</c:v>
                </c:pt>
                <c:pt idx="5">
                  <c:v>0.60071029934043629</c:v>
                </c:pt>
                <c:pt idx="6">
                  <c:v>0.45696539485359361</c:v>
                </c:pt>
                <c:pt idx="7">
                  <c:v>0.7530332681017613</c:v>
                </c:pt>
              </c:numCache>
            </c:numRef>
          </c:val>
          <c:extLst>
            <c:ext xmlns:c16="http://schemas.microsoft.com/office/drawing/2014/chart" uri="{C3380CC4-5D6E-409C-BE32-E72D297353CC}">
              <c16:uniqueId val="{00000000-0DE3-413B-BCFA-E0921DF056CA}"/>
            </c:ext>
          </c:extLst>
        </c:ser>
        <c:ser>
          <c:idx val="1"/>
          <c:order val="1"/>
          <c:tx>
            <c:strRef>
              <c:f>Sheet1!$A$3</c:f>
              <c:strCache>
                <c:ptCount val="1"/>
                <c:pt idx="0">
                  <c:v>בדואר</c:v>
                </c:pt>
              </c:strCache>
            </c:strRef>
          </c:tx>
          <c:spPr>
            <a:solidFill>
              <a:schemeClr val="accent2"/>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Sheet1!$B$1:$I$1</c:f>
              <c:strCache>
                <c:ptCount val="8"/>
                <c:pt idx="0">
                  <c:v>24-25</c:v>
                </c:pt>
                <c:pt idx="1">
                  <c:v>20-23</c:v>
                </c:pt>
                <c:pt idx="2">
                  <c:v>24-25</c:v>
                </c:pt>
                <c:pt idx="3">
                  <c:v>20-23</c:v>
                </c:pt>
                <c:pt idx="4">
                  <c:v>24-25</c:v>
                </c:pt>
                <c:pt idx="5">
                  <c:v>20-23</c:v>
                </c:pt>
                <c:pt idx="6">
                  <c:v>24-25</c:v>
                </c:pt>
                <c:pt idx="7">
                  <c:v>20-23</c:v>
                </c:pt>
              </c:strCache>
            </c:strRef>
          </c:cat>
          <c:val>
            <c:numRef>
              <c:f>Sheet1!$B$3:$I$3</c:f>
              <c:numCache>
                <c:formatCode>0%</c:formatCode>
                <c:ptCount val="8"/>
                <c:pt idx="0">
                  <c:v>0.54081632653061218</c:v>
                </c:pt>
                <c:pt idx="1">
                  <c:v>0.41095890410958907</c:v>
                </c:pt>
                <c:pt idx="2">
                  <c:v>0.33441558441558439</c:v>
                </c:pt>
                <c:pt idx="3">
                  <c:v>0.2172211350293542</c:v>
                </c:pt>
                <c:pt idx="4">
                  <c:v>0.45982142857142855</c:v>
                </c:pt>
                <c:pt idx="5">
                  <c:v>0.28784035176729245</c:v>
                </c:pt>
                <c:pt idx="6">
                  <c:v>0.43411712511091388</c:v>
                </c:pt>
                <c:pt idx="7">
                  <c:v>0.11585127201565557</c:v>
                </c:pt>
              </c:numCache>
            </c:numRef>
          </c:val>
          <c:extLst>
            <c:ext xmlns:c16="http://schemas.microsoft.com/office/drawing/2014/chart" uri="{C3380CC4-5D6E-409C-BE32-E72D297353CC}">
              <c16:uniqueId val="{00000001-0DE3-413B-BCFA-E0921DF056CA}"/>
            </c:ext>
          </c:extLst>
        </c:ser>
        <c:ser>
          <c:idx val="2"/>
          <c:order val="2"/>
          <c:tx>
            <c:strRef>
              <c:f>Sheet1!$A$4</c:f>
              <c:strCache>
                <c:ptCount val="1"/>
                <c:pt idx="0">
                  <c:v>אחר*</c:v>
                </c:pt>
              </c:strCache>
            </c:strRef>
          </c:tx>
          <c:spPr>
            <a:solidFill>
              <a:schemeClr val="accent3"/>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Sheet1!$B$1:$I$1</c:f>
              <c:strCache>
                <c:ptCount val="8"/>
                <c:pt idx="0">
                  <c:v>24-25</c:v>
                </c:pt>
                <c:pt idx="1">
                  <c:v>20-23</c:v>
                </c:pt>
                <c:pt idx="2">
                  <c:v>24-25</c:v>
                </c:pt>
                <c:pt idx="3">
                  <c:v>20-23</c:v>
                </c:pt>
                <c:pt idx="4">
                  <c:v>24-25</c:v>
                </c:pt>
                <c:pt idx="5">
                  <c:v>20-23</c:v>
                </c:pt>
                <c:pt idx="6">
                  <c:v>24-25</c:v>
                </c:pt>
                <c:pt idx="7">
                  <c:v>20-23</c:v>
                </c:pt>
              </c:strCache>
            </c:strRef>
          </c:cat>
          <c:val>
            <c:numRef>
              <c:f>Sheet1!$B$4:$I$4</c:f>
              <c:numCache>
                <c:formatCode>0%</c:formatCode>
                <c:ptCount val="8"/>
                <c:pt idx="0">
                  <c:v>0.15306122448979589</c:v>
                </c:pt>
                <c:pt idx="1">
                  <c:v>9.5890410958904118E-2</c:v>
                </c:pt>
                <c:pt idx="2">
                  <c:v>4.7773654916512059E-2</c:v>
                </c:pt>
                <c:pt idx="3">
                  <c:v>4.8271363339856488E-2</c:v>
                </c:pt>
                <c:pt idx="4">
                  <c:v>7.8826530612244899E-2</c:v>
                </c:pt>
                <c:pt idx="5">
                  <c:v>0.11263318112633181</c:v>
                </c:pt>
                <c:pt idx="6">
                  <c:v>0.13708961845607809</c:v>
                </c:pt>
                <c:pt idx="7">
                  <c:v>0.14481409001956946</c:v>
                </c:pt>
              </c:numCache>
            </c:numRef>
          </c:val>
          <c:extLst>
            <c:ext xmlns:c16="http://schemas.microsoft.com/office/drawing/2014/chart" uri="{C3380CC4-5D6E-409C-BE32-E72D297353CC}">
              <c16:uniqueId val="{00000002-0DE3-413B-BCFA-E0921DF056CA}"/>
            </c:ext>
          </c:extLst>
        </c:ser>
        <c:dLbls>
          <c:dLblPos val="outEnd"/>
          <c:showLegendKey val="0"/>
          <c:showVal val="1"/>
          <c:showCatName val="0"/>
          <c:showSerName val="0"/>
          <c:showPercent val="0"/>
          <c:showBubbleSize val="0"/>
        </c:dLbls>
        <c:gapWidth val="444"/>
        <c:overlap val="-90"/>
        <c:axId val="184526720"/>
        <c:axId val="184528256"/>
        <c:extLst/>
      </c:barChart>
      <c:catAx>
        <c:axId val="184526720"/>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0" spcFirstLastPara="1" vertOverflow="ellipsis" vert="horz" wrap="square" anchor="ctr" anchorCtr="1"/>
          <a:lstStyle/>
          <a:p>
            <a:pPr>
              <a:defRPr sz="1064" b="0" i="0" u="none" strike="noStrike" kern="1200" cap="all" spc="120" normalizeH="0" baseline="0">
                <a:solidFill>
                  <a:schemeClr val="tx1">
                    <a:lumMod val="65000"/>
                    <a:lumOff val="35000"/>
                  </a:schemeClr>
                </a:solidFill>
                <a:latin typeface="+mn-lt"/>
                <a:ea typeface="+mn-ea"/>
                <a:cs typeface="+mn-cs"/>
              </a:defRPr>
            </a:pPr>
            <a:endParaRPr lang="he-IL"/>
          </a:p>
        </c:txPr>
        <c:crossAx val="184528256"/>
        <c:crosses val="autoZero"/>
        <c:auto val="1"/>
        <c:lblAlgn val="ctr"/>
        <c:lblOffset val="100"/>
        <c:noMultiLvlLbl val="0"/>
      </c:catAx>
      <c:valAx>
        <c:axId val="184528256"/>
        <c:scaling>
          <c:orientation val="minMax"/>
          <c:max val="1.05"/>
          <c:min val="0"/>
        </c:scaling>
        <c:delete val="1"/>
        <c:axPos val="l"/>
        <c:numFmt formatCode="0%" sourceLinked="1"/>
        <c:majorTickMark val="none"/>
        <c:minorTickMark val="none"/>
        <c:tickLblPos val="nextTo"/>
        <c:crossAx val="18452672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1.1262886993089706E-2"/>
          <c:y val="4.9480359475461005E-2"/>
          <c:w val="0.89273376902919432"/>
          <c:h val="0.64734074074074077"/>
        </c:manualLayout>
      </c:layout>
      <c:barChart>
        <c:barDir val="col"/>
        <c:grouping val="clustered"/>
        <c:varyColors val="0"/>
        <c:ser>
          <c:idx val="0"/>
          <c:order val="0"/>
          <c:tx>
            <c:strRef>
              <c:f>Sheet1!$A$2</c:f>
              <c:strCache>
                <c:ptCount val="1"/>
                <c:pt idx="0">
                  <c:v>במידה מועטה</c:v>
                </c:pt>
              </c:strCache>
            </c:strRef>
          </c:tx>
          <c:spPr>
            <a:solidFill>
              <a:srgbClr val="FA4C75"/>
            </a:solidFill>
            <a:ln w="26415">
              <a:noFill/>
            </a:ln>
          </c:spPr>
          <c:invertIfNegative val="0"/>
          <c:dLbls>
            <c:spPr>
              <a:noFill/>
              <a:ln w="26415">
                <a:noFill/>
              </a:ln>
            </c:spPr>
            <c:txPr>
              <a:bodyPr/>
              <a:lstStyle/>
              <a:p>
                <a:pPr>
                  <a:defRPr sz="1200" b="0" cap="none" spc="0">
                    <a:ln w="0"/>
                    <a:solidFill>
                      <a:schemeClr val="tx1"/>
                    </a:solidFill>
                    <a:effectLst>
                      <a:outerShdw blurRad="38100" dist="19050" dir="2700000" algn="tl" rotWithShape="0">
                        <a:schemeClr val="dk1">
                          <a:alpha val="40000"/>
                        </a:schemeClr>
                      </a:outerShdw>
                    </a:effectLst>
                  </a:defRPr>
                </a:pPr>
                <a:endParaRPr lang="he-IL"/>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לא ביקשו להישפט
מגזר יהודי</c:v>
                </c:pt>
                <c:pt idx="1">
                  <c:v>לא ביקשו להישפט
מגזר ערבי</c:v>
                </c:pt>
                <c:pt idx="2">
                  <c:v>ביקשו להישפט
מגזר יהודי</c:v>
                </c:pt>
                <c:pt idx="3">
                  <c:v>ביקשו להישפט
מגזר ערבי</c:v>
                </c:pt>
                <c:pt idx="4">
                  <c:v>לא ביקשו להישפט
מגזר יהודי</c:v>
                </c:pt>
                <c:pt idx="5">
                  <c:v>לא ביקשו להישפט
מגזר ערבי</c:v>
                </c:pt>
                <c:pt idx="6">
                  <c:v>ביקשו להישפט
מגזר יהודי</c:v>
                </c:pt>
                <c:pt idx="7">
                  <c:v>ביקשו להישפט
מגזר ערבי</c:v>
                </c:pt>
              </c:strCache>
            </c:strRef>
          </c:cat>
          <c:val>
            <c:numRef>
              <c:f>Sheet1!$B$2:$I$2</c:f>
              <c:numCache>
                <c:formatCode>0%</c:formatCode>
                <c:ptCount val="8"/>
                <c:pt idx="0">
                  <c:v>0.14689265536723164</c:v>
                </c:pt>
                <c:pt idx="1">
                  <c:v>0.12790697674418605</c:v>
                </c:pt>
                <c:pt idx="2">
                  <c:v>0.22981366459627328</c:v>
                </c:pt>
                <c:pt idx="3">
                  <c:v>0.13580246913580246</c:v>
                </c:pt>
                <c:pt idx="4">
                  <c:v>0.15819209039548021</c:v>
                </c:pt>
                <c:pt idx="5">
                  <c:v>0.13953488372093023</c:v>
                </c:pt>
                <c:pt idx="6">
                  <c:v>0.16770186335403725</c:v>
                </c:pt>
                <c:pt idx="7">
                  <c:v>0.1851851851851852</c:v>
                </c:pt>
              </c:numCache>
            </c:numRef>
          </c:val>
          <c:extLst>
            <c:ext xmlns:c16="http://schemas.microsoft.com/office/drawing/2014/chart" uri="{C3380CC4-5D6E-409C-BE32-E72D297353CC}">
              <c16:uniqueId val="{00000000-C22D-4B9D-86F3-566C9D6B1923}"/>
            </c:ext>
          </c:extLst>
        </c:ser>
        <c:ser>
          <c:idx val="1"/>
          <c:order val="1"/>
          <c:tx>
            <c:strRef>
              <c:f>Sheet1!$A$3</c:f>
              <c:strCache>
                <c:ptCount val="1"/>
                <c:pt idx="0">
                  <c:v>במידה בינונית</c:v>
                </c:pt>
              </c:strCache>
            </c:strRef>
          </c:tx>
          <c:spPr>
            <a:solidFill>
              <a:srgbClr val="FFB9C0"/>
            </a:solidFill>
          </c:spPr>
          <c:invertIfNegative val="0"/>
          <c:dLbls>
            <c:spPr>
              <a:noFill/>
              <a:ln>
                <a:noFill/>
              </a:ln>
              <a:effectLst/>
            </c:spPr>
            <c:txPr>
              <a:bodyPr wrap="square" lIns="38100" tIns="19050" rIns="38100" bIns="19050" anchor="ctr">
                <a:spAutoFit/>
              </a:bodyPr>
              <a:lstStyle/>
              <a:p>
                <a:pPr>
                  <a:defRPr sz="1200" b="0" cap="none" spc="0">
                    <a:ln w="0"/>
                    <a:solidFill>
                      <a:schemeClr val="tx1"/>
                    </a:solidFill>
                    <a:effectLst>
                      <a:outerShdw blurRad="38100" dist="19050" dir="2700000" algn="tl" rotWithShape="0">
                        <a:schemeClr val="dk1">
                          <a:alpha val="40000"/>
                        </a:schemeClr>
                      </a:outerShdw>
                    </a:effectLst>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Sheet1!$B$1:$I$1</c:f>
              <c:strCache>
                <c:ptCount val="8"/>
                <c:pt idx="0">
                  <c:v>לא ביקשו להישפט
מגזר יהודי</c:v>
                </c:pt>
                <c:pt idx="1">
                  <c:v>לא ביקשו להישפט
מגזר ערבי</c:v>
                </c:pt>
                <c:pt idx="2">
                  <c:v>ביקשו להישפט
מגזר יהודי</c:v>
                </c:pt>
                <c:pt idx="3">
                  <c:v>ביקשו להישפט
מגזר ערבי</c:v>
                </c:pt>
                <c:pt idx="4">
                  <c:v>לא ביקשו להישפט
מגזר יהודי</c:v>
                </c:pt>
                <c:pt idx="5">
                  <c:v>לא ביקשו להישפט
מגזר ערבי</c:v>
                </c:pt>
                <c:pt idx="6">
                  <c:v>ביקשו להישפט
מגזר יהודי</c:v>
                </c:pt>
                <c:pt idx="7">
                  <c:v>ביקשו להישפט
מגזר ערבי</c:v>
                </c:pt>
              </c:strCache>
            </c:strRef>
          </c:cat>
          <c:val>
            <c:numRef>
              <c:f>Sheet1!$B$3:$I$3</c:f>
              <c:numCache>
                <c:formatCode>0%</c:formatCode>
                <c:ptCount val="8"/>
                <c:pt idx="0">
                  <c:v>0.12994350282485875</c:v>
                </c:pt>
                <c:pt idx="1">
                  <c:v>0.11627906976744186</c:v>
                </c:pt>
                <c:pt idx="2">
                  <c:v>0.16770186335403725</c:v>
                </c:pt>
                <c:pt idx="3">
                  <c:v>0.22222222222222221</c:v>
                </c:pt>
                <c:pt idx="4">
                  <c:v>0.15254237288135594</c:v>
                </c:pt>
                <c:pt idx="5">
                  <c:v>0.23255813953488372</c:v>
                </c:pt>
                <c:pt idx="6">
                  <c:v>0.20496894409937888</c:v>
                </c:pt>
                <c:pt idx="7">
                  <c:v>0.27160493827160492</c:v>
                </c:pt>
              </c:numCache>
            </c:numRef>
          </c:val>
          <c:extLst>
            <c:ext xmlns:c16="http://schemas.microsoft.com/office/drawing/2014/chart" uri="{C3380CC4-5D6E-409C-BE32-E72D297353CC}">
              <c16:uniqueId val="{00000001-C22D-4B9D-86F3-566C9D6B1923}"/>
            </c:ext>
          </c:extLst>
        </c:ser>
        <c:ser>
          <c:idx val="2"/>
          <c:order val="2"/>
          <c:tx>
            <c:strRef>
              <c:f>Sheet1!$A$4</c:f>
              <c:strCache>
                <c:ptCount val="1"/>
                <c:pt idx="0">
                  <c:v>במידה רבה</c:v>
                </c:pt>
              </c:strCache>
            </c:strRef>
          </c:tx>
          <c:spPr>
            <a:solidFill>
              <a:srgbClr val="09AFA7"/>
            </a:solidFill>
            <a:ln w="26415">
              <a:noFill/>
            </a:ln>
          </c:spPr>
          <c:invertIfNegative val="0"/>
          <c:dLbls>
            <c:spPr>
              <a:noFill/>
              <a:ln w="26415">
                <a:noFill/>
              </a:ln>
            </c:spPr>
            <c:txPr>
              <a:bodyPr wrap="square" lIns="38100" tIns="19050" rIns="38100" bIns="19050" anchor="ctr">
                <a:spAutoFit/>
              </a:bodyPr>
              <a:lstStyle/>
              <a:p>
                <a:pPr>
                  <a:defRPr sz="1200" b="0" cap="none" spc="0">
                    <a:ln w="0"/>
                    <a:solidFill>
                      <a:schemeClr val="tx1"/>
                    </a:solidFill>
                    <a:effectLst>
                      <a:outerShdw blurRad="38100" dist="19050" dir="2700000" algn="tl" rotWithShape="0">
                        <a:schemeClr val="dk1">
                          <a:alpha val="40000"/>
                        </a:schemeClr>
                      </a:outerShdw>
                    </a:effectLst>
                  </a:defRPr>
                </a:pPr>
                <a:endParaRPr lang="he-IL"/>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לא ביקשו להישפט
מגזר יהודי</c:v>
                </c:pt>
                <c:pt idx="1">
                  <c:v>לא ביקשו להישפט
מגזר ערבי</c:v>
                </c:pt>
                <c:pt idx="2">
                  <c:v>ביקשו להישפט
מגזר יהודי</c:v>
                </c:pt>
                <c:pt idx="3">
                  <c:v>ביקשו להישפט
מגזר ערבי</c:v>
                </c:pt>
                <c:pt idx="4">
                  <c:v>לא ביקשו להישפט
מגזר יהודי</c:v>
                </c:pt>
                <c:pt idx="5">
                  <c:v>לא ביקשו להישפט
מגזר ערבי</c:v>
                </c:pt>
                <c:pt idx="6">
                  <c:v>ביקשו להישפט
מגזר יהודי</c:v>
                </c:pt>
                <c:pt idx="7">
                  <c:v>ביקשו להישפט
מגזר ערבי</c:v>
                </c:pt>
              </c:strCache>
            </c:strRef>
          </c:cat>
          <c:val>
            <c:numRef>
              <c:f>Sheet1!$B$4:$I$4</c:f>
              <c:numCache>
                <c:formatCode>0%</c:formatCode>
                <c:ptCount val="8"/>
                <c:pt idx="0">
                  <c:v>0.71751412429378536</c:v>
                </c:pt>
                <c:pt idx="1">
                  <c:v>0.7558139534883721</c:v>
                </c:pt>
                <c:pt idx="2">
                  <c:v>0.58385093167701863</c:v>
                </c:pt>
                <c:pt idx="3">
                  <c:v>0.61728395061728392</c:v>
                </c:pt>
                <c:pt idx="4">
                  <c:v>0.67231638418079098</c:v>
                </c:pt>
                <c:pt idx="5">
                  <c:v>0.62790697674418605</c:v>
                </c:pt>
                <c:pt idx="6">
                  <c:v>0.60248447204968947</c:v>
                </c:pt>
                <c:pt idx="7">
                  <c:v>0.53086419753086422</c:v>
                </c:pt>
              </c:numCache>
            </c:numRef>
          </c:val>
          <c:extLst>
            <c:ext xmlns:c16="http://schemas.microsoft.com/office/drawing/2014/chart" uri="{C3380CC4-5D6E-409C-BE32-E72D297353CC}">
              <c16:uniqueId val="{00000002-C22D-4B9D-86F3-566C9D6B1923}"/>
            </c:ext>
          </c:extLst>
        </c:ser>
        <c:ser>
          <c:idx val="3"/>
          <c:order val="3"/>
          <c:tx>
            <c:strRef>
              <c:f>Sheet1!$A$5</c:f>
              <c:strCache>
                <c:ptCount val="1"/>
                <c:pt idx="0">
                  <c:v>ממוצע</c:v>
                </c:pt>
              </c:strCache>
            </c:strRef>
          </c:tx>
          <c:spPr>
            <a:noFill/>
            <a:ln w="26415">
              <a:noFill/>
            </a:ln>
          </c:spPr>
          <c:invertIfNegative val="0"/>
          <c:dLbls>
            <c:spPr>
              <a:noFill/>
              <a:ln w="26415">
                <a:noFill/>
              </a:ln>
            </c:spPr>
            <c:txPr>
              <a:bodyPr wrap="square" lIns="38100" tIns="19050" rIns="38100" bIns="19050" anchor="ctr">
                <a:spAutoFit/>
              </a:bodyPr>
              <a:lstStyle/>
              <a:p>
                <a:pPr>
                  <a:defRPr sz="1400" b="1">
                    <a:solidFill>
                      <a:schemeClr val="tx1"/>
                    </a:solidFill>
                    <a:highlight>
                      <a:srgbClr val="FFFF00"/>
                    </a:highlight>
                  </a:defRPr>
                </a:pPr>
                <a:endParaRPr lang="he-IL"/>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Sheet1!$B$1:$I$1</c:f>
              <c:strCache>
                <c:ptCount val="8"/>
                <c:pt idx="0">
                  <c:v>לא ביקשו להישפט
מגזר יהודי</c:v>
                </c:pt>
                <c:pt idx="1">
                  <c:v>לא ביקשו להישפט
מגזר ערבי</c:v>
                </c:pt>
                <c:pt idx="2">
                  <c:v>ביקשו להישפט
מגזר יהודי</c:v>
                </c:pt>
                <c:pt idx="3">
                  <c:v>ביקשו להישפט
מגזר ערבי</c:v>
                </c:pt>
                <c:pt idx="4">
                  <c:v>לא ביקשו להישפט
מגזר יהודי</c:v>
                </c:pt>
                <c:pt idx="5">
                  <c:v>לא ביקשו להישפט
מגזר ערבי</c:v>
                </c:pt>
                <c:pt idx="6">
                  <c:v>ביקשו להישפט
מגזר יהודי</c:v>
                </c:pt>
                <c:pt idx="7">
                  <c:v>ביקשו להישפט
מגזר ערבי</c:v>
                </c:pt>
              </c:strCache>
            </c:strRef>
          </c:cat>
          <c:val>
            <c:numRef>
              <c:f>Sheet1!$B$5:$I$5</c:f>
              <c:numCache>
                <c:formatCode>0.0</c:formatCode>
                <c:ptCount val="8"/>
                <c:pt idx="0">
                  <c:v>4.0340909090909109</c:v>
                </c:pt>
                <c:pt idx="1">
                  <c:v>4.1744186046511595</c:v>
                </c:pt>
                <c:pt idx="2">
                  <c:v>3.6139240506329093</c:v>
                </c:pt>
                <c:pt idx="3">
                  <c:v>3.8227848101265818</c:v>
                </c:pt>
                <c:pt idx="4">
                  <c:v>3.9252873563218396</c:v>
                </c:pt>
                <c:pt idx="5">
                  <c:v>3.8953488372093039</c:v>
                </c:pt>
                <c:pt idx="6">
                  <c:v>3.7452229299363049</c:v>
                </c:pt>
                <c:pt idx="7">
                  <c:v>3.5750000000000002</c:v>
                </c:pt>
              </c:numCache>
            </c:numRef>
          </c:val>
          <c:extLst>
            <c:ext xmlns:c16="http://schemas.microsoft.com/office/drawing/2014/chart" uri="{C3380CC4-5D6E-409C-BE32-E72D297353CC}">
              <c16:uniqueId val="{00000003-C22D-4B9D-86F3-566C9D6B1923}"/>
            </c:ext>
          </c:extLst>
        </c:ser>
        <c:dLbls>
          <c:showLegendKey val="0"/>
          <c:showVal val="0"/>
          <c:showCatName val="0"/>
          <c:showSerName val="0"/>
          <c:showPercent val="0"/>
          <c:showBubbleSize val="0"/>
        </c:dLbls>
        <c:gapWidth val="60"/>
        <c:axId val="1594904751"/>
        <c:axId val="1"/>
      </c:barChart>
      <c:catAx>
        <c:axId val="1594904751"/>
        <c:scaling>
          <c:orientation val="minMax"/>
        </c:scaling>
        <c:delete val="0"/>
        <c:axPos val="b"/>
        <c:numFmt formatCode="General" sourceLinked="1"/>
        <c:majorTickMark val="out"/>
        <c:minorTickMark val="none"/>
        <c:tickLblPos val="nextTo"/>
        <c:spPr>
          <a:ln>
            <a:noFill/>
          </a:ln>
        </c:spPr>
        <c:txPr>
          <a:bodyPr/>
          <a:lstStyle/>
          <a:p>
            <a:pPr>
              <a:defRPr sz="1050"/>
            </a:pPr>
            <a:endParaRPr lang="he-IL"/>
          </a:p>
        </c:txPr>
        <c:crossAx val="1"/>
        <c:crosses val="autoZero"/>
        <c:auto val="1"/>
        <c:lblAlgn val="ctr"/>
        <c:lblOffset val="100"/>
        <c:noMultiLvlLbl val="0"/>
      </c:catAx>
      <c:valAx>
        <c:axId val="1"/>
        <c:scaling>
          <c:orientation val="minMax"/>
          <c:max val="1.2"/>
          <c:min val="0"/>
        </c:scaling>
        <c:delete val="1"/>
        <c:axPos val="l"/>
        <c:numFmt formatCode="0%" sourceLinked="1"/>
        <c:majorTickMark val="out"/>
        <c:minorTickMark val="none"/>
        <c:tickLblPos val="nextTo"/>
        <c:crossAx val="1594904751"/>
        <c:crosses val="autoZero"/>
        <c:crossBetween val="between"/>
      </c:valAx>
      <c:spPr>
        <a:noFill/>
        <a:ln w="26415">
          <a:noFill/>
        </a:ln>
      </c:spPr>
    </c:plotArea>
    <c:legend>
      <c:legendPos val="r"/>
      <c:legendEntry>
        <c:idx val="0"/>
        <c:txPr>
          <a:bodyPr/>
          <a:lstStyle/>
          <a:p>
            <a:pPr rtl="0">
              <a:defRPr sz="1100"/>
            </a:pPr>
            <a:endParaRPr lang="he-IL"/>
          </a:p>
        </c:txPr>
      </c:legendEntry>
      <c:legendEntry>
        <c:idx val="1"/>
        <c:txPr>
          <a:bodyPr/>
          <a:lstStyle/>
          <a:p>
            <a:pPr rtl="0">
              <a:defRPr sz="1100"/>
            </a:pPr>
            <a:endParaRPr lang="he-IL"/>
          </a:p>
        </c:txPr>
      </c:legendEntry>
      <c:legendEntry>
        <c:idx val="2"/>
        <c:txPr>
          <a:bodyPr/>
          <a:lstStyle/>
          <a:p>
            <a:pPr rtl="0">
              <a:defRPr sz="1100" b="0"/>
            </a:pPr>
            <a:endParaRPr lang="he-IL"/>
          </a:p>
        </c:txPr>
      </c:legendEntry>
      <c:legendEntry>
        <c:idx val="3"/>
        <c:txPr>
          <a:bodyPr/>
          <a:lstStyle/>
          <a:p>
            <a:pPr rtl="0">
              <a:defRPr sz="1200" b="1"/>
            </a:pPr>
            <a:endParaRPr lang="he-IL"/>
          </a:p>
        </c:txPr>
      </c:legendEntry>
      <c:layout>
        <c:manualLayout>
          <c:xMode val="edge"/>
          <c:yMode val="edge"/>
          <c:x val="0.89519791228649992"/>
          <c:y val="3.6486882894439167E-2"/>
          <c:w val="8.9100033189181235E-2"/>
          <c:h val="0.69915151515151519"/>
        </c:manualLayout>
      </c:layout>
      <c:overlay val="0"/>
      <c:txPr>
        <a:bodyPr/>
        <a:lstStyle/>
        <a:p>
          <a:pPr rtl="0">
            <a:defRPr sz="1050"/>
          </a:pPr>
          <a:endParaRPr lang="he-IL"/>
        </a:p>
      </c:txPr>
    </c:legend>
    <c:plotVisOnly val="1"/>
    <c:dispBlanksAs val="gap"/>
    <c:showDLblsOverMax val="0"/>
  </c:chart>
  <c:spPr>
    <a:noFill/>
    <a:ln>
      <a:noFill/>
    </a:ln>
  </c:spPr>
  <c:txPr>
    <a:bodyPr/>
    <a:lstStyle/>
    <a:p>
      <a:pPr>
        <a:defRPr sz="1400" b="0" i="0" u="none" strike="noStrike" baseline="0">
          <a:solidFill>
            <a:schemeClr val="tx1">
              <a:lumMod val="75000"/>
              <a:lumOff val="25000"/>
            </a:schemeClr>
          </a:solidFill>
          <a:latin typeface="Segoe UI"/>
          <a:ea typeface="Segoe UI"/>
          <a:cs typeface="Segoe UI"/>
        </a:defRPr>
      </a:pPr>
      <a:endParaRPr lang="he-IL"/>
    </a:p>
  </c:txPr>
  <c:externalData r:id="rId2">
    <c:autoUpdate val="0"/>
  </c:externalData>
</c:chartSpace>
</file>

<file path=ppt/charts/chart4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1.1262886993089706E-2"/>
          <c:y val="4.9480359475461005E-2"/>
          <c:w val="0.89273376902919432"/>
          <c:h val="0.64734074074074077"/>
        </c:manualLayout>
      </c:layout>
      <c:barChart>
        <c:barDir val="col"/>
        <c:grouping val="clustered"/>
        <c:varyColors val="0"/>
        <c:ser>
          <c:idx val="0"/>
          <c:order val="0"/>
          <c:tx>
            <c:strRef>
              <c:f>Sheet1!$A$2</c:f>
              <c:strCache>
                <c:ptCount val="1"/>
                <c:pt idx="0">
                  <c:v>במידה מועטה</c:v>
                </c:pt>
              </c:strCache>
            </c:strRef>
          </c:tx>
          <c:spPr>
            <a:solidFill>
              <a:srgbClr val="FA4C75"/>
            </a:solidFill>
            <a:ln w="26415">
              <a:noFill/>
            </a:ln>
          </c:spPr>
          <c:invertIfNegative val="0"/>
          <c:dLbls>
            <c:spPr>
              <a:noFill/>
              <a:ln w="26415">
                <a:noFill/>
              </a:ln>
            </c:spPr>
            <c:txPr>
              <a:bodyPr/>
              <a:lstStyle/>
              <a:p>
                <a:pPr>
                  <a:defRPr sz="1200" b="0" cap="none" spc="0">
                    <a:ln w="0"/>
                    <a:solidFill>
                      <a:schemeClr val="tx1"/>
                    </a:solidFill>
                    <a:effectLst>
                      <a:outerShdw blurRad="38100" dist="19050" dir="2700000" algn="tl" rotWithShape="0">
                        <a:schemeClr val="dk1">
                          <a:alpha val="40000"/>
                        </a:schemeClr>
                      </a:outerShdw>
                    </a:effectLst>
                  </a:defRPr>
                </a:pPr>
                <a:endParaRPr lang="he-IL"/>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לא ביקשו להישפט
מגזר יהודי</c:v>
                </c:pt>
                <c:pt idx="1">
                  <c:v>לא ביקשו להישפט
מגזר ערבי</c:v>
                </c:pt>
                <c:pt idx="2">
                  <c:v>ביקשו להישפט
מגזר יהודי</c:v>
                </c:pt>
                <c:pt idx="3">
                  <c:v>ביקשו להישפט
מגזר ערבי</c:v>
                </c:pt>
                <c:pt idx="4">
                  <c:v>לא ביקשו להישפט
מגזר יהודי</c:v>
                </c:pt>
                <c:pt idx="5">
                  <c:v>לא ביקשו להישפט
מגזר ערבי</c:v>
                </c:pt>
                <c:pt idx="6">
                  <c:v>ביקשו להישפט
מגזר יהודי</c:v>
                </c:pt>
                <c:pt idx="7">
                  <c:v>ביקשו להישפט
מגזר ערבי</c:v>
                </c:pt>
              </c:strCache>
            </c:strRef>
          </c:cat>
          <c:val>
            <c:numRef>
              <c:f>Sheet1!$B$2:$I$2</c:f>
              <c:numCache>
                <c:formatCode>0%</c:formatCode>
                <c:ptCount val="8"/>
                <c:pt idx="0">
                  <c:v>0.42899999999999999</c:v>
                </c:pt>
                <c:pt idx="1">
                  <c:v>0.33700000000000002</c:v>
                </c:pt>
                <c:pt idx="2">
                  <c:v>0.627</c:v>
                </c:pt>
                <c:pt idx="3">
                  <c:v>0.45700000000000002</c:v>
                </c:pt>
                <c:pt idx="4">
                  <c:v>0.55900000000000005</c:v>
                </c:pt>
                <c:pt idx="5">
                  <c:v>0.442</c:v>
                </c:pt>
                <c:pt idx="6">
                  <c:v>0.60199999999999998</c:v>
                </c:pt>
                <c:pt idx="7">
                  <c:v>0.49399999999999999</c:v>
                </c:pt>
              </c:numCache>
            </c:numRef>
          </c:val>
          <c:extLst>
            <c:ext xmlns:c16="http://schemas.microsoft.com/office/drawing/2014/chart" uri="{C3380CC4-5D6E-409C-BE32-E72D297353CC}">
              <c16:uniqueId val="{00000000-BB69-4CA6-AF54-BBE5F63AAFDC}"/>
            </c:ext>
          </c:extLst>
        </c:ser>
        <c:ser>
          <c:idx val="1"/>
          <c:order val="1"/>
          <c:tx>
            <c:strRef>
              <c:f>Sheet1!$A$3</c:f>
              <c:strCache>
                <c:ptCount val="1"/>
                <c:pt idx="0">
                  <c:v>במידה בינונית</c:v>
                </c:pt>
              </c:strCache>
            </c:strRef>
          </c:tx>
          <c:spPr>
            <a:solidFill>
              <a:srgbClr val="FFB9C0"/>
            </a:solidFill>
          </c:spPr>
          <c:invertIfNegative val="0"/>
          <c:dLbls>
            <c:spPr>
              <a:noFill/>
              <a:ln>
                <a:noFill/>
              </a:ln>
              <a:effectLst/>
            </c:spPr>
            <c:txPr>
              <a:bodyPr wrap="square" lIns="38100" tIns="19050" rIns="38100" bIns="19050" anchor="ctr">
                <a:spAutoFit/>
              </a:bodyPr>
              <a:lstStyle/>
              <a:p>
                <a:pPr>
                  <a:defRPr sz="1200" b="0" cap="none" spc="0">
                    <a:ln w="0"/>
                    <a:solidFill>
                      <a:schemeClr val="tx1"/>
                    </a:solidFill>
                    <a:effectLst>
                      <a:outerShdw blurRad="38100" dist="19050" dir="2700000" algn="tl" rotWithShape="0">
                        <a:schemeClr val="dk1">
                          <a:alpha val="40000"/>
                        </a:schemeClr>
                      </a:outerShdw>
                    </a:effectLst>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Sheet1!$B$1:$I$1</c:f>
              <c:strCache>
                <c:ptCount val="8"/>
                <c:pt idx="0">
                  <c:v>לא ביקשו להישפט
מגזר יהודי</c:v>
                </c:pt>
                <c:pt idx="1">
                  <c:v>לא ביקשו להישפט
מגזר ערבי</c:v>
                </c:pt>
                <c:pt idx="2">
                  <c:v>ביקשו להישפט
מגזר יהודי</c:v>
                </c:pt>
                <c:pt idx="3">
                  <c:v>ביקשו להישפט
מגזר ערבי</c:v>
                </c:pt>
                <c:pt idx="4">
                  <c:v>לא ביקשו להישפט
מגזר יהודי</c:v>
                </c:pt>
                <c:pt idx="5">
                  <c:v>לא ביקשו להישפט
מגזר ערבי</c:v>
                </c:pt>
                <c:pt idx="6">
                  <c:v>ביקשו להישפט
מגזר יהודי</c:v>
                </c:pt>
                <c:pt idx="7">
                  <c:v>ביקשו להישפט
מגזר ערבי</c:v>
                </c:pt>
              </c:strCache>
            </c:strRef>
          </c:cat>
          <c:val>
            <c:numRef>
              <c:f>Sheet1!$B$3:$I$3</c:f>
              <c:numCache>
                <c:formatCode>0%</c:formatCode>
                <c:ptCount val="8"/>
                <c:pt idx="0">
                  <c:v>0.20899999999999999</c:v>
                </c:pt>
                <c:pt idx="1">
                  <c:v>0.17399999999999999</c:v>
                </c:pt>
                <c:pt idx="2">
                  <c:v>0.16800000000000001</c:v>
                </c:pt>
                <c:pt idx="3">
                  <c:v>0.25900000000000001</c:v>
                </c:pt>
                <c:pt idx="4">
                  <c:v>0.186</c:v>
                </c:pt>
                <c:pt idx="5">
                  <c:v>0.19800000000000001</c:v>
                </c:pt>
                <c:pt idx="6">
                  <c:v>0.155</c:v>
                </c:pt>
                <c:pt idx="7">
                  <c:v>0.16</c:v>
                </c:pt>
              </c:numCache>
            </c:numRef>
          </c:val>
          <c:extLst>
            <c:ext xmlns:c16="http://schemas.microsoft.com/office/drawing/2014/chart" uri="{C3380CC4-5D6E-409C-BE32-E72D297353CC}">
              <c16:uniqueId val="{00000001-BB69-4CA6-AF54-BBE5F63AAFDC}"/>
            </c:ext>
          </c:extLst>
        </c:ser>
        <c:ser>
          <c:idx val="2"/>
          <c:order val="2"/>
          <c:tx>
            <c:strRef>
              <c:f>Sheet1!$A$4</c:f>
              <c:strCache>
                <c:ptCount val="1"/>
                <c:pt idx="0">
                  <c:v>במידה רבה</c:v>
                </c:pt>
              </c:strCache>
            </c:strRef>
          </c:tx>
          <c:spPr>
            <a:solidFill>
              <a:srgbClr val="09AFA7"/>
            </a:solidFill>
            <a:ln w="26415">
              <a:noFill/>
            </a:ln>
          </c:spPr>
          <c:invertIfNegative val="0"/>
          <c:dLbls>
            <c:spPr>
              <a:noFill/>
              <a:ln w="26415">
                <a:noFill/>
              </a:ln>
            </c:spPr>
            <c:txPr>
              <a:bodyPr wrap="square" lIns="38100" tIns="19050" rIns="38100" bIns="19050" anchor="ctr">
                <a:spAutoFit/>
              </a:bodyPr>
              <a:lstStyle/>
              <a:p>
                <a:pPr>
                  <a:defRPr sz="1200" b="0" cap="none" spc="0">
                    <a:ln w="0"/>
                    <a:solidFill>
                      <a:schemeClr val="tx1"/>
                    </a:solidFill>
                    <a:effectLst>
                      <a:outerShdw blurRad="38100" dist="19050" dir="2700000" algn="tl" rotWithShape="0">
                        <a:schemeClr val="dk1">
                          <a:alpha val="40000"/>
                        </a:schemeClr>
                      </a:outerShdw>
                    </a:effectLst>
                  </a:defRPr>
                </a:pPr>
                <a:endParaRPr lang="he-IL"/>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לא ביקשו להישפט
מגזר יהודי</c:v>
                </c:pt>
                <c:pt idx="1">
                  <c:v>לא ביקשו להישפט
מגזר ערבי</c:v>
                </c:pt>
                <c:pt idx="2">
                  <c:v>ביקשו להישפט
מגזר יהודי</c:v>
                </c:pt>
                <c:pt idx="3">
                  <c:v>ביקשו להישפט
מגזר ערבי</c:v>
                </c:pt>
                <c:pt idx="4">
                  <c:v>לא ביקשו להישפט
מגזר יהודי</c:v>
                </c:pt>
                <c:pt idx="5">
                  <c:v>לא ביקשו להישפט
מגזר ערבי</c:v>
                </c:pt>
                <c:pt idx="6">
                  <c:v>ביקשו להישפט
מגזר יהודי</c:v>
                </c:pt>
                <c:pt idx="7">
                  <c:v>ביקשו להישפט
מגזר ערבי</c:v>
                </c:pt>
              </c:strCache>
            </c:strRef>
          </c:cat>
          <c:val>
            <c:numRef>
              <c:f>Sheet1!$B$4:$I$4</c:f>
              <c:numCache>
                <c:formatCode>0%</c:formatCode>
                <c:ptCount val="8"/>
                <c:pt idx="0">
                  <c:v>0.33900000000000002</c:v>
                </c:pt>
                <c:pt idx="1">
                  <c:v>0.46500000000000002</c:v>
                </c:pt>
                <c:pt idx="2">
                  <c:v>0.193</c:v>
                </c:pt>
                <c:pt idx="3">
                  <c:v>0.247</c:v>
                </c:pt>
                <c:pt idx="4">
                  <c:v>0.22600000000000001</c:v>
                </c:pt>
                <c:pt idx="5">
                  <c:v>0.33700000000000002</c:v>
                </c:pt>
                <c:pt idx="6">
                  <c:v>0.224</c:v>
                </c:pt>
                <c:pt idx="7">
                  <c:v>0.32100000000000001</c:v>
                </c:pt>
              </c:numCache>
            </c:numRef>
          </c:val>
          <c:extLst>
            <c:ext xmlns:c16="http://schemas.microsoft.com/office/drawing/2014/chart" uri="{C3380CC4-5D6E-409C-BE32-E72D297353CC}">
              <c16:uniqueId val="{00000002-BB69-4CA6-AF54-BBE5F63AAFDC}"/>
            </c:ext>
          </c:extLst>
        </c:ser>
        <c:ser>
          <c:idx val="3"/>
          <c:order val="3"/>
          <c:tx>
            <c:strRef>
              <c:f>Sheet1!$A$5</c:f>
              <c:strCache>
                <c:ptCount val="1"/>
                <c:pt idx="0">
                  <c:v>ממוצע</c:v>
                </c:pt>
              </c:strCache>
            </c:strRef>
          </c:tx>
          <c:spPr>
            <a:noFill/>
            <a:ln w="26415">
              <a:noFill/>
            </a:ln>
          </c:spPr>
          <c:invertIfNegative val="0"/>
          <c:dLbls>
            <c:spPr>
              <a:noFill/>
              <a:ln w="26415">
                <a:noFill/>
              </a:ln>
            </c:spPr>
            <c:txPr>
              <a:bodyPr wrap="square" lIns="38100" tIns="19050" rIns="38100" bIns="19050" anchor="ctr">
                <a:spAutoFit/>
              </a:bodyPr>
              <a:lstStyle/>
              <a:p>
                <a:pPr>
                  <a:defRPr sz="1400" b="1">
                    <a:solidFill>
                      <a:schemeClr val="tx1"/>
                    </a:solidFill>
                    <a:highlight>
                      <a:srgbClr val="FFFF00"/>
                    </a:highlight>
                  </a:defRPr>
                </a:pPr>
                <a:endParaRPr lang="he-IL"/>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Sheet1!$B$1:$I$1</c:f>
              <c:strCache>
                <c:ptCount val="8"/>
                <c:pt idx="0">
                  <c:v>לא ביקשו להישפט
מגזר יהודי</c:v>
                </c:pt>
                <c:pt idx="1">
                  <c:v>לא ביקשו להישפט
מגזר ערבי</c:v>
                </c:pt>
                <c:pt idx="2">
                  <c:v>ביקשו להישפט
מגזר יהודי</c:v>
                </c:pt>
                <c:pt idx="3">
                  <c:v>ביקשו להישפט
מגזר ערבי</c:v>
                </c:pt>
                <c:pt idx="4">
                  <c:v>לא ביקשו להישפט
מגזר יהודי</c:v>
                </c:pt>
                <c:pt idx="5">
                  <c:v>לא ביקשו להישפט
מגזר ערבי</c:v>
                </c:pt>
                <c:pt idx="6">
                  <c:v>ביקשו להישפט
מגזר יהודי</c:v>
                </c:pt>
                <c:pt idx="7">
                  <c:v>ביקשו להישפט
מגזר ערבי</c:v>
                </c:pt>
              </c:strCache>
            </c:strRef>
          </c:cat>
          <c:val>
            <c:numRef>
              <c:f>Sheet1!$B$5:$I$5</c:f>
              <c:numCache>
                <c:formatCode>0.0</c:formatCode>
                <c:ptCount val="8"/>
                <c:pt idx="0">
                  <c:v>2.8</c:v>
                </c:pt>
                <c:pt idx="1">
                  <c:v>3.2</c:v>
                </c:pt>
                <c:pt idx="2">
                  <c:v>2.2000000000000002</c:v>
                </c:pt>
                <c:pt idx="3">
                  <c:v>2.5</c:v>
                </c:pt>
                <c:pt idx="4">
                  <c:v>2.4</c:v>
                </c:pt>
                <c:pt idx="5">
                  <c:v>2.8</c:v>
                </c:pt>
                <c:pt idx="6">
                  <c:v>2.4</c:v>
                </c:pt>
                <c:pt idx="7">
                  <c:v>2.6</c:v>
                </c:pt>
              </c:numCache>
            </c:numRef>
          </c:val>
          <c:extLst>
            <c:ext xmlns:c16="http://schemas.microsoft.com/office/drawing/2014/chart" uri="{C3380CC4-5D6E-409C-BE32-E72D297353CC}">
              <c16:uniqueId val="{00000003-BB69-4CA6-AF54-BBE5F63AAFDC}"/>
            </c:ext>
          </c:extLst>
        </c:ser>
        <c:dLbls>
          <c:showLegendKey val="0"/>
          <c:showVal val="0"/>
          <c:showCatName val="0"/>
          <c:showSerName val="0"/>
          <c:showPercent val="0"/>
          <c:showBubbleSize val="0"/>
        </c:dLbls>
        <c:gapWidth val="60"/>
        <c:axId val="1594904751"/>
        <c:axId val="1"/>
      </c:barChart>
      <c:catAx>
        <c:axId val="1594904751"/>
        <c:scaling>
          <c:orientation val="minMax"/>
        </c:scaling>
        <c:delete val="1"/>
        <c:axPos val="b"/>
        <c:numFmt formatCode="General" sourceLinked="1"/>
        <c:majorTickMark val="out"/>
        <c:minorTickMark val="none"/>
        <c:tickLblPos val="nextTo"/>
        <c:crossAx val="1"/>
        <c:crosses val="autoZero"/>
        <c:auto val="1"/>
        <c:lblAlgn val="ctr"/>
        <c:lblOffset val="100"/>
        <c:noMultiLvlLbl val="0"/>
      </c:catAx>
      <c:valAx>
        <c:axId val="1"/>
        <c:scaling>
          <c:orientation val="minMax"/>
          <c:max val="1.2"/>
          <c:min val="0"/>
        </c:scaling>
        <c:delete val="1"/>
        <c:axPos val="l"/>
        <c:numFmt formatCode="0%" sourceLinked="1"/>
        <c:majorTickMark val="out"/>
        <c:minorTickMark val="none"/>
        <c:tickLblPos val="nextTo"/>
        <c:crossAx val="1594904751"/>
        <c:crosses val="autoZero"/>
        <c:crossBetween val="between"/>
      </c:valAx>
      <c:spPr>
        <a:noFill/>
        <a:ln w="26415">
          <a:noFill/>
        </a:ln>
      </c:spPr>
    </c:plotArea>
    <c:legend>
      <c:legendPos val="r"/>
      <c:legendEntry>
        <c:idx val="0"/>
        <c:txPr>
          <a:bodyPr/>
          <a:lstStyle/>
          <a:p>
            <a:pPr rtl="0">
              <a:defRPr sz="1100"/>
            </a:pPr>
            <a:endParaRPr lang="he-IL"/>
          </a:p>
        </c:txPr>
      </c:legendEntry>
      <c:legendEntry>
        <c:idx val="1"/>
        <c:txPr>
          <a:bodyPr/>
          <a:lstStyle/>
          <a:p>
            <a:pPr rtl="0">
              <a:defRPr sz="1100"/>
            </a:pPr>
            <a:endParaRPr lang="he-IL"/>
          </a:p>
        </c:txPr>
      </c:legendEntry>
      <c:legendEntry>
        <c:idx val="2"/>
        <c:txPr>
          <a:bodyPr/>
          <a:lstStyle/>
          <a:p>
            <a:pPr rtl="0">
              <a:defRPr sz="1100" b="0"/>
            </a:pPr>
            <a:endParaRPr lang="he-IL"/>
          </a:p>
        </c:txPr>
      </c:legendEntry>
      <c:legendEntry>
        <c:idx val="3"/>
        <c:txPr>
          <a:bodyPr/>
          <a:lstStyle/>
          <a:p>
            <a:pPr rtl="0">
              <a:defRPr sz="1200" b="1"/>
            </a:pPr>
            <a:endParaRPr lang="he-IL"/>
          </a:p>
        </c:txPr>
      </c:legendEntry>
      <c:layout>
        <c:manualLayout>
          <c:xMode val="edge"/>
          <c:yMode val="edge"/>
          <c:x val="0.89519791228649992"/>
          <c:y val="3.6486882894439167E-2"/>
          <c:w val="8.9100033189181235E-2"/>
          <c:h val="0.69915151515151519"/>
        </c:manualLayout>
      </c:layout>
      <c:overlay val="0"/>
      <c:txPr>
        <a:bodyPr/>
        <a:lstStyle/>
        <a:p>
          <a:pPr rtl="0">
            <a:defRPr sz="1050"/>
          </a:pPr>
          <a:endParaRPr lang="he-IL"/>
        </a:p>
      </c:txPr>
    </c:legend>
    <c:plotVisOnly val="1"/>
    <c:dispBlanksAs val="gap"/>
    <c:showDLblsOverMax val="0"/>
  </c:chart>
  <c:spPr>
    <a:noFill/>
    <a:ln>
      <a:noFill/>
    </a:ln>
  </c:spPr>
  <c:txPr>
    <a:bodyPr/>
    <a:lstStyle/>
    <a:p>
      <a:pPr>
        <a:defRPr sz="1400" b="0" i="0" u="none" strike="noStrike" baseline="0">
          <a:solidFill>
            <a:schemeClr val="tx1">
              <a:lumMod val="75000"/>
              <a:lumOff val="25000"/>
            </a:schemeClr>
          </a:solidFill>
          <a:latin typeface="Segoe UI"/>
          <a:ea typeface="Segoe UI"/>
          <a:cs typeface="Segoe UI"/>
        </a:defRPr>
      </a:pPr>
      <a:endParaRPr lang="he-IL"/>
    </a:p>
  </c:txPr>
  <c:externalData r:id="rId2">
    <c:autoUpdate val="0"/>
  </c:externalData>
</c:chartSpace>
</file>

<file path=ppt/charts/chart4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7859770769818229E-2"/>
          <c:y val="4.3281067273958265E-2"/>
          <c:w val="0.78658031430227515"/>
          <c:h val="0.84021001803542239"/>
        </c:manualLayout>
      </c:layout>
      <c:barChart>
        <c:barDir val="col"/>
        <c:grouping val="clustered"/>
        <c:varyColors val="0"/>
        <c:ser>
          <c:idx val="0"/>
          <c:order val="0"/>
          <c:tx>
            <c:strRef>
              <c:f>Sheet1!$A$2</c:f>
              <c:strCache>
                <c:ptCount val="1"/>
                <c:pt idx="0">
                  <c:v>כן - להמיר באזהרה</c:v>
                </c:pt>
              </c:strCache>
            </c:strRef>
          </c:tx>
          <c:spPr>
            <a:solidFill>
              <a:srgbClr val="09AFA7"/>
            </a:solidFill>
            <a:ln w="31750">
              <a:noFill/>
            </a:ln>
          </c:spPr>
          <c:invertIfNegative val="0"/>
          <c:dLbls>
            <c:spPr>
              <a:noFill/>
              <a:ln>
                <a:noFill/>
              </a:ln>
              <a:effectLst/>
            </c:spPr>
            <c:txPr>
              <a:bodyPr/>
              <a:lstStyle/>
              <a:p>
                <a:pPr>
                  <a:defRPr sz="1200" b="1">
                    <a:solidFill>
                      <a:schemeClr val="bg1"/>
                    </a:solidFill>
                    <a:latin typeface="Segoe UI" panose="020B0502040204020203" pitchFamily="34" charset="0"/>
                    <a:cs typeface="Segoe UI" panose="020B0502040204020203" pitchFamily="34" charset="0"/>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Sheet1!$B$1:$C$1</c:f>
              <c:strCache>
                <c:ptCount val="2"/>
                <c:pt idx="0">
                  <c:v>מגזר יהודי</c:v>
                </c:pt>
                <c:pt idx="1">
                  <c:v>מגזר ערבי</c:v>
                </c:pt>
              </c:strCache>
            </c:strRef>
          </c:cat>
          <c:val>
            <c:numRef>
              <c:f>Sheet1!$B$2:$C$2</c:f>
              <c:numCache>
                <c:formatCode>0%</c:formatCode>
                <c:ptCount val="2"/>
                <c:pt idx="0">
                  <c:v>0.2824858757062147</c:v>
                </c:pt>
                <c:pt idx="1">
                  <c:v>0.26744186046511631</c:v>
                </c:pt>
              </c:numCache>
            </c:numRef>
          </c:val>
          <c:extLst>
            <c:ext xmlns:c16="http://schemas.microsoft.com/office/drawing/2014/chart" uri="{C3380CC4-5D6E-409C-BE32-E72D297353CC}">
              <c16:uniqueId val="{00000000-0DE3-413B-BCFA-E0921DF056CA}"/>
            </c:ext>
          </c:extLst>
        </c:ser>
        <c:ser>
          <c:idx val="1"/>
          <c:order val="1"/>
          <c:tx>
            <c:strRef>
              <c:f>Sheet1!$A$3</c:f>
              <c:strCache>
                <c:ptCount val="1"/>
                <c:pt idx="0">
                  <c:v>כן - לבקש להישפט</c:v>
                </c:pt>
              </c:strCache>
            </c:strRef>
          </c:tx>
          <c:spPr>
            <a:solidFill>
              <a:srgbClr val="59D3B6"/>
            </a:solidFill>
          </c:spPr>
          <c:invertIfNegative val="0"/>
          <c:dLbls>
            <c:spPr>
              <a:noFill/>
              <a:ln>
                <a:noFill/>
              </a:ln>
              <a:effectLst/>
            </c:spPr>
            <c:txPr>
              <a:bodyPr anchorCtr="0"/>
              <a:lstStyle/>
              <a:p>
                <a:pPr algn="ctr">
                  <a:defRPr lang="he-IL" sz="1200" b="1" i="0" u="none" strike="noStrike" kern="1200" baseline="0">
                    <a:solidFill>
                      <a:schemeClr val="bg1"/>
                    </a:solidFill>
                    <a:latin typeface="Segoe UI" panose="020B0502040204020203" pitchFamily="34" charset="0"/>
                    <a:ea typeface="Arial"/>
                    <a:cs typeface="Segoe UI" panose="020B0502040204020203" pitchFamily="34" charset="0"/>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Sheet1!$B$1:$C$1</c:f>
              <c:strCache>
                <c:ptCount val="2"/>
                <c:pt idx="0">
                  <c:v>מגזר יהודי</c:v>
                </c:pt>
                <c:pt idx="1">
                  <c:v>מגזר ערבי</c:v>
                </c:pt>
              </c:strCache>
            </c:strRef>
          </c:cat>
          <c:val>
            <c:numRef>
              <c:f>Sheet1!$B$3:$C$3</c:f>
              <c:numCache>
                <c:formatCode>0%</c:formatCode>
                <c:ptCount val="2"/>
                <c:pt idx="0">
                  <c:v>0.38418079096045199</c:v>
                </c:pt>
                <c:pt idx="1">
                  <c:v>0.44186046511627908</c:v>
                </c:pt>
              </c:numCache>
            </c:numRef>
          </c:val>
          <c:extLst>
            <c:ext xmlns:c16="http://schemas.microsoft.com/office/drawing/2014/chart" uri="{C3380CC4-5D6E-409C-BE32-E72D297353CC}">
              <c16:uniqueId val="{00000001-0DE3-413B-BCFA-E0921DF056CA}"/>
            </c:ext>
          </c:extLst>
        </c:ser>
        <c:ser>
          <c:idx val="2"/>
          <c:order val="2"/>
          <c:tx>
            <c:strRef>
              <c:f>Sheet1!$A$4</c:f>
              <c:strCache>
                <c:ptCount val="1"/>
                <c:pt idx="0">
                  <c:v>לא ידעתי </c:v>
                </c:pt>
              </c:strCache>
            </c:strRef>
          </c:tx>
          <c:spPr>
            <a:solidFill>
              <a:srgbClr val="FA4C75"/>
            </a:solidFill>
          </c:spPr>
          <c:invertIfNegative val="0"/>
          <c:dLbls>
            <c:spPr>
              <a:noFill/>
              <a:ln>
                <a:noFill/>
              </a:ln>
              <a:effectLst/>
            </c:spPr>
            <c:txPr>
              <a:bodyPr wrap="square" lIns="38100" tIns="19050" rIns="38100" bIns="19050" anchor="ctr" anchorCtr="0">
                <a:spAutoFit/>
              </a:bodyPr>
              <a:lstStyle/>
              <a:p>
                <a:pPr algn="ctr">
                  <a:defRPr lang="he-IL" sz="1200" b="1" i="0" u="none" strike="noStrike" kern="1200" baseline="0">
                    <a:solidFill>
                      <a:schemeClr val="bg1"/>
                    </a:solidFill>
                    <a:latin typeface="Segoe UI" panose="020B0502040204020203" pitchFamily="34" charset="0"/>
                    <a:ea typeface="Arial"/>
                    <a:cs typeface="Segoe UI" panose="020B0502040204020203" pitchFamily="34" charset="0"/>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Sheet1!$B$1:$C$1</c:f>
              <c:strCache>
                <c:ptCount val="2"/>
                <c:pt idx="0">
                  <c:v>מגזר יהודי</c:v>
                </c:pt>
                <c:pt idx="1">
                  <c:v>מגזר ערבי</c:v>
                </c:pt>
              </c:strCache>
            </c:strRef>
          </c:cat>
          <c:val>
            <c:numRef>
              <c:f>Sheet1!$B$4:$C$4</c:f>
              <c:numCache>
                <c:formatCode>0%</c:formatCode>
                <c:ptCount val="2"/>
                <c:pt idx="0">
                  <c:v>0.3728813559322034</c:v>
                </c:pt>
                <c:pt idx="1">
                  <c:v>0.38372093023255816</c:v>
                </c:pt>
              </c:numCache>
            </c:numRef>
          </c:val>
          <c:extLst>
            <c:ext xmlns:c16="http://schemas.microsoft.com/office/drawing/2014/chart" uri="{C3380CC4-5D6E-409C-BE32-E72D297353CC}">
              <c16:uniqueId val="{00000002-0DE3-413B-BCFA-E0921DF056CA}"/>
            </c:ext>
          </c:extLst>
        </c:ser>
        <c:dLbls>
          <c:showLegendKey val="0"/>
          <c:showVal val="0"/>
          <c:showCatName val="0"/>
          <c:showSerName val="0"/>
          <c:showPercent val="0"/>
          <c:showBubbleSize val="0"/>
        </c:dLbls>
        <c:gapWidth val="80"/>
        <c:axId val="184526720"/>
        <c:axId val="184528256"/>
      </c:barChart>
      <c:catAx>
        <c:axId val="184526720"/>
        <c:scaling>
          <c:orientation val="minMax"/>
        </c:scaling>
        <c:delete val="0"/>
        <c:axPos val="b"/>
        <c:numFmt formatCode="General" sourceLinked="1"/>
        <c:majorTickMark val="out"/>
        <c:minorTickMark val="none"/>
        <c:tickLblPos val="low"/>
        <c:spPr>
          <a:ln w="38100">
            <a:solidFill>
              <a:schemeClr val="bg1"/>
            </a:solidFill>
            <a:prstDash val="solid"/>
          </a:ln>
        </c:spPr>
        <c:txPr>
          <a:bodyPr rot="0" vert="horz"/>
          <a:lstStyle/>
          <a:p>
            <a:pPr>
              <a:defRPr sz="1200" b="1">
                <a:solidFill>
                  <a:schemeClr val="tx1">
                    <a:lumMod val="75000"/>
                    <a:lumOff val="25000"/>
                  </a:schemeClr>
                </a:solidFill>
              </a:defRPr>
            </a:pPr>
            <a:endParaRPr lang="he-IL"/>
          </a:p>
        </c:txPr>
        <c:crossAx val="184528256"/>
        <c:crosses val="autoZero"/>
        <c:auto val="1"/>
        <c:lblAlgn val="ctr"/>
        <c:lblOffset val="100"/>
        <c:noMultiLvlLbl val="0"/>
      </c:catAx>
      <c:valAx>
        <c:axId val="184528256"/>
        <c:scaling>
          <c:orientation val="minMax"/>
          <c:max val="1.1000000000000001"/>
          <c:min val="0"/>
        </c:scaling>
        <c:delete val="1"/>
        <c:axPos val="l"/>
        <c:numFmt formatCode="0%" sourceLinked="1"/>
        <c:majorTickMark val="out"/>
        <c:minorTickMark val="none"/>
        <c:tickLblPos val="nextTo"/>
        <c:crossAx val="184526720"/>
        <c:crosses val="autoZero"/>
        <c:crossBetween val="between"/>
      </c:valAx>
      <c:spPr>
        <a:noFill/>
        <a:ln w="25965">
          <a:noFill/>
        </a:ln>
      </c:spPr>
    </c:plotArea>
    <c:legend>
      <c:legendPos val="r"/>
      <c:layout>
        <c:manualLayout>
          <c:xMode val="edge"/>
          <c:yMode val="edge"/>
          <c:x val="0.75904369498968505"/>
          <c:y val="0.11347413581173542"/>
          <c:w val="0.22131935115781051"/>
          <c:h val="0.28657974575891532"/>
        </c:manualLayout>
      </c:layout>
      <c:overlay val="0"/>
      <c:txPr>
        <a:bodyPr/>
        <a:lstStyle/>
        <a:p>
          <a:pPr rtl="0">
            <a:defRPr sz="1100"/>
          </a:pPr>
          <a:endParaRPr lang="he-IL"/>
        </a:p>
      </c:txPr>
    </c:legend>
    <c:plotVisOnly val="1"/>
    <c:dispBlanksAs val="gap"/>
    <c:showDLblsOverMax val="0"/>
  </c:chart>
  <c:spPr>
    <a:noFill/>
    <a:ln>
      <a:noFill/>
    </a:ln>
  </c:spPr>
  <c:txPr>
    <a:bodyPr/>
    <a:lstStyle/>
    <a:p>
      <a:pPr>
        <a:defRPr sz="1100" b="0" i="0" u="none" strike="noStrike" baseline="0">
          <a:solidFill>
            <a:schemeClr val="tx1"/>
          </a:solidFill>
          <a:latin typeface="Segoe UI" panose="020B0502040204020203" pitchFamily="34" charset="0"/>
          <a:ea typeface="Arial"/>
          <a:cs typeface="Segoe UI" panose="020B0502040204020203" pitchFamily="34" charset="0"/>
        </a:defRPr>
      </a:pPr>
      <a:endParaRPr lang="he-IL"/>
    </a:p>
  </c:txPr>
  <c:externalData r:id="rId1">
    <c:autoUpdate val="0"/>
  </c:externalData>
</c:chartSpace>
</file>

<file path=ppt/charts/chart4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7859770769818229E-2"/>
          <c:y val="4.3281067273958265E-2"/>
          <c:w val="0.8930741702467434"/>
          <c:h val="0.84021001803542239"/>
        </c:manualLayout>
      </c:layout>
      <c:barChart>
        <c:barDir val="col"/>
        <c:grouping val="clustered"/>
        <c:varyColors val="0"/>
        <c:ser>
          <c:idx val="0"/>
          <c:order val="0"/>
          <c:tx>
            <c:strRef>
              <c:f>Sheet1!$A$2</c:f>
              <c:strCache>
                <c:ptCount val="1"/>
                <c:pt idx="0">
                  <c:v>כן</c:v>
                </c:pt>
              </c:strCache>
            </c:strRef>
          </c:tx>
          <c:spPr>
            <a:solidFill>
              <a:srgbClr val="09AFA7"/>
            </a:solidFill>
            <a:ln w="31750">
              <a:noFill/>
            </a:ln>
          </c:spPr>
          <c:invertIfNegative val="0"/>
          <c:dLbls>
            <c:spPr>
              <a:noFill/>
              <a:ln>
                <a:noFill/>
              </a:ln>
              <a:effectLst/>
            </c:spPr>
            <c:txPr>
              <a:bodyPr/>
              <a:lstStyle/>
              <a:p>
                <a:pPr>
                  <a:defRPr sz="1200" b="1">
                    <a:solidFill>
                      <a:schemeClr val="bg1"/>
                    </a:solidFill>
                    <a:latin typeface="Segoe UI" panose="020B0502040204020203" pitchFamily="34" charset="0"/>
                    <a:cs typeface="Segoe UI" panose="020B0502040204020203" pitchFamily="34" charset="0"/>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Sheet1!$B$1:$C$1</c:f>
              <c:strCache>
                <c:ptCount val="2"/>
                <c:pt idx="0">
                  <c:v>מגזר יהודי</c:v>
                </c:pt>
                <c:pt idx="1">
                  <c:v>מגזר ערבי</c:v>
                </c:pt>
              </c:strCache>
            </c:strRef>
          </c:cat>
          <c:val>
            <c:numRef>
              <c:f>Sheet1!$B$2:$C$2</c:f>
              <c:numCache>
                <c:formatCode>0%</c:formatCode>
                <c:ptCount val="2"/>
                <c:pt idx="0">
                  <c:v>0.43478260869565216</c:v>
                </c:pt>
                <c:pt idx="1">
                  <c:v>0.46913580246913583</c:v>
                </c:pt>
              </c:numCache>
            </c:numRef>
          </c:val>
          <c:extLst>
            <c:ext xmlns:c16="http://schemas.microsoft.com/office/drawing/2014/chart" uri="{C3380CC4-5D6E-409C-BE32-E72D297353CC}">
              <c16:uniqueId val="{00000000-1CC2-4945-9D4C-19FFB6800BA3}"/>
            </c:ext>
          </c:extLst>
        </c:ser>
        <c:ser>
          <c:idx val="1"/>
          <c:order val="1"/>
          <c:tx>
            <c:strRef>
              <c:f>Sheet1!$A$3</c:f>
              <c:strCache>
                <c:ptCount val="1"/>
                <c:pt idx="0">
                  <c:v>לא</c:v>
                </c:pt>
              </c:strCache>
            </c:strRef>
          </c:tx>
          <c:spPr>
            <a:solidFill>
              <a:srgbClr val="FA4C75"/>
            </a:solidFill>
          </c:spPr>
          <c:invertIfNegative val="0"/>
          <c:dLbls>
            <c:spPr>
              <a:noFill/>
              <a:ln>
                <a:noFill/>
              </a:ln>
              <a:effectLst/>
            </c:spPr>
            <c:txPr>
              <a:bodyPr anchorCtr="0"/>
              <a:lstStyle/>
              <a:p>
                <a:pPr algn="ctr">
                  <a:defRPr lang="he-IL" sz="1200" b="1" i="0" u="none" strike="noStrike" kern="1200" baseline="0">
                    <a:solidFill>
                      <a:schemeClr val="bg1"/>
                    </a:solidFill>
                    <a:latin typeface="Segoe UI" panose="020B0502040204020203" pitchFamily="34" charset="0"/>
                    <a:ea typeface="Arial"/>
                    <a:cs typeface="Segoe UI" panose="020B0502040204020203" pitchFamily="34" charset="0"/>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Sheet1!$B$1:$C$1</c:f>
              <c:strCache>
                <c:ptCount val="2"/>
                <c:pt idx="0">
                  <c:v>מגזר יהודי</c:v>
                </c:pt>
                <c:pt idx="1">
                  <c:v>מגזר ערבי</c:v>
                </c:pt>
              </c:strCache>
            </c:strRef>
          </c:cat>
          <c:val>
            <c:numRef>
              <c:f>Sheet1!$B$3:$C$3</c:f>
              <c:numCache>
                <c:formatCode>0%</c:formatCode>
                <c:ptCount val="2"/>
                <c:pt idx="0">
                  <c:v>0.56521739130434778</c:v>
                </c:pt>
                <c:pt idx="1">
                  <c:v>0.53086419753086422</c:v>
                </c:pt>
              </c:numCache>
            </c:numRef>
          </c:val>
          <c:extLst>
            <c:ext xmlns:c16="http://schemas.microsoft.com/office/drawing/2014/chart" uri="{C3380CC4-5D6E-409C-BE32-E72D297353CC}">
              <c16:uniqueId val="{00000001-1CC2-4945-9D4C-19FFB6800BA3}"/>
            </c:ext>
          </c:extLst>
        </c:ser>
        <c:dLbls>
          <c:showLegendKey val="0"/>
          <c:showVal val="0"/>
          <c:showCatName val="0"/>
          <c:showSerName val="0"/>
          <c:showPercent val="0"/>
          <c:showBubbleSize val="0"/>
        </c:dLbls>
        <c:gapWidth val="80"/>
        <c:axId val="184526720"/>
        <c:axId val="184528256"/>
      </c:barChart>
      <c:catAx>
        <c:axId val="184526720"/>
        <c:scaling>
          <c:orientation val="minMax"/>
        </c:scaling>
        <c:delete val="0"/>
        <c:axPos val="b"/>
        <c:numFmt formatCode="General" sourceLinked="1"/>
        <c:majorTickMark val="out"/>
        <c:minorTickMark val="none"/>
        <c:tickLblPos val="low"/>
        <c:spPr>
          <a:ln w="38100">
            <a:solidFill>
              <a:schemeClr val="bg1"/>
            </a:solidFill>
            <a:prstDash val="solid"/>
          </a:ln>
        </c:spPr>
        <c:txPr>
          <a:bodyPr rot="0" vert="horz"/>
          <a:lstStyle/>
          <a:p>
            <a:pPr>
              <a:defRPr sz="1200" b="1">
                <a:solidFill>
                  <a:schemeClr val="tx1">
                    <a:lumMod val="75000"/>
                    <a:lumOff val="25000"/>
                  </a:schemeClr>
                </a:solidFill>
              </a:defRPr>
            </a:pPr>
            <a:endParaRPr lang="he-IL"/>
          </a:p>
        </c:txPr>
        <c:crossAx val="184528256"/>
        <c:crosses val="autoZero"/>
        <c:auto val="1"/>
        <c:lblAlgn val="ctr"/>
        <c:lblOffset val="100"/>
        <c:noMultiLvlLbl val="0"/>
      </c:catAx>
      <c:valAx>
        <c:axId val="184528256"/>
        <c:scaling>
          <c:orientation val="minMax"/>
          <c:max val="1.1000000000000001"/>
          <c:min val="0"/>
        </c:scaling>
        <c:delete val="1"/>
        <c:axPos val="l"/>
        <c:numFmt formatCode="0%" sourceLinked="1"/>
        <c:majorTickMark val="out"/>
        <c:minorTickMark val="none"/>
        <c:tickLblPos val="nextTo"/>
        <c:crossAx val="184526720"/>
        <c:crosses val="autoZero"/>
        <c:crossBetween val="between"/>
      </c:valAx>
      <c:spPr>
        <a:noFill/>
        <a:ln w="25965">
          <a:noFill/>
        </a:ln>
      </c:spPr>
    </c:plotArea>
    <c:legend>
      <c:legendPos val="r"/>
      <c:layout>
        <c:manualLayout>
          <c:xMode val="edge"/>
          <c:yMode val="edge"/>
          <c:x val="0.87825670524857424"/>
          <c:y val="0.21930763888888888"/>
          <c:w val="7.6277949987934413E-2"/>
          <c:h val="0.19105316383927687"/>
        </c:manualLayout>
      </c:layout>
      <c:overlay val="0"/>
      <c:txPr>
        <a:bodyPr/>
        <a:lstStyle/>
        <a:p>
          <a:pPr rtl="0">
            <a:defRPr sz="1100"/>
          </a:pPr>
          <a:endParaRPr lang="he-IL"/>
        </a:p>
      </c:txPr>
    </c:legend>
    <c:plotVisOnly val="1"/>
    <c:dispBlanksAs val="gap"/>
    <c:showDLblsOverMax val="0"/>
  </c:chart>
  <c:spPr>
    <a:noFill/>
    <a:ln>
      <a:noFill/>
    </a:ln>
  </c:spPr>
  <c:txPr>
    <a:bodyPr/>
    <a:lstStyle/>
    <a:p>
      <a:pPr>
        <a:defRPr sz="1100" b="0" i="0" u="none" strike="noStrike" baseline="0">
          <a:solidFill>
            <a:schemeClr val="tx1"/>
          </a:solidFill>
          <a:latin typeface="Segoe UI" panose="020B0502040204020203" pitchFamily="34" charset="0"/>
          <a:ea typeface="Arial"/>
          <a:cs typeface="Segoe UI" panose="020B0502040204020203" pitchFamily="34" charset="0"/>
        </a:defRPr>
      </a:pPr>
      <a:endParaRPr lang="he-IL"/>
    </a:p>
  </c:txPr>
  <c:externalData r:id="rId1">
    <c:autoUpdate val="0"/>
  </c:externalData>
</c:chartSpace>
</file>

<file path=ppt/charts/chart4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7859770769818229E-2"/>
          <c:y val="4.3281067273958265E-2"/>
          <c:w val="0.95359216922219792"/>
          <c:h val="0.73437666666666668"/>
        </c:manualLayout>
      </c:layout>
      <c:barChart>
        <c:barDir val="col"/>
        <c:grouping val="clustered"/>
        <c:varyColors val="0"/>
        <c:ser>
          <c:idx val="0"/>
          <c:order val="0"/>
          <c:tx>
            <c:strRef>
              <c:f>Sheet1!$A$2</c:f>
              <c:strCache>
                <c:ptCount val="1"/>
                <c:pt idx="0">
                  <c:v>כן - להמיר באזהרה</c:v>
                </c:pt>
              </c:strCache>
            </c:strRef>
          </c:tx>
          <c:spPr>
            <a:solidFill>
              <a:srgbClr val="09AFA7"/>
            </a:solidFill>
            <a:ln w="31750">
              <a:noFill/>
            </a:ln>
          </c:spPr>
          <c:invertIfNegative val="0"/>
          <c:dLbls>
            <c:spPr>
              <a:noFill/>
              <a:ln>
                <a:noFill/>
              </a:ln>
              <a:effectLst/>
            </c:spPr>
            <c:txPr>
              <a:bodyPr/>
              <a:lstStyle/>
              <a:p>
                <a:pPr>
                  <a:defRPr sz="1200" b="0" cap="none" spc="0">
                    <a:ln w="0"/>
                    <a:solidFill>
                      <a:schemeClr val="tx1"/>
                    </a:solidFill>
                    <a:effectLst>
                      <a:outerShdw blurRad="38100" dist="19050" dir="2700000" algn="tl" rotWithShape="0">
                        <a:schemeClr val="dk1">
                          <a:alpha val="40000"/>
                        </a:schemeClr>
                      </a:outerShdw>
                    </a:effectLst>
                    <a:latin typeface="Segoe UI" panose="020B0502040204020203" pitchFamily="34" charset="0"/>
                    <a:cs typeface="Segoe UI" panose="020B0502040204020203" pitchFamily="34" charset="0"/>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Sheet1!$B$1:$J$1</c:f>
              <c:strCache>
                <c:ptCount val="9"/>
                <c:pt idx="0">
                  <c:v>גבר </c:v>
                </c:pt>
                <c:pt idx="1">
                  <c:v>אישה</c:v>
                </c:pt>
                <c:pt idx="2">
                  <c:v>18-29 </c:v>
                </c:pt>
                <c:pt idx="3">
                  <c:v>30-49 </c:v>
                </c:pt>
                <c:pt idx="4">
                  <c:v>50+ </c:v>
                </c:pt>
                <c:pt idx="5">
                  <c:v>פיזית משוטר בשטח</c:v>
                </c:pt>
                <c:pt idx="6">
                  <c:v>אחר (דואר
מכוון, הדבקה לרכב)</c:v>
                </c:pt>
                <c:pt idx="7">
                  <c:v>שילמו קנס</c:v>
                </c:pt>
                <c:pt idx="8">
                  <c:v>לא שילמו קנס</c:v>
                </c:pt>
              </c:strCache>
            </c:strRef>
          </c:cat>
          <c:val>
            <c:numRef>
              <c:f>Sheet1!$B$2:$J$2</c:f>
              <c:numCache>
                <c:formatCode>0%</c:formatCode>
                <c:ptCount val="9"/>
                <c:pt idx="0">
                  <c:v>0.2982456140350877</c:v>
                </c:pt>
                <c:pt idx="1">
                  <c:v>0.25396825396825395</c:v>
                </c:pt>
                <c:pt idx="2">
                  <c:v>0.17647058823529413</c:v>
                </c:pt>
                <c:pt idx="3">
                  <c:v>0.33333333333333337</c:v>
                </c:pt>
                <c:pt idx="4">
                  <c:v>0.29473684210526313</c:v>
                </c:pt>
                <c:pt idx="5">
                  <c:v>0.34848484848484851</c:v>
                </c:pt>
                <c:pt idx="6">
                  <c:v>0.24324324324324323</c:v>
                </c:pt>
                <c:pt idx="7">
                  <c:v>0.19178082191780821</c:v>
                </c:pt>
                <c:pt idx="8">
                  <c:v>0.70967741935483875</c:v>
                </c:pt>
              </c:numCache>
            </c:numRef>
          </c:val>
          <c:extLst>
            <c:ext xmlns:c16="http://schemas.microsoft.com/office/drawing/2014/chart" uri="{C3380CC4-5D6E-409C-BE32-E72D297353CC}">
              <c16:uniqueId val="{00000000-9CB1-4F51-892D-448EFA8808F2}"/>
            </c:ext>
          </c:extLst>
        </c:ser>
        <c:ser>
          <c:idx val="1"/>
          <c:order val="1"/>
          <c:tx>
            <c:strRef>
              <c:f>Sheet1!$A$3</c:f>
              <c:strCache>
                <c:ptCount val="1"/>
                <c:pt idx="0">
                  <c:v>כן - לבקש להישפט</c:v>
                </c:pt>
              </c:strCache>
            </c:strRef>
          </c:tx>
          <c:spPr>
            <a:solidFill>
              <a:srgbClr val="59D3B6"/>
            </a:solidFill>
          </c:spPr>
          <c:invertIfNegative val="0"/>
          <c:dLbls>
            <c:spPr>
              <a:noFill/>
              <a:ln>
                <a:noFill/>
              </a:ln>
              <a:effectLst/>
            </c:spPr>
            <c:txPr>
              <a:bodyPr anchorCtr="0"/>
              <a:lstStyle/>
              <a:p>
                <a:pPr algn="ctr">
                  <a:defRPr lang="he-IL" sz="1200" b="0" i="0" u="none" strike="noStrike" kern="1200" cap="none" spc="0" baseline="0">
                    <a:ln w="0"/>
                    <a:solidFill>
                      <a:schemeClr val="tx1"/>
                    </a:solidFill>
                    <a:effectLst>
                      <a:outerShdw blurRad="38100" dist="19050" dir="2700000" algn="tl" rotWithShape="0">
                        <a:schemeClr val="dk1">
                          <a:alpha val="40000"/>
                        </a:schemeClr>
                      </a:outerShdw>
                    </a:effectLst>
                    <a:latin typeface="Segoe UI" panose="020B0502040204020203" pitchFamily="34" charset="0"/>
                    <a:ea typeface="Arial"/>
                    <a:cs typeface="Segoe UI" panose="020B0502040204020203" pitchFamily="34" charset="0"/>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Sheet1!$B$1:$J$1</c:f>
              <c:strCache>
                <c:ptCount val="9"/>
                <c:pt idx="0">
                  <c:v>גבר </c:v>
                </c:pt>
                <c:pt idx="1">
                  <c:v>אישה</c:v>
                </c:pt>
                <c:pt idx="2">
                  <c:v>18-29 </c:v>
                </c:pt>
                <c:pt idx="3">
                  <c:v>30-49 </c:v>
                </c:pt>
                <c:pt idx="4">
                  <c:v>50+ </c:v>
                </c:pt>
                <c:pt idx="5">
                  <c:v>פיזית משוטר בשטח</c:v>
                </c:pt>
                <c:pt idx="6">
                  <c:v>אחר (דואר
מכוון, הדבקה לרכב)</c:v>
                </c:pt>
                <c:pt idx="7">
                  <c:v>שילמו קנס</c:v>
                </c:pt>
                <c:pt idx="8">
                  <c:v>לא שילמו קנס</c:v>
                </c:pt>
              </c:strCache>
            </c:strRef>
          </c:cat>
          <c:val>
            <c:numRef>
              <c:f>Sheet1!$B$3:$J$3</c:f>
              <c:numCache>
                <c:formatCode>0%</c:formatCode>
                <c:ptCount val="9"/>
                <c:pt idx="0">
                  <c:v>0.43859649122807021</c:v>
                </c:pt>
                <c:pt idx="1">
                  <c:v>0.28571428571428575</c:v>
                </c:pt>
                <c:pt idx="2">
                  <c:v>0.26470588235294118</c:v>
                </c:pt>
                <c:pt idx="3">
                  <c:v>0.375</c:v>
                </c:pt>
                <c:pt idx="4">
                  <c:v>0.43157894736842101</c:v>
                </c:pt>
                <c:pt idx="5">
                  <c:v>0.48484848484848486</c:v>
                </c:pt>
                <c:pt idx="6">
                  <c:v>0.32432432432432434</c:v>
                </c:pt>
                <c:pt idx="7">
                  <c:v>0.43835616438356162</c:v>
                </c:pt>
                <c:pt idx="8">
                  <c:v>0.12903225806451613</c:v>
                </c:pt>
              </c:numCache>
            </c:numRef>
          </c:val>
          <c:extLst>
            <c:ext xmlns:c16="http://schemas.microsoft.com/office/drawing/2014/chart" uri="{C3380CC4-5D6E-409C-BE32-E72D297353CC}">
              <c16:uniqueId val="{00000001-9CB1-4F51-892D-448EFA8808F2}"/>
            </c:ext>
          </c:extLst>
        </c:ser>
        <c:ser>
          <c:idx val="2"/>
          <c:order val="2"/>
          <c:tx>
            <c:strRef>
              <c:f>Sheet1!$A$4</c:f>
              <c:strCache>
                <c:ptCount val="1"/>
                <c:pt idx="0">
                  <c:v>לא ידעתי </c:v>
                </c:pt>
              </c:strCache>
            </c:strRef>
          </c:tx>
          <c:spPr>
            <a:solidFill>
              <a:srgbClr val="FA4C75"/>
            </a:solidFill>
          </c:spPr>
          <c:invertIfNegative val="0"/>
          <c:dLbls>
            <c:spPr>
              <a:noFill/>
              <a:ln>
                <a:noFill/>
              </a:ln>
              <a:effectLst/>
            </c:spPr>
            <c:txPr>
              <a:bodyPr wrap="square" lIns="38100" tIns="19050" rIns="38100" bIns="19050" anchor="ctr" anchorCtr="0">
                <a:spAutoFit/>
              </a:bodyPr>
              <a:lstStyle/>
              <a:p>
                <a:pPr algn="ctr">
                  <a:defRPr lang="he-IL" sz="1200" b="0" i="0" u="none" strike="noStrike" kern="1200" cap="none" spc="0" baseline="0">
                    <a:ln w="0"/>
                    <a:solidFill>
                      <a:schemeClr val="tx1"/>
                    </a:solidFill>
                    <a:effectLst>
                      <a:outerShdw blurRad="38100" dist="19050" dir="2700000" algn="tl" rotWithShape="0">
                        <a:schemeClr val="dk1">
                          <a:alpha val="40000"/>
                        </a:schemeClr>
                      </a:outerShdw>
                    </a:effectLst>
                    <a:latin typeface="Segoe UI" panose="020B0502040204020203" pitchFamily="34" charset="0"/>
                    <a:ea typeface="Arial"/>
                    <a:cs typeface="Segoe UI" panose="020B0502040204020203" pitchFamily="34" charset="0"/>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Sheet1!$B$1:$J$1</c:f>
              <c:strCache>
                <c:ptCount val="9"/>
                <c:pt idx="0">
                  <c:v>גבר </c:v>
                </c:pt>
                <c:pt idx="1">
                  <c:v>אישה</c:v>
                </c:pt>
                <c:pt idx="2">
                  <c:v>18-29 </c:v>
                </c:pt>
                <c:pt idx="3">
                  <c:v>30-49 </c:v>
                </c:pt>
                <c:pt idx="4">
                  <c:v>50+ </c:v>
                </c:pt>
                <c:pt idx="5">
                  <c:v>פיזית משוטר בשטח</c:v>
                </c:pt>
                <c:pt idx="6">
                  <c:v>אחר (דואר
מכוון, הדבקה לרכב)</c:v>
                </c:pt>
                <c:pt idx="7">
                  <c:v>שילמו קנס</c:v>
                </c:pt>
                <c:pt idx="8">
                  <c:v>לא שילמו קנס</c:v>
                </c:pt>
              </c:strCache>
            </c:strRef>
          </c:cat>
          <c:val>
            <c:numRef>
              <c:f>Sheet1!$B$4:$J$4</c:f>
              <c:numCache>
                <c:formatCode>0%</c:formatCode>
                <c:ptCount val="9"/>
                <c:pt idx="0">
                  <c:v>0.31578947368421051</c:v>
                </c:pt>
                <c:pt idx="1">
                  <c:v>0.47619047619047622</c:v>
                </c:pt>
                <c:pt idx="2">
                  <c:v>0.55882352941176472</c:v>
                </c:pt>
                <c:pt idx="3">
                  <c:v>0.35416666666666663</c:v>
                </c:pt>
                <c:pt idx="4">
                  <c:v>0.31578947368421051</c:v>
                </c:pt>
                <c:pt idx="5">
                  <c:v>0.24242424242424243</c:v>
                </c:pt>
                <c:pt idx="6">
                  <c:v>0.45045045045045046</c:v>
                </c:pt>
                <c:pt idx="7">
                  <c:v>0.41095890410958902</c:v>
                </c:pt>
                <c:pt idx="8">
                  <c:v>0.19354838709677419</c:v>
                </c:pt>
              </c:numCache>
            </c:numRef>
          </c:val>
          <c:extLst>
            <c:ext xmlns:c16="http://schemas.microsoft.com/office/drawing/2014/chart" uri="{C3380CC4-5D6E-409C-BE32-E72D297353CC}">
              <c16:uniqueId val="{00000002-9CB1-4F51-892D-448EFA8808F2}"/>
            </c:ext>
          </c:extLst>
        </c:ser>
        <c:dLbls>
          <c:showLegendKey val="0"/>
          <c:showVal val="0"/>
          <c:showCatName val="0"/>
          <c:showSerName val="0"/>
          <c:showPercent val="0"/>
          <c:showBubbleSize val="0"/>
        </c:dLbls>
        <c:gapWidth val="80"/>
        <c:axId val="184526720"/>
        <c:axId val="184528256"/>
      </c:barChart>
      <c:catAx>
        <c:axId val="184526720"/>
        <c:scaling>
          <c:orientation val="minMax"/>
        </c:scaling>
        <c:delete val="0"/>
        <c:axPos val="b"/>
        <c:numFmt formatCode="General" sourceLinked="1"/>
        <c:majorTickMark val="out"/>
        <c:minorTickMark val="none"/>
        <c:tickLblPos val="nextTo"/>
        <c:spPr>
          <a:ln w="38100">
            <a:solidFill>
              <a:schemeClr val="bg1"/>
            </a:solidFill>
            <a:prstDash val="solid"/>
          </a:ln>
        </c:spPr>
        <c:txPr>
          <a:bodyPr rot="0" vert="horz"/>
          <a:lstStyle/>
          <a:p>
            <a:pPr>
              <a:defRPr sz="1000" b="0">
                <a:solidFill>
                  <a:schemeClr val="tx1">
                    <a:lumMod val="75000"/>
                    <a:lumOff val="25000"/>
                  </a:schemeClr>
                </a:solidFill>
              </a:defRPr>
            </a:pPr>
            <a:endParaRPr lang="he-IL"/>
          </a:p>
        </c:txPr>
        <c:crossAx val="184528256"/>
        <c:crosses val="autoZero"/>
        <c:auto val="1"/>
        <c:lblAlgn val="ctr"/>
        <c:lblOffset val="0"/>
        <c:noMultiLvlLbl val="0"/>
      </c:catAx>
      <c:valAx>
        <c:axId val="184528256"/>
        <c:scaling>
          <c:orientation val="minMax"/>
          <c:max val="1.1000000000000001"/>
          <c:min val="0"/>
        </c:scaling>
        <c:delete val="1"/>
        <c:axPos val="l"/>
        <c:numFmt formatCode="0%" sourceLinked="1"/>
        <c:majorTickMark val="out"/>
        <c:minorTickMark val="none"/>
        <c:tickLblPos val="nextTo"/>
        <c:crossAx val="184526720"/>
        <c:crosses val="autoZero"/>
        <c:crossBetween val="between"/>
      </c:valAx>
      <c:spPr>
        <a:noFill/>
        <a:ln w="25965">
          <a:noFill/>
        </a:ln>
      </c:spPr>
    </c:plotArea>
    <c:plotVisOnly val="1"/>
    <c:dispBlanksAs val="gap"/>
    <c:showDLblsOverMax val="0"/>
  </c:chart>
  <c:spPr>
    <a:noFill/>
    <a:ln>
      <a:noFill/>
    </a:ln>
  </c:spPr>
  <c:txPr>
    <a:bodyPr/>
    <a:lstStyle/>
    <a:p>
      <a:pPr>
        <a:defRPr sz="1100" b="0" i="0" u="none" strike="noStrike" baseline="0">
          <a:solidFill>
            <a:schemeClr val="tx1"/>
          </a:solidFill>
          <a:latin typeface="Segoe UI" panose="020B0502040204020203" pitchFamily="34" charset="0"/>
          <a:ea typeface="Arial"/>
          <a:cs typeface="Segoe UI" panose="020B0502040204020203" pitchFamily="34" charset="0"/>
        </a:defRPr>
      </a:pPr>
      <a:endParaRPr lang="he-IL"/>
    </a:p>
  </c:txPr>
  <c:externalData r:id="rId1">
    <c:autoUpdate val="0"/>
  </c:externalData>
</c:chartSpace>
</file>

<file path=ppt/charts/chart4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7859770769818229E-2"/>
          <c:y val="4.3281067273958265E-2"/>
          <c:w val="0.95359216922219792"/>
          <c:h val="0.73437666666666668"/>
        </c:manualLayout>
      </c:layout>
      <c:barChart>
        <c:barDir val="col"/>
        <c:grouping val="clustered"/>
        <c:varyColors val="0"/>
        <c:ser>
          <c:idx val="0"/>
          <c:order val="0"/>
          <c:tx>
            <c:strRef>
              <c:f>Sheet1!$A$2</c:f>
              <c:strCache>
                <c:ptCount val="1"/>
                <c:pt idx="0">
                  <c:v>כן - להמיר באזהרה</c:v>
                </c:pt>
              </c:strCache>
            </c:strRef>
          </c:tx>
          <c:spPr>
            <a:solidFill>
              <a:srgbClr val="09AFA7"/>
            </a:solidFill>
            <a:ln w="31750">
              <a:noFill/>
            </a:ln>
          </c:spPr>
          <c:invertIfNegative val="0"/>
          <c:dLbls>
            <c:spPr>
              <a:noFill/>
              <a:ln>
                <a:noFill/>
              </a:ln>
              <a:effectLst/>
            </c:spPr>
            <c:txPr>
              <a:bodyPr/>
              <a:lstStyle/>
              <a:p>
                <a:pPr>
                  <a:defRPr sz="1200" b="0" cap="none" spc="0">
                    <a:ln w="0"/>
                    <a:solidFill>
                      <a:schemeClr val="tx1"/>
                    </a:solidFill>
                    <a:effectLst>
                      <a:outerShdw blurRad="38100" dist="19050" dir="2700000" algn="tl" rotWithShape="0">
                        <a:schemeClr val="dk1">
                          <a:alpha val="40000"/>
                        </a:schemeClr>
                      </a:outerShdw>
                    </a:effectLst>
                    <a:latin typeface="Segoe UI" panose="020B0502040204020203" pitchFamily="34" charset="0"/>
                    <a:cs typeface="Segoe UI" panose="020B0502040204020203" pitchFamily="34" charset="0"/>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Sheet1!$B$1:$J$1</c:f>
              <c:strCache>
                <c:ptCount val="9"/>
                <c:pt idx="0">
                  <c:v>גבר </c:v>
                </c:pt>
                <c:pt idx="1">
                  <c:v>אישה</c:v>
                </c:pt>
                <c:pt idx="2">
                  <c:v>18-29 </c:v>
                </c:pt>
                <c:pt idx="3">
                  <c:v>30-49 </c:v>
                </c:pt>
                <c:pt idx="4">
                  <c:v>50+ </c:v>
                </c:pt>
                <c:pt idx="5">
                  <c:v>פיזית משוטר בשטח</c:v>
                </c:pt>
                <c:pt idx="6">
                  <c:v>אחר (דואר, מכוון, הדבקה לרכב)</c:v>
                </c:pt>
                <c:pt idx="7">
                  <c:v>שילמו קנס</c:v>
                </c:pt>
                <c:pt idx="8">
                  <c:v>לא שילמו קנס</c:v>
                </c:pt>
              </c:strCache>
            </c:strRef>
          </c:cat>
          <c:val>
            <c:numRef>
              <c:f>Sheet1!$B$2:$J$2</c:f>
              <c:numCache>
                <c:formatCode>0%</c:formatCode>
                <c:ptCount val="9"/>
                <c:pt idx="0">
                  <c:v>0.4324324324324324</c:v>
                </c:pt>
                <c:pt idx="1">
                  <c:v>0.14285714285714288</c:v>
                </c:pt>
                <c:pt idx="2">
                  <c:v>0.33333333333333337</c:v>
                </c:pt>
                <c:pt idx="3">
                  <c:v>0.19642857142857142</c:v>
                </c:pt>
                <c:pt idx="4">
                  <c:v>0.5</c:v>
                </c:pt>
                <c:pt idx="5">
                  <c:v>0.31578947368421051</c:v>
                </c:pt>
                <c:pt idx="6">
                  <c:v>0.17241379310344829</c:v>
                </c:pt>
                <c:pt idx="7">
                  <c:v>0.23076923076923075</c:v>
                </c:pt>
                <c:pt idx="8">
                  <c:v>0.625</c:v>
                </c:pt>
              </c:numCache>
            </c:numRef>
          </c:val>
          <c:extLst>
            <c:ext xmlns:c16="http://schemas.microsoft.com/office/drawing/2014/chart" uri="{C3380CC4-5D6E-409C-BE32-E72D297353CC}">
              <c16:uniqueId val="{00000000-0DE3-413B-BCFA-E0921DF056CA}"/>
            </c:ext>
          </c:extLst>
        </c:ser>
        <c:ser>
          <c:idx val="1"/>
          <c:order val="1"/>
          <c:tx>
            <c:strRef>
              <c:f>Sheet1!$A$3</c:f>
              <c:strCache>
                <c:ptCount val="1"/>
                <c:pt idx="0">
                  <c:v>כן - לבקש להישפט</c:v>
                </c:pt>
              </c:strCache>
            </c:strRef>
          </c:tx>
          <c:spPr>
            <a:solidFill>
              <a:srgbClr val="59D3B6"/>
            </a:solidFill>
          </c:spPr>
          <c:invertIfNegative val="0"/>
          <c:dLbls>
            <c:spPr>
              <a:noFill/>
              <a:ln>
                <a:noFill/>
              </a:ln>
              <a:effectLst/>
            </c:spPr>
            <c:txPr>
              <a:bodyPr anchorCtr="0"/>
              <a:lstStyle/>
              <a:p>
                <a:pPr algn="ctr">
                  <a:defRPr lang="he-IL" sz="1200" b="0" i="0" u="none" strike="noStrike" kern="1200" cap="none" spc="0" baseline="0">
                    <a:ln w="0"/>
                    <a:solidFill>
                      <a:schemeClr val="tx1"/>
                    </a:solidFill>
                    <a:effectLst>
                      <a:outerShdw blurRad="38100" dist="19050" dir="2700000" algn="tl" rotWithShape="0">
                        <a:schemeClr val="dk1">
                          <a:alpha val="40000"/>
                        </a:schemeClr>
                      </a:outerShdw>
                    </a:effectLst>
                    <a:latin typeface="Segoe UI" panose="020B0502040204020203" pitchFamily="34" charset="0"/>
                    <a:ea typeface="Arial"/>
                    <a:cs typeface="Segoe UI" panose="020B0502040204020203" pitchFamily="34" charset="0"/>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Sheet1!$B$1:$J$1</c:f>
              <c:strCache>
                <c:ptCount val="9"/>
                <c:pt idx="0">
                  <c:v>גבר </c:v>
                </c:pt>
                <c:pt idx="1">
                  <c:v>אישה</c:v>
                </c:pt>
                <c:pt idx="2">
                  <c:v>18-29 </c:v>
                </c:pt>
                <c:pt idx="3">
                  <c:v>30-49 </c:v>
                </c:pt>
                <c:pt idx="4">
                  <c:v>50+ </c:v>
                </c:pt>
                <c:pt idx="5">
                  <c:v>פיזית משוטר בשטח</c:v>
                </c:pt>
                <c:pt idx="6">
                  <c:v>אחר (דואר, מכוון, הדבקה לרכב)</c:v>
                </c:pt>
                <c:pt idx="7">
                  <c:v>שילמו קנס</c:v>
                </c:pt>
                <c:pt idx="8">
                  <c:v>לא שילמו קנס</c:v>
                </c:pt>
              </c:strCache>
            </c:strRef>
          </c:cat>
          <c:val>
            <c:numRef>
              <c:f>Sheet1!$B$3:$J$3</c:f>
              <c:numCache>
                <c:formatCode>0%</c:formatCode>
                <c:ptCount val="9"/>
                <c:pt idx="0">
                  <c:v>0.54054054054054057</c:v>
                </c:pt>
                <c:pt idx="1">
                  <c:v>0.36734693877551022</c:v>
                </c:pt>
                <c:pt idx="2">
                  <c:v>0.61111111111111116</c:v>
                </c:pt>
                <c:pt idx="3">
                  <c:v>0.4107142857142857</c:v>
                </c:pt>
                <c:pt idx="4">
                  <c:v>0.33333333333333337</c:v>
                </c:pt>
                <c:pt idx="5">
                  <c:v>0.43859649122807021</c:v>
                </c:pt>
                <c:pt idx="6">
                  <c:v>0.44827586206896552</c:v>
                </c:pt>
                <c:pt idx="7">
                  <c:v>0.46153846153846151</c:v>
                </c:pt>
                <c:pt idx="8">
                  <c:v>0.25</c:v>
                </c:pt>
              </c:numCache>
            </c:numRef>
          </c:val>
          <c:extLst>
            <c:ext xmlns:c16="http://schemas.microsoft.com/office/drawing/2014/chart" uri="{C3380CC4-5D6E-409C-BE32-E72D297353CC}">
              <c16:uniqueId val="{00000001-0DE3-413B-BCFA-E0921DF056CA}"/>
            </c:ext>
          </c:extLst>
        </c:ser>
        <c:ser>
          <c:idx val="2"/>
          <c:order val="2"/>
          <c:tx>
            <c:strRef>
              <c:f>Sheet1!$A$4</c:f>
              <c:strCache>
                <c:ptCount val="1"/>
                <c:pt idx="0">
                  <c:v>לא ידעתי </c:v>
                </c:pt>
              </c:strCache>
            </c:strRef>
          </c:tx>
          <c:spPr>
            <a:solidFill>
              <a:srgbClr val="FA4C75"/>
            </a:solidFill>
          </c:spPr>
          <c:invertIfNegative val="0"/>
          <c:dLbls>
            <c:spPr>
              <a:noFill/>
              <a:ln>
                <a:noFill/>
              </a:ln>
              <a:effectLst/>
            </c:spPr>
            <c:txPr>
              <a:bodyPr wrap="square" lIns="38100" tIns="19050" rIns="38100" bIns="19050" anchor="ctr" anchorCtr="0">
                <a:spAutoFit/>
              </a:bodyPr>
              <a:lstStyle/>
              <a:p>
                <a:pPr algn="ctr">
                  <a:defRPr lang="he-IL" sz="1200" b="0" i="0" u="none" strike="noStrike" kern="1200" cap="none" spc="0" baseline="0">
                    <a:ln w="0"/>
                    <a:solidFill>
                      <a:schemeClr val="tx1"/>
                    </a:solidFill>
                    <a:effectLst>
                      <a:outerShdw blurRad="38100" dist="19050" dir="2700000" algn="tl" rotWithShape="0">
                        <a:schemeClr val="dk1">
                          <a:alpha val="40000"/>
                        </a:schemeClr>
                      </a:outerShdw>
                    </a:effectLst>
                    <a:latin typeface="Segoe UI" panose="020B0502040204020203" pitchFamily="34" charset="0"/>
                    <a:ea typeface="Arial"/>
                    <a:cs typeface="Segoe UI" panose="020B0502040204020203" pitchFamily="34" charset="0"/>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Sheet1!$B$1:$J$1</c:f>
              <c:strCache>
                <c:ptCount val="9"/>
                <c:pt idx="0">
                  <c:v>גבר </c:v>
                </c:pt>
                <c:pt idx="1">
                  <c:v>אישה</c:v>
                </c:pt>
                <c:pt idx="2">
                  <c:v>18-29 </c:v>
                </c:pt>
                <c:pt idx="3">
                  <c:v>30-49 </c:v>
                </c:pt>
                <c:pt idx="4">
                  <c:v>50+ </c:v>
                </c:pt>
                <c:pt idx="5">
                  <c:v>פיזית משוטר בשטח</c:v>
                </c:pt>
                <c:pt idx="6">
                  <c:v>אחר (דואר, מכוון, הדבקה לרכב)</c:v>
                </c:pt>
                <c:pt idx="7">
                  <c:v>שילמו קנס</c:v>
                </c:pt>
                <c:pt idx="8">
                  <c:v>לא שילמו קנס</c:v>
                </c:pt>
              </c:strCache>
            </c:strRef>
          </c:cat>
          <c:val>
            <c:numRef>
              <c:f>Sheet1!$B$4:$J$4</c:f>
              <c:numCache>
                <c:formatCode>0%</c:formatCode>
                <c:ptCount val="9"/>
                <c:pt idx="0">
                  <c:v>0.16216216216216217</c:v>
                </c:pt>
                <c:pt idx="1">
                  <c:v>0.55102040816326525</c:v>
                </c:pt>
                <c:pt idx="2">
                  <c:v>0.22222222222222221</c:v>
                </c:pt>
                <c:pt idx="3">
                  <c:v>0.44642857142857145</c:v>
                </c:pt>
                <c:pt idx="4">
                  <c:v>0.33333333333333337</c:v>
                </c:pt>
                <c:pt idx="5">
                  <c:v>0.35087719298245618</c:v>
                </c:pt>
                <c:pt idx="6">
                  <c:v>0.44827586206896552</c:v>
                </c:pt>
                <c:pt idx="7">
                  <c:v>0.39743589743589747</c:v>
                </c:pt>
                <c:pt idx="8">
                  <c:v>0.25</c:v>
                </c:pt>
              </c:numCache>
            </c:numRef>
          </c:val>
          <c:extLst>
            <c:ext xmlns:c16="http://schemas.microsoft.com/office/drawing/2014/chart" uri="{C3380CC4-5D6E-409C-BE32-E72D297353CC}">
              <c16:uniqueId val="{00000002-0DE3-413B-BCFA-E0921DF056CA}"/>
            </c:ext>
          </c:extLst>
        </c:ser>
        <c:dLbls>
          <c:showLegendKey val="0"/>
          <c:showVal val="0"/>
          <c:showCatName val="0"/>
          <c:showSerName val="0"/>
          <c:showPercent val="0"/>
          <c:showBubbleSize val="0"/>
        </c:dLbls>
        <c:gapWidth val="80"/>
        <c:axId val="184526720"/>
        <c:axId val="184528256"/>
      </c:barChart>
      <c:catAx>
        <c:axId val="184526720"/>
        <c:scaling>
          <c:orientation val="minMax"/>
        </c:scaling>
        <c:delete val="1"/>
        <c:axPos val="b"/>
        <c:numFmt formatCode="General" sourceLinked="1"/>
        <c:majorTickMark val="out"/>
        <c:minorTickMark val="none"/>
        <c:tickLblPos val="nextTo"/>
        <c:crossAx val="184528256"/>
        <c:crosses val="autoZero"/>
        <c:auto val="1"/>
        <c:lblAlgn val="ctr"/>
        <c:lblOffset val="0"/>
        <c:noMultiLvlLbl val="0"/>
      </c:catAx>
      <c:valAx>
        <c:axId val="184528256"/>
        <c:scaling>
          <c:orientation val="minMax"/>
          <c:max val="1.1000000000000001"/>
          <c:min val="0"/>
        </c:scaling>
        <c:delete val="1"/>
        <c:axPos val="l"/>
        <c:numFmt formatCode="0%" sourceLinked="1"/>
        <c:majorTickMark val="out"/>
        <c:minorTickMark val="none"/>
        <c:tickLblPos val="nextTo"/>
        <c:crossAx val="184526720"/>
        <c:crosses val="autoZero"/>
        <c:crossBetween val="between"/>
      </c:valAx>
      <c:spPr>
        <a:noFill/>
        <a:ln w="25965">
          <a:noFill/>
        </a:ln>
      </c:spPr>
    </c:plotArea>
    <c:plotVisOnly val="1"/>
    <c:dispBlanksAs val="gap"/>
    <c:showDLblsOverMax val="0"/>
  </c:chart>
  <c:spPr>
    <a:noFill/>
    <a:ln>
      <a:noFill/>
    </a:ln>
  </c:spPr>
  <c:txPr>
    <a:bodyPr/>
    <a:lstStyle/>
    <a:p>
      <a:pPr>
        <a:defRPr sz="1100" b="0" i="0" u="none" strike="noStrike" baseline="0">
          <a:solidFill>
            <a:schemeClr val="tx1"/>
          </a:solidFill>
          <a:latin typeface="Segoe UI" panose="020B0502040204020203" pitchFamily="34" charset="0"/>
          <a:ea typeface="Arial"/>
          <a:cs typeface="Segoe UI" panose="020B0502040204020203" pitchFamily="34" charset="0"/>
        </a:defRPr>
      </a:pPr>
      <a:endParaRPr lang="he-IL"/>
    </a:p>
  </c:txPr>
  <c:externalData r:id="rId1">
    <c:autoUpdate val="0"/>
  </c:externalData>
</c:chartSpace>
</file>

<file path=ppt/charts/chart4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3033220425346707E-2"/>
          <c:y val="4.3281067273958265E-2"/>
          <c:w val="0.88312722981478553"/>
          <c:h val="0.84021001803542239"/>
        </c:manualLayout>
      </c:layout>
      <c:barChart>
        <c:barDir val="col"/>
        <c:grouping val="clustered"/>
        <c:varyColors val="0"/>
        <c:ser>
          <c:idx val="0"/>
          <c:order val="0"/>
          <c:tx>
            <c:strRef>
              <c:f>Sheet1!$A$2</c:f>
              <c:strCache>
                <c:ptCount val="1"/>
                <c:pt idx="0">
                  <c:v>כן, התייעצתי/נעזרתי בעו"ד</c:v>
                </c:pt>
              </c:strCache>
            </c:strRef>
          </c:tx>
          <c:spPr>
            <a:solidFill>
              <a:srgbClr val="09AFA7"/>
            </a:solidFill>
            <a:ln w="31750">
              <a:noFill/>
            </a:ln>
          </c:spPr>
          <c:invertIfNegative val="0"/>
          <c:dLbls>
            <c:spPr>
              <a:noFill/>
              <a:ln>
                <a:noFill/>
              </a:ln>
              <a:effectLst/>
            </c:spPr>
            <c:txPr>
              <a:bodyPr/>
              <a:lstStyle/>
              <a:p>
                <a:pPr>
                  <a:defRPr sz="1200" b="0" cap="none" spc="0">
                    <a:ln w="0"/>
                    <a:solidFill>
                      <a:schemeClr val="tx1"/>
                    </a:solidFill>
                    <a:effectLst>
                      <a:outerShdw blurRad="38100" dist="19050" dir="2700000" algn="tl" rotWithShape="0">
                        <a:schemeClr val="dk1">
                          <a:alpha val="40000"/>
                        </a:schemeClr>
                      </a:outerShdw>
                    </a:effectLst>
                    <a:latin typeface="Segoe UI" panose="020B0502040204020203" pitchFamily="34" charset="0"/>
                    <a:cs typeface="Segoe UI" panose="020B0502040204020203" pitchFamily="34" charset="0"/>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Sheet1!$B$1:$E$1</c:f>
              <c:strCache>
                <c:ptCount val="4"/>
                <c:pt idx="0">
                  <c:v>מגזר יהודי</c:v>
                </c:pt>
                <c:pt idx="1">
                  <c:v>מגזר ערבי</c:v>
                </c:pt>
                <c:pt idx="2">
                  <c:v>מגזר יהודי</c:v>
                </c:pt>
                <c:pt idx="3">
                  <c:v>מגזר ערבי</c:v>
                </c:pt>
              </c:strCache>
            </c:strRef>
          </c:cat>
          <c:val>
            <c:numRef>
              <c:f>Sheet1!$B$2:$E$2</c:f>
              <c:numCache>
                <c:formatCode>0%</c:formatCode>
                <c:ptCount val="4"/>
                <c:pt idx="0">
                  <c:v>5.6497175141242945E-2</c:v>
                </c:pt>
                <c:pt idx="1">
                  <c:v>6.9767441860465115E-2</c:v>
                </c:pt>
                <c:pt idx="2">
                  <c:v>0.19875776397515527</c:v>
                </c:pt>
                <c:pt idx="3">
                  <c:v>0.39506172839506171</c:v>
                </c:pt>
              </c:numCache>
            </c:numRef>
          </c:val>
          <c:extLst>
            <c:ext xmlns:c16="http://schemas.microsoft.com/office/drawing/2014/chart" uri="{C3380CC4-5D6E-409C-BE32-E72D297353CC}">
              <c16:uniqueId val="{00000000-0DE3-413B-BCFA-E0921DF056CA}"/>
            </c:ext>
          </c:extLst>
        </c:ser>
        <c:ser>
          <c:idx val="1"/>
          <c:order val="1"/>
          <c:tx>
            <c:strRef>
              <c:f>Sheet1!$A$3</c:f>
              <c:strCache>
                <c:ptCount val="1"/>
                <c:pt idx="0">
                  <c:v>כן, חשבתי להתייעץ אבל לא ידעתי איך</c:v>
                </c:pt>
              </c:strCache>
            </c:strRef>
          </c:tx>
          <c:spPr>
            <a:solidFill>
              <a:srgbClr val="59D3B6"/>
            </a:solidFill>
          </c:spPr>
          <c:invertIfNegative val="0"/>
          <c:dLbls>
            <c:spPr>
              <a:noFill/>
              <a:ln>
                <a:noFill/>
              </a:ln>
              <a:effectLst/>
            </c:spPr>
            <c:txPr>
              <a:bodyPr anchorCtr="0"/>
              <a:lstStyle/>
              <a:p>
                <a:pPr algn="ctr">
                  <a:defRPr lang="he-IL" sz="1200" b="0" i="0" u="none" strike="noStrike" kern="1200" cap="none" spc="0" baseline="0">
                    <a:ln w="0"/>
                    <a:solidFill>
                      <a:schemeClr val="tx1"/>
                    </a:solidFill>
                    <a:effectLst>
                      <a:outerShdw blurRad="38100" dist="19050" dir="2700000" algn="tl" rotWithShape="0">
                        <a:schemeClr val="dk1">
                          <a:alpha val="40000"/>
                        </a:schemeClr>
                      </a:outerShdw>
                    </a:effectLst>
                    <a:latin typeface="Segoe UI" panose="020B0502040204020203" pitchFamily="34" charset="0"/>
                    <a:ea typeface="Arial"/>
                    <a:cs typeface="Segoe UI" panose="020B0502040204020203" pitchFamily="34" charset="0"/>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Sheet1!$B$1:$E$1</c:f>
              <c:strCache>
                <c:ptCount val="4"/>
                <c:pt idx="0">
                  <c:v>מגזר יהודי</c:v>
                </c:pt>
                <c:pt idx="1">
                  <c:v>מגזר ערבי</c:v>
                </c:pt>
                <c:pt idx="2">
                  <c:v>מגזר יהודי</c:v>
                </c:pt>
                <c:pt idx="3">
                  <c:v>מגזר ערבי</c:v>
                </c:pt>
              </c:strCache>
            </c:strRef>
          </c:cat>
          <c:val>
            <c:numRef>
              <c:f>Sheet1!$B$3:$E$3</c:f>
              <c:numCache>
                <c:formatCode>0%</c:formatCode>
                <c:ptCount val="4"/>
                <c:pt idx="0">
                  <c:v>6.7796610169491525E-2</c:v>
                </c:pt>
                <c:pt idx="1">
                  <c:v>4.6511627906976744E-2</c:v>
                </c:pt>
                <c:pt idx="2">
                  <c:v>8.6956521739130432E-2</c:v>
                </c:pt>
                <c:pt idx="3">
                  <c:v>0.12345679012345678</c:v>
                </c:pt>
              </c:numCache>
            </c:numRef>
          </c:val>
          <c:extLst>
            <c:ext xmlns:c16="http://schemas.microsoft.com/office/drawing/2014/chart" uri="{C3380CC4-5D6E-409C-BE32-E72D297353CC}">
              <c16:uniqueId val="{00000001-0DE3-413B-BCFA-E0921DF056CA}"/>
            </c:ext>
          </c:extLst>
        </c:ser>
        <c:ser>
          <c:idx val="2"/>
          <c:order val="2"/>
          <c:tx>
            <c:strRef>
              <c:f>Sheet1!$A$4</c:f>
              <c:strCache>
                <c:ptCount val="1"/>
                <c:pt idx="0">
                  <c:v>כן, חשבתי להתייעץ אבל זה היה יקר </c:v>
                </c:pt>
              </c:strCache>
            </c:strRef>
          </c:tx>
          <c:spPr>
            <a:solidFill>
              <a:schemeClr val="accent6">
                <a:lumMod val="40000"/>
                <a:lumOff val="60000"/>
              </a:schemeClr>
            </a:solidFill>
          </c:spPr>
          <c:invertIfNegative val="0"/>
          <c:dLbls>
            <c:spPr>
              <a:noFill/>
              <a:ln>
                <a:noFill/>
              </a:ln>
              <a:effectLst/>
            </c:spPr>
            <c:txPr>
              <a:bodyPr wrap="square" lIns="38100" tIns="19050" rIns="38100" bIns="19050" anchor="ctr" anchorCtr="0">
                <a:spAutoFit/>
              </a:bodyPr>
              <a:lstStyle/>
              <a:p>
                <a:pPr algn="ctr">
                  <a:defRPr lang="he-IL" sz="1200" b="0" i="0" u="none" strike="noStrike" kern="1200" cap="none" spc="0" baseline="0">
                    <a:ln w="0"/>
                    <a:solidFill>
                      <a:schemeClr val="tx1"/>
                    </a:solidFill>
                    <a:effectLst>
                      <a:outerShdw blurRad="38100" dist="19050" dir="2700000" algn="tl" rotWithShape="0">
                        <a:schemeClr val="dk1">
                          <a:alpha val="40000"/>
                        </a:schemeClr>
                      </a:outerShdw>
                    </a:effectLst>
                    <a:latin typeface="Segoe UI" panose="020B0502040204020203" pitchFamily="34" charset="0"/>
                    <a:ea typeface="Arial"/>
                    <a:cs typeface="Segoe UI" panose="020B0502040204020203" pitchFamily="34" charset="0"/>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Sheet1!$B$1:$E$1</c:f>
              <c:strCache>
                <c:ptCount val="4"/>
                <c:pt idx="0">
                  <c:v>מגזר יהודי</c:v>
                </c:pt>
                <c:pt idx="1">
                  <c:v>מגזר ערבי</c:v>
                </c:pt>
                <c:pt idx="2">
                  <c:v>מגזר יהודי</c:v>
                </c:pt>
                <c:pt idx="3">
                  <c:v>מגזר ערבי</c:v>
                </c:pt>
              </c:strCache>
            </c:strRef>
          </c:cat>
          <c:val>
            <c:numRef>
              <c:f>Sheet1!$B$4:$E$4</c:f>
              <c:numCache>
                <c:formatCode>0%</c:formatCode>
                <c:ptCount val="4"/>
                <c:pt idx="0">
                  <c:v>0.16384180790960454</c:v>
                </c:pt>
                <c:pt idx="1">
                  <c:v>0.17441860465116277</c:v>
                </c:pt>
                <c:pt idx="2">
                  <c:v>0.26708074534161491</c:v>
                </c:pt>
                <c:pt idx="3">
                  <c:v>0.19753086419753085</c:v>
                </c:pt>
              </c:numCache>
            </c:numRef>
          </c:val>
          <c:extLst>
            <c:ext xmlns:c16="http://schemas.microsoft.com/office/drawing/2014/chart" uri="{C3380CC4-5D6E-409C-BE32-E72D297353CC}">
              <c16:uniqueId val="{00000002-0DE3-413B-BCFA-E0921DF056CA}"/>
            </c:ext>
          </c:extLst>
        </c:ser>
        <c:ser>
          <c:idx val="3"/>
          <c:order val="3"/>
          <c:tx>
            <c:strRef>
              <c:f>Sheet1!$A$5</c:f>
              <c:strCache>
                <c:ptCount val="1"/>
                <c:pt idx="0">
                  <c:v>לא חשתי צורך להתייעץ/להיעזר בעו"ד</c:v>
                </c:pt>
              </c:strCache>
            </c:strRef>
          </c:tx>
          <c:spPr>
            <a:solidFill>
              <a:srgbClr val="FA4C75"/>
            </a:solidFill>
          </c:spPr>
          <c:invertIfNegative val="0"/>
          <c:dLbls>
            <c:spPr>
              <a:noFill/>
              <a:ln>
                <a:noFill/>
              </a:ln>
              <a:effectLst/>
            </c:spPr>
            <c:txPr>
              <a:bodyPr wrap="square" lIns="38100" tIns="19050" rIns="38100" bIns="19050" anchor="ctr">
                <a:spAutoFit/>
              </a:bodyPr>
              <a:lstStyle/>
              <a:p>
                <a:pPr>
                  <a:defRPr sz="1200" b="0" cap="none" spc="0">
                    <a:ln w="0"/>
                    <a:solidFill>
                      <a:schemeClr val="tx1"/>
                    </a:solidFill>
                    <a:effectLst>
                      <a:outerShdw blurRad="38100" dist="19050" dir="2700000" algn="tl" rotWithShape="0">
                        <a:schemeClr val="dk1">
                          <a:alpha val="40000"/>
                        </a:schemeClr>
                      </a:outerShdw>
                    </a:effectLst>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Sheet1!$B$1:$E$1</c:f>
              <c:strCache>
                <c:ptCount val="4"/>
                <c:pt idx="0">
                  <c:v>מגזר יהודי</c:v>
                </c:pt>
                <c:pt idx="1">
                  <c:v>מגזר ערבי</c:v>
                </c:pt>
                <c:pt idx="2">
                  <c:v>מגזר יהודי</c:v>
                </c:pt>
                <c:pt idx="3">
                  <c:v>מגזר ערבי</c:v>
                </c:pt>
              </c:strCache>
            </c:strRef>
          </c:cat>
          <c:val>
            <c:numRef>
              <c:f>Sheet1!$B$5:$E$5</c:f>
              <c:numCache>
                <c:formatCode>0%</c:formatCode>
                <c:ptCount val="4"/>
                <c:pt idx="0">
                  <c:v>0.71186440677966101</c:v>
                </c:pt>
                <c:pt idx="1">
                  <c:v>0.70930232558139539</c:v>
                </c:pt>
                <c:pt idx="2">
                  <c:v>0.44720496894409939</c:v>
                </c:pt>
                <c:pt idx="3">
                  <c:v>0.28395061728395066</c:v>
                </c:pt>
              </c:numCache>
            </c:numRef>
          </c:val>
          <c:extLst>
            <c:ext xmlns:c16="http://schemas.microsoft.com/office/drawing/2014/chart" uri="{C3380CC4-5D6E-409C-BE32-E72D297353CC}">
              <c16:uniqueId val="{00000000-5AEA-45C7-8772-1ACAF543CB4B}"/>
            </c:ext>
          </c:extLst>
        </c:ser>
        <c:dLbls>
          <c:showLegendKey val="0"/>
          <c:showVal val="0"/>
          <c:showCatName val="0"/>
          <c:showSerName val="0"/>
          <c:showPercent val="0"/>
          <c:showBubbleSize val="0"/>
        </c:dLbls>
        <c:gapWidth val="80"/>
        <c:axId val="184526720"/>
        <c:axId val="184528256"/>
      </c:barChart>
      <c:catAx>
        <c:axId val="184526720"/>
        <c:scaling>
          <c:orientation val="minMax"/>
        </c:scaling>
        <c:delete val="0"/>
        <c:axPos val="b"/>
        <c:numFmt formatCode="General" sourceLinked="1"/>
        <c:majorTickMark val="out"/>
        <c:minorTickMark val="none"/>
        <c:tickLblPos val="low"/>
        <c:spPr>
          <a:ln w="38100">
            <a:solidFill>
              <a:schemeClr val="bg1"/>
            </a:solidFill>
            <a:prstDash val="solid"/>
          </a:ln>
        </c:spPr>
        <c:txPr>
          <a:bodyPr rot="0" vert="horz"/>
          <a:lstStyle/>
          <a:p>
            <a:pPr>
              <a:defRPr sz="1200" b="1">
                <a:solidFill>
                  <a:schemeClr val="tx1">
                    <a:lumMod val="75000"/>
                    <a:lumOff val="25000"/>
                  </a:schemeClr>
                </a:solidFill>
              </a:defRPr>
            </a:pPr>
            <a:endParaRPr lang="he-IL"/>
          </a:p>
        </c:txPr>
        <c:crossAx val="184528256"/>
        <c:crosses val="autoZero"/>
        <c:auto val="1"/>
        <c:lblAlgn val="ctr"/>
        <c:lblOffset val="100"/>
        <c:noMultiLvlLbl val="0"/>
      </c:catAx>
      <c:valAx>
        <c:axId val="184528256"/>
        <c:scaling>
          <c:orientation val="minMax"/>
          <c:max val="1"/>
          <c:min val="0"/>
        </c:scaling>
        <c:delete val="1"/>
        <c:axPos val="l"/>
        <c:numFmt formatCode="0%" sourceLinked="1"/>
        <c:majorTickMark val="out"/>
        <c:minorTickMark val="none"/>
        <c:tickLblPos val="nextTo"/>
        <c:crossAx val="184526720"/>
        <c:crosses val="autoZero"/>
        <c:crossBetween val="between"/>
      </c:valAx>
      <c:spPr>
        <a:noFill/>
        <a:ln w="25965">
          <a:noFill/>
        </a:ln>
      </c:spPr>
    </c:plotArea>
    <c:legend>
      <c:legendPos val="r"/>
      <c:layout>
        <c:manualLayout>
          <c:xMode val="edge"/>
          <c:yMode val="edge"/>
          <c:x val="0.85528371588070773"/>
          <c:y val="3.4099305555555563E-2"/>
          <c:w val="0.14471628411929224"/>
          <c:h val="0.36130833333333334"/>
        </c:manualLayout>
      </c:layout>
      <c:overlay val="0"/>
      <c:txPr>
        <a:bodyPr/>
        <a:lstStyle/>
        <a:p>
          <a:pPr rtl="0">
            <a:defRPr sz="1100"/>
          </a:pPr>
          <a:endParaRPr lang="he-IL"/>
        </a:p>
      </c:txPr>
    </c:legend>
    <c:plotVisOnly val="1"/>
    <c:dispBlanksAs val="gap"/>
    <c:showDLblsOverMax val="0"/>
  </c:chart>
  <c:spPr>
    <a:noFill/>
    <a:ln>
      <a:noFill/>
    </a:ln>
  </c:spPr>
  <c:txPr>
    <a:bodyPr/>
    <a:lstStyle/>
    <a:p>
      <a:pPr>
        <a:defRPr sz="1100" b="0" i="0" u="none" strike="noStrike" baseline="0">
          <a:solidFill>
            <a:schemeClr val="tx1"/>
          </a:solidFill>
          <a:latin typeface="Segoe UI" panose="020B0502040204020203" pitchFamily="34" charset="0"/>
          <a:ea typeface="Arial"/>
          <a:cs typeface="Segoe UI" panose="020B0502040204020203" pitchFamily="34" charset="0"/>
        </a:defRPr>
      </a:pPr>
      <a:endParaRPr lang="he-IL"/>
    </a:p>
  </c:txPr>
  <c:externalData r:id="rId1">
    <c:autoUpdate val="0"/>
  </c:externalData>
</c:chartSpace>
</file>

<file path=ppt/charts/chart4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4267542745107629E-3"/>
          <c:y val="4.3280902777777776E-2"/>
          <c:w val="0.99323529210316497"/>
          <c:h val="0.79925873015873017"/>
        </c:manualLayout>
      </c:layout>
      <c:barChart>
        <c:barDir val="col"/>
        <c:grouping val="stacked"/>
        <c:varyColors val="0"/>
        <c:ser>
          <c:idx val="0"/>
          <c:order val="0"/>
          <c:tx>
            <c:strRef>
              <c:f>Sheet1!$A$2</c:f>
              <c:strCache>
                <c:ptCount val="1"/>
                <c:pt idx="0">
                  <c:v>כן, התייעצתי/נעזרתי בעו"ד</c:v>
                </c:pt>
              </c:strCache>
            </c:strRef>
          </c:tx>
          <c:spPr>
            <a:solidFill>
              <a:srgbClr val="09AFA7"/>
            </a:solidFill>
            <a:ln w="31750">
              <a:noFill/>
            </a:ln>
          </c:spPr>
          <c:invertIfNegative val="0"/>
          <c:dLbls>
            <c:spPr>
              <a:noFill/>
              <a:ln>
                <a:noFill/>
              </a:ln>
              <a:effectLst/>
            </c:spPr>
            <c:txPr>
              <a:bodyPr/>
              <a:lstStyle/>
              <a:p>
                <a:pPr>
                  <a:defRPr sz="1000" b="1">
                    <a:solidFill>
                      <a:schemeClr val="bg1"/>
                    </a:solidFill>
                    <a:latin typeface="Segoe UI" panose="020B0502040204020203" pitchFamily="34" charset="0"/>
                    <a:cs typeface="Segoe UI" panose="020B0502040204020203" pitchFamily="34" charset="0"/>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Sheet1!$B$1:$M$1</c:f>
              <c:strCache>
                <c:ptCount val="12"/>
                <c:pt idx="0">
                  <c:v>18-29 </c:v>
                </c:pt>
                <c:pt idx="1">
                  <c:v>30-49 </c:v>
                </c:pt>
                <c:pt idx="2">
                  <c:v>50+</c:v>
                </c:pt>
                <c:pt idx="3">
                  <c:v>18-29 </c:v>
                </c:pt>
                <c:pt idx="4">
                  <c:v>30-49 </c:v>
                </c:pt>
                <c:pt idx="5">
                  <c:v>50+</c:v>
                </c:pt>
                <c:pt idx="6">
                  <c:v>18-29 </c:v>
                </c:pt>
                <c:pt idx="7">
                  <c:v>30-49 </c:v>
                </c:pt>
                <c:pt idx="8">
                  <c:v>50+</c:v>
                </c:pt>
                <c:pt idx="9">
                  <c:v>18-29 </c:v>
                </c:pt>
                <c:pt idx="10">
                  <c:v>30-49 </c:v>
                </c:pt>
                <c:pt idx="11">
                  <c:v>50+</c:v>
                </c:pt>
              </c:strCache>
            </c:strRef>
          </c:cat>
          <c:val>
            <c:numRef>
              <c:f>Sheet1!$B$2:$M$2</c:f>
              <c:numCache>
                <c:formatCode>0%</c:formatCode>
                <c:ptCount val="12"/>
                <c:pt idx="0">
                  <c:v>5.8823529411764712E-2</c:v>
                </c:pt>
                <c:pt idx="1">
                  <c:v>6.25E-2</c:v>
                </c:pt>
                <c:pt idx="2">
                  <c:v>5.2631578947368432E-2</c:v>
                </c:pt>
                <c:pt idx="3">
                  <c:v>0.1111111111111111</c:v>
                </c:pt>
                <c:pt idx="4">
                  <c:v>7.1428571428571438E-2</c:v>
                </c:pt>
                <c:pt idx="6">
                  <c:v>0.2</c:v>
                </c:pt>
                <c:pt idx="7">
                  <c:v>0.189873417721519</c:v>
                </c:pt>
                <c:pt idx="8">
                  <c:v>0.21153846153846151</c:v>
                </c:pt>
                <c:pt idx="9">
                  <c:v>0.19047619047619049</c:v>
                </c:pt>
                <c:pt idx="10">
                  <c:v>0.49019607843137258</c:v>
                </c:pt>
                <c:pt idx="11">
                  <c:v>0.33333333333333343</c:v>
                </c:pt>
              </c:numCache>
            </c:numRef>
          </c:val>
          <c:extLst>
            <c:ext xmlns:c16="http://schemas.microsoft.com/office/drawing/2014/chart" uri="{C3380CC4-5D6E-409C-BE32-E72D297353CC}">
              <c16:uniqueId val="{00000000-0DE3-413B-BCFA-E0921DF056CA}"/>
            </c:ext>
          </c:extLst>
        </c:ser>
        <c:ser>
          <c:idx val="1"/>
          <c:order val="1"/>
          <c:tx>
            <c:strRef>
              <c:f>Sheet1!$A$3</c:f>
              <c:strCache>
                <c:ptCount val="1"/>
                <c:pt idx="0">
                  <c:v>כן, חשבתי להתייעץ אבל לא ידעתי איך</c:v>
                </c:pt>
              </c:strCache>
            </c:strRef>
          </c:tx>
          <c:spPr>
            <a:solidFill>
              <a:srgbClr val="59D3B6"/>
            </a:solidFill>
          </c:spPr>
          <c:invertIfNegative val="0"/>
          <c:dLbls>
            <c:spPr>
              <a:noFill/>
              <a:ln>
                <a:noFill/>
              </a:ln>
              <a:effectLst/>
            </c:spPr>
            <c:txPr>
              <a:bodyPr anchorCtr="0"/>
              <a:lstStyle/>
              <a:p>
                <a:pPr algn="ctr">
                  <a:defRPr lang="he-IL" sz="1000" b="1" i="0" u="none" strike="noStrike" kern="1200" baseline="0">
                    <a:solidFill>
                      <a:schemeClr val="bg1"/>
                    </a:solidFill>
                    <a:latin typeface="Segoe UI" panose="020B0502040204020203" pitchFamily="34" charset="0"/>
                    <a:ea typeface="Arial"/>
                    <a:cs typeface="Segoe UI" panose="020B0502040204020203" pitchFamily="34" charset="0"/>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Sheet1!$B$1:$M$1</c:f>
              <c:strCache>
                <c:ptCount val="12"/>
                <c:pt idx="0">
                  <c:v>18-29 </c:v>
                </c:pt>
                <c:pt idx="1">
                  <c:v>30-49 </c:v>
                </c:pt>
                <c:pt idx="2">
                  <c:v>50+</c:v>
                </c:pt>
                <c:pt idx="3">
                  <c:v>18-29 </c:v>
                </c:pt>
                <c:pt idx="4">
                  <c:v>30-49 </c:v>
                </c:pt>
                <c:pt idx="5">
                  <c:v>50+</c:v>
                </c:pt>
                <c:pt idx="6">
                  <c:v>18-29 </c:v>
                </c:pt>
                <c:pt idx="7">
                  <c:v>30-49 </c:v>
                </c:pt>
                <c:pt idx="8">
                  <c:v>50+</c:v>
                </c:pt>
                <c:pt idx="9">
                  <c:v>18-29 </c:v>
                </c:pt>
                <c:pt idx="10">
                  <c:v>30-49 </c:v>
                </c:pt>
                <c:pt idx="11">
                  <c:v>50+</c:v>
                </c:pt>
              </c:strCache>
            </c:strRef>
          </c:cat>
          <c:val>
            <c:numRef>
              <c:f>Sheet1!$B$3:$M$3</c:f>
              <c:numCache>
                <c:formatCode>0%</c:formatCode>
                <c:ptCount val="12"/>
                <c:pt idx="0">
                  <c:v>0.1764705882352941</c:v>
                </c:pt>
                <c:pt idx="1">
                  <c:v>8.3333333333333343E-2</c:v>
                </c:pt>
                <c:pt idx="2">
                  <c:v>2.1052631578947371E-2</c:v>
                </c:pt>
                <c:pt idx="3">
                  <c:v>5.5555555555555552E-2</c:v>
                </c:pt>
                <c:pt idx="4">
                  <c:v>5.3571428571428568E-2</c:v>
                </c:pt>
                <c:pt idx="6">
                  <c:v>0.1333333333333333</c:v>
                </c:pt>
                <c:pt idx="7">
                  <c:v>0.1012658227848101</c:v>
                </c:pt>
                <c:pt idx="8">
                  <c:v>3.8461538461538457E-2</c:v>
                </c:pt>
                <c:pt idx="9">
                  <c:v>0.28571428571428581</c:v>
                </c:pt>
                <c:pt idx="10">
                  <c:v>7.8431372549019607E-2</c:v>
                </c:pt>
              </c:numCache>
            </c:numRef>
          </c:val>
          <c:extLst>
            <c:ext xmlns:c16="http://schemas.microsoft.com/office/drawing/2014/chart" uri="{C3380CC4-5D6E-409C-BE32-E72D297353CC}">
              <c16:uniqueId val="{00000001-0DE3-413B-BCFA-E0921DF056CA}"/>
            </c:ext>
          </c:extLst>
        </c:ser>
        <c:ser>
          <c:idx val="2"/>
          <c:order val="2"/>
          <c:tx>
            <c:strRef>
              <c:f>Sheet1!$A$4</c:f>
              <c:strCache>
                <c:ptCount val="1"/>
                <c:pt idx="0">
                  <c:v>כן, חשבתי להתייעץ אבל זה היה יקר </c:v>
                </c:pt>
              </c:strCache>
            </c:strRef>
          </c:tx>
          <c:spPr>
            <a:solidFill>
              <a:schemeClr val="accent6">
                <a:lumMod val="40000"/>
                <a:lumOff val="60000"/>
              </a:schemeClr>
            </a:solidFill>
          </c:spPr>
          <c:invertIfNegative val="0"/>
          <c:dLbls>
            <c:spPr>
              <a:noFill/>
              <a:ln>
                <a:noFill/>
              </a:ln>
              <a:effectLst/>
            </c:spPr>
            <c:txPr>
              <a:bodyPr wrap="square" lIns="38100" tIns="19050" rIns="38100" bIns="19050" anchor="ctr" anchorCtr="0">
                <a:spAutoFit/>
              </a:bodyPr>
              <a:lstStyle/>
              <a:p>
                <a:pPr algn="ctr">
                  <a:defRPr lang="he-IL" sz="1000" b="1" i="0" u="none" strike="noStrike" kern="1200" baseline="0">
                    <a:solidFill>
                      <a:schemeClr val="bg1"/>
                    </a:solidFill>
                    <a:latin typeface="Segoe UI" panose="020B0502040204020203" pitchFamily="34" charset="0"/>
                    <a:ea typeface="Arial"/>
                    <a:cs typeface="Segoe UI" panose="020B0502040204020203" pitchFamily="34" charset="0"/>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Sheet1!$B$1:$M$1</c:f>
              <c:strCache>
                <c:ptCount val="12"/>
                <c:pt idx="0">
                  <c:v>18-29 </c:v>
                </c:pt>
                <c:pt idx="1">
                  <c:v>30-49 </c:v>
                </c:pt>
                <c:pt idx="2">
                  <c:v>50+</c:v>
                </c:pt>
                <c:pt idx="3">
                  <c:v>18-29 </c:v>
                </c:pt>
                <c:pt idx="4">
                  <c:v>30-49 </c:v>
                </c:pt>
                <c:pt idx="5">
                  <c:v>50+</c:v>
                </c:pt>
                <c:pt idx="6">
                  <c:v>18-29 </c:v>
                </c:pt>
                <c:pt idx="7">
                  <c:v>30-49 </c:v>
                </c:pt>
                <c:pt idx="8">
                  <c:v>50+</c:v>
                </c:pt>
                <c:pt idx="9">
                  <c:v>18-29 </c:v>
                </c:pt>
                <c:pt idx="10">
                  <c:v>30-49 </c:v>
                </c:pt>
                <c:pt idx="11">
                  <c:v>50+</c:v>
                </c:pt>
              </c:strCache>
            </c:strRef>
          </c:cat>
          <c:val>
            <c:numRef>
              <c:f>Sheet1!$B$4:$M$4</c:f>
              <c:numCache>
                <c:formatCode>0%</c:formatCode>
                <c:ptCount val="12"/>
                <c:pt idx="0">
                  <c:v>0.1470588235294118</c:v>
                </c:pt>
                <c:pt idx="1">
                  <c:v>0.22916666666666671</c:v>
                </c:pt>
                <c:pt idx="2">
                  <c:v>0.1368421052631579</c:v>
                </c:pt>
                <c:pt idx="3">
                  <c:v>5.5555555555555552E-2</c:v>
                </c:pt>
                <c:pt idx="4">
                  <c:v>0.23214285714285721</c:v>
                </c:pt>
                <c:pt idx="5">
                  <c:v>8.3333333333333343E-2</c:v>
                </c:pt>
                <c:pt idx="6">
                  <c:v>0.3</c:v>
                </c:pt>
                <c:pt idx="7">
                  <c:v>0.29113924050632911</c:v>
                </c:pt>
                <c:pt idx="8">
                  <c:v>0.21153846153846151</c:v>
                </c:pt>
                <c:pt idx="9">
                  <c:v>0.38095238095238088</c:v>
                </c:pt>
                <c:pt idx="10">
                  <c:v>0.1372549019607843</c:v>
                </c:pt>
                <c:pt idx="11">
                  <c:v>0.1111111111111111</c:v>
                </c:pt>
              </c:numCache>
            </c:numRef>
          </c:val>
          <c:extLst>
            <c:ext xmlns:c16="http://schemas.microsoft.com/office/drawing/2014/chart" uri="{C3380CC4-5D6E-409C-BE32-E72D297353CC}">
              <c16:uniqueId val="{00000002-0DE3-413B-BCFA-E0921DF056CA}"/>
            </c:ext>
          </c:extLst>
        </c:ser>
        <c:ser>
          <c:idx val="3"/>
          <c:order val="3"/>
          <c:tx>
            <c:strRef>
              <c:f>Sheet1!$A$5</c:f>
              <c:strCache>
                <c:ptCount val="1"/>
                <c:pt idx="0">
                  <c:v>לא חשתי צורך להתייעץ/להיעזר בעו"ד</c:v>
                </c:pt>
              </c:strCache>
            </c:strRef>
          </c:tx>
          <c:spPr>
            <a:solidFill>
              <a:srgbClr val="FA4C75"/>
            </a:solidFill>
          </c:spPr>
          <c:invertIfNegative val="0"/>
          <c:dLbls>
            <c:spPr>
              <a:noFill/>
              <a:ln>
                <a:noFill/>
              </a:ln>
              <a:effectLst/>
            </c:spPr>
            <c:txPr>
              <a:bodyPr wrap="square" lIns="38100" tIns="19050" rIns="38100" bIns="19050" anchor="ctr">
                <a:spAutoFit/>
              </a:bodyPr>
              <a:lstStyle/>
              <a:p>
                <a:pPr>
                  <a:defRPr sz="1050" b="1">
                    <a:solidFill>
                      <a:schemeClr val="bg1"/>
                    </a:solidFill>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Sheet1!$B$1:$M$1</c:f>
              <c:strCache>
                <c:ptCount val="12"/>
                <c:pt idx="0">
                  <c:v>18-29 </c:v>
                </c:pt>
                <c:pt idx="1">
                  <c:v>30-49 </c:v>
                </c:pt>
                <c:pt idx="2">
                  <c:v>50+</c:v>
                </c:pt>
                <c:pt idx="3">
                  <c:v>18-29 </c:v>
                </c:pt>
                <c:pt idx="4">
                  <c:v>30-49 </c:v>
                </c:pt>
                <c:pt idx="5">
                  <c:v>50+</c:v>
                </c:pt>
                <c:pt idx="6">
                  <c:v>18-29 </c:v>
                </c:pt>
                <c:pt idx="7">
                  <c:v>30-49 </c:v>
                </c:pt>
                <c:pt idx="8">
                  <c:v>50+</c:v>
                </c:pt>
                <c:pt idx="9">
                  <c:v>18-29 </c:v>
                </c:pt>
                <c:pt idx="10">
                  <c:v>30-49 </c:v>
                </c:pt>
                <c:pt idx="11">
                  <c:v>50+</c:v>
                </c:pt>
              </c:strCache>
            </c:strRef>
          </c:cat>
          <c:val>
            <c:numRef>
              <c:f>Sheet1!$B$5:$M$5</c:f>
              <c:numCache>
                <c:formatCode>0%</c:formatCode>
                <c:ptCount val="12"/>
                <c:pt idx="0">
                  <c:v>0.61764705882352944</c:v>
                </c:pt>
                <c:pt idx="1">
                  <c:v>0.625</c:v>
                </c:pt>
                <c:pt idx="2">
                  <c:v>0.78947368421052633</c:v>
                </c:pt>
                <c:pt idx="3">
                  <c:v>0.77777777777777768</c:v>
                </c:pt>
                <c:pt idx="4">
                  <c:v>0.6428571428571429</c:v>
                </c:pt>
                <c:pt idx="5">
                  <c:v>0.91666666666666674</c:v>
                </c:pt>
                <c:pt idx="6">
                  <c:v>0.36666666666666659</c:v>
                </c:pt>
                <c:pt idx="7">
                  <c:v>0.41772151898734178</c:v>
                </c:pt>
                <c:pt idx="8">
                  <c:v>0.53846153846153844</c:v>
                </c:pt>
                <c:pt idx="9">
                  <c:v>0.1428571428571429</c:v>
                </c:pt>
                <c:pt idx="10">
                  <c:v>0.29411764705882348</c:v>
                </c:pt>
                <c:pt idx="11">
                  <c:v>0.55555555555555558</c:v>
                </c:pt>
              </c:numCache>
            </c:numRef>
          </c:val>
          <c:extLst>
            <c:ext xmlns:c16="http://schemas.microsoft.com/office/drawing/2014/chart" uri="{C3380CC4-5D6E-409C-BE32-E72D297353CC}">
              <c16:uniqueId val="{00000000-5AEA-45C7-8772-1ACAF543CB4B}"/>
            </c:ext>
          </c:extLst>
        </c:ser>
        <c:dLbls>
          <c:showLegendKey val="0"/>
          <c:showVal val="0"/>
          <c:showCatName val="0"/>
          <c:showSerName val="0"/>
          <c:showPercent val="0"/>
          <c:showBubbleSize val="0"/>
        </c:dLbls>
        <c:gapWidth val="80"/>
        <c:overlap val="100"/>
        <c:axId val="184526720"/>
        <c:axId val="184528256"/>
      </c:barChart>
      <c:catAx>
        <c:axId val="184526720"/>
        <c:scaling>
          <c:orientation val="minMax"/>
        </c:scaling>
        <c:delete val="0"/>
        <c:axPos val="b"/>
        <c:numFmt formatCode="General" sourceLinked="1"/>
        <c:majorTickMark val="out"/>
        <c:minorTickMark val="none"/>
        <c:tickLblPos val="nextTo"/>
        <c:spPr>
          <a:ln w="38100">
            <a:solidFill>
              <a:schemeClr val="bg1"/>
            </a:solidFill>
            <a:prstDash val="solid"/>
          </a:ln>
        </c:spPr>
        <c:txPr>
          <a:bodyPr rot="0" vert="horz"/>
          <a:lstStyle/>
          <a:p>
            <a:pPr>
              <a:defRPr sz="900" b="0">
                <a:solidFill>
                  <a:schemeClr val="tx1">
                    <a:lumMod val="75000"/>
                    <a:lumOff val="25000"/>
                  </a:schemeClr>
                </a:solidFill>
              </a:defRPr>
            </a:pPr>
            <a:endParaRPr lang="he-IL"/>
          </a:p>
        </c:txPr>
        <c:crossAx val="184528256"/>
        <c:crosses val="autoZero"/>
        <c:auto val="1"/>
        <c:lblAlgn val="ctr"/>
        <c:lblOffset val="0"/>
        <c:noMultiLvlLbl val="0"/>
      </c:catAx>
      <c:valAx>
        <c:axId val="184528256"/>
        <c:scaling>
          <c:orientation val="minMax"/>
          <c:max val="1"/>
          <c:min val="0"/>
        </c:scaling>
        <c:delete val="1"/>
        <c:axPos val="l"/>
        <c:numFmt formatCode="0%" sourceLinked="1"/>
        <c:majorTickMark val="out"/>
        <c:minorTickMark val="none"/>
        <c:tickLblPos val="nextTo"/>
        <c:crossAx val="184526720"/>
        <c:crosses val="autoZero"/>
        <c:crossBetween val="between"/>
      </c:valAx>
      <c:spPr>
        <a:noFill/>
        <a:ln w="25965">
          <a:noFill/>
        </a:ln>
      </c:spPr>
    </c:plotArea>
    <c:plotVisOnly val="1"/>
    <c:dispBlanksAs val="gap"/>
    <c:showDLblsOverMax val="0"/>
  </c:chart>
  <c:spPr>
    <a:noFill/>
    <a:ln>
      <a:noFill/>
    </a:ln>
  </c:spPr>
  <c:txPr>
    <a:bodyPr/>
    <a:lstStyle/>
    <a:p>
      <a:pPr>
        <a:defRPr sz="1100" b="0" i="0" u="none" strike="noStrike" baseline="0">
          <a:solidFill>
            <a:schemeClr val="tx1"/>
          </a:solidFill>
          <a:latin typeface="Segoe UI" panose="020B0502040204020203" pitchFamily="34" charset="0"/>
          <a:ea typeface="Arial"/>
          <a:cs typeface="Segoe UI" panose="020B0502040204020203" pitchFamily="34" charset="0"/>
        </a:defRPr>
      </a:pPr>
      <a:endParaRPr lang="he-IL"/>
    </a:p>
  </c:txPr>
  <c:externalData r:id="rId1">
    <c:autoUpdate val="0"/>
  </c:externalData>
</c:chartSpace>
</file>

<file path=ppt/charts/chart4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4267542745107629E-3"/>
          <c:y val="4.3280902777777776E-2"/>
          <c:w val="0.99323529210316497"/>
          <c:h val="0.79925873015873017"/>
        </c:manualLayout>
      </c:layout>
      <c:barChart>
        <c:barDir val="col"/>
        <c:grouping val="stacked"/>
        <c:varyColors val="0"/>
        <c:ser>
          <c:idx val="0"/>
          <c:order val="0"/>
          <c:tx>
            <c:strRef>
              <c:f>Sheet1!$A$2</c:f>
              <c:strCache>
                <c:ptCount val="1"/>
                <c:pt idx="0">
                  <c:v>כן, התייעצתי/נעזרתי בעו"ד</c:v>
                </c:pt>
              </c:strCache>
            </c:strRef>
          </c:tx>
          <c:spPr>
            <a:solidFill>
              <a:srgbClr val="09AFA7"/>
            </a:solidFill>
            <a:ln w="31750">
              <a:noFill/>
            </a:ln>
          </c:spPr>
          <c:invertIfNegative val="0"/>
          <c:dLbls>
            <c:spPr>
              <a:noFill/>
              <a:ln>
                <a:noFill/>
              </a:ln>
              <a:effectLst/>
            </c:spPr>
            <c:txPr>
              <a:bodyPr/>
              <a:lstStyle/>
              <a:p>
                <a:pPr>
                  <a:defRPr sz="1000" b="1">
                    <a:solidFill>
                      <a:schemeClr val="bg1"/>
                    </a:solidFill>
                    <a:latin typeface="Segoe UI" panose="020B0502040204020203" pitchFamily="34" charset="0"/>
                    <a:cs typeface="Segoe UI" panose="020B0502040204020203" pitchFamily="34" charset="0"/>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Sheet1!$B$1:$I$1</c:f>
              <c:strCache>
                <c:ptCount val="8"/>
                <c:pt idx="0">
                  <c:v>גבר</c:v>
                </c:pt>
                <c:pt idx="1">
                  <c:v>אישה</c:v>
                </c:pt>
                <c:pt idx="2">
                  <c:v>גבר</c:v>
                </c:pt>
                <c:pt idx="3">
                  <c:v>אישה</c:v>
                </c:pt>
                <c:pt idx="4">
                  <c:v>גבר</c:v>
                </c:pt>
                <c:pt idx="5">
                  <c:v>אישה</c:v>
                </c:pt>
                <c:pt idx="6">
                  <c:v>גבר</c:v>
                </c:pt>
                <c:pt idx="7">
                  <c:v>אישה</c:v>
                </c:pt>
              </c:strCache>
            </c:strRef>
          </c:cat>
          <c:val>
            <c:numRef>
              <c:f>Sheet1!$B$2:$I$2</c:f>
              <c:numCache>
                <c:formatCode>0%</c:formatCode>
                <c:ptCount val="8"/>
                <c:pt idx="0">
                  <c:v>7.0175438596491224E-2</c:v>
                </c:pt>
                <c:pt idx="1">
                  <c:v>3.1746031746031737E-2</c:v>
                </c:pt>
                <c:pt idx="2">
                  <c:v>8.1081081081081086E-2</c:v>
                </c:pt>
                <c:pt idx="3">
                  <c:v>6.1224489795918373E-2</c:v>
                </c:pt>
                <c:pt idx="4">
                  <c:v>0.1730769230769231</c:v>
                </c:pt>
                <c:pt idx="5">
                  <c:v>0.24561403508771931</c:v>
                </c:pt>
                <c:pt idx="6">
                  <c:v>0.32258064516129031</c:v>
                </c:pt>
                <c:pt idx="7">
                  <c:v>0.44</c:v>
                </c:pt>
              </c:numCache>
            </c:numRef>
          </c:val>
          <c:extLst>
            <c:ext xmlns:c16="http://schemas.microsoft.com/office/drawing/2014/chart" uri="{C3380CC4-5D6E-409C-BE32-E72D297353CC}">
              <c16:uniqueId val="{00000000-F1B6-46BC-9392-F7FB1686720F}"/>
            </c:ext>
          </c:extLst>
        </c:ser>
        <c:ser>
          <c:idx val="1"/>
          <c:order val="1"/>
          <c:tx>
            <c:strRef>
              <c:f>Sheet1!$A$3</c:f>
              <c:strCache>
                <c:ptCount val="1"/>
                <c:pt idx="0">
                  <c:v>כן, חשבתי להתייעץ אבל לא ידעתי איך</c:v>
                </c:pt>
              </c:strCache>
            </c:strRef>
          </c:tx>
          <c:spPr>
            <a:solidFill>
              <a:srgbClr val="59D3B6"/>
            </a:solidFill>
          </c:spPr>
          <c:invertIfNegative val="0"/>
          <c:dLbls>
            <c:spPr>
              <a:noFill/>
              <a:ln>
                <a:noFill/>
              </a:ln>
              <a:effectLst/>
            </c:spPr>
            <c:txPr>
              <a:bodyPr anchorCtr="0"/>
              <a:lstStyle/>
              <a:p>
                <a:pPr algn="ctr">
                  <a:defRPr lang="he-IL" sz="1000" b="1" i="0" u="none" strike="noStrike" kern="1200" baseline="0">
                    <a:solidFill>
                      <a:schemeClr val="bg1"/>
                    </a:solidFill>
                    <a:latin typeface="Segoe UI" panose="020B0502040204020203" pitchFamily="34" charset="0"/>
                    <a:ea typeface="Arial"/>
                    <a:cs typeface="Segoe UI" panose="020B0502040204020203" pitchFamily="34" charset="0"/>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Sheet1!$B$1:$I$1</c:f>
              <c:strCache>
                <c:ptCount val="8"/>
                <c:pt idx="0">
                  <c:v>גבר</c:v>
                </c:pt>
                <c:pt idx="1">
                  <c:v>אישה</c:v>
                </c:pt>
                <c:pt idx="2">
                  <c:v>גבר</c:v>
                </c:pt>
                <c:pt idx="3">
                  <c:v>אישה</c:v>
                </c:pt>
                <c:pt idx="4">
                  <c:v>גבר</c:v>
                </c:pt>
                <c:pt idx="5">
                  <c:v>אישה</c:v>
                </c:pt>
                <c:pt idx="6">
                  <c:v>גבר</c:v>
                </c:pt>
                <c:pt idx="7">
                  <c:v>אישה</c:v>
                </c:pt>
              </c:strCache>
            </c:strRef>
          </c:cat>
          <c:val>
            <c:numRef>
              <c:f>Sheet1!$B$3:$I$3</c:f>
              <c:numCache>
                <c:formatCode>0%</c:formatCode>
                <c:ptCount val="8"/>
                <c:pt idx="0">
                  <c:v>2.6315789473684209E-2</c:v>
                </c:pt>
                <c:pt idx="1">
                  <c:v>0.1428571428571429</c:v>
                </c:pt>
                <c:pt idx="2">
                  <c:v>5.405405405405405E-2</c:v>
                </c:pt>
                <c:pt idx="3">
                  <c:v>4.0816326530612249E-2</c:v>
                </c:pt>
                <c:pt idx="4">
                  <c:v>7.6923076923076927E-2</c:v>
                </c:pt>
                <c:pt idx="5">
                  <c:v>0.10526315789473691</c:v>
                </c:pt>
                <c:pt idx="7">
                  <c:v>0.2</c:v>
                </c:pt>
              </c:numCache>
            </c:numRef>
          </c:val>
          <c:extLst>
            <c:ext xmlns:c16="http://schemas.microsoft.com/office/drawing/2014/chart" uri="{C3380CC4-5D6E-409C-BE32-E72D297353CC}">
              <c16:uniqueId val="{00000001-F1B6-46BC-9392-F7FB1686720F}"/>
            </c:ext>
          </c:extLst>
        </c:ser>
        <c:ser>
          <c:idx val="2"/>
          <c:order val="2"/>
          <c:tx>
            <c:strRef>
              <c:f>Sheet1!$A$4</c:f>
              <c:strCache>
                <c:ptCount val="1"/>
                <c:pt idx="0">
                  <c:v>כן, חשבתי להתייעץ אבל זה היה יקר </c:v>
                </c:pt>
              </c:strCache>
            </c:strRef>
          </c:tx>
          <c:spPr>
            <a:solidFill>
              <a:schemeClr val="accent6">
                <a:lumMod val="40000"/>
                <a:lumOff val="60000"/>
              </a:schemeClr>
            </a:solidFill>
          </c:spPr>
          <c:invertIfNegative val="0"/>
          <c:dLbls>
            <c:spPr>
              <a:noFill/>
              <a:ln>
                <a:noFill/>
              </a:ln>
              <a:effectLst/>
            </c:spPr>
            <c:txPr>
              <a:bodyPr wrap="square" lIns="38100" tIns="19050" rIns="38100" bIns="19050" anchor="ctr" anchorCtr="0">
                <a:spAutoFit/>
              </a:bodyPr>
              <a:lstStyle/>
              <a:p>
                <a:pPr algn="ctr">
                  <a:defRPr lang="he-IL" sz="1000" b="1" i="0" u="none" strike="noStrike" kern="1200" baseline="0">
                    <a:solidFill>
                      <a:schemeClr val="bg1"/>
                    </a:solidFill>
                    <a:latin typeface="Segoe UI" panose="020B0502040204020203" pitchFamily="34" charset="0"/>
                    <a:ea typeface="Arial"/>
                    <a:cs typeface="Segoe UI" panose="020B0502040204020203" pitchFamily="34" charset="0"/>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Sheet1!$B$1:$I$1</c:f>
              <c:strCache>
                <c:ptCount val="8"/>
                <c:pt idx="0">
                  <c:v>גבר</c:v>
                </c:pt>
                <c:pt idx="1">
                  <c:v>אישה</c:v>
                </c:pt>
                <c:pt idx="2">
                  <c:v>גבר</c:v>
                </c:pt>
                <c:pt idx="3">
                  <c:v>אישה</c:v>
                </c:pt>
                <c:pt idx="4">
                  <c:v>גבר</c:v>
                </c:pt>
                <c:pt idx="5">
                  <c:v>אישה</c:v>
                </c:pt>
                <c:pt idx="6">
                  <c:v>גבר</c:v>
                </c:pt>
                <c:pt idx="7">
                  <c:v>אישה</c:v>
                </c:pt>
              </c:strCache>
            </c:strRef>
          </c:cat>
          <c:val>
            <c:numRef>
              <c:f>Sheet1!$B$4:$I$4</c:f>
              <c:numCache>
                <c:formatCode>0%</c:formatCode>
                <c:ptCount val="8"/>
                <c:pt idx="0">
                  <c:v>0.13157894736842099</c:v>
                </c:pt>
                <c:pt idx="1">
                  <c:v>0.22222222222222221</c:v>
                </c:pt>
                <c:pt idx="2">
                  <c:v>0.2162162162162162</c:v>
                </c:pt>
                <c:pt idx="3">
                  <c:v>0.1428571428571429</c:v>
                </c:pt>
                <c:pt idx="4">
                  <c:v>0.28846153846153849</c:v>
                </c:pt>
                <c:pt idx="5">
                  <c:v>0.22807017543859651</c:v>
                </c:pt>
                <c:pt idx="6">
                  <c:v>0.32258064516129031</c:v>
                </c:pt>
                <c:pt idx="7">
                  <c:v>0.12</c:v>
                </c:pt>
              </c:numCache>
            </c:numRef>
          </c:val>
          <c:extLst>
            <c:ext xmlns:c16="http://schemas.microsoft.com/office/drawing/2014/chart" uri="{C3380CC4-5D6E-409C-BE32-E72D297353CC}">
              <c16:uniqueId val="{00000002-F1B6-46BC-9392-F7FB1686720F}"/>
            </c:ext>
          </c:extLst>
        </c:ser>
        <c:ser>
          <c:idx val="3"/>
          <c:order val="3"/>
          <c:tx>
            <c:strRef>
              <c:f>Sheet1!$A$5</c:f>
              <c:strCache>
                <c:ptCount val="1"/>
                <c:pt idx="0">
                  <c:v>לא חשתי צורך להתייעץ/להיעזר בעו"ד</c:v>
                </c:pt>
              </c:strCache>
            </c:strRef>
          </c:tx>
          <c:spPr>
            <a:solidFill>
              <a:srgbClr val="FA4C75"/>
            </a:solidFill>
          </c:spPr>
          <c:invertIfNegative val="0"/>
          <c:dLbls>
            <c:spPr>
              <a:noFill/>
              <a:ln>
                <a:noFill/>
              </a:ln>
              <a:effectLst/>
            </c:spPr>
            <c:txPr>
              <a:bodyPr wrap="square" lIns="38100" tIns="19050" rIns="38100" bIns="19050" anchor="ctr">
                <a:spAutoFit/>
              </a:bodyPr>
              <a:lstStyle/>
              <a:p>
                <a:pPr>
                  <a:defRPr sz="1050" b="1">
                    <a:solidFill>
                      <a:schemeClr val="bg1"/>
                    </a:solidFill>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Sheet1!$B$1:$I$1</c:f>
              <c:strCache>
                <c:ptCount val="8"/>
                <c:pt idx="0">
                  <c:v>גבר</c:v>
                </c:pt>
                <c:pt idx="1">
                  <c:v>אישה</c:v>
                </c:pt>
                <c:pt idx="2">
                  <c:v>גבר</c:v>
                </c:pt>
                <c:pt idx="3">
                  <c:v>אישה</c:v>
                </c:pt>
                <c:pt idx="4">
                  <c:v>גבר</c:v>
                </c:pt>
                <c:pt idx="5">
                  <c:v>אישה</c:v>
                </c:pt>
                <c:pt idx="6">
                  <c:v>גבר</c:v>
                </c:pt>
                <c:pt idx="7">
                  <c:v>אישה</c:v>
                </c:pt>
              </c:strCache>
            </c:strRef>
          </c:cat>
          <c:val>
            <c:numRef>
              <c:f>Sheet1!$B$5:$I$5</c:f>
              <c:numCache>
                <c:formatCode>0%</c:formatCode>
                <c:ptCount val="8"/>
                <c:pt idx="0">
                  <c:v>0.77192982456140358</c:v>
                </c:pt>
                <c:pt idx="1">
                  <c:v>0.60317460317460314</c:v>
                </c:pt>
                <c:pt idx="2">
                  <c:v>0.64864864864864868</c:v>
                </c:pt>
                <c:pt idx="3">
                  <c:v>0.75510204081632648</c:v>
                </c:pt>
                <c:pt idx="4">
                  <c:v>0.46153846153846151</c:v>
                </c:pt>
                <c:pt idx="5">
                  <c:v>0.4210526315789474</c:v>
                </c:pt>
                <c:pt idx="6">
                  <c:v>0.35483870967741937</c:v>
                </c:pt>
                <c:pt idx="7">
                  <c:v>0.24</c:v>
                </c:pt>
              </c:numCache>
            </c:numRef>
          </c:val>
          <c:extLst>
            <c:ext xmlns:c16="http://schemas.microsoft.com/office/drawing/2014/chart" uri="{C3380CC4-5D6E-409C-BE32-E72D297353CC}">
              <c16:uniqueId val="{00000003-F1B6-46BC-9392-F7FB1686720F}"/>
            </c:ext>
          </c:extLst>
        </c:ser>
        <c:dLbls>
          <c:showLegendKey val="0"/>
          <c:showVal val="0"/>
          <c:showCatName val="0"/>
          <c:showSerName val="0"/>
          <c:showPercent val="0"/>
          <c:showBubbleSize val="0"/>
        </c:dLbls>
        <c:gapWidth val="80"/>
        <c:overlap val="100"/>
        <c:axId val="184526720"/>
        <c:axId val="184528256"/>
      </c:barChart>
      <c:catAx>
        <c:axId val="184526720"/>
        <c:scaling>
          <c:orientation val="minMax"/>
        </c:scaling>
        <c:delete val="0"/>
        <c:axPos val="b"/>
        <c:numFmt formatCode="General" sourceLinked="1"/>
        <c:majorTickMark val="out"/>
        <c:minorTickMark val="none"/>
        <c:tickLblPos val="nextTo"/>
        <c:spPr>
          <a:ln w="38100">
            <a:solidFill>
              <a:schemeClr val="bg1"/>
            </a:solidFill>
            <a:prstDash val="solid"/>
          </a:ln>
        </c:spPr>
        <c:txPr>
          <a:bodyPr rot="0" vert="horz"/>
          <a:lstStyle/>
          <a:p>
            <a:pPr>
              <a:defRPr sz="1000" b="0">
                <a:solidFill>
                  <a:schemeClr val="tx1">
                    <a:lumMod val="75000"/>
                    <a:lumOff val="25000"/>
                  </a:schemeClr>
                </a:solidFill>
              </a:defRPr>
            </a:pPr>
            <a:endParaRPr lang="he-IL"/>
          </a:p>
        </c:txPr>
        <c:crossAx val="184528256"/>
        <c:crosses val="autoZero"/>
        <c:auto val="1"/>
        <c:lblAlgn val="ctr"/>
        <c:lblOffset val="0"/>
        <c:noMultiLvlLbl val="0"/>
      </c:catAx>
      <c:valAx>
        <c:axId val="184528256"/>
        <c:scaling>
          <c:orientation val="minMax"/>
          <c:max val="1"/>
          <c:min val="0"/>
        </c:scaling>
        <c:delete val="1"/>
        <c:axPos val="l"/>
        <c:numFmt formatCode="0%" sourceLinked="1"/>
        <c:majorTickMark val="out"/>
        <c:minorTickMark val="none"/>
        <c:tickLblPos val="nextTo"/>
        <c:crossAx val="184526720"/>
        <c:crosses val="autoZero"/>
        <c:crossBetween val="between"/>
      </c:valAx>
      <c:spPr>
        <a:noFill/>
        <a:ln w="25965">
          <a:noFill/>
        </a:ln>
      </c:spPr>
    </c:plotArea>
    <c:plotVisOnly val="1"/>
    <c:dispBlanksAs val="gap"/>
    <c:showDLblsOverMax val="0"/>
  </c:chart>
  <c:spPr>
    <a:noFill/>
    <a:ln>
      <a:noFill/>
    </a:ln>
  </c:spPr>
  <c:txPr>
    <a:bodyPr/>
    <a:lstStyle/>
    <a:p>
      <a:pPr>
        <a:defRPr sz="1100" b="0" i="0" u="none" strike="noStrike" baseline="0">
          <a:solidFill>
            <a:schemeClr val="tx1"/>
          </a:solidFill>
          <a:latin typeface="Segoe UI" panose="020B0502040204020203" pitchFamily="34" charset="0"/>
          <a:ea typeface="Arial"/>
          <a:cs typeface="Segoe UI" panose="020B0502040204020203" pitchFamily="34" charset="0"/>
        </a:defRPr>
      </a:pPr>
      <a:endParaRPr lang="he-IL"/>
    </a:p>
  </c:txPr>
  <c:externalData r:id="rId1">
    <c:autoUpdate val="0"/>
  </c:externalData>
</c:chartSpace>
</file>

<file path=ppt/charts/chart4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4267542745107629E-3"/>
          <c:y val="4.3280902777777776E-2"/>
          <c:w val="0.99323529210316497"/>
          <c:h val="0.79925873015873017"/>
        </c:manualLayout>
      </c:layout>
      <c:barChart>
        <c:barDir val="col"/>
        <c:grouping val="stacked"/>
        <c:varyColors val="0"/>
        <c:ser>
          <c:idx val="0"/>
          <c:order val="0"/>
          <c:tx>
            <c:strRef>
              <c:f>Sheet1!$A$2</c:f>
              <c:strCache>
                <c:ptCount val="1"/>
                <c:pt idx="0">
                  <c:v>כן, התייעצתי/נעזרתי בעו"ד</c:v>
                </c:pt>
              </c:strCache>
            </c:strRef>
          </c:tx>
          <c:spPr>
            <a:solidFill>
              <a:srgbClr val="09AFA7"/>
            </a:solidFill>
            <a:ln w="31750">
              <a:noFill/>
            </a:ln>
          </c:spPr>
          <c:invertIfNegative val="0"/>
          <c:dLbls>
            <c:spPr>
              <a:noFill/>
              <a:ln>
                <a:noFill/>
              </a:ln>
              <a:effectLst/>
            </c:spPr>
            <c:txPr>
              <a:bodyPr/>
              <a:lstStyle/>
              <a:p>
                <a:pPr>
                  <a:defRPr sz="1000" b="1">
                    <a:solidFill>
                      <a:schemeClr val="bg1"/>
                    </a:solidFill>
                    <a:latin typeface="Segoe UI" panose="020B0502040204020203" pitchFamily="34" charset="0"/>
                    <a:cs typeface="Segoe UI" panose="020B0502040204020203" pitchFamily="34" charset="0"/>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Sheet1!$B$1:$I$1</c:f>
              <c:strCache>
                <c:ptCount val="8"/>
                <c:pt idx="0">
                  <c:v>דוח אחד</c:v>
                </c:pt>
                <c:pt idx="1">
                  <c:v>2+ דוחות</c:v>
                </c:pt>
                <c:pt idx="2">
                  <c:v>דוח אחד</c:v>
                </c:pt>
                <c:pt idx="3">
                  <c:v>2+ דוחות</c:v>
                </c:pt>
                <c:pt idx="4">
                  <c:v>דוח אחד</c:v>
                </c:pt>
                <c:pt idx="5">
                  <c:v>2+ דוחות</c:v>
                </c:pt>
                <c:pt idx="6">
                  <c:v>דוח אחד</c:v>
                </c:pt>
                <c:pt idx="7">
                  <c:v>2+ דוחות</c:v>
                </c:pt>
              </c:strCache>
            </c:strRef>
          </c:cat>
          <c:val>
            <c:numRef>
              <c:f>Sheet1!$B$2:$I$2</c:f>
              <c:numCache>
                <c:formatCode>0%</c:formatCode>
                <c:ptCount val="8"/>
                <c:pt idx="0">
                  <c:v>4.1379310344827593E-2</c:v>
                </c:pt>
                <c:pt idx="1">
                  <c:v>0.125</c:v>
                </c:pt>
                <c:pt idx="2">
                  <c:v>7.575757575757576E-2</c:v>
                </c:pt>
                <c:pt idx="3">
                  <c:v>0.05</c:v>
                </c:pt>
                <c:pt idx="4">
                  <c:v>0.1487603305785124</c:v>
                </c:pt>
                <c:pt idx="5">
                  <c:v>0.35</c:v>
                </c:pt>
                <c:pt idx="6">
                  <c:v>0.4098360655737705</c:v>
                </c:pt>
                <c:pt idx="7">
                  <c:v>0.35</c:v>
                </c:pt>
              </c:numCache>
            </c:numRef>
          </c:val>
          <c:extLst>
            <c:ext xmlns:c16="http://schemas.microsoft.com/office/drawing/2014/chart" uri="{C3380CC4-5D6E-409C-BE32-E72D297353CC}">
              <c16:uniqueId val="{00000000-48E9-48BF-862A-F5D0F7B4EC36}"/>
            </c:ext>
          </c:extLst>
        </c:ser>
        <c:ser>
          <c:idx val="1"/>
          <c:order val="1"/>
          <c:tx>
            <c:strRef>
              <c:f>Sheet1!$A$3</c:f>
              <c:strCache>
                <c:ptCount val="1"/>
                <c:pt idx="0">
                  <c:v>כן, חשבתי להתייעץ אבל לא ידעתי איך</c:v>
                </c:pt>
              </c:strCache>
            </c:strRef>
          </c:tx>
          <c:spPr>
            <a:solidFill>
              <a:srgbClr val="59D3B6"/>
            </a:solidFill>
          </c:spPr>
          <c:invertIfNegative val="0"/>
          <c:dLbls>
            <c:spPr>
              <a:noFill/>
              <a:ln>
                <a:noFill/>
              </a:ln>
              <a:effectLst/>
            </c:spPr>
            <c:txPr>
              <a:bodyPr anchorCtr="0"/>
              <a:lstStyle/>
              <a:p>
                <a:pPr algn="ctr">
                  <a:defRPr lang="he-IL" sz="1000" b="1" i="0" u="none" strike="noStrike" kern="1200" baseline="0">
                    <a:solidFill>
                      <a:schemeClr val="bg1"/>
                    </a:solidFill>
                    <a:latin typeface="Segoe UI" panose="020B0502040204020203" pitchFamily="34" charset="0"/>
                    <a:ea typeface="Arial"/>
                    <a:cs typeface="Segoe UI" panose="020B0502040204020203" pitchFamily="34" charset="0"/>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Sheet1!$B$1:$I$1</c:f>
              <c:strCache>
                <c:ptCount val="8"/>
                <c:pt idx="0">
                  <c:v>דוח אחד</c:v>
                </c:pt>
                <c:pt idx="1">
                  <c:v>2+ דוחות</c:v>
                </c:pt>
                <c:pt idx="2">
                  <c:v>דוח אחד</c:v>
                </c:pt>
                <c:pt idx="3">
                  <c:v>2+ דוחות</c:v>
                </c:pt>
                <c:pt idx="4">
                  <c:v>דוח אחד</c:v>
                </c:pt>
                <c:pt idx="5">
                  <c:v>2+ דוחות</c:v>
                </c:pt>
                <c:pt idx="6">
                  <c:v>דוח אחד</c:v>
                </c:pt>
                <c:pt idx="7">
                  <c:v>2+ דוחות</c:v>
                </c:pt>
              </c:strCache>
            </c:strRef>
          </c:cat>
          <c:val>
            <c:numRef>
              <c:f>Sheet1!$B$3:$I$3</c:f>
              <c:numCache>
                <c:formatCode>0%</c:formatCode>
                <c:ptCount val="8"/>
                <c:pt idx="0">
                  <c:v>7.586206896551724E-2</c:v>
                </c:pt>
                <c:pt idx="1">
                  <c:v>3.125E-2</c:v>
                </c:pt>
                <c:pt idx="2">
                  <c:v>6.0606060606060608E-2</c:v>
                </c:pt>
                <c:pt idx="4">
                  <c:v>9.0909090909090912E-2</c:v>
                </c:pt>
                <c:pt idx="5">
                  <c:v>7.4999999999999997E-2</c:v>
                </c:pt>
                <c:pt idx="6">
                  <c:v>0.16393442622950821</c:v>
                </c:pt>
              </c:numCache>
            </c:numRef>
          </c:val>
          <c:extLst>
            <c:ext xmlns:c16="http://schemas.microsoft.com/office/drawing/2014/chart" uri="{C3380CC4-5D6E-409C-BE32-E72D297353CC}">
              <c16:uniqueId val="{00000001-48E9-48BF-862A-F5D0F7B4EC36}"/>
            </c:ext>
          </c:extLst>
        </c:ser>
        <c:ser>
          <c:idx val="2"/>
          <c:order val="2"/>
          <c:tx>
            <c:strRef>
              <c:f>Sheet1!$A$4</c:f>
              <c:strCache>
                <c:ptCount val="1"/>
                <c:pt idx="0">
                  <c:v>כן, חשבתי להתייעץ אבל זה היה יקר </c:v>
                </c:pt>
              </c:strCache>
            </c:strRef>
          </c:tx>
          <c:spPr>
            <a:solidFill>
              <a:schemeClr val="accent6">
                <a:lumMod val="40000"/>
                <a:lumOff val="60000"/>
              </a:schemeClr>
            </a:solidFill>
          </c:spPr>
          <c:invertIfNegative val="0"/>
          <c:dLbls>
            <c:spPr>
              <a:noFill/>
              <a:ln>
                <a:noFill/>
              </a:ln>
              <a:effectLst/>
            </c:spPr>
            <c:txPr>
              <a:bodyPr wrap="square" lIns="38100" tIns="19050" rIns="38100" bIns="19050" anchor="ctr" anchorCtr="0">
                <a:spAutoFit/>
              </a:bodyPr>
              <a:lstStyle/>
              <a:p>
                <a:pPr algn="ctr">
                  <a:defRPr lang="he-IL" sz="1000" b="1" i="0" u="none" strike="noStrike" kern="1200" baseline="0">
                    <a:solidFill>
                      <a:schemeClr val="bg1"/>
                    </a:solidFill>
                    <a:latin typeface="Segoe UI" panose="020B0502040204020203" pitchFamily="34" charset="0"/>
                    <a:ea typeface="Arial"/>
                    <a:cs typeface="Segoe UI" panose="020B0502040204020203" pitchFamily="34" charset="0"/>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Sheet1!$B$1:$I$1</c:f>
              <c:strCache>
                <c:ptCount val="8"/>
                <c:pt idx="0">
                  <c:v>דוח אחד</c:v>
                </c:pt>
                <c:pt idx="1">
                  <c:v>2+ דוחות</c:v>
                </c:pt>
                <c:pt idx="2">
                  <c:v>דוח אחד</c:v>
                </c:pt>
                <c:pt idx="3">
                  <c:v>2+ דוחות</c:v>
                </c:pt>
                <c:pt idx="4">
                  <c:v>דוח אחד</c:v>
                </c:pt>
                <c:pt idx="5">
                  <c:v>2+ דוחות</c:v>
                </c:pt>
                <c:pt idx="6">
                  <c:v>דוח אחד</c:v>
                </c:pt>
                <c:pt idx="7">
                  <c:v>2+ דוחות</c:v>
                </c:pt>
              </c:strCache>
            </c:strRef>
          </c:cat>
          <c:val>
            <c:numRef>
              <c:f>Sheet1!$B$4:$I$4</c:f>
              <c:numCache>
                <c:formatCode>0%</c:formatCode>
                <c:ptCount val="8"/>
                <c:pt idx="0">
                  <c:v>0.1586206896551724</c:v>
                </c:pt>
                <c:pt idx="1">
                  <c:v>0.1875</c:v>
                </c:pt>
                <c:pt idx="2">
                  <c:v>0.1212121212121212</c:v>
                </c:pt>
                <c:pt idx="3">
                  <c:v>0.35</c:v>
                </c:pt>
                <c:pt idx="4">
                  <c:v>0.28099173553719009</c:v>
                </c:pt>
                <c:pt idx="5">
                  <c:v>0.22500000000000001</c:v>
                </c:pt>
                <c:pt idx="6">
                  <c:v>0.1475409836065574</c:v>
                </c:pt>
                <c:pt idx="7">
                  <c:v>0.35</c:v>
                </c:pt>
              </c:numCache>
            </c:numRef>
          </c:val>
          <c:extLst>
            <c:ext xmlns:c16="http://schemas.microsoft.com/office/drawing/2014/chart" uri="{C3380CC4-5D6E-409C-BE32-E72D297353CC}">
              <c16:uniqueId val="{00000002-48E9-48BF-862A-F5D0F7B4EC36}"/>
            </c:ext>
          </c:extLst>
        </c:ser>
        <c:ser>
          <c:idx val="3"/>
          <c:order val="3"/>
          <c:tx>
            <c:strRef>
              <c:f>Sheet1!$A$5</c:f>
              <c:strCache>
                <c:ptCount val="1"/>
                <c:pt idx="0">
                  <c:v>לא חשתי צורך להתייעץ/להיעזר בעו"ד</c:v>
                </c:pt>
              </c:strCache>
            </c:strRef>
          </c:tx>
          <c:spPr>
            <a:solidFill>
              <a:srgbClr val="FA4C75"/>
            </a:solidFill>
          </c:spPr>
          <c:invertIfNegative val="0"/>
          <c:dLbls>
            <c:spPr>
              <a:noFill/>
              <a:ln>
                <a:noFill/>
              </a:ln>
              <a:effectLst/>
            </c:spPr>
            <c:txPr>
              <a:bodyPr wrap="square" lIns="38100" tIns="19050" rIns="38100" bIns="19050" anchor="ctr">
                <a:spAutoFit/>
              </a:bodyPr>
              <a:lstStyle/>
              <a:p>
                <a:pPr>
                  <a:defRPr sz="1050" b="1">
                    <a:solidFill>
                      <a:schemeClr val="bg1"/>
                    </a:solidFill>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Sheet1!$B$1:$I$1</c:f>
              <c:strCache>
                <c:ptCount val="8"/>
                <c:pt idx="0">
                  <c:v>דוח אחד</c:v>
                </c:pt>
                <c:pt idx="1">
                  <c:v>2+ דוחות</c:v>
                </c:pt>
                <c:pt idx="2">
                  <c:v>דוח אחד</c:v>
                </c:pt>
                <c:pt idx="3">
                  <c:v>2+ דוחות</c:v>
                </c:pt>
                <c:pt idx="4">
                  <c:v>דוח אחד</c:v>
                </c:pt>
                <c:pt idx="5">
                  <c:v>2+ דוחות</c:v>
                </c:pt>
                <c:pt idx="6">
                  <c:v>דוח אחד</c:v>
                </c:pt>
                <c:pt idx="7">
                  <c:v>2+ דוחות</c:v>
                </c:pt>
              </c:strCache>
            </c:strRef>
          </c:cat>
          <c:val>
            <c:numRef>
              <c:f>Sheet1!$B$5:$I$5</c:f>
              <c:numCache>
                <c:formatCode>0%</c:formatCode>
                <c:ptCount val="8"/>
                <c:pt idx="0">
                  <c:v>0.72413793103448265</c:v>
                </c:pt>
                <c:pt idx="1">
                  <c:v>0.65625</c:v>
                </c:pt>
                <c:pt idx="2">
                  <c:v>0.74242424242424254</c:v>
                </c:pt>
                <c:pt idx="3">
                  <c:v>0.6</c:v>
                </c:pt>
                <c:pt idx="4">
                  <c:v>0.47933884297520662</c:v>
                </c:pt>
                <c:pt idx="5">
                  <c:v>0.35</c:v>
                </c:pt>
                <c:pt idx="6">
                  <c:v>0.27868852459016402</c:v>
                </c:pt>
                <c:pt idx="7">
                  <c:v>0.3</c:v>
                </c:pt>
              </c:numCache>
            </c:numRef>
          </c:val>
          <c:extLst>
            <c:ext xmlns:c16="http://schemas.microsoft.com/office/drawing/2014/chart" uri="{C3380CC4-5D6E-409C-BE32-E72D297353CC}">
              <c16:uniqueId val="{00000003-48E9-48BF-862A-F5D0F7B4EC36}"/>
            </c:ext>
          </c:extLst>
        </c:ser>
        <c:dLbls>
          <c:showLegendKey val="0"/>
          <c:showVal val="0"/>
          <c:showCatName val="0"/>
          <c:showSerName val="0"/>
          <c:showPercent val="0"/>
          <c:showBubbleSize val="0"/>
        </c:dLbls>
        <c:gapWidth val="80"/>
        <c:overlap val="100"/>
        <c:axId val="184526720"/>
        <c:axId val="184528256"/>
      </c:barChart>
      <c:catAx>
        <c:axId val="184526720"/>
        <c:scaling>
          <c:orientation val="minMax"/>
        </c:scaling>
        <c:delete val="0"/>
        <c:axPos val="b"/>
        <c:numFmt formatCode="General" sourceLinked="1"/>
        <c:majorTickMark val="out"/>
        <c:minorTickMark val="none"/>
        <c:tickLblPos val="nextTo"/>
        <c:spPr>
          <a:ln w="38100">
            <a:solidFill>
              <a:schemeClr val="bg1"/>
            </a:solidFill>
            <a:prstDash val="solid"/>
          </a:ln>
        </c:spPr>
        <c:txPr>
          <a:bodyPr rot="0" vert="horz"/>
          <a:lstStyle/>
          <a:p>
            <a:pPr>
              <a:defRPr sz="1000" b="0">
                <a:solidFill>
                  <a:schemeClr val="tx1">
                    <a:lumMod val="75000"/>
                    <a:lumOff val="25000"/>
                  </a:schemeClr>
                </a:solidFill>
              </a:defRPr>
            </a:pPr>
            <a:endParaRPr lang="he-IL"/>
          </a:p>
        </c:txPr>
        <c:crossAx val="184528256"/>
        <c:crosses val="autoZero"/>
        <c:auto val="1"/>
        <c:lblAlgn val="ctr"/>
        <c:lblOffset val="0"/>
        <c:noMultiLvlLbl val="0"/>
      </c:catAx>
      <c:valAx>
        <c:axId val="184528256"/>
        <c:scaling>
          <c:orientation val="minMax"/>
          <c:max val="1"/>
          <c:min val="0"/>
        </c:scaling>
        <c:delete val="1"/>
        <c:axPos val="l"/>
        <c:numFmt formatCode="0%" sourceLinked="1"/>
        <c:majorTickMark val="out"/>
        <c:minorTickMark val="none"/>
        <c:tickLblPos val="nextTo"/>
        <c:crossAx val="184526720"/>
        <c:crosses val="autoZero"/>
        <c:crossBetween val="between"/>
      </c:valAx>
      <c:spPr>
        <a:noFill/>
        <a:ln w="25965">
          <a:noFill/>
        </a:ln>
      </c:spPr>
    </c:plotArea>
    <c:plotVisOnly val="1"/>
    <c:dispBlanksAs val="gap"/>
    <c:showDLblsOverMax val="0"/>
  </c:chart>
  <c:spPr>
    <a:noFill/>
    <a:ln>
      <a:noFill/>
    </a:ln>
  </c:spPr>
  <c:txPr>
    <a:bodyPr/>
    <a:lstStyle/>
    <a:p>
      <a:pPr>
        <a:defRPr sz="1100" b="0" i="0" u="none" strike="noStrike" baseline="0">
          <a:solidFill>
            <a:schemeClr val="tx1"/>
          </a:solidFill>
          <a:latin typeface="Segoe UI" panose="020B0502040204020203" pitchFamily="34" charset="0"/>
          <a:ea typeface="Arial"/>
          <a:cs typeface="Segoe UI" panose="020B0502040204020203" pitchFamily="34" charset="0"/>
        </a:defRPr>
      </a:pPr>
      <a:endParaRPr lang="he-IL"/>
    </a:p>
  </c:txPr>
  <c:externalData r:id="rId1">
    <c:autoUpdate val="0"/>
  </c:externalData>
</c:chartSpace>
</file>

<file path=ppt/charts/chart5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7859770769818229E-2"/>
          <c:y val="4.3281067273958265E-2"/>
          <c:w val="0.8930741702467434"/>
          <c:h val="0.84021001803542239"/>
        </c:manualLayout>
      </c:layout>
      <c:barChart>
        <c:barDir val="col"/>
        <c:grouping val="stacked"/>
        <c:varyColors val="0"/>
        <c:ser>
          <c:idx val="0"/>
          <c:order val="0"/>
          <c:tx>
            <c:strRef>
              <c:f>Sheet1!$A$2</c:f>
              <c:strCache>
                <c:ptCount val="1"/>
                <c:pt idx="0">
                  <c:v>כן</c:v>
                </c:pt>
              </c:strCache>
            </c:strRef>
          </c:tx>
          <c:spPr>
            <a:solidFill>
              <a:srgbClr val="09AFA7"/>
            </a:solidFill>
            <a:ln w="31750">
              <a:noFill/>
            </a:ln>
          </c:spPr>
          <c:invertIfNegative val="0"/>
          <c:dLbls>
            <c:spPr>
              <a:noFill/>
              <a:ln>
                <a:noFill/>
              </a:ln>
              <a:effectLst/>
            </c:spPr>
            <c:txPr>
              <a:bodyPr/>
              <a:lstStyle/>
              <a:p>
                <a:pPr>
                  <a:defRPr sz="1200" b="1">
                    <a:solidFill>
                      <a:schemeClr val="bg1"/>
                    </a:solidFill>
                    <a:latin typeface="Segoe UI" panose="020B0502040204020203" pitchFamily="34" charset="0"/>
                    <a:cs typeface="Segoe UI" panose="020B0502040204020203" pitchFamily="34" charset="0"/>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Sheet1!$B$1:$C$1</c:f>
              <c:strCache>
                <c:ptCount val="2"/>
                <c:pt idx="0">
                  <c:v>מגזר יהודי</c:v>
                </c:pt>
                <c:pt idx="1">
                  <c:v>מגזר ערבי</c:v>
                </c:pt>
              </c:strCache>
            </c:strRef>
          </c:cat>
          <c:val>
            <c:numRef>
              <c:f>Sheet1!$B$2:$C$2</c:f>
              <c:numCache>
                <c:formatCode>0%</c:formatCode>
                <c:ptCount val="2"/>
                <c:pt idx="0">
                  <c:v>0.64</c:v>
                </c:pt>
                <c:pt idx="1">
                  <c:v>0.30434782608695654</c:v>
                </c:pt>
              </c:numCache>
            </c:numRef>
          </c:val>
          <c:extLst>
            <c:ext xmlns:c16="http://schemas.microsoft.com/office/drawing/2014/chart" uri="{C3380CC4-5D6E-409C-BE32-E72D297353CC}">
              <c16:uniqueId val="{00000000-1CC2-4945-9D4C-19FFB6800BA3}"/>
            </c:ext>
          </c:extLst>
        </c:ser>
        <c:ser>
          <c:idx val="1"/>
          <c:order val="1"/>
          <c:tx>
            <c:strRef>
              <c:f>Sheet1!$A$3</c:f>
              <c:strCache>
                <c:ptCount val="1"/>
                <c:pt idx="0">
                  <c:v>לא</c:v>
                </c:pt>
              </c:strCache>
            </c:strRef>
          </c:tx>
          <c:spPr>
            <a:solidFill>
              <a:srgbClr val="FA4C75"/>
            </a:solidFill>
          </c:spPr>
          <c:invertIfNegative val="0"/>
          <c:dLbls>
            <c:spPr>
              <a:noFill/>
              <a:ln>
                <a:noFill/>
              </a:ln>
              <a:effectLst/>
            </c:spPr>
            <c:txPr>
              <a:bodyPr anchorCtr="0"/>
              <a:lstStyle/>
              <a:p>
                <a:pPr algn="ctr">
                  <a:defRPr lang="he-IL" sz="1200" b="1" i="0" u="none" strike="noStrike" kern="1200" baseline="0">
                    <a:solidFill>
                      <a:schemeClr val="bg1"/>
                    </a:solidFill>
                    <a:latin typeface="Segoe UI" panose="020B0502040204020203" pitchFamily="34" charset="0"/>
                    <a:ea typeface="Arial"/>
                    <a:cs typeface="Segoe UI" panose="020B0502040204020203" pitchFamily="34" charset="0"/>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Sheet1!$B$1:$C$1</c:f>
              <c:strCache>
                <c:ptCount val="2"/>
                <c:pt idx="0">
                  <c:v>מגזר יהודי</c:v>
                </c:pt>
                <c:pt idx="1">
                  <c:v>מגזר ערבי</c:v>
                </c:pt>
              </c:strCache>
            </c:strRef>
          </c:cat>
          <c:val>
            <c:numRef>
              <c:f>Sheet1!$B$3:$C$3</c:f>
              <c:numCache>
                <c:formatCode>0%</c:formatCode>
                <c:ptCount val="2"/>
                <c:pt idx="0">
                  <c:v>0.36</c:v>
                </c:pt>
                <c:pt idx="1">
                  <c:v>0.69565217391304346</c:v>
                </c:pt>
              </c:numCache>
            </c:numRef>
          </c:val>
          <c:extLst>
            <c:ext xmlns:c16="http://schemas.microsoft.com/office/drawing/2014/chart" uri="{C3380CC4-5D6E-409C-BE32-E72D297353CC}">
              <c16:uniqueId val="{00000001-1CC2-4945-9D4C-19FFB6800BA3}"/>
            </c:ext>
          </c:extLst>
        </c:ser>
        <c:dLbls>
          <c:showLegendKey val="0"/>
          <c:showVal val="0"/>
          <c:showCatName val="0"/>
          <c:showSerName val="0"/>
          <c:showPercent val="0"/>
          <c:showBubbleSize val="0"/>
        </c:dLbls>
        <c:gapWidth val="80"/>
        <c:overlap val="100"/>
        <c:axId val="184526720"/>
        <c:axId val="184528256"/>
      </c:barChart>
      <c:catAx>
        <c:axId val="184526720"/>
        <c:scaling>
          <c:orientation val="minMax"/>
        </c:scaling>
        <c:delete val="0"/>
        <c:axPos val="b"/>
        <c:numFmt formatCode="General" sourceLinked="1"/>
        <c:majorTickMark val="out"/>
        <c:minorTickMark val="none"/>
        <c:tickLblPos val="low"/>
        <c:spPr>
          <a:ln w="38100">
            <a:solidFill>
              <a:schemeClr val="bg1"/>
            </a:solidFill>
            <a:prstDash val="solid"/>
          </a:ln>
        </c:spPr>
        <c:txPr>
          <a:bodyPr rot="0" vert="horz"/>
          <a:lstStyle/>
          <a:p>
            <a:pPr>
              <a:defRPr sz="1200" b="1">
                <a:solidFill>
                  <a:schemeClr val="tx1">
                    <a:lumMod val="75000"/>
                    <a:lumOff val="25000"/>
                  </a:schemeClr>
                </a:solidFill>
              </a:defRPr>
            </a:pPr>
            <a:endParaRPr lang="he-IL"/>
          </a:p>
        </c:txPr>
        <c:crossAx val="184528256"/>
        <c:crosses val="autoZero"/>
        <c:auto val="1"/>
        <c:lblAlgn val="ctr"/>
        <c:lblOffset val="100"/>
        <c:noMultiLvlLbl val="0"/>
      </c:catAx>
      <c:valAx>
        <c:axId val="184528256"/>
        <c:scaling>
          <c:orientation val="minMax"/>
          <c:max val="1.1000000000000001"/>
          <c:min val="0"/>
        </c:scaling>
        <c:delete val="1"/>
        <c:axPos val="l"/>
        <c:numFmt formatCode="0%" sourceLinked="1"/>
        <c:majorTickMark val="out"/>
        <c:minorTickMark val="none"/>
        <c:tickLblPos val="nextTo"/>
        <c:crossAx val="184526720"/>
        <c:crosses val="autoZero"/>
        <c:crossBetween val="between"/>
      </c:valAx>
      <c:spPr>
        <a:noFill/>
        <a:ln w="25965">
          <a:noFill/>
        </a:ln>
      </c:spPr>
    </c:plotArea>
    <c:legend>
      <c:legendPos val="r"/>
      <c:layout>
        <c:manualLayout>
          <c:xMode val="edge"/>
          <c:yMode val="edge"/>
          <c:x val="0.87825670524857424"/>
          <c:y val="0.21930763888888888"/>
          <c:w val="0.11235319821746183"/>
          <c:h val="0.55452013888888885"/>
        </c:manualLayout>
      </c:layout>
      <c:overlay val="0"/>
      <c:txPr>
        <a:bodyPr/>
        <a:lstStyle/>
        <a:p>
          <a:pPr rtl="0">
            <a:defRPr sz="1100"/>
          </a:pPr>
          <a:endParaRPr lang="he-IL"/>
        </a:p>
      </c:txPr>
    </c:legend>
    <c:plotVisOnly val="1"/>
    <c:dispBlanksAs val="gap"/>
    <c:showDLblsOverMax val="0"/>
  </c:chart>
  <c:spPr>
    <a:noFill/>
    <a:ln>
      <a:noFill/>
    </a:ln>
  </c:spPr>
  <c:txPr>
    <a:bodyPr/>
    <a:lstStyle/>
    <a:p>
      <a:pPr>
        <a:defRPr sz="1100" b="0" i="0" u="none" strike="noStrike" baseline="0">
          <a:solidFill>
            <a:schemeClr val="tx1"/>
          </a:solidFill>
          <a:latin typeface="Segoe UI" panose="020B0502040204020203" pitchFamily="34" charset="0"/>
          <a:ea typeface="Arial"/>
          <a:cs typeface="Segoe UI" panose="020B0502040204020203" pitchFamily="34" charset="0"/>
        </a:defRPr>
      </a:pPr>
      <a:endParaRPr lang="he-IL"/>
    </a:p>
  </c:txPr>
  <c:externalData r:id="rId1">
    <c:autoUpdate val="0"/>
  </c:externalData>
</c:chartSpace>
</file>

<file path=ppt/charts/chart5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39460514207942343"/>
          <c:y val="3.8183022381065447E-2"/>
          <c:w val="0.56195745607026548"/>
          <c:h val="0.90235557277282785"/>
        </c:manualLayout>
      </c:layout>
      <c:barChart>
        <c:barDir val="bar"/>
        <c:grouping val="clustered"/>
        <c:varyColors val="0"/>
        <c:ser>
          <c:idx val="0"/>
          <c:order val="0"/>
          <c:tx>
            <c:strRef>
              <c:f>Sheet1!$B$1</c:f>
              <c:strCache>
                <c:ptCount val="1"/>
                <c:pt idx="0">
                  <c:v>מגזר יהודי</c:v>
                </c:pt>
              </c:strCache>
            </c:strRef>
          </c:tx>
          <c:spPr>
            <a:solidFill>
              <a:srgbClr val="0070C0"/>
            </a:solidFill>
            <a:ln>
              <a:solidFill>
                <a:schemeClr val="bg1"/>
              </a:solidFill>
            </a:ln>
            <a:effectLst/>
          </c:spPr>
          <c:invertIfNegative val="0"/>
          <c:dPt>
            <c:idx val="4"/>
            <c:invertIfNegative val="0"/>
            <c:bubble3D val="0"/>
            <c:spPr>
              <a:solidFill>
                <a:srgbClr val="0070C0"/>
              </a:solidFill>
              <a:ln>
                <a:solidFill>
                  <a:schemeClr val="bg1"/>
                </a:solidFill>
              </a:ln>
              <a:effectLst/>
            </c:spPr>
            <c:extLst>
              <c:ext xmlns:c16="http://schemas.microsoft.com/office/drawing/2014/chart" uri="{C3380CC4-5D6E-409C-BE32-E72D297353CC}">
                <c16:uniqueId val="{00000001-58AE-4215-B97E-66FC84081164}"/>
              </c:ext>
            </c:extLst>
          </c:dPt>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rgbClr val="0070C0"/>
                    </a:solidFill>
                    <a:latin typeface="Segoe UI" panose="020B0502040204020203" pitchFamily="34" charset="0"/>
                    <a:ea typeface="+mn-ea"/>
                    <a:cs typeface="Segoe UI" panose="020B0502040204020203" pitchFamily="34" charset="0"/>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לא האמנתי שיש טעם</c:v>
                </c:pt>
                <c:pt idx="1">
                  <c:v>התהליך נראה מסובך</c:v>
                </c:pt>
                <c:pt idx="2">
                  <c:v>לא היה בזה צורך </c:v>
                </c:pt>
                <c:pt idx="3">
                  <c:v>חששתי שהבקשה תוביל להחמרה</c:v>
                </c:pt>
                <c:pt idx="4">
                  <c:v>ביקשתי להמיר לאזהרה</c:v>
                </c:pt>
                <c:pt idx="5">
                  <c:v>שיקול כלכלי</c:v>
                </c:pt>
              </c:strCache>
            </c:strRef>
          </c:cat>
          <c:val>
            <c:numRef>
              <c:f>Sheet1!$B$2:$B$7</c:f>
              <c:numCache>
                <c:formatCode>0%</c:formatCode>
                <c:ptCount val="6"/>
                <c:pt idx="0">
                  <c:v>0.45588235294117646</c:v>
                </c:pt>
                <c:pt idx="1">
                  <c:v>0.27941176470588236</c:v>
                </c:pt>
                <c:pt idx="2">
                  <c:v>0.20588235294117649</c:v>
                </c:pt>
                <c:pt idx="3">
                  <c:v>0.17647058823529413</c:v>
                </c:pt>
                <c:pt idx="4">
                  <c:v>7.3529411764705885E-2</c:v>
                </c:pt>
                <c:pt idx="5">
                  <c:v>5.8823529411764712E-2</c:v>
                </c:pt>
              </c:numCache>
            </c:numRef>
          </c:val>
          <c:extLst>
            <c:ext xmlns:c16="http://schemas.microsoft.com/office/drawing/2014/chart" uri="{C3380CC4-5D6E-409C-BE32-E72D297353CC}">
              <c16:uniqueId val="{00000002-58AE-4215-B97E-66FC84081164}"/>
            </c:ext>
          </c:extLst>
        </c:ser>
        <c:ser>
          <c:idx val="1"/>
          <c:order val="1"/>
          <c:tx>
            <c:strRef>
              <c:f>Sheet1!$C$1</c:f>
              <c:strCache>
                <c:ptCount val="1"/>
                <c:pt idx="0">
                  <c:v>מגזר ערבי</c:v>
                </c:pt>
              </c:strCache>
            </c:strRef>
          </c:tx>
          <c:spPr>
            <a:solidFill>
              <a:srgbClr val="00B0F0"/>
            </a:solidFill>
            <a:ln>
              <a:solidFill>
                <a:schemeClr val="bg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rgbClr val="00B0F0"/>
                    </a:solidFill>
                    <a:latin typeface="Segoe UI" panose="020B0502040204020203" pitchFamily="34" charset="0"/>
                    <a:ea typeface="+mn-ea"/>
                    <a:cs typeface="Segoe UI" panose="020B0502040204020203" pitchFamily="34" charset="0"/>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לא האמנתי שיש טעם</c:v>
                </c:pt>
                <c:pt idx="1">
                  <c:v>התהליך נראה מסובך</c:v>
                </c:pt>
                <c:pt idx="2">
                  <c:v>לא היה בזה צורך </c:v>
                </c:pt>
                <c:pt idx="3">
                  <c:v>חששתי שהבקשה תוביל להחמרה</c:v>
                </c:pt>
                <c:pt idx="4">
                  <c:v>ביקשתי להמיר לאזהרה</c:v>
                </c:pt>
                <c:pt idx="5">
                  <c:v>שיקול כלכלי</c:v>
                </c:pt>
              </c:strCache>
            </c:strRef>
          </c:cat>
          <c:val>
            <c:numRef>
              <c:f>Sheet1!$C$2:$C$7</c:f>
              <c:numCache>
                <c:formatCode>0%</c:formatCode>
                <c:ptCount val="6"/>
                <c:pt idx="0">
                  <c:v>0.44736842105263158</c:v>
                </c:pt>
                <c:pt idx="1">
                  <c:v>0.23684210526315791</c:v>
                </c:pt>
                <c:pt idx="2">
                  <c:v>0.2105263157894737</c:v>
                </c:pt>
                <c:pt idx="3">
                  <c:v>0.15789473684210525</c:v>
                </c:pt>
                <c:pt idx="4">
                  <c:v>0.10526315789473685</c:v>
                </c:pt>
                <c:pt idx="5">
                  <c:v>7.8947368421052627E-2</c:v>
                </c:pt>
              </c:numCache>
            </c:numRef>
          </c:val>
          <c:extLst>
            <c:ext xmlns:c16="http://schemas.microsoft.com/office/drawing/2014/chart" uri="{C3380CC4-5D6E-409C-BE32-E72D297353CC}">
              <c16:uniqueId val="{00000003-58AE-4215-B97E-66FC84081164}"/>
            </c:ext>
          </c:extLst>
        </c:ser>
        <c:dLbls>
          <c:dLblPos val="outEnd"/>
          <c:showLegendKey val="0"/>
          <c:showVal val="1"/>
          <c:showCatName val="0"/>
          <c:showSerName val="0"/>
          <c:showPercent val="0"/>
          <c:showBubbleSize val="0"/>
        </c:dLbls>
        <c:gapWidth val="80"/>
        <c:axId val="218240"/>
        <c:axId val="12131296"/>
      </c:barChart>
      <c:catAx>
        <c:axId val="218240"/>
        <c:scaling>
          <c:orientation val="maxMin"/>
        </c:scaling>
        <c:delete val="0"/>
        <c:axPos val="l"/>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0"/>
          <a:lstStyle/>
          <a:p>
            <a:pPr>
              <a:defRPr sz="1100" b="0" i="0" u="none" strike="noStrike" kern="1200" baseline="0">
                <a:solidFill>
                  <a:srgbClr val="3D4A6F"/>
                </a:solidFill>
                <a:latin typeface="Segoe UI" panose="020B0502040204020203" pitchFamily="34" charset="0"/>
                <a:ea typeface="+mn-ea"/>
                <a:cs typeface="Segoe UI" panose="020B0502040204020203" pitchFamily="34" charset="0"/>
              </a:defRPr>
            </a:pPr>
            <a:endParaRPr lang="he-IL"/>
          </a:p>
        </c:txPr>
        <c:crossAx val="12131296"/>
        <c:crosses val="autoZero"/>
        <c:auto val="1"/>
        <c:lblAlgn val="ctr"/>
        <c:lblOffset val="100"/>
        <c:noMultiLvlLbl val="0"/>
      </c:catAx>
      <c:valAx>
        <c:axId val="12131296"/>
        <c:scaling>
          <c:orientation val="minMax"/>
          <c:max val="0.60000000000000009"/>
          <c:min val="0"/>
        </c:scaling>
        <c:delete val="1"/>
        <c:axPos val="t"/>
        <c:numFmt formatCode="0%" sourceLinked="1"/>
        <c:majorTickMark val="out"/>
        <c:minorTickMark val="none"/>
        <c:tickLblPos val="nextTo"/>
        <c:crossAx val="218240"/>
        <c:crosses val="autoZero"/>
        <c:crossBetween val="between"/>
      </c:valAx>
      <c:spPr>
        <a:noFill/>
        <a:ln>
          <a:noFill/>
        </a:ln>
        <a:effectLst/>
      </c:spPr>
    </c:plotArea>
    <c:legend>
      <c:legendPos val="r"/>
      <c:layout>
        <c:manualLayout>
          <c:xMode val="edge"/>
          <c:yMode val="edge"/>
          <c:x val="0.73794457933121094"/>
          <c:y val="0.7386903765167514"/>
          <c:w val="0.17344775773221865"/>
          <c:h val="0.13839221223898129"/>
        </c:manualLayout>
      </c:layout>
      <c:overlay val="0"/>
      <c:spPr>
        <a:noFill/>
        <a:ln>
          <a:noFill/>
        </a:ln>
        <a:effectLst/>
      </c:spPr>
      <c:txPr>
        <a:bodyPr rot="0" spcFirstLastPara="1" vertOverflow="ellipsis" vert="horz" wrap="square" anchor="ctr" anchorCtr="1"/>
        <a:lstStyle/>
        <a:p>
          <a:pPr>
            <a:defRPr sz="1200" b="0" i="0" u="none" strike="noStrike" kern="1200" baseline="0">
              <a:solidFill>
                <a:srgbClr val="3D4A6F"/>
              </a:solidFill>
              <a:latin typeface="Segoe UI" panose="020B0502040204020203" pitchFamily="34" charset="0"/>
              <a:ea typeface="+mn-ea"/>
              <a:cs typeface="Segoe UI" panose="020B0502040204020203" pitchFamily="34" charset="0"/>
            </a:defRPr>
          </a:pPr>
          <a:endParaRPr lang="he-I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a:noFill/>
    </a:ln>
    <a:effectLst/>
  </c:spPr>
  <c:txPr>
    <a:bodyPr/>
    <a:lstStyle/>
    <a:p>
      <a:pPr>
        <a:defRPr sz="1200">
          <a:latin typeface="Segoe UI" panose="020B0502040204020203" pitchFamily="34" charset="0"/>
          <a:cs typeface="Segoe UI" panose="020B0502040204020203" pitchFamily="34" charset="0"/>
        </a:defRPr>
      </a:pPr>
      <a:endParaRPr lang="he-IL"/>
    </a:p>
  </c:txPr>
  <c:externalData r:id="rId3">
    <c:autoUpdate val="0"/>
  </c:externalData>
</c:chartSpace>
</file>

<file path=ppt/charts/chart5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7859770769818229E-2"/>
          <c:y val="4.3281067273958265E-2"/>
          <c:w val="0.8930741702467434"/>
          <c:h val="0.84021001803542239"/>
        </c:manualLayout>
      </c:layout>
      <c:barChart>
        <c:barDir val="col"/>
        <c:grouping val="clustered"/>
        <c:varyColors val="0"/>
        <c:ser>
          <c:idx val="0"/>
          <c:order val="0"/>
          <c:tx>
            <c:strRef>
              <c:f>Sheet1!$A$2</c:f>
              <c:strCache>
                <c:ptCount val="1"/>
                <c:pt idx="0">
                  <c:v>כן</c:v>
                </c:pt>
              </c:strCache>
            </c:strRef>
          </c:tx>
          <c:spPr>
            <a:solidFill>
              <a:srgbClr val="09AFA7"/>
            </a:solidFill>
            <a:ln w="31750">
              <a:noFill/>
            </a:ln>
          </c:spPr>
          <c:invertIfNegative val="0"/>
          <c:dLbls>
            <c:spPr>
              <a:noFill/>
              <a:ln>
                <a:noFill/>
              </a:ln>
              <a:effectLst/>
            </c:spPr>
            <c:txPr>
              <a:bodyPr/>
              <a:lstStyle/>
              <a:p>
                <a:pPr>
                  <a:defRPr sz="1600" b="1">
                    <a:solidFill>
                      <a:schemeClr val="bg1"/>
                    </a:solidFill>
                    <a:latin typeface="Segoe UI" panose="020B0502040204020203" pitchFamily="34" charset="0"/>
                    <a:cs typeface="Segoe UI" panose="020B0502040204020203" pitchFamily="34" charset="0"/>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Sheet1!$B$1:$C$1</c:f>
              <c:strCache>
                <c:ptCount val="2"/>
                <c:pt idx="0">
                  <c:v>מגזר יהודי</c:v>
                </c:pt>
                <c:pt idx="1">
                  <c:v>מגזר ערבי</c:v>
                </c:pt>
              </c:strCache>
            </c:strRef>
          </c:cat>
          <c:val>
            <c:numRef>
              <c:f>Sheet1!$B$2:$C$2</c:f>
              <c:numCache>
                <c:formatCode>0%</c:formatCode>
                <c:ptCount val="2"/>
                <c:pt idx="0">
                  <c:v>0.82485875706214684</c:v>
                </c:pt>
                <c:pt idx="1">
                  <c:v>0.90697674418604646</c:v>
                </c:pt>
              </c:numCache>
            </c:numRef>
          </c:val>
          <c:extLst>
            <c:ext xmlns:c16="http://schemas.microsoft.com/office/drawing/2014/chart" uri="{C3380CC4-5D6E-409C-BE32-E72D297353CC}">
              <c16:uniqueId val="{00000000-1CC2-4945-9D4C-19FFB6800BA3}"/>
            </c:ext>
          </c:extLst>
        </c:ser>
        <c:ser>
          <c:idx val="1"/>
          <c:order val="1"/>
          <c:tx>
            <c:strRef>
              <c:f>Sheet1!$A$3</c:f>
              <c:strCache>
                <c:ptCount val="1"/>
                <c:pt idx="0">
                  <c:v>לא</c:v>
                </c:pt>
              </c:strCache>
            </c:strRef>
          </c:tx>
          <c:spPr>
            <a:solidFill>
              <a:srgbClr val="FA4C75"/>
            </a:solidFill>
          </c:spPr>
          <c:invertIfNegative val="0"/>
          <c:dLbls>
            <c:spPr>
              <a:noFill/>
              <a:ln>
                <a:noFill/>
              </a:ln>
              <a:effectLst/>
            </c:spPr>
            <c:txPr>
              <a:bodyPr anchorCtr="0"/>
              <a:lstStyle/>
              <a:p>
                <a:pPr algn="ctr">
                  <a:defRPr lang="he-IL" sz="1600" b="1" i="0" u="none" strike="noStrike" kern="1200" baseline="0">
                    <a:solidFill>
                      <a:schemeClr val="bg1"/>
                    </a:solidFill>
                    <a:latin typeface="Segoe UI" panose="020B0502040204020203" pitchFamily="34" charset="0"/>
                    <a:ea typeface="Arial"/>
                    <a:cs typeface="Segoe UI" panose="020B0502040204020203" pitchFamily="34" charset="0"/>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Sheet1!$B$1:$C$1</c:f>
              <c:strCache>
                <c:ptCount val="2"/>
                <c:pt idx="0">
                  <c:v>מגזר יהודי</c:v>
                </c:pt>
                <c:pt idx="1">
                  <c:v>מגזר ערבי</c:v>
                </c:pt>
              </c:strCache>
            </c:strRef>
          </c:cat>
          <c:val>
            <c:numRef>
              <c:f>Sheet1!$B$3:$C$3</c:f>
              <c:numCache>
                <c:formatCode>0%</c:formatCode>
                <c:ptCount val="2"/>
                <c:pt idx="0">
                  <c:v>0.1751412429378531</c:v>
                </c:pt>
                <c:pt idx="1">
                  <c:v>9.3023255813953487E-2</c:v>
                </c:pt>
              </c:numCache>
            </c:numRef>
          </c:val>
          <c:extLst>
            <c:ext xmlns:c16="http://schemas.microsoft.com/office/drawing/2014/chart" uri="{C3380CC4-5D6E-409C-BE32-E72D297353CC}">
              <c16:uniqueId val="{00000001-1CC2-4945-9D4C-19FFB6800BA3}"/>
            </c:ext>
          </c:extLst>
        </c:ser>
        <c:dLbls>
          <c:showLegendKey val="0"/>
          <c:showVal val="0"/>
          <c:showCatName val="0"/>
          <c:showSerName val="0"/>
          <c:showPercent val="0"/>
          <c:showBubbleSize val="0"/>
        </c:dLbls>
        <c:gapWidth val="80"/>
        <c:axId val="184526720"/>
        <c:axId val="184528256"/>
      </c:barChart>
      <c:catAx>
        <c:axId val="184526720"/>
        <c:scaling>
          <c:orientation val="minMax"/>
        </c:scaling>
        <c:delete val="0"/>
        <c:axPos val="b"/>
        <c:numFmt formatCode="General" sourceLinked="1"/>
        <c:majorTickMark val="out"/>
        <c:minorTickMark val="none"/>
        <c:tickLblPos val="low"/>
        <c:spPr>
          <a:ln w="38100">
            <a:solidFill>
              <a:schemeClr val="bg1"/>
            </a:solidFill>
            <a:prstDash val="solid"/>
          </a:ln>
        </c:spPr>
        <c:txPr>
          <a:bodyPr rot="0" vert="horz"/>
          <a:lstStyle/>
          <a:p>
            <a:pPr>
              <a:defRPr sz="1400" b="1">
                <a:solidFill>
                  <a:schemeClr val="tx1">
                    <a:lumMod val="75000"/>
                    <a:lumOff val="25000"/>
                  </a:schemeClr>
                </a:solidFill>
              </a:defRPr>
            </a:pPr>
            <a:endParaRPr lang="he-IL"/>
          </a:p>
        </c:txPr>
        <c:crossAx val="184528256"/>
        <c:crosses val="autoZero"/>
        <c:auto val="1"/>
        <c:lblAlgn val="ctr"/>
        <c:lblOffset val="100"/>
        <c:noMultiLvlLbl val="0"/>
      </c:catAx>
      <c:valAx>
        <c:axId val="184528256"/>
        <c:scaling>
          <c:orientation val="minMax"/>
          <c:max val="1.1000000000000001"/>
          <c:min val="0"/>
        </c:scaling>
        <c:delete val="1"/>
        <c:axPos val="l"/>
        <c:numFmt formatCode="0%" sourceLinked="1"/>
        <c:majorTickMark val="out"/>
        <c:minorTickMark val="none"/>
        <c:tickLblPos val="nextTo"/>
        <c:crossAx val="184526720"/>
        <c:crosses val="autoZero"/>
        <c:crossBetween val="between"/>
      </c:valAx>
      <c:spPr>
        <a:noFill/>
        <a:ln w="25965">
          <a:noFill/>
        </a:ln>
      </c:spPr>
    </c:plotArea>
    <c:legend>
      <c:legendPos val="r"/>
      <c:layout>
        <c:manualLayout>
          <c:xMode val="edge"/>
          <c:yMode val="edge"/>
          <c:x val="0.86085173720621722"/>
          <c:y val="0.21930763888888888"/>
          <c:w val="7.616227933930006E-2"/>
          <c:h val="0.14366157407407407"/>
        </c:manualLayout>
      </c:layout>
      <c:overlay val="0"/>
      <c:txPr>
        <a:bodyPr/>
        <a:lstStyle/>
        <a:p>
          <a:pPr rtl="0">
            <a:defRPr sz="1400"/>
          </a:pPr>
          <a:endParaRPr lang="he-IL"/>
        </a:p>
      </c:txPr>
    </c:legend>
    <c:plotVisOnly val="1"/>
    <c:dispBlanksAs val="gap"/>
    <c:showDLblsOverMax val="0"/>
  </c:chart>
  <c:spPr>
    <a:noFill/>
    <a:ln>
      <a:noFill/>
    </a:ln>
  </c:spPr>
  <c:txPr>
    <a:bodyPr/>
    <a:lstStyle/>
    <a:p>
      <a:pPr>
        <a:defRPr sz="1100" b="0" i="0" u="none" strike="noStrike" baseline="0">
          <a:solidFill>
            <a:schemeClr val="tx1"/>
          </a:solidFill>
          <a:latin typeface="Segoe UI" panose="020B0502040204020203" pitchFamily="34" charset="0"/>
          <a:ea typeface="Arial"/>
          <a:cs typeface="Segoe UI" panose="020B0502040204020203" pitchFamily="34" charset="0"/>
        </a:defRPr>
      </a:pPr>
      <a:endParaRPr lang="he-IL"/>
    </a:p>
  </c:txPr>
  <c:externalData r:id="rId1">
    <c:autoUpdate val="0"/>
  </c:externalData>
</c:chartSpace>
</file>

<file path=ppt/charts/chart5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1.1262886993089706E-2"/>
          <c:y val="4.9480359475461005E-2"/>
          <c:w val="0.82030930446594341"/>
          <c:h val="0.85282081571430035"/>
        </c:manualLayout>
      </c:layout>
      <c:barChart>
        <c:barDir val="col"/>
        <c:grouping val="clustered"/>
        <c:varyColors val="0"/>
        <c:ser>
          <c:idx val="0"/>
          <c:order val="0"/>
          <c:tx>
            <c:strRef>
              <c:f>Sheet1!$A$2</c:f>
              <c:strCache>
                <c:ptCount val="1"/>
                <c:pt idx="0">
                  <c:v>במידה מועטה</c:v>
                </c:pt>
              </c:strCache>
            </c:strRef>
          </c:tx>
          <c:spPr>
            <a:solidFill>
              <a:srgbClr val="FA4C75"/>
            </a:solidFill>
            <a:ln w="26415">
              <a:noFill/>
            </a:ln>
          </c:spPr>
          <c:invertIfNegative val="0"/>
          <c:dLbls>
            <c:spPr>
              <a:noFill/>
              <a:ln w="26415">
                <a:noFill/>
              </a:ln>
            </c:spPr>
            <c:txPr>
              <a:bodyPr/>
              <a:lstStyle/>
              <a:p>
                <a:pPr>
                  <a:defRPr sz="1200" b="0" cap="none" spc="0">
                    <a:ln w="0"/>
                    <a:solidFill>
                      <a:schemeClr val="tx1"/>
                    </a:solidFill>
                    <a:effectLst>
                      <a:outerShdw blurRad="38100" dist="19050" dir="2700000" algn="tl" rotWithShape="0">
                        <a:schemeClr val="dk1">
                          <a:alpha val="40000"/>
                        </a:schemeClr>
                      </a:outerShdw>
                    </a:effectLst>
                  </a:defRPr>
                </a:pPr>
                <a:endParaRPr lang="he-IL"/>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Sheet1!$B$1:$C$1</c:f>
              <c:strCache>
                <c:ptCount val="2"/>
                <c:pt idx="0">
                  <c:v>מגזר יהודי</c:v>
                </c:pt>
                <c:pt idx="1">
                  <c:v>מגזר ערבי</c:v>
                </c:pt>
              </c:strCache>
            </c:strRef>
          </c:cat>
          <c:val>
            <c:numRef>
              <c:f>Sheet1!$B$2:$C$2</c:f>
              <c:numCache>
                <c:formatCode>0%</c:formatCode>
                <c:ptCount val="2"/>
                <c:pt idx="0">
                  <c:v>0.18633540372670809</c:v>
                </c:pt>
                <c:pt idx="1">
                  <c:v>0.22222222222222221</c:v>
                </c:pt>
              </c:numCache>
            </c:numRef>
          </c:val>
          <c:extLst>
            <c:ext xmlns:c16="http://schemas.microsoft.com/office/drawing/2014/chart" uri="{C3380CC4-5D6E-409C-BE32-E72D297353CC}">
              <c16:uniqueId val="{00000000-6FA2-4D33-BFF7-940F1A03934A}"/>
            </c:ext>
          </c:extLst>
        </c:ser>
        <c:ser>
          <c:idx val="1"/>
          <c:order val="1"/>
          <c:tx>
            <c:strRef>
              <c:f>Sheet1!$A$3</c:f>
              <c:strCache>
                <c:ptCount val="1"/>
                <c:pt idx="0">
                  <c:v>במידה בינונית</c:v>
                </c:pt>
              </c:strCache>
            </c:strRef>
          </c:tx>
          <c:spPr>
            <a:solidFill>
              <a:srgbClr val="FFB9C0"/>
            </a:solidFill>
          </c:spPr>
          <c:invertIfNegative val="0"/>
          <c:dLbls>
            <c:spPr>
              <a:noFill/>
              <a:ln>
                <a:noFill/>
              </a:ln>
              <a:effectLst/>
            </c:spPr>
            <c:txPr>
              <a:bodyPr wrap="square" lIns="38100" tIns="19050" rIns="38100" bIns="19050" anchor="ctr">
                <a:spAutoFit/>
              </a:bodyPr>
              <a:lstStyle/>
              <a:p>
                <a:pPr>
                  <a:defRPr sz="1200" b="0" cap="none" spc="0">
                    <a:ln w="0"/>
                    <a:solidFill>
                      <a:schemeClr val="tx1"/>
                    </a:solidFill>
                    <a:effectLst>
                      <a:outerShdw blurRad="38100" dist="19050" dir="2700000" algn="tl" rotWithShape="0">
                        <a:schemeClr val="dk1">
                          <a:alpha val="40000"/>
                        </a:schemeClr>
                      </a:outerShdw>
                    </a:effectLst>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Sheet1!$B$1:$C$1</c:f>
              <c:strCache>
                <c:ptCount val="2"/>
                <c:pt idx="0">
                  <c:v>מגזר יהודי</c:v>
                </c:pt>
                <c:pt idx="1">
                  <c:v>מגזר ערבי</c:v>
                </c:pt>
              </c:strCache>
            </c:strRef>
          </c:cat>
          <c:val>
            <c:numRef>
              <c:f>Sheet1!$B$3:$C$3</c:f>
              <c:numCache>
                <c:formatCode>0%</c:formatCode>
                <c:ptCount val="2"/>
                <c:pt idx="0">
                  <c:v>0.2608695652173913</c:v>
                </c:pt>
                <c:pt idx="1">
                  <c:v>0.32098765432098764</c:v>
                </c:pt>
              </c:numCache>
            </c:numRef>
          </c:val>
          <c:extLst>
            <c:ext xmlns:c16="http://schemas.microsoft.com/office/drawing/2014/chart" uri="{C3380CC4-5D6E-409C-BE32-E72D297353CC}">
              <c16:uniqueId val="{00000001-6FA2-4D33-BFF7-940F1A03934A}"/>
            </c:ext>
          </c:extLst>
        </c:ser>
        <c:ser>
          <c:idx val="2"/>
          <c:order val="2"/>
          <c:tx>
            <c:strRef>
              <c:f>Sheet1!$A$4</c:f>
              <c:strCache>
                <c:ptCount val="1"/>
                <c:pt idx="0">
                  <c:v>במידה רבה</c:v>
                </c:pt>
              </c:strCache>
            </c:strRef>
          </c:tx>
          <c:spPr>
            <a:solidFill>
              <a:srgbClr val="09AFA7"/>
            </a:solidFill>
            <a:ln w="26415">
              <a:noFill/>
            </a:ln>
          </c:spPr>
          <c:invertIfNegative val="0"/>
          <c:dLbls>
            <c:spPr>
              <a:noFill/>
              <a:ln w="26415">
                <a:noFill/>
              </a:ln>
            </c:spPr>
            <c:txPr>
              <a:bodyPr wrap="square" lIns="38100" tIns="19050" rIns="38100" bIns="19050" anchor="ctr">
                <a:spAutoFit/>
              </a:bodyPr>
              <a:lstStyle/>
              <a:p>
                <a:pPr>
                  <a:defRPr sz="1200" b="0" cap="none" spc="0">
                    <a:ln w="0"/>
                    <a:solidFill>
                      <a:schemeClr val="tx1"/>
                    </a:solidFill>
                    <a:effectLst>
                      <a:outerShdw blurRad="38100" dist="19050" dir="2700000" algn="tl" rotWithShape="0">
                        <a:schemeClr val="dk1">
                          <a:alpha val="40000"/>
                        </a:schemeClr>
                      </a:outerShdw>
                    </a:effectLst>
                  </a:defRPr>
                </a:pPr>
                <a:endParaRPr lang="he-IL"/>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Sheet1!$B$1:$C$1</c:f>
              <c:strCache>
                <c:ptCount val="2"/>
                <c:pt idx="0">
                  <c:v>מגזר יהודי</c:v>
                </c:pt>
                <c:pt idx="1">
                  <c:v>מגזר ערבי</c:v>
                </c:pt>
              </c:strCache>
            </c:strRef>
          </c:cat>
          <c:val>
            <c:numRef>
              <c:f>Sheet1!$B$4:$C$4</c:f>
              <c:numCache>
                <c:formatCode>0%</c:formatCode>
                <c:ptCount val="2"/>
                <c:pt idx="0">
                  <c:v>0.53416149068322982</c:v>
                </c:pt>
                <c:pt idx="1">
                  <c:v>0.39506172839506171</c:v>
                </c:pt>
              </c:numCache>
            </c:numRef>
          </c:val>
          <c:extLst>
            <c:ext xmlns:c16="http://schemas.microsoft.com/office/drawing/2014/chart" uri="{C3380CC4-5D6E-409C-BE32-E72D297353CC}">
              <c16:uniqueId val="{00000002-6FA2-4D33-BFF7-940F1A03934A}"/>
            </c:ext>
          </c:extLst>
        </c:ser>
        <c:ser>
          <c:idx val="3"/>
          <c:order val="3"/>
          <c:tx>
            <c:strRef>
              <c:f>Sheet1!$A$5</c:f>
              <c:strCache>
                <c:ptCount val="1"/>
                <c:pt idx="0">
                  <c:v>ממוצע</c:v>
                </c:pt>
              </c:strCache>
            </c:strRef>
          </c:tx>
          <c:spPr>
            <a:noFill/>
            <a:ln w="26415">
              <a:noFill/>
            </a:ln>
          </c:spPr>
          <c:invertIfNegative val="0"/>
          <c:dLbls>
            <c:dLbl>
              <c:idx val="0"/>
              <c:layout>
                <c:manualLayout>
                  <c:x val="-0.21911463358810962"/>
                  <c:y val="0.36746722347930255"/>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16B2-426D-9675-D48F024DA3AB}"/>
                </c:ext>
              </c:extLst>
            </c:dLbl>
            <c:dLbl>
              <c:idx val="1"/>
              <c:layout>
                <c:manualLayout>
                  <c:x val="-0.15107143496959755"/>
                  <c:y val="0.34308640663874918"/>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16B2-426D-9675-D48F024DA3AB}"/>
                </c:ext>
              </c:extLst>
            </c:dLbl>
            <c:spPr>
              <a:noFill/>
              <a:ln w="26415">
                <a:noFill/>
              </a:ln>
            </c:spPr>
            <c:txPr>
              <a:bodyPr wrap="square" lIns="38100" tIns="19050" rIns="38100" bIns="19050" anchor="ctr">
                <a:spAutoFit/>
              </a:bodyPr>
              <a:lstStyle/>
              <a:p>
                <a:pPr>
                  <a:defRPr sz="1400" b="1">
                    <a:solidFill>
                      <a:schemeClr val="tx1"/>
                    </a:solidFill>
                  </a:defRPr>
                </a:pPr>
                <a:endParaRPr lang="he-IL"/>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Sheet1!$B$1:$C$1</c:f>
              <c:strCache>
                <c:ptCount val="2"/>
                <c:pt idx="0">
                  <c:v>מגזר יהודי</c:v>
                </c:pt>
                <c:pt idx="1">
                  <c:v>מגזר ערבי</c:v>
                </c:pt>
              </c:strCache>
            </c:strRef>
          </c:cat>
          <c:val>
            <c:numRef>
              <c:f>Sheet1!$B$5:$C$5</c:f>
              <c:numCache>
                <c:formatCode>0.0</c:formatCode>
                <c:ptCount val="2"/>
                <c:pt idx="0">
                  <c:v>3.6202531645569618</c:v>
                </c:pt>
                <c:pt idx="1">
                  <c:v>3.2499999999999996</c:v>
                </c:pt>
              </c:numCache>
            </c:numRef>
          </c:val>
          <c:extLst>
            <c:ext xmlns:c16="http://schemas.microsoft.com/office/drawing/2014/chart" uri="{C3380CC4-5D6E-409C-BE32-E72D297353CC}">
              <c16:uniqueId val="{00000003-6FA2-4D33-BFF7-940F1A03934A}"/>
            </c:ext>
          </c:extLst>
        </c:ser>
        <c:dLbls>
          <c:showLegendKey val="0"/>
          <c:showVal val="0"/>
          <c:showCatName val="0"/>
          <c:showSerName val="0"/>
          <c:showPercent val="0"/>
          <c:showBubbleSize val="0"/>
        </c:dLbls>
        <c:gapWidth val="80"/>
        <c:axId val="1594904751"/>
        <c:axId val="1"/>
      </c:barChart>
      <c:catAx>
        <c:axId val="1594904751"/>
        <c:scaling>
          <c:orientation val="minMax"/>
        </c:scaling>
        <c:delete val="0"/>
        <c:axPos val="b"/>
        <c:numFmt formatCode="General" sourceLinked="1"/>
        <c:majorTickMark val="out"/>
        <c:minorTickMark val="none"/>
        <c:tickLblPos val="nextTo"/>
        <c:spPr>
          <a:ln>
            <a:noFill/>
          </a:ln>
        </c:spPr>
        <c:txPr>
          <a:bodyPr/>
          <a:lstStyle/>
          <a:p>
            <a:pPr>
              <a:defRPr sz="1200" b="1"/>
            </a:pPr>
            <a:endParaRPr lang="he-IL"/>
          </a:p>
        </c:txPr>
        <c:crossAx val="1"/>
        <c:crosses val="autoZero"/>
        <c:auto val="1"/>
        <c:lblAlgn val="ctr"/>
        <c:lblOffset val="100"/>
        <c:noMultiLvlLbl val="0"/>
      </c:catAx>
      <c:valAx>
        <c:axId val="1"/>
        <c:scaling>
          <c:orientation val="minMax"/>
          <c:max val="1.2"/>
          <c:min val="0"/>
        </c:scaling>
        <c:delete val="1"/>
        <c:axPos val="l"/>
        <c:numFmt formatCode="0%" sourceLinked="1"/>
        <c:majorTickMark val="out"/>
        <c:minorTickMark val="none"/>
        <c:tickLblPos val="nextTo"/>
        <c:crossAx val="1594904751"/>
        <c:crosses val="autoZero"/>
        <c:crossBetween val="between"/>
      </c:valAx>
      <c:spPr>
        <a:noFill/>
        <a:ln w="26415">
          <a:noFill/>
        </a:ln>
      </c:spPr>
    </c:plotArea>
    <c:legend>
      <c:legendPos val="r"/>
      <c:legendEntry>
        <c:idx val="0"/>
        <c:txPr>
          <a:bodyPr/>
          <a:lstStyle/>
          <a:p>
            <a:pPr rtl="0">
              <a:defRPr sz="1100"/>
            </a:pPr>
            <a:endParaRPr lang="he-IL"/>
          </a:p>
        </c:txPr>
      </c:legendEntry>
      <c:legendEntry>
        <c:idx val="1"/>
        <c:txPr>
          <a:bodyPr/>
          <a:lstStyle/>
          <a:p>
            <a:pPr rtl="0">
              <a:defRPr sz="1100"/>
            </a:pPr>
            <a:endParaRPr lang="he-IL"/>
          </a:p>
        </c:txPr>
      </c:legendEntry>
      <c:legendEntry>
        <c:idx val="2"/>
        <c:txPr>
          <a:bodyPr/>
          <a:lstStyle/>
          <a:p>
            <a:pPr rtl="0">
              <a:defRPr sz="1100" b="0"/>
            </a:pPr>
            <a:endParaRPr lang="he-IL"/>
          </a:p>
        </c:txPr>
      </c:legendEntry>
      <c:legendEntry>
        <c:idx val="3"/>
        <c:txPr>
          <a:bodyPr/>
          <a:lstStyle/>
          <a:p>
            <a:pPr rtl="0">
              <a:defRPr sz="1200" b="1"/>
            </a:pPr>
            <a:endParaRPr lang="he-IL"/>
          </a:p>
        </c:txPr>
      </c:legendEntry>
      <c:layout>
        <c:manualLayout>
          <c:xMode val="edge"/>
          <c:yMode val="edge"/>
          <c:x val="0.75911193128859333"/>
          <c:y val="7.7121451023354382E-2"/>
          <c:w val="0.17956763542597465"/>
          <c:h val="0.35433965741432799"/>
        </c:manualLayout>
      </c:layout>
      <c:overlay val="0"/>
      <c:txPr>
        <a:bodyPr/>
        <a:lstStyle/>
        <a:p>
          <a:pPr rtl="0">
            <a:defRPr sz="1100"/>
          </a:pPr>
          <a:endParaRPr lang="he-IL"/>
        </a:p>
      </c:txPr>
    </c:legend>
    <c:plotVisOnly val="1"/>
    <c:dispBlanksAs val="gap"/>
    <c:showDLblsOverMax val="0"/>
  </c:chart>
  <c:spPr>
    <a:noFill/>
    <a:ln>
      <a:noFill/>
    </a:ln>
  </c:spPr>
  <c:txPr>
    <a:bodyPr/>
    <a:lstStyle/>
    <a:p>
      <a:pPr>
        <a:defRPr sz="1400" b="0" i="0" u="none" strike="noStrike" baseline="0">
          <a:solidFill>
            <a:schemeClr val="tx1">
              <a:lumMod val="75000"/>
              <a:lumOff val="25000"/>
            </a:schemeClr>
          </a:solidFill>
          <a:latin typeface="Segoe UI"/>
          <a:ea typeface="Segoe UI"/>
          <a:cs typeface="Segoe UI"/>
        </a:defRPr>
      </a:pPr>
      <a:endParaRPr lang="he-IL"/>
    </a:p>
  </c:txPr>
  <c:externalData r:id="rId2">
    <c:autoUpdate val="0"/>
  </c:externalData>
</c:chartSpace>
</file>

<file path=ppt/charts/chart5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7859770769818229E-2"/>
          <c:y val="4.3281067273958265E-2"/>
          <c:w val="0.78658031430227515"/>
          <c:h val="0.84021001803542239"/>
        </c:manualLayout>
      </c:layout>
      <c:barChart>
        <c:barDir val="col"/>
        <c:grouping val="clustered"/>
        <c:varyColors val="0"/>
        <c:ser>
          <c:idx val="0"/>
          <c:order val="0"/>
          <c:tx>
            <c:strRef>
              <c:f>Sheet1!$A$2</c:f>
              <c:strCache>
                <c:ptCount val="1"/>
                <c:pt idx="0">
                  <c:v>כן, בצורה ברורה</c:v>
                </c:pt>
              </c:strCache>
            </c:strRef>
          </c:tx>
          <c:spPr>
            <a:solidFill>
              <a:srgbClr val="09AFA7"/>
            </a:solidFill>
            <a:ln w="31750">
              <a:noFill/>
            </a:ln>
          </c:spPr>
          <c:invertIfNegative val="0"/>
          <c:dLbls>
            <c:spPr>
              <a:noFill/>
              <a:ln>
                <a:noFill/>
              </a:ln>
              <a:effectLst/>
            </c:spPr>
            <c:txPr>
              <a:bodyPr/>
              <a:lstStyle/>
              <a:p>
                <a:pPr>
                  <a:defRPr sz="1200" b="1">
                    <a:solidFill>
                      <a:schemeClr val="bg1"/>
                    </a:solidFill>
                    <a:latin typeface="Segoe UI" panose="020B0502040204020203" pitchFamily="34" charset="0"/>
                    <a:cs typeface="Segoe UI" panose="020B0502040204020203" pitchFamily="34" charset="0"/>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Sheet1!$B$1:$C$1</c:f>
              <c:strCache>
                <c:ptCount val="2"/>
                <c:pt idx="0">
                  <c:v>מגזר יהודי</c:v>
                </c:pt>
                <c:pt idx="1">
                  <c:v>מגזר ערבי</c:v>
                </c:pt>
              </c:strCache>
            </c:strRef>
          </c:cat>
          <c:val>
            <c:numRef>
              <c:f>Sheet1!$B$2:$C$2</c:f>
              <c:numCache>
                <c:formatCode>0%</c:formatCode>
                <c:ptCount val="2"/>
                <c:pt idx="0">
                  <c:v>0.3354037267080745</c:v>
                </c:pt>
                <c:pt idx="1">
                  <c:v>0.34567901234567899</c:v>
                </c:pt>
              </c:numCache>
            </c:numRef>
          </c:val>
          <c:extLst>
            <c:ext xmlns:c16="http://schemas.microsoft.com/office/drawing/2014/chart" uri="{C3380CC4-5D6E-409C-BE32-E72D297353CC}">
              <c16:uniqueId val="{00000000-0DE3-413B-BCFA-E0921DF056CA}"/>
            </c:ext>
          </c:extLst>
        </c:ser>
        <c:ser>
          <c:idx val="1"/>
          <c:order val="1"/>
          <c:tx>
            <c:strRef>
              <c:f>Sheet1!$A$3</c:f>
              <c:strCache>
                <c:ptCount val="1"/>
                <c:pt idx="0">
                  <c:v>כן, באופן חלקי / לא מאוד ברור </c:v>
                </c:pt>
              </c:strCache>
            </c:strRef>
          </c:tx>
          <c:spPr>
            <a:solidFill>
              <a:srgbClr val="59D3B6"/>
            </a:solidFill>
          </c:spPr>
          <c:invertIfNegative val="0"/>
          <c:dLbls>
            <c:spPr>
              <a:noFill/>
              <a:ln>
                <a:noFill/>
              </a:ln>
              <a:effectLst/>
            </c:spPr>
            <c:txPr>
              <a:bodyPr anchorCtr="0"/>
              <a:lstStyle/>
              <a:p>
                <a:pPr algn="ctr">
                  <a:defRPr lang="he-IL" sz="1200" b="1" i="0" u="none" strike="noStrike" kern="1200" baseline="0">
                    <a:solidFill>
                      <a:schemeClr val="bg1"/>
                    </a:solidFill>
                    <a:latin typeface="Segoe UI" panose="020B0502040204020203" pitchFamily="34" charset="0"/>
                    <a:ea typeface="Arial"/>
                    <a:cs typeface="Segoe UI" panose="020B0502040204020203" pitchFamily="34" charset="0"/>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Sheet1!$B$1:$C$1</c:f>
              <c:strCache>
                <c:ptCount val="2"/>
                <c:pt idx="0">
                  <c:v>מגזר יהודי</c:v>
                </c:pt>
                <c:pt idx="1">
                  <c:v>מגזר ערבי</c:v>
                </c:pt>
              </c:strCache>
            </c:strRef>
          </c:cat>
          <c:val>
            <c:numRef>
              <c:f>Sheet1!$B$3:$C$3</c:f>
              <c:numCache>
                <c:formatCode>0%</c:formatCode>
                <c:ptCount val="2"/>
                <c:pt idx="0">
                  <c:v>0.36024844720496896</c:v>
                </c:pt>
                <c:pt idx="1">
                  <c:v>0.39506172839506171</c:v>
                </c:pt>
              </c:numCache>
            </c:numRef>
          </c:val>
          <c:extLst>
            <c:ext xmlns:c16="http://schemas.microsoft.com/office/drawing/2014/chart" uri="{C3380CC4-5D6E-409C-BE32-E72D297353CC}">
              <c16:uniqueId val="{00000001-0DE3-413B-BCFA-E0921DF056CA}"/>
            </c:ext>
          </c:extLst>
        </c:ser>
        <c:ser>
          <c:idx val="2"/>
          <c:order val="2"/>
          <c:tx>
            <c:strRef>
              <c:f>Sheet1!$A$4</c:f>
              <c:strCache>
                <c:ptCount val="1"/>
                <c:pt idx="0">
                  <c:v>לא ידעתי איך לעקוב</c:v>
                </c:pt>
              </c:strCache>
            </c:strRef>
          </c:tx>
          <c:spPr>
            <a:solidFill>
              <a:srgbClr val="FA4C75"/>
            </a:solidFill>
          </c:spPr>
          <c:invertIfNegative val="0"/>
          <c:dLbls>
            <c:spPr>
              <a:noFill/>
              <a:ln>
                <a:noFill/>
              </a:ln>
              <a:effectLst/>
            </c:spPr>
            <c:txPr>
              <a:bodyPr wrap="square" lIns="38100" tIns="19050" rIns="38100" bIns="19050" anchor="ctr" anchorCtr="0">
                <a:spAutoFit/>
              </a:bodyPr>
              <a:lstStyle/>
              <a:p>
                <a:pPr algn="ctr">
                  <a:defRPr lang="he-IL" sz="1200" b="1" i="0" u="none" strike="noStrike" kern="1200" baseline="0">
                    <a:solidFill>
                      <a:schemeClr val="bg1"/>
                    </a:solidFill>
                    <a:latin typeface="Segoe UI" panose="020B0502040204020203" pitchFamily="34" charset="0"/>
                    <a:ea typeface="Arial"/>
                    <a:cs typeface="Segoe UI" panose="020B0502040204020203" pitchFamily="34" charset="0"/>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Sheet1!$B$1:$C$1</c:f>
              <c:strCache>
                <c:ptCount val="2"/>
                <c:pt idx="0">
                  <c:v>מגזר יהודי</c:v>
                </c:pt>
                <c:pt idx="1">
                  <c:v>מגזר ערבי</c:v>
                </c:pt>
              </c:strCache>
            </c:strRef>
          </c:cat>
          <c:val>
            <c:numRef>
              <c:f>Sheet1!$B$4:$C$4</c:f>
              <c:numCache>
                <c:formatCode>0%</c:formatCode>
                <c:ptCount val="2"/>
                <c:pt idx="0">
                  <c:v>0.30434782608695654</c:v>
                </c:pt>
                <c:pt idx="1">
                  <c:v>0.2592592592592593</c:v>
                </c:pt>
              </c:numCache>
            </c:numRef>
          </c:val>
          <c:extLst>
            <c:ext xmlns:c16="http://schemas.microsoft.com/office/drawing/2014/chart" uri="{C3380CC4-5D6E-409C-BE32-E72D297353CC}">
              <c16:uniqueId val="{00000002-0DE3-413B-BCFA-E0921DF056CA}"/>
            </c:ext>
          </c:extLst>
        </c:ser>
        <c:dLbls>
          <c:showLegendKey val="0"/>
          <c:showVal val="0"/>
          <c:showCatName val="0"/>
          <c:showSerName val="0"/>
          <c:showPercent val="0"/>
          <c:showBubbleSize val="0"/>
        </c:dLbls>
        <c:gapWidth val="80"/>
        <c:axId val="184526720"/>
        <c:axId val="184528256"/>
      </c:barChart>
      <c:catAx>
        <c:axId val="184526720"/>
        <c:scaling>
          <c:orientation val="minMax"/>
        </c:scaling>
        <c:delete val="0"/>
        <c:axPos val="b"/>
        <c:numFmt formatCode="General" sourceLinked="1"/>
        <c:majorTickMark val="out"/>
        <c:minorTickMark val="none"/>
        <c:tickLblPos val="low"/>
        <c:spPr>
          <a:ln w="38100">
            <a:solidFill>
              <a:schemeClr val="bg1"/>
            </a:solidFill>
            <a:prstDash val="solid"/>
          </a:ln>
        </c:spPr>
        <c:txPr>
          <a:bodyPr rot="0" vert="horz"/>
          <a:lstStyle/>
          <a:p>
            <a:pPr>
              <a:defRPr sz="1200" b="1">
                <a:solidFill>
                  <a:schemeClr val="tx1">
                    <a:lumMod val="75000"/>
                    <a:lumOff val="25000"/>
                  </a:schemeClr>
                </a:solidFill>
              </a:defRPr>
            </a:pPr>
            <a:endParaRPr lang="he-IL"/>
          </a:p>
        </c:txPr>
        <c:crossAx val="184528256"/>
        <c:crosses val="autoZero"/>
        <c:auto val="1"/>
        <c:lblAlgn val="ctr"/>
        <c:lblOffset val="100"/>
        <c:noMultiLvlLbl val="0"/>
      </c:catAx>
      <c:valAx>
        <c:axId val="184528256"/>
        <c:scaling>
          <c:orientation val="minMax"/>
          <c:max val="1.2"/>
          <c:min val="0"/>
        </c:scaling>
        <c:delete val="1"/>
        <c:axPos val="l"/>
        <c:numFmt formatCode="0%" sourceLinked="1"/>
        <c:majorTickMark val="out"/>
        <c:minorTickMark val="none"/>
        <c:tickLblPos val="nextTo"/>
        <c:crossAx val="184526720"/>
        <c:crosses val="autoZero"/>
        <c:crossBetween val="between"/>
      </c:valAx>
      <c:spPr>
        <a:noFill/>
        <a:ln w="25965">
          <a:noFill/>
        </a:ln>
      </c:spPr>
    </c:plotArea>
    <c:legend>
      <c:legendPos val="r"/>
      <c:layout>
        <c:manualLayout>
          <c:xMode val="edge"/>
          <c:yMode val="edge"/>
          <c:x val="0.75904369498968505"/>
          <c:y val="0.11347413581173542"/>
          <c:w val="0.24095630501031501"/>
          <c:h val="0.27098125000000001"/>
        </c:manualLayout>
      </c:layout>
      <c:overlay val="0"/>
      <c:txPr>
        <a:bodyPr/>
        <a:lstStyle/>
        <a:p>
          <a:pPr rtl="0">
            <a:defRPr sz="1100"/>
          </a:pPr>
          <a:endParaRPr lang="he-IL"/>
        </a:p>
      </c:txPr>
    </c:legend>
    <c:plotVisOnly val="1"/>
    <c:dispBlanksAs val="gap"/>
    <c:showDLblsOverMax val="0"/>
  </c:chart>
  <c:spPr>
    <a:noFill/>
    <a:ln>
      <a:noFill/>
    </a:ln>
  </c:spPr>
  <c:txPr>
    <a:bodyPr/>
    <a:lstStyle/>
    <a:p>
      <a:pPr>
        <a:defRPr sz="1100" b="0" i="0" u="none" strike="noStrike" baseline="0">
          <a:solidFill>
            <a:schemeClr val="tx1"/>
          </a:solidFill>
          <a:latin typeface="Segoe UI" panose="020B0502040204020203" pitchFamily="34" charset="0"/>
          <a:ea typeface="Arial"/>
          <a:cs typeface="Segoe UI" panose="020B0502040204020203" pitchFamily="34" charset="0"/>
        </a:defRPr>
      </a:pPr>
      <a:endParaRPr lang="he-IL"/>
    </a:p>
  </c:txPr>
  <c:externalData r:id="rId1">
    <c:autoUpdate val="0"/>
  </c:externalData>
</c:chartSpace>
</file>

<file path=ppt/charts/chart5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060943974633085E-2"/>
          <c:y val="4.3281067273958265E-2"/>
          <c:w val="0.93881787239058245"/>
          <c:h val="0.84021001803542239"/>
        </c:manualLayout>
      </c:layout>
      <c:barChart>
        <c:barDir val="col"/>
        <c:grouping val="clustered"/>
        <c:varyColors val="0"/>
        <c:ser>
          <c:idx val="0"/>
          <c:order val="0"/>
          <c:tx>
            <c:strRef>
              <c:f>Sheet1!$A$2</c:f>
              <c:strCache>
                <c:ptCount val="1"/>
                <c:pt idx="0">
                  <c:v>כן</c:v>
                </c:pt>
              </c:strCache>
            </c:strRef>
          </c:tx>
          <c:spPr>
            <a:solidFill>
              <a:srgbClr val="09AFA7"/>
            </a:solidFill>
            <a:ln w="31750">
              <a:noFill/>
            </a:ln>
          </c:spPr>
          <c:invertIfNegative val="0"/>
          <c:dLbls>
            <c:spPr>
              <a:noFill/>
              <a:ln>
                <a:noFill/>
              </a:ln>
              <a:effectLst/>
            </c:spPr>
            <c:txPr>
              <a:bodyPr/>
              <a:lstStyle/>
              <a:p>
                <a:pPr>
                  <a:defRPr sz="1200" b="0" cap="none" spc="0">
                    <a:ln w="0"/>
                    <a:solidFill>
                      <a:schemeClr val="tx1"/>
                    </a:solidFill>
                    <a:effectLst>
                      <a:outerShdw blurRad="38100" dist="19050" dir="2700000" algn="tl" rotWithShape="0">
                        <a:schemeClr val="dk1">
                          <a:alpha val="40000"/>
                        </a:schemeClr>
                      </a:outerShdw>
                    </a:effectLst>
                    <a:latin typeface="Segoe UI" panose="020B0502040204020203" pitchFamily="34" charset="0"/>
                    <a:cs typeface="Segoe UI" panose="020B0502040204020203" pitchFamily="34" charset="0"/>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Sheet1!$B$1:$C$1</c:f>
              <c:strCache>
                <c:ptCount val="2"/>
                <c:pt idx="0">
                  <c:v>מגזר יהודי</c:v>
                </c:pt>
                <c:pt idx="1">
                  <c:v>מגזר ערבי</c:v>
                </c:pt>
              </c:strCache>
            </c:strRef>
          </c:cat>
          <c:val>
            <c:numRef>
              <c:f>Sheet1!$B$2:$C$2</c:f>
              <c:numCache>
                <c:formatCode>0%</c:formatCode>
                <c:ptCount val="2"/>
                <c:pt idx="0">
                  <c:v>0.32919254658385094</c:v>
                </c:pt>
                <c:pt idx="1">
                  <c:v>0.37037037037037041</c:v>
                </c:pt>
              </c:numCache>
            </c:numRef>
          </c:val>
          <c:extLst>
            <c:ext xmlns:c16="http://schemas.microsoft.com/office/drawing/2014/chart" uri="{C3380CC4-5D6E-409C-BE32-E72D297353CC}">
              <c16:uniqueId val="{00000000-27AE-4351-8C13-51364E9FA5E7}"/>
            </c:ext>
          </c:extLst>
        </c:ser>
        <c:ser>
          <c:idx val="1"/>
          <c:order val="1"/>
          <c:tx>
            <c:strRef>
              <c:f>Sheet1!$A$3</c:f>
              <c:strCache>
                <c:ptCount val="1"/>
                <c:pt idx="0">
                  <c:v>לא</c:v>
                </c:pt>
              </c:strCache>
            </c:strRef>
          </c:tx>
          <c:spPr>
            <a:solidFill>
              <a:srgbClr val="FA4C75"/>
            </a:solidFill>
          </c:spPr>
          <c:invertIfNegative val="0"/>
          <c:dLbls>
            <c:spPr>
              <a:noFill/>
              <a:ln>
                <a:noFill/>
              </a:ln>
              <a:effectLst/>
            </c:spPr>
            <c:txPr>
              <a:bodyPr anchorCtr="0"/>
              <a:lstStyle/>
              <a:p>
                <a:pPr algn="ctr">
                  <a:defRPr lang="he-IL" sz="1200" b="0" i="0" u="none" strike="noStrike" kern="1200" cap="none" spc="0" baseline="0">
                    <a:ln w="0"/>
                    <a:solidFill>
                      <a:schemeClr val="tx1"/>
                    </a:solidFill>
                    <a:effectLst>
                      <a:outerShdw blurRad="38100" dist="19050" dir="2700000" algn="tl" rotWithShape="0">
                        <a:schemeClr val="dk1">
                          <a:alpha val="40000"/>
                        </a:schemeClr>
                      </a:outerShdw>
                    </a:effectLst>
                    <a:latin typeface="Segoe UI" panose="020B0502040204020203" pitchFamily="34" charset="0"/>
                    <a:ea typeface="Arial"/>
                    <a:cs typeface="Segoe UI" panose="020B0502040204020203" pitchFamily="34" charset="0"/>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Sheet1!$B$1:$C$1</c:f>
              <c:strCache>
                <c:ptCount val="2"/>
                <c:pt idx="0">
                  <c:v>מגזר יהודי</c:v>
                </c:pt>
                <c:pt idx="1">
                  <c:v>מגזר ערבי</c:v>
                </c:pt>
              </c:strCache>
            </c:strRef>
          </c:cat>
          <c:val>
            <c:numRef>
              <c:f>Sheet1!$B$3:$C$3</c:f>
              <c:numCache>
                <c:formatCode>0%</c:formatCode>
                <c:ptCount val="2"/>
                <c:pt idx="0">
                  <c:v>0.670807453416149</c:v>
                </c:pt>
                <c:pt idx="1">
                  <c:v>0.62962962962962965</c:v>
                </c:pt>
              </c:numCache>
            </c:numRef>
          </c:val>
          <c:extLst>
            <c:ext xmlns:c16="http://schemas.microsoft.com/office/drawing/2014/chart" uri="{C3380CC4-5D6E-409C-BE32-E72D297353CC}">
              <c16:uniqueId val="{00000001-27AE-4351-8C13-51364E9FA5E7}"/>
            </c:ext>
          </c:extLst>
        </c:ser>
        <c:dLbls>
          <c:showLegendKey val="0"/>
          <c:showVal val="0"/>
          <c:showCatName val="0"/>
          <c:showSerName val="0"/>
          <c:showPercent val="0"/>
          <c:showBubbleSize val="0"/>
        </c:dLbls>
        <c:gapWidth val="80"/>
        <c:axId val="184526720"/>
        <c:axId val="184528256"/>
      </c:barChart>
      <c:catAx>
        <c:axId val="184526720"/>
        <c:scaling>
          <c:orientation val="minMax"/>
        </c:scaling>
        <c:delete val="0"/>
        <c:axPos val="b"/>
        <c:numFmt formatCode="General" sourceLinked="1"/>
        <c:majorTickMark val="out"/>
        <c:minorTickMark val="none"/>
        <c:tickLblPos val="low"/>
        <c:spPr>
          <a:ln w="38100">
            <a:solidFill>
              <a:schemeClr val="bg1"/>
            </a:solidFill>
            <a:prstDash val="solid"/>
          </a:ln>
        </c:spPr>
        <c:txPr>
          <a:bodyPr rot="0" vert="horz"/>
          <a:lstStyle/>
          <a:p>
            <a:pPr>
              <a:defRPr sz="1200" b="1">
                <a:solidFill>
                  <a:schemeClr val="tx1">
                    <a:lumMod val="75000"/>
                    <a:lumOff val="25000"/>
                  </a:schemeClr>
                </a:solidFill>
              </a:defRPr>
            </a:pPr>
            <a:endParaRPr lang="he-IL"/>
          </a:p>
        </c:txPr>
        <c:crossAx val="184528256"/>
        <c:crosses val="autoZero"/>
        <c:auto val="1"/>
        <c:lblAlgn val="ctr"/>
        <c:lblOffset val="100"/>
        <c:noMultiLvlLbl val="0"/>
      </c:catAx>
      <c:valAx>
        <c:axId val="184528256"/>
        <c:scaling>
          <c:orientation val="minMax"/>
          <c:max val="1.1000000000000001"/>
          <c:min val="0"/>
        </c:scaling>
        <c:delete val="1"/>
        <c:axPos val="l"/>
        <c:numFmt formatCode="0%" sourceLinked="1"/>
        <c:majorTickMark val="out"/>
        <c:minorTickMark val="none"/>
        <c:tickLblPos val="nextTo"/>
        <c:crossAx val="184526720"/>
        <c:crosses val="autoZero"/>
        <c:crossBetween val="between"/>
      </c:valAx>
      <c:spPr>
        <a:noFill/>
        <a:ln w="25965">
          <a:noFill/>
        </a:ln>
      </c:spPr>
    </c:plotArea>
    <c:legend>
      <c:legendPos val="r"/>
      <c:layout>
        <c:manualLayout>
          <c:xMode val="edge"/>
          <c:yMode val="edge"/>
          <c:x val="1.5565594887621307E-2"/>
          <c:y val="0.21930763888888888"/>
          <c:w val="0.12542744104071321"/>
          <c:h val="0.18065416666666667"/>
        </c:manualLayout>
      </c:layout>
      <c:overlay val="0"/>
      <c:txPr>
        <a:bodyPr/>
        <a:lstStyle/>
        <a:p>
          <a:pPr rtl="0">
            <a:defRPr sz="1100"/>
          </a:pPr>
          <a:endParaRPr lang="he-IL"/>
        </a:p>
      </c:txPr>
    </c:legend>
    <c:plotVisOnly val="1"/>
    <c:dispBlanksAs val="gap"/>
    <c:showDLblsOverMax val="0"/>
  </c:chart>
  <c:spPr>
    <a:noFill/>
    <a:ln>
      <a:noFill/>
    </a:ln>
  </c:spPr>
  <c:txPr>
    <a:bodyPr/>
    <a:lstStyle/>
    <a:p>
      <a:pPr>
        <a:defRPr sz="1100" b="0" i="0" u="none" strike="noStrike" baseline="0">
          <a:solidFill>
            <a:schemeClr val="tx1"/>
          </a:solidFill>
          <a:latin typeface="Segoe UI" panose="020B0502040204020203" pitchFamily="34" charset="0"/>
          <a:ea typeface="Arial"/>
          <a:cs typeface="Segoe UI" panose="020B0502040204020203" pitchFamily="34" charset="0"/>
        </a:defRPr>
      </a:pPr>
      <a:endParaRPr lang="he-IL"/>
    </a:p>
  </c:txPr>
  <c:externalData r:id="rId1">
    <c:autoUpdate val="0"/>
  </c:externalData>
</c:chartSpace>
</file>

<file path=ppt/charts/chart5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1.1262886993089706E-2"/>
          <c:y val="6.5734137750975238E-2"/>
          <c:w val="0.82030930446594341"/>
          <c:h val="0.82823682540007582"/>
        </c:manualLayout>
      </c:layout>
      <c:barChart>
        <c:barDir val="col"/>
        <c:grouping val="clustered"/>
        <c:varyColors val="0"/>
        <c:ser>
          <c:idx val="0"/>
          <c:order val="0"/>
          <c:tx>
            <c:strRef>
              <c:f>Sheet1!$A$2</c:f>
              <c:strCache>
                <c:ptCount val="1"/>
                <c:pt idx="0">
                  <c:v>במידה מועטה</c:v>
                </c:pt>
              </c:strCache>
            </c:strRef>
          </c:tx>
          <c:spPr>
            <a:solidFill>
              <a:srgbClr val="09AFA7"/>
            </a:solidFill>
            <a:ln w="26415">
              <a:noFill/>
            </a:ln>
          </c:spPr>
          <c:invertIfNegative val="0"/>
          <c:dLbls>
            <c:spPr>
              <a:noFill/>
              <a:ln w="26415">
                <a:noFill/>
              </a:ln>
            </c:spPr>
            <c:txPr>
              <a:bodyPr/>
              <a:lstStyle/>
              <a:p>
                <a:pPr>
                  <a:defRPr sz="1200" b="0" cap="none" spc="0">
                    <a:ln w="0"/>
                    <a:solidFill>
                      <a:schemeClr val="tx1"/>
                    </a:solidFill>
                    <a:effectLst>
                      <a:outerShdw blurRad="38100" dist="19050" dir="2700000" algn="tl" rotWithShape="0">
                        <a:schemeClr val="dk1">
                          <a:alpha val="40000"/>
                        </a:schemeClr>
                      </a:outerShdw>
                    </a:effectLst>
                  </a:defRPr>
                </a:pPr>
                <a:endParaRPr lang="he-IL"/>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Sheet1!$B$1:$C$1</c:f>
              <c:strCache>
                <c:ptCount val="2"/>
                <c:pt idx="0">
                  <c:v>מגזר יהודי</c:v>
                </c:pt>
                <c:pt idx="1">
                  <c:v>מגזר ערבי</c:v>
                </c:pt>
              </c:strCache>
            </c:strRef>
          </c:cat>
          <c:val>
            <c:numRef>
              <c:f>Sheet1!$B$2:$C$2</c:f>
              <c:numCache>
                <c:formatCode>0%</c:formatCode>
                <c:ptCount val="2"/>
                <c:pt idx="0">
                  <c:v>0.22641509433962262</c:v>
                </c:pt>
                <c:pt idx="1">
                  <c:v>0.23333333333333331</c:v>
                </c:pt>
              </c:numCache>
            </c:numRef>
          </c:val>
          <c:extLst>
            <c:ext xmlns:c16="http://schemas.microsoft.com/office/drawing/2014/chart" uri="{C3380CC4-5D6E-409C-BE32-E72D297353CC}">
              <c16:uniqueId val="{00000000-6FA2-4D33-BFF7-940F1A03934A}"/>
            </c:ext>
          </c:extLst>
        </c:ser>
        <c:ser>
          <c:idx val="1"/>
          <c:order val="1"/>
          <c:tx>
            <c:strRef>
              <c:f>Sheet1!$A$3</c:f>
              <c:strCache>
                <c:ptCount val="1"/>
                <c:pt idx="0">
                  <c:v>במידה בינונית</c:v>
                </c:pt>
              </c:strCache>
            </c:strRef>
          </c:tx>
          <c:spPr>
            <a:solidFill>
              <a:srgbClr val="FFB9C0"/>
            </a:solidFill>
          </c:spPr>
          <c:invertIfNegative val="0"/>
          <c:dLbls>
            <c:spPr>
              <a:noFill/>
              <a:ln>
                <a:noFill/>
              </a:ln>
              <a:effectLst/>
            </c:spPr>
            <c:txPr>
              <a:bodyPr wrap="square" lIns="38100" tIns="19050" rIns="38100" bIns="19050" anchor="ctr">
                <a:spAutoFit/>
              </a:bodyPr>
              <a:lstStyle/>
              <a:p>
                <a:pPr>
                  <a:defRPr sz="1200" b="0" cap="none" spc="0">
                    <a:ln w="0"/>
                    <a:solidFill>
                      <a:schemeClr val="tx1"/>
                    </a:solidFill>
                    <a:effectLst>
                      <a:outerShdw blurRad="38100" dist="19050" dir="2700000" algn="tl" rotWithShape="0">
                        <a:schemeClr val="dk1">
                          <a:alpha val="40000"/>
                        </a:schemeClr>
                      </a:outerShdw>
                    </a:effectLst>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Sheet1!$B$1:$C$1</c:f>
              <c:strCache>
                <c:ptCount val="2"/>
                <c:pt idx="0">
                  <c:v>מגזר יהודי</c:v>
                </c:pt>
                <c:pt idx="1">
                  <c:v>מגזר ערבי</c:v>
                </c:pt>
              </c:strCache>
            </c:strRef>
          </c:cat>
          <c:val>
            <c:numRef>
              <c:f>Sheet1!$B$3:$C$3</c:f>
              <c:numCache>
                <c:formatCode>0%</c:formatCode>
                <c:ptCount val="2"/>
                <c:pt idx="0">
                  <c:v>0.20754716981132076</c:v>
                </c:pt>
                <c:pt idx="1">
                  <c:v>0.36666666666666664</c:v>
                </c:pt>
              </c:numCache>
            </c:numRef>
          </c:val>
          <c:extLst>
            <c:ext xmlns:c16="http://schemas.microsoft.com/office/drawing/2014/chart" uri="{C3380CC4-5D6E-409C-BE32-E72D297353CC}">
              <c16:uniqueId val="{00000001-6FA2-4D33-BFF7-940F1A03934A}"/>
            </c:ext>
          </c:extLst>
        </c:ser>
        <c:ser>
          <c:idx val="2"/>
          <c:order val="2"/>
          <c:tx>
            <c:strRef>
              <c:f>Sheet1!$A$4</c:f>
              <c:strCache>
                <c:ptCount val="1"/>
                <c:pt idx="0">
                  <c:v>במידה רבה</c:v>
                </c:pt>
              </c:strCache>
            </c:strRef>
          </c:tx>
          <c:spPr>
            <a:solidFill>
              <a:srgbClr val="FA4C75"/>
            </a:solidFill>
            <a:ln w="26415">
              <a:noFill/>
            </a:ln>
          </c:spPr>
          <c:invertIfNegative val="0"/>
          <c:dLbls>
            <c:spPr>
              <a:noFill/>
              <a:ln w="26415">
                <a:noFill/>
              </a:ln>
            </c:spPr>
            <c:txPr>
              <a:bodyPr wrap="square" lIns="38100" tIns="19050" rIns="38100" bIns="19050" anchor="ctr">
                <a:spAutoFit/>
              </a:bodyPr>
              <a:lstStyle/>
              <a:p>
                <a:pPr>
                  <a:defRPr sz="1200" b="0" cap="none" spc="0">
                    <a:ln w="0"/>
                    <a:solidFill>
                      <a:schemeClr val="tx1"/>
                    </a:solidFill>
                    <a:effectLst>
                      <a:outerShdw blurRad="38100" dist="19050" dir="2700000" algn="tl" rotWithShape="0">
                        <a:schemeClr val="dk1">
                          <a:alpha val="40000"/>
                        </a:schemeClr>
                      </a:outerShdw>
                    </a:effectLst>
                  </a:defRPr>
                </a:pPr>
                <a:endParaRPr lang="he-IL"/>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Sheet1!$B$1:$C$1</c:f>
              <c:strCache>
                <c:ptCount val="2"/>
                <c:pt idx="0">
                  <c:v>מגזר יהודי</c:v>
                </c:pt>
                <c:pt idx="1">
                  <c:v>מגזר ערבי</c:v>
                </c:pt>
              </c:strCache>
            </c:strRef>
          </c:cat>
          <c:val>
            <c:numRef>
              <c:f>Sheet1!$B$4:$C$4</c:f>
              <c:numCache>
                <c:formatCode>0%</c:formatCode>
                <c:ptCount val="2"/>
                <c:pt idx="0">
                  <c:v>0.56603773584905659</c:v>
                </c:pt>
                <c:pt idx="1">
                  <c:v>0.4</c:v>
                </c:pt>
              </c:numCache>
            </c:numRef>
          </c:val>
          <c:extLst>
            <c:ext xmlns:c16="http://schemas.microsoft.com/office/drawing/2014/chart" uri="{C3380CC4-5D6E-409C-BE32-E72D297353CC}">
              <c16:uniqueId val="{00000002-6FA2-4D33-BFF7-940F1A03934A}"/>
            </c:ext>
          </c:extLst>
        </c:ser>
        <c:ser>
          <c:idx val="3"/>
          <c:order val="3"/>
          <c:tx>
            <c:strRef>
              <c:f>Sheet1!$A$5</c:f>
              <c:strCache>
                <c:ptCount val="1"/>
                <c:pt idx="0">
                  <c:v>ממוצע</c:v>
                </c:pt>
              </c:strCache>
            </c:strRef>
          </c:tx>
          <c:spPr>
            <a:noFill/>
            <a:ln w="26415">
              <a:noFill/>
            </a:ln>
          </c:spPr>
          <c:invertIfNegative val="0"/>
          <c:dLbls>
            <c:dLbl>
              <c:idx val="0"/>
              <c:layout>
                <c:manualLayout>
                  <c:x val="0.10288776301555839"/>
                  <c:y val="0.4525969089475678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1AF1-45FB-A139-050452FEDF24}"/>
                </c:ext>
              </c:extLst>
            </c:dLbl>
            <c:dLbl>
              <c:idx val="1"/>
              <c:layout>
                <c:manualLayout>
                  <c:x val="-9.6555314438239254E-2"/>
                  <c:y val="0.4525969089475678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1AF1-45FB-A139-050452FEDF24}"/>
                </c:ext>
              </c:extLst>
            </c:dLbl>
            <c:spPr>
              <a:noFill/>
              <a:ln w="26415">
                <a:noFill/>
              </a:ln>
            </c:spPr>
            <c:txPr>
              <a:bodyPr wrap="square" lIns="38100" tIns="19050" rIns="38100" bIns="19050" anchor="ctr">
                <a:spAutoFit/>
              </a:bodyPr>
              <a:lstStyle/>
              <a:p>
                <a:pPr>
                  <a:defRPr sz="1400" b="1">
                    <a:solidFill>
                      <a:schemeClr val="tx1"/>
                    </a:solidFill>
                  </a:defRPr>
                </a:pPr>
                <a:endParaRPr lang="he-IL"/>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Sheet1!$B$1:$C$1</c:f>
              <c:strCache>
                <c:ptCount val="2"/>
                <c:pt idx="0">
                  <c:v>מגזר יהודי</c:v>
                </c:pt>
                <c:pt idx="1">
                  <c:v>מגזר ערבי</c:v>
                </c:pt>
              </c:strCache>
            </c:strRef>
          </c:cat>
          <c:val>
            <c:numRef>
              <c:f>Sheet1!$B$5:$C$5</c:f>
              <c:numCache>
                <c:formatCode>0.0</c:formatCode>
                <c:ptCount val="2"/>
                <c:pt idx="0">
                  <c:v>3.5849056603773586</c:v>
                </c:pt>
                <c:pt idx="1">
                  <c:v>3.1333333333333329</c:v>
                </c:pt>
              </c:numCache>
            </c:numRef>
          </c:val>
          <c:extLst>
            <c:ext xmlns:c16="http://schemas.microsoft.com/office/drawing/2014/chart" uri="{C3380CC4-5D6E-409C-BE32-E72D297353CC}">
              <c16:uniqueId val="{00000003-6FA2-4D33-BFF7-940F1A03934A}"/>
            </c:ext>
          </c:extLst>
        </c:ser>
        <c:dLbls>
          <c:showLegendKey val="0"/>
          <c:showVal val="0"/>
          <c:showCatName val="0"/>
          <c:showSerName val="0"/>
          <c:showPercent val="0"/>
          <c:showBubbleSize val="0"/>
        </c:dLbls>
        <c:gapWidth val="80"/>
        <c:axId val="1594904751"/>
        <c:axId val="1"/>
      </c:barChart>
      <c:catAx>
        <c:axId val="1594904751"/>
        <c:scaling>
          <c:orientation val="minMax"/>
        </c:scaling>
        <c:delete val="0"/>
        <c:axPos val="b"/>
        <c:numFmt formatCode="General" sourceLinked="1"/>
        <c:majorTickMark val="out"/>
        <c:minorTickMark val="none"/>
        <c:tickLblPos val="nextTo"/>
        <c:spPr>
          <a:ln>
            <a:noFill/>
          </a:ln>
        </c:spPr>
        <c:txPr>
          <a:bodyPr/>
          <a:lstStyle/>
          <a:p>
            <a:pPr>
              <a:defRPr sz="1200" b="1"/>
            </a:pPr>
            <a:endParaRPr lang="he-IL"/>
          </a:p>
        </c:txPr>
        <c:crossAx val="1"/>
        <c:crosses val="autoZero"/>
        <c:auto val="1"/>
        <c:lblAlgn val="ctr"/>
        <c:lblOffset val="100"/>
        <c:noMultiLvlLbl val="0"/>
      </c:catAx>
      <c:valAx>
        <c:axId val="1"/>
        <c:scaling>
          <c:orientation val="minMax"/>
          <c:max val="1.2"/>
          <c:min val="0"/>
        </c:scaling>
        <c:delete val="1"/>
        <c:axPos val="l"/>
        <c:numFmt formatCode="0%" sourceLinked="1"/>
        <c:majorTickMark val="out"/>
        <c:minorTickMark val="none"/>
        <c:tickLblPos val="nextTo"/>
        <c:crossAx val="1594904751"/>
        <c:crosses val="autoZero"/>
        <c:crossBetween val="between"/>
      </c:valAx>
      <c:spPr>
        <a:noFill/>
        <a:ln w="26415">
          <a:noFill/>
        </a:ln>
      </c:spPr>
    </c:plotArea>
    <c:legend>
      <c:legendPos val="r"/>
      <c:legendEntry>
        <c:idx val="0"/>
        <c:txPr>
          <a:bodyPr/>
          <a:lstStyle/>
          <a:p>
            <a:pPr rtl="0">
              <a:defRPr sz="1100"/>
            </a:pPr>
            <a:endParaRPr lang="he-IL"/>
          </a:p>
        </c:txPr>
      </c:legendEntry>
      <c:legendEntry>
        <c:idx val="1"/>
        <c:txPr>
          <a:bodyPr/>
          <a:lstStyle/>
          <a:p>
            <a:pPr rtl="0">
              <a:defRPr sz="1100"/>
            </a:pPr>
            <a:endParaRPr lang="he-IL"/>
          </a:p>
        </c:txPr>
      </c:legendEntry>
      <c:legendEntry>
        <c:idx val="2"/>
        <c:txPr>
          <a:bodyPr/>
          <a:lstStyle/>
          <a:p>
            <a:pPr rtl="0">
              <a:defRPr sz="1100" b="0"/>
            </a:pPr>
            <a:endParaRPr lang="he-IL"/>
          </a:p>
        </c:txPr>
      </c:legendEntry>
      <c:legendEntry>
        <c:idx val="3"/>
        <c:txPr>
          <a:bodyPr/>
          <a:lstStyle/>
          <a:p>
            <a:pPr rtl="0">
              <a:defRPr sz="1200" b="1"/>
            </a:pPr>
            <a:endParaRPr lang="he-IL"/>
          </a:p>
        </c:txPr>
      </c:legendEntry>
      <c:layout>
        <c:manualLayout>
          <c:xMode val="edge"/>
          <c:yMode val="edge"/>
          <c:x val="0.78037537853540384"/>
          <c:y val="0.17464471838556755"/>
          <c:w val="0.21962451830701618"/>
          <c:h val="0.35433965741432799"/>
        </c:manualLayout>
      </c:layout>
      <c:overlay val="0"/>
      <c:txPr>
        <a:bodyPr/>
        <a:lstStyle/>
        <a:p>
          <a:pPr rtl="0">
            <a:defRPr sz="1100"/>
          </a:pPr>
          <a:endParaRPr lang="he-IL"/>
        </a:p>
      </c:txPr>
    </c:legend>
    <c:plotVisOnly val="1"/>
    <c:dispBlanksAs val="gap"/>
    <c:showDLblsOverMax val="0"/>
  </c:chart>
  <c:spPr>
    <a:noFill/>
    <a:ln>
      <a:noFill/>
    </a:ln>
  </c:spPr>
  <c:txPr>
    <a:bodyPr/>
    <a:lstStyle/>
    <a:p>
      <a:pPr>
        <a:defRPr sz="1400" b="0" i="0" u="none" strike="noStrike" baseline="0">
          <a:solidFill>
            <a:schemeClr val="tx1">
              <a:lumMod val="75000"/>
              <a:lumOff val="25000"/>
            </a:schemeClr>
          </a:solidFill>
          <a:latin typeface="Segoe UI"/>
          <a:ea typeface="Segoe UI"/>
          <a:cs typeface="Segoe UI"/>
        </a:defRPr>
      </a:pPr>
      <a:endParaRPr lang="he-IL"/>
    </a:p>
  </c:txPr>
  <c:externalData r:id="rId2">
    <c:autoUpdate val="0"/>
  </c:externalData>
</c:chartSpace>
</file>

<file path=ppt/charts/chart5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7859770769818229E-2"/>
          <c:y val="4.3281067273958265E-2"/>
          <c:w val="0.78658031430227515"/>
          <c:h val="0.84021001803542239"/>
        </c:manualLayout>
      </c:layout>
      <c:barChart>
        <c:barDir val="col"/>
        <c:grouping val="clustered"/>
        <c:varyColors val="0"/>
        <c:ser>
          <c:idx val="0"/>
          <c:order val="0"/>
          <c:tx>
            <c:strRef>
              <c:f>Sheet1!$A$2</c:f>
              <c:strCache>
                <c:ptCount val="1"/>
                <c:pt idx="0">
                  <c:v>כן, באופן מלא</c:v>
                </c:pt>
              </c:strCache>
            </c:strRef>
          </c:tx>
          <c:spPr>
            <a:solidFill>
              <a:srgbClr val="09AFA7"/>
            </a:solidFill>
            <a:ln w="31750">
              <a:noFill/>
            </a:ln>
          </c:spPr>
          <c:invertIfNegative val="0"/>
          <c:dLbls>
            <c:spPr>
              <a:noFill/>
              <a:ln>
                <a:noFill/>
              </a:ln>
              <a:effectLst/>
            </c:spPr>
            <c:txPr>
              <a:bodyPr/>
              <a:lstStyle/>
              <a:p>
                <a:pPr>
                  <a:defRPr sz="1200" b="0" cap="none" spc="0">
                    <a:ln w="0"/>
                    <a:solidFill>
                      <a:schemeClr val="tx1"/>
                    </a:solidFill>
                    <a:effectLst>
                      <a:outerShdw blurRad="38100" dist="19050" dir="2700000" algn="tl" rotWithShape="0">
                        <a:schemeClr val="dk1">
                          <a:alpha val="40000"/>
                        </a:schemeClr>
                      </a:outerShdw>
                    </a:effectLst>
                    <a:latin typeface="Segoe UI" panose="020B0502040204020203" pitchFamily="34" charset="0"/>
                    <a:cs typeface="Segoe UI" panose="020B0502040204020203" pitchFamily="34" charset="0"/>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Sheet1!$B$1:$C$1</c:f>
              <c:strCache>
                <c:ptCount val="2"/>
                <c:pt idx="0">
                  <c:v>מגזר יהודי</c:v>
                </c:pt>
                <c:pt idx="1">
                  <c:v>מגזר ערבי</c:v>
                </c:pt>
              </c:strCache>
            </c:strRef>
          </c:cat>
          <c:val>
            <c:numRef>
              <c:f>Sheet1!$B$2:$C$2</c:f>
              <c:numCache>
                <c:formatCode>0%</c:formatCode>
                <c:ptCount val="2"/>
                <c:pt idx="0">
                  <c:v>0.169811320754717</c:v>
                </c:pt>
                <c:pt idx="1">
                  <c:v>0.4</c:v>
                </c:pt>
              </c:numCache>
            </c:numRef>
          </c:val>
          <c:extLst>
            <c:ext xmlns:c16="http://schemas.microsoft.com/office/drawing/2014/chart" uri="{C3380CC4-5D6E-409C-BE32-E72D297353CC}">
              <c16:uniqueId val="{00000000-0DE3-413B-BCFA-E0921DF056CA}"/>
            </c:ext>
          </c:extLst>
        </c:ser>
        <c:ser>
          <c:idx val="1"/>
          <c:order val="1"/>
          <c:tx>
            <c:strRef>
              <c:f>Sheet1!$A$3</c:f>
              <c:strCache>
                <c:ptCount val="1"/>
                <c:pt idx="0">
                  <c:v>כן, באופן חלקי</c:v>
                </c:pt>
              </c:strCache>
            </c:strRef>
          </c:tx>
          <c:spPr>
            <a:solidFill>
              <a:srgbClr val="59D3B6"/>
            </a:solidFill>
          </c:spPr>
          <c:invertIfNegative val="0"/>
          <c:dLbls>
            <c:spPr>
              <a:noFill/>
              <a:ln>
                <a:noFill/>
              </a:ln>
              <a:effectLst/>
            </c:spPr>
            <c:txPr>
              <a:bodyPr anchorCtr="0"/>
              <a:lstStyle/>
              <a:p>
                <a:pPr algn="ctr">
                  <a:defRPr lang="he-IL" sz="1200" b="0" i="0" u="none" strike="noStrike" kern="1200" cap="none" spc="0" baseline="0">
                    <a:ln w="0"/>
                    <a:solidFill>
                      <a:schemeClr val="tx1"/>
                    </a:solidFill>
                    <a:effectLst>
                      <a:outerShdw blurRad="38100" dist="19050" dir="2700000" algn="tl" rotWithShape="0">
                        <a:schemeClr val="dk1">
                          <a:alpha val="40000"/>
                        </a:schemeClr>
                      </a:outerShdw>
                    </a:effectLst>
                    <a:latin typeface="Segoe UI" panose="020B0502040204020203" pitchFamily="34" charset="0"/>
                    <a:ea typeface="Arial"/>
                    <a:cs typeface="Segoe UI" panose="020B0502040204020203" pitchFamily="34" charset="0"/>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Sheet1!$B$1:$C$1</c:f>
              <c:strCache>
                <c:ptCount val="2"/>
                <c:pt idx="0">
                  <c:v>מגזר יהודי</c:v>
                </c:pt>
                <c:pt idx="1">
                  <c:v>מגזר ערבי</c:v>
                </c:pt>
              </c:strCache>
            </c:strRef>
          </c:cat>
          <c:val>
            <c:numRef>
              <c:f>Sheet1!$B$3:$C$3</c:f>
              <c:numCache>
                <c:formatCode>0%</c:formatCode>
                <c:ptCount val="2"/>
                <c:pt idx="0">
                  <c:v>0.49056603773584906</c:v>
                </c:pt>
                <c:pt idx="1">
                  <c:v>0.46666666666666662</c:v>
                </c:pt>
              </c:numCache>
            </c:numRef>
          </c:val>
          <c:extLst>
            <c:ext xmlns:c16="http://schemas.microsoft.com/office/drawing/2014/chart" uri="{C3380CC4-5D6E-409C-BE32-E72D297353CC}">
              <c16:uniqueId val="{00000001-0DE3-413B-BCFA-E0921DF056CA}"/>
            </c:ext>
          </c:extLst>
        </c:ser>
        <c:ser>
          <c:idx val="2"/>
          <c:order val="2"/>
          <c:tx>
            <c:strRef>
              <c:f>Sheet1!$A$4</c:f>
              <c:strCache>
                <c:ptCount val="1"/>
                <c:pt idx="0">
                  <c:v>לא קיבלתי כלל</c:v>
                </c:pt>
              </c:strCache>
            </c:strRef>
          </c:tx>
          <c:spPr>
            <a:solidFill>
              <a:srgbClr val="FA4C75"/>
            </a:solidFill>
          </c:spPr>
          <c:invertIfNegative val="0"/>
          <c:dLbls>
            <c:spPr>
              <a:noFill/>
              <a:ln>
                <a:noFill/>
              </a:ln>
              <a:effectLst/>
            </c:spPr>
            <c:txPr>
              <a:bodyPr wrap="square" lIns="38100" tIns="19050" rIns="38100" bIns="19050" anchor="ctr" anchorCtr="0">
                <a:spAutoFit/>
              </a:bodyPr>
              <a:lstStyle/>
              <a:p>
                <a:pPr algn="ctr">
                  <a:defRPr lang="he-IL" sz="1200" b="0" i="0" u="none" strike="noStrike" kern="1200" cap="none" spc="0" baseline="0">
                    <a:ln w="0"/>
                    <a:solidFill>
                      <a:schemeClr val="tx1"/>
                    </a:solidFill>
                    <a:effectLst>
                      <a:outerShdw blurRad="38100" dist="19050" dir="2700000" algn="tl" rotWithShape="0">
                        <a:schemeClr val="dk1">
                          <a:alpha val="40000"/>
                        </a:schemeClr>
                      </a:outerShdw>
                    </a:effectLst>
                    <a:latin typeface="Segoe UI" panose="020B0502040204020203" pitchFamily="34" charset="0"/>
                    <a:ea typeface="Arial"/>
                    <a:cs typeface="Segoe UI" panose="020B0502040204020203" pitchFamily="34" charset="0"/>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Sheet1!$B$1:$C$1</c:f>
              <c:strCache>
                <c:ptCount val="2"/>
                <c:pt idx="0">
                  <c:v>מגזר יהודי</c:v>
                </c:pt>
                <c:pt idx="1">
                  <c:v>מגזר ערבי</c:v>
                </c:pt>
              </c:strCache>
            </c:strRef>
          </c:cat>
          <c:val>
            <c:numRef>
              <c:f>Sheet1!$B$4:$C$4</c:f>
              <c:numCache>
                <c:formatCode>0%</c:formatCode>
                <c:ptCount val="2"/>
                <c:pt idx="0">
                  <c:v>0.339622641509434</c:v>
                </c:pt>
                <c:pt idx="1">
                  <c:v>0.13333333333333333</c:v>
                </c:pt>
              </c:numCache>
            </c:numRef>
          </c:val>
          <c:extLst>
            <c:ext xmlns:c16="http://schemas.microsoft.com/office/drawing/2014/chart" uri="{C3380CC4-5D6E-409C-BE32-E72D297353CC}">
              <c16:uniqueId val="{00000002-0DE3-413B-BCFA-E0921DF056CA}"/>
            </c:ext>
          </c:extLst>
        </c:ser>
        <c:dLbls>
          <c:showLegendKey val="0"/>
          <c:showVal val="0"/>
          <c:showCatName val="0"/>
          <c:showSerName val="0"/>
          <c:showPercent val="0"/>
          <c:showBubbleSize val="0"/>
        </c:dLbls>
        <c:gapWidth val="80"/>
        <c:axId val="184526720"/>
        <c:axId val="184528256"/>
      </c:barChart>
      <c:catAx>
        <c:axId val="184526720"/>
        <c:scaling>
          <c:orientation val="minMax"/>
        </c:scaling>
        <c:delete val="0"/>
        <c:axPos val="b"/>
        <c:numFmt formatCode="General" sourceLinked="1"/>
        <c:majorTickMark val="out"/>
        <c:minorTickMark val="none"/>
        <c:tickLblPos val="low"/>
        <c:spPr>
          <a:ln w="38100">
            <a:solidFill>
              <a:schemeClr val="bg1"/>
            </a:solidFill>
            <a:prstDash val="solid"/>
          </a:ln>
        </c:spPr>
        <c:txPr>
          <a:bodyPr rot="0" vert="horz"/>
          <a:lstStyle/>
          <a:p>
            <a:pPr>
              <a:defRPr sz="1200" b="1">
                <a:solidFill>
                  <a:schemeClr val="tx1">
                    <a:lumMod val="75000"/>
                    <a:lumOff val="25000"/>
                  </a:schemeClr>
                </a:solidFill>
              </a:defRPr>
            </a:pPr>
            <a:endParaRPr lang="he-IL"/>
          </a:p>
        </c:txPr>
        <c:crossAx val="184528256"/>
        <c:crosses val="autoZero"/>
        <c:auto val="1"/>
        <c:lblAlgn val="ctr"/>
        <c:lblOffset val="100"/>
        <c:noMultiLvlLbl val="0"/>
      </c:catAx>
      <c:valAx>
        <c:axId val="184528256"/>
        <c:scaling>
          <c:orientation val="minMax"/>
          <c:max val="1.2"/>
          <c:min val="0"/>
        </c:scaling>
        <c:delete val="1"/>
        <c:axPos val="l"/>
        <c:numFmt formatCode="0%" sourceLinked="1"/>
        <c:majorTickMark val="out"/>
        <c:minorTickMark val="none"/>
        <c:tickLblPos val="nextTo"/>
        <c:crossAx val="184526720"/>
        <c:crosses val="autoZero"/>
        <c:crossBetween val="between"/>
      </c:valAx>
      <c:spPr>
        <a:noFill/>
        <a:ln w="25965">
          <a:noFill/>
        </a:ln>
      </c:spPr>
    </c:plotArea>
    <c:legend>
      <c:legendPos val="r"/>
      <c:layout>
        <c:manualLayout>
          <c:xMode val="edge"/>
          <c:yMode val="edge"/>
          <c:x val="0.75904369498968505"/>
          <c:y val="0.1581723090233339"/>
          <c:w val="0.24095631799171527"/>
          <c:h val="0.24970371868248881"/>
        </c:manualLayout>
      </c:layout>
      <c:overlay val="0"/>
      <c:txPr>
        <a:bodyPr/>
        <a:lstStyle/>
        <a:p>
          <a:pPr rtl="0">
            <a:defRPr sz="1100"/>
          </a:pPr>
          <a:endParaRPr lang="he-IL"/>
        </a:p>
      </c:txPr>
    </c:legend>
    <c:plotVisOnly val="1"/>
    <c:dispBlanksAs val="gap"/>
    <c:showDLblsOverMax val="0"/>
  </c:chart>
  <c:spPr>
    <a:noFill/>
    <a:ln>
      <a:noFill/>
    </a:ln>
  </c:spPr>
  <c:txPr>
    <a:bodyPr/>
    <a:lstStyle/>
    <a:p>
      <a:pPr>
        <a:defRPr sz="1100" b="0" i="0" u="none" strike="noStrike" baseline="0">
          <a:solidFill>
            <a:schemeClr val="tx1"/>
          </a:solidFill>
          <a:latin typeface="Segoe UI" panose="020B0502040204020203" pitchFamily="34" charset="0"/>
          <a:ea typeface="Arial"/>
          <a:cs typeface="Segoe UI" panose="020B0502040204020203" pitchFamily="34" charset="0"/>
        </a:defRPr>
      </a:pPr>
      <a:endParaRPr lang="he-IL"/>
    </a:p>
  </c:txPr>
  <c:externalData r:id="rId1">
    <c:autoUpdate val="0"/>
  </c:externalData>
</c:chartSpace>
</file>

<file path=ppt/charts/chart5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1173005605517003E-2"/>
          <c:y val="4.3281067273958265E-2"/>
          <c:w val="0.81496460118027225"/>
          <c:h val="0.84021001803542239"/>
        </c:manualLayout>
      </c:layout>
      <c:barChart>
        <c:barDir val="col"/>
        <c:grouping val="stacked"/>
        <c:varyColors val="0"/>
        <c:ser>
          <c:idx val="0"/>
          <c:order val="0"/>
          <c:tx>
            <c:strRef>
              <c:f>Sheet1!$A$2</c:f>
              <c:strCache>
                <c:ptCount val="1"/>
                <c:pt idx="0">
                  <c:v>כן, בנוכחותי</c:v>
                </c:pt>
              </c:strCache>
            </c:strRef>
          </c:tx>
          <c:spPr>
            <a:solidFill>
              <a:srgbClr val="09AFA7"/>
            </a:solidFill>
            <a:ln w="31750">
              <a:noFill/>
            </a:ln>
          </c:spPr>
          <c:invertIfNegative val="0"/>
          <c:dLbls>
            <c:spPr>
              <a:noFill/>
              <a:ln>
                <a:noFill/>
              </a:ln>
              <a:effectLst/>
            </c:spPr>
            <c:txPr>
              <a:bodyPr/>
              <a:lstStyle/>
              <a:p>
                <a:pPr>
                  <a:defRPr sz="1200" b="1">
                    <a:solidFill>
                      <a:schemeClr val="bg1"/>
                    </a:solidFill>
                    <a:latin typeface="Segoe UI" panose="020B0502040204020203" pitchFamily="34" charset="0"/>
                    <a:cs typeface="Segoe UI" panose="020B0502040204020203" pitchFamily="34" charset="0"/>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Sheet1!$B$1:$G$1</c:f>
              <c:strCache>
                <c:ptCount val="6"/>
                <c:pt idx="0">
                  <c:v>מגזר יהודי</c:v>
                </c:pt>
                <c:pt idx="1">
                  <c:v>מגזר ערבי</c:v>
                </c:pt>
                <c:pt idx="2">
                  <c:v>מגזר יהודי</c:v>
                </c:pt>
                <c:pt idx="3">
                  <c:v>מגזר ערבי</c:v>
                </c:pt>
                <c:pt idx="4">
                  <c:v>מגזר יהודי</c:v>
                </c:pt>
                <c:pt idx="5">
                  <c:v>מגזר ערבי</c:v>
                </c:pt>
              </c:strCache>
            </c:strRef>
          </c:cat>
          <c:val>
            <c:numRef>
              <c:f>Sheet1!$B$2:$G$2</c:f>
              <c:numCache>
                <c:formatCode>0%</c:formatCode>
                <c:ptCount val="6"/>
                <c:pt idx="0">
                  <c:v>0.39751552795031053</c:v>
                </c:pt>
                <c:pt idx="1">
                  <c:v>0.23456790123456792</c:v>
                </c:pt>
                <c:pt idx="2">
                  <c:v>0.2558139534883721</c:v>
                </c:pt>
                <c:pt idx="4">
                  <c:v>0.44915254237288138</c:v>
                </c:pt>
                <c:pt idx="5">
                  <c:v>0.32758620689655177</c:v>
                </c:pt>
              </c:numCache>
            </c:numRef>
          </c:val>
          <c:extLst>
            <c:ext xmlns:c16="http://schemas.microsoft.com/office/drawing/2014/chart" uri="{C3380CC4-5D6E-409C-BE32-E72D297353CC}">
              <c16:uniqueId val="{00000000-0DE3-413B-BCFA-E0921DF056CA}"/>
            </c:ext>
          </c:extLst>
        </c:ser>
        <c:ser>
          <c:idx val="1"/>
          <c:order val="1"/>
          <c:tx>
            <c:strRef>
              <c:f>Sheet1!$A$3</c:f>
              <c:strCache>
                <c:ptCount val="1"/>
                <c:pt idx="0">
                  <c:v>כן, עו"ד ייצג אותי ללא נוכחותי</c:v>
                </c:pt>
              </c:strCache>
            </c:strRef>
          </c:tx>
          <c:spPr>
            <a:solidFill>
              <a:srgbClr val="59D3B6"/>
            </a:solidFill>
          </c:spPr>
          <c:invertIfNegative val="0"/>
          <c:dLbls>
            <c:spPr>
              <a:noFill/>
              <a:ln>
                <a:noFill/>
              </a:ln>
              <a:effectLst/>
            </c:spPr>
            <c:txPr>
              <a:bodyPr anchorCtr="0"/>
              <a:lstStyle/>
              <a:p>
                <a:pPr algn="ctr">
                  <a:defRPr lang="he-IL" sz="1200" b="1" i="0" u="none" strike="noStrike" kern="1200" baseline="0">
                    <a:solidFill>
                      <a:schemeClr val="bg1"/>
                    </a:solidFill>
                    <a:latin typeface="Segoe UI" panose="020B0502040204020203" pitchFamily="34" charset="0"/>
                    <a:ea typeface="Arial"/>
                    <a:cs typeface="Segoe UI" panose="020B0502040204020203" pitchFamily="34" charset="0"/>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Sheet1!$B$1:$G$1</c:f>
              <c:strCache>
                <c:ptCount val="6"/>
                <c:pt idx="0">
                  <c:v>מגזר יהודי</c:v>
                </c:pt>
                <c:pt idx="1">
                  <c:v>מגזר ערבי</c:v>
                </c:pt>
                <c:pt idx="2">
                  <c:v>מגזר יהודי</c:v>
                </c:pt>
                <c:pt idx="3">
                  <c:v>מגזר ערבי</c:v>
                </c:pt>
                <c:pt idx="4">
                  <c:v>מגזר יהודי</c:v>
                </c:pt>
                <c:pt idx="5">
                  <c:v>מגזר ערבי</c:v>
                </c:pt>
              </c:strCache>
            </c:strRef>
          </c:cat>
          <c:val>
            <c:numRef>
              <c:f>Sheet1!$B$3:$G$3</c:f>
              <c:numCache>
                <c:formatCode>0%</c:formatCode>
                <c:ptCount val="6"/>
                <c:pt idx="0">
                  <c:v>7.4534161490683232E-2</c:v>
                </c:pt>
                <c:pt idx="1">
                  <c:v>0.1728395061728395</c:v>
                </c:pt>
                <c:pt idx="2">
                  <c:v>4.6511627906976744E-2</c:v>
                </c:pt>
                <c:pt idx="3">
                  <c:v>0.17391304347826086</c:v>
                </c:pt>
                <c:pt idx="4">
                  <c:v>8.4745762711864417E-2</c:v>
                </c:pt>
                <c:pt idx="5">
                  <c:v>0.17241379310344829</c:v>
                </c:pt>
              </c:numCache>
            </c:numRef>
          </c:val>
          <c:extLst>
            <c:ext xmlns:c16="http://schemas.microsoft.com/office/drawing/2014/chart" uri="{C3380CC4-5D6E-409C-BE32-E72D297353CC}">
              <c16:uniqueId val="{00000001-0DE3-413B-BCFA-E0921DF056CA}"/>
            </c:ext>
          </c:extLst>
        </c:ser>
        <c:ser>
          <c:idx val="2"/>
          <c:order val="2"/>
          <c:tx>
            <c:strRef>
              <c:f>Sheet1!$A$4</c:f>
              <c:strCache>
                <c:ptCount val="1"/>
                <c:pt idx="0">
                  <c:v>כן, אבל לא התייצבתי/יוצגתי</c:v>
                </c:pt>
              </c:strCache>
            </c:strRef>
          </c:tx>
          <c:spPr>
            <a:solidFill>
              <a:schemeClr val="accent6">
                <a:lumMod val="40000"/>
                <a:lumOff val="60000"/>
              </a:schemeClr>
            </a:solidFill>
          </c:spPr>
          <c:invertIfNegative val="0"/>
          <c:dLbls>
            <c:spPr>
              <a:noFill/>
              <a:ln>
                <a:noFill/>
              </a:ln>
              <a:effectLst/>
            </c:spPr>
            <c:txPr>
              <a:bodyPr wrap="square" lIns="38100" tIns="19050" rIns="38100" bIns="19050" anchor="ctr" anchorCtr="0">
                <a:spAutoFit/>
              </a:bodyPr>
              <a:lstStyle/>
              <a:p>
                <a:pPr algn="ctr">
                  <a:defRPr lang="he-IL" sz="1200" b="1" i="0" u="none" strike="noStrike" kern="1200" baseline="0">
                    <a:solidFill>
                      <a:schemeClr val="tx1"/>
                    </a:solidFill>
                    <a:latin typeface="Segoe UI" panose="020B0502040204020203" pitchFamily="34" charset="0"/>
                    <a:ea typeface="Arial"/>
                    <a:cs typeface="Segoe UI" panose="020B0502040204020203" pitchFamily="34" charset="0"/>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Sheet1!$B$1:$G$1</c:f>
              <c:strCache>
                <c:ptCount val="6"/>
                <c:pt idx="0">
                  <c:v>מגזר יהודי</c:v>
                </c:pt>
                <c:pt idx="1">
                  <c:v>מגזר ערבי</c:v>
                </c:pt>
                <c:pt idx="2">
                  <c:v>מגזר יהודי</c:v>
                </c:pt>
                <c:pt idx="3">
                  <c:v>מגזר ערבי</c:v>
                </c:pt>
                <c:pt idx="4">
                  <c:v>מגזר יהודי</c:v>
                </c:pt>
                <c:pt idx="5">
                  <c:v>מגזר ערבי</c:v>
                </c:pt>
              </c:strCache>
            </c:strRef>
          </c:cat>
          <c:val>
            <c:numRef>
              <c:f>Sheet1!$B$4:$G$4</c:f>
              <c:numCache>
                <c:formatCode>0%</c:formatCode>
                <c:ptCount val="6"/>
                <c:pt idx="0">
                  <c:v>9.3167701863354047E-2</c:v>
                </c:pt>
                <c:pt idx="1">
                  <c:v>0.1728395061728395</c:v>
                </c:pt>
                <c:pt idx="2">
                  <c:v>2.3255813953488372E-2</c:v>
                </c:pt>
                <c:pt idx="3">
                  <c:v>0.2608695652173913</c:v>
                </c:pt>
                <c:pt idx="4">
                  <c:v>0.11864406779661017</c:v>
                </c:pt>
                <c:pt idx="5">
                  <c:v>0.13793103448275862</c:v>
                </c:pt>
              </c:numCache>
            </c:numRef>
          </c:val>
          <c:extLst>
            <c:ext xmlns:c16="http://schemas.microsoft.com/office/drawing/2014/chart" uri="{C3380CC4-5D6E-409C-BE32-E72D297353CC}">
              <c16:uniqueId val="{00000002-0DE3-413B-BCFA-E0921DF056CA}"/>
            </c:ext>
          </c:extLst>
        </c:ser>
        <c:ser>
          <c:idx val="3"/>
          <c:order val="3"/>
          <c:tx>
            <c:strRef>
              <c:f>Sheet1!$A$5</c:f>
              <c:strCache>
                <c:ptCount val="1"/>
                <c:pt idx="0">
                  <c:v>טרם נקבע דיון</c:v>
                </c:pt>
              </c:strCache>
            </c:strRef>
          </c:tx>
          <c:spPr>
            <a:solidFill>
              <a:srgbClr val="FFB9C0"/>
            </a:solidFill>
          </c:spPr>
          <c:invertIfNegative val="0"/>
          <c:dLbls>
            <c:spPr>
              <a:noFill/>
              <a:ln>
                <a:noFill/>
              </a:ln>
              <a:effectLst/>
            </c:spPr>
            <c:txPr>
              <a:bodyPr wrap="square" lIns="38100" tIns="19050" rIns="38100" bIns="19050" anchor="ctr">
                <a:spAutoFit/>
              </a:bodyPr>
              <a:lstStyle/>
              <a:p>
                <a:pPr>
                  <a:defRPr sz="1200" b="1">
                    <a:solidFill>
                      <a:schemeClr val="bg1"/>
                    </a:solidFill>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Sheet1!$B$1:$G$1</c:f>
              <c:strCache>
                <c:ptCount val="6"/>
                <c:pt idx="0">
                  <c:v>מגזר יהודי</c:v>
                </c:pt>
                <c:pt idx="1">
                  <c:v>מגזר ערבי</c:v>
                </c:pt>
                <c:pt idx="2">
                  <c:v>מגזר יהודי</c:v>
                </c:pt>
                <c:pt idx="3">
                  <c:v>מגזר ערבי</c:v>
                </c:pt>
                <c:pt idx="4">
                  <c:v>מגזר יהודי</c:v>
                </c:pt>
                <c:pt idx="5">
                  <c:v>מגזר ערבי</c:v>
                </c:pt>
              </c:strCache>
            </c:strRef>
          </c:cat>
          <c:val>
            <c:numRef>
              <c:f>Sheet1!$B$5:$G$5</c:f>
              <c:numCache>
                <c:formatCode>0%</c:formatCode>
                <c:ptCount val="6"/>
                <c:pt idx="0">
                  <c:v>0.22981366459627328</c:v>
                </c:pt>
                <c:pt idx="1">
                  <c:v>0.24691358024691357</c:v>
                </c:pt>
                <c:pt idx="2">
                  <c:v>0.51162790697674421</c:v>
                </c:pt>
                <c:pt idx="3">
                  <c:v>0.39130434782608697</c:v>
                </c:pt>
                <c:pt idx="4">
                  <c:v>0.1271186440677966</c:v>
                </c:pt>
                <c:pt idx="5">
                  <c:v>0.18965517241379309</c:v>
                </c:pt>
              </c:numCache>
            </c:numRef>
          </c:val>
          <c:extLst>
            <c:ext xmlns:c16="http://schemas.microsoft.com/office/drawing/2014/chart" uri="{C3380CC4-5D6E-409C-BE32-E72D297353CC}">
              <c16:uniqueId val="{00000000-5AEA-45C7-8772-1ACAF543CB4B}"/>
            </c:ext>
          </c:extLst>
        </c:ser>
        <c:ser>
          <c:idx val="4"/>
          <c:order val="4"/>
          <c:tx>
            <c:strRef>
              <c:f>Sheet1!$A$6</c:f>
              <c:strCache>
                <c:ptCount val="1"/>
                <c:pt idx="0">
                  <c:v>לא נקבע דיון וההליך התבטל</c:v>
                </c:pt>
              </c:strCache>
            </c:strRef>
          </c:tx>
          <c:spPr>
            <a:solidFill>
              <a:srgbClr val="FA4C75"/>
            </a:solidFill>
          </c:spPr>
          <c:invertIfNegative val="0"/>
          <c:dLbls>
            <c:spPr>
              <a:noFill/>
              <a:ln>
                <a:noFill/>
              </a:ln>
              <a:effectLst/>
            </c:spPr>
            <c:txPr>
              <a:bodyPr wrap="square" lIns="38100" tIns="19050" rIns="38100" bIns="19050" anchor="ctr">
                <a:spAutoFit/>
              </a:bodyPr>
              <a:lstStyle/>
              <a:p>
                <a:pPr>
                  <a:defRPr sz="1200" b="1">
                    <a:solidFill>
                      <a:schemeClr val="bg1"/>
                    </a:solidFill>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Sheet1!$B$1:$G$1</c:f>
              <c:strCache>
                <c:ptCount val="6"/>
                <c:pt idx="0">
                  <c:v>מגזר יהודי</c:v>
                </c:pt>
                <c:pt idx="1">
                  <c:v>מגזר ערבי</c:v>
                </c:pt>
                <c:pt idx="2">
                  <c:v>מגזר יהודי</c:v>
                </c:pt>
                <c:pt idx="3">
                  <c:v>מגזר ערבי</c:v>
                </c:pt>
                <c:pt idx="4">
                  <c:v>מגזר יהודי</c:v>
                </c:pt>
                <c:pt idx="5">
                  <c:v>מגזר ערבי</c:v>
                </c:pt>
              </c:strCache>
            </c:strRef>
          </c:cat>
          <c:val>
            <c:numRef>
              <c:f>Sheet1!$B$6:$G$6</c:f>
              <c:numCache>
                <c:formatCode>0%</c:formatCode>
                <c:ptCount val="6"/>
                <c:pt idx="0">
                  <c:v>0.20496894409937888</c:v>
                </c:pt>
                <c:pt idx="1">
                  <c:v>0.1728395061728395</c:v>
                </c:pt>
                <c:pt idx="2">
                  <c:v>0.16279069767441862</c:v>
                </c:pt>
                <c:pt idx="3">
                  <c:v>0.17391304347826086</c:v>
                </c:pt>
                <c:pt idx="4">
                  <c:v>0.22033898305084748</c:v>
                </c:pt>
                <c:pt idx="5">
                  <c:v>0.17241379310344829</c:v>
                </c:pt>
              </c:numCache>
            </c:numRef>
          </c:val>
          <c:extLst>
            <c:ext xmlns:c16="http://schemas.microsoft.com/office/drawing/2014/chart" uri="{C3380CC4-5D6E-409C-BE32-E72D297353CC}">
              <c16:uniqueId val="{00000001-5AEA-45C7-8772-1ACAF543CB4B}"/>
            </c:ext>
          </c:extLst>
        </c:ser>
        <c:dLbls>
          <c:showLegendKey val="0"/>
          <c:showVal val="0"/>
          <c:showCatName val="0"/>
          <c:showSerName val="0"/>
          <c:showPercent val="0"/>
          <c:showBubbleSize val="0"/>
        </c:dLbls>
        <c:gapWidth val="80"/>
        <c:overlap val="100"/>
        <c:axId val="184526720"/>
        <c:axId val="184528256"/>
      </c:barChart>
      <c:catAx>
        <c:axId val="184526720"/>
        <c:scaling>
          <c:orientation val="minMax"/>
        </c:scaling>
        <c:delete val="0"/>
        <c:axPos val="b"/>
        <c:numFmt formatCode="General" sourceLinked="1"/>
        <c:majorTickMark val="out"/>
        <c:minorTickMark val="none"/>
        <c:tickLblPos val="low"/>
        <c:spPr>
          <a:ln w="38100">
            <a:solidFill>
              <a:schemeClr val="bg1"/>
            </a:solidFill>
            <a:prstDash val="solid"/>
          </a:ln>
        </c:spPr>
        <c:txPr>
          <a:bodyPr rot="0" vert="horz"/>
          <a:lstStyle/>
          <a:p>
            <a:pPr>
              <a:defRPr sz="1200" b="1">
                <a:solidFill>
                  <a:schemeClr val="tx1">
                    <a:lumMod val="75000"/>
                    <a:lumOff val="25000"/>
                  </a:schemeClr>
                </a:solidFill>
              </a:defRPr>
            </a:pPr>
            <a:endParaRPr lang="he-IL"/>
          </a:p>
        </c:txPr>
        <c:crossAx val="184528256"/>
        <c:crosses val="autoZero"/>
        <c:auto val="1"/>
        <c:lblAlgn val="ctr"/>
        <c:lblOffset val="100"/>
        <c:noMultiLvlLbl val="0"/>
      </c:catAx>
      <c:valAx>
        <c:axId val="184528256"/>
        <c:scaling>
          <c:orientation val="minMax"/>
          <c:max val="1"/>
          <c:min val="0"/>
        </c:scaling>
        <c:delete val="1"/>
        <c:axPos val="l"/>
        <c:numFmt formatCode="0%" sourceLinked="1"/>
        <c:majorTickMark val="out"/>
        <c:minorTickMark val="none"/>
        <c:tickLblPos val="nextTo"/>
        <c:crossAx val="184526720"/>
        <c:crosses val="autoZero"/>
        <c:crossBetween val="between"/>
      </c:valAx>
      <c:spPr>
        <a:noFill/>
        <a:ln w="25965">
          <a:noFill/>
        </a:ln>
      </c:spPr>
    </c:plotArea>
    <c:legend>
      <c:legendPos val="r"/>
      <c:layout>
        <c:manualLayout>
          <c:xMode val="edge"/>
          <c:yMode val="edge"/>
          <c:x val="0.8131945355849195"/>
          <c:y val="1.2050694444444449E-2"/>
          <c:w val="0.16582729415931813"/>
          <c:h val="0.45163541666666668"/>
        </c:manualLayout>
      </c:layout>
      <c:overlay val="0"/>
      <c:txPr>
        <a:bodyPr/>
        <a:lstStyle/>
        <a:p>
          <a:pPr rtl="0">
            <a:defRPr sz="1100"/>
          </a:pPr>
          <a:endParaRPr lang="he-IL"/>
        </a:p>
      </c:txPr>
    </c:legend>
    <c:plotVisOnly val="1"/>
    <c:dispBlanksAs val="gap"/>
    <c:showDLblsOverMax val="0"/>
  </c:chart>
  <c:spPr>
    <a:noFill/>
    <a:ln>
      <a:noFill/>
    </a:ln>
  </c:spPr>
  <c:txPr>
    <a:bodyPr/>
    <a:lstStyle/>
    <a:p>
      <a:pPr>
        <a:defRPr sz="1100" b="0" i="0" u="none" strike="noStrike" baseline="0">
          <a:solidFill>
            <a:schemeClr val="tx1"/>
          </a:solidFill>
          <a:latin typeface="Segoe UI" panose="020B0502040204020203" pitchFamily="34" charset="0"/>
          <a:ea typeface="Arial"/>
          <a:cs typeface="Segoe UI" panose="020B0502040204020203" pitchFamily="34" charset="0"/>
        </a:defRPr>
      </a:pPr>
      <a:endParaRPr lang="he-IL"/>
    </a:p>
  </c:txPr>
  <c:externalData r:id="rId1">
    <c:autoUpdate val="0"/>
  </c:externalData>
</c:chartSpace>
</file>

<file path=ppt/charts/chart5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7859770769818229E-2"/>
          <c:y val="4.3281067273958265E-2"/>
          <c:w val="0.8930741702467434"/>
          <c:h val="0.84021001803542239"/>
        </c:manualLayout>
      </c:layout>
      <c:barChart>
        <c:barDir val="col"/>
        <c:grouping val="stacked"/>
        <c:varyColors val="0"/>
        <c:ser>
          <c:idx val="0"/>
          <c:order val="0"/>
          <c:tx>
            <c:strRef>
              <c:f>Sheet1!$A$2</c:f>
              <c:strCache>
                <c:ptCount val="1"/>
                <c:pt idx="0">
                  <c:v>כן</c:v>
                </c:pt>
              </c:strCache>
            </c:strRef>
          </c:tx>
          <c:spPr>
            <a:solidFill>
              <a:srgbClr val="09AFA7"/>
            </a:solidFill>
            <a:ln w="31750">
              <a:noFill/>
            </a:ln>
          </c:spPr>
          <c:invertIfNegative val="0"/>
          <c:dLbls>
            <c:spPr>
              <a:noFill/>
              <a:ln>
                <a:noFill/>
              </a:ln>
              <a:effectLst/>
            </c:spPr>
            <c:txPr>
              <a:bodyPr/>
              <a:lstStyle/>
              <a:p>
                <a:pPr>
                  <a:defRPr sz="1600" b="1">
                    <a:solidFill>
                      <a:schemeClr val="bg1"/>
                    </a:solidFill>
                    <a:latin typeface="Segoe UI" panose="020B0502040204020203" pitchFamily="34" charset="0"/>
                    <a:cs typeface="Segoe UI" panose="020B0502040204020203" pitchFamily="34" charset="0"/>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Sheet1!$B$1:$C$1</c:f>
              <c:strCache>
                <c:ptCount val="2"/>
                <c:pt idx="0">
                  <c:v>מגזר יהודי</c:v>
                </c:pt>
                <c:pt idx="1">
                  <c:v>מגזר ערבי</c:v>
                </c:pt>
              </c:strCache>
            </c:strRef>
          </c:cat>
          <c:val>
            <c:numRef>
              <c:f>Sheet1!$B$2:$C$2</c:f>
              <c:numCache>
                <c:formatCode>0%</c:formatCode>
                <c:ptCount val="2"/>
                <c:pt idx="0">
                  <c:v>0.140625</c:v>
                </c:pt>
                <c:pt idx="1">
                  <c:v>0.36842105263157898</c:v>
                </c:pt>
              </c:numCache>
            </c:numRef>
          </c:val>
          <c:extLst>
            <c:ext xmlns:c16="http://schemas.microsoft.com/office/drawing/2014/chart" uri="{C3380CC4-5D6E-409C-BE32-E72D297353CC}">
              <c16:uniqueId val="{00000000-1CC2-4945-9D4C-19FFB6800BA3}"/>
            </c:ext>
          </c:extLst>
        </c:ser>
        <c:ser>
          <c:idx val="1"/>
          <c:order val="1"/>
          <c:tx>
            <c:strRef>
              <c:f>Sheet1!$A$3</c:f>
              <c:strCache>
                <c:ptCount val="1"/>
                <c:pt idx="0">
                  <c:v>לא</c:v>
                </c:pt>
              </c:strCache>
            </c:strRef>
          </c:tx>
          <c:spPr>
            <a:solidFill>
              <a:srgbClr val="FA4C75"/>
            </a:solidFill>
          </c:spPr>
          <c:invertIfNegative val="0"/>
          <c:dLbls>
            <c:spPr>
              <a:noFill/>
              <a:ln>
                <a:noFill/>
              </a:ln>
              <a:effectLst/>
            </c:spPr>
            <c:txPr>
              <a:bodyPr anchorCtr="0"/>
              <a:lstStyle/>
              <a:p>
                <a:pPr algn="ctr">
                  <a:defRPr lang="he-IL" sz="1600" b="1" i="0" u="none" strike="noStrike" kern="1200" baseline="0">
                    <a:solidFill>
                      <a:schemeClr val="bg1"/>
                    </a:solidFill>
                    <a:latin typeface="Segoe UI" panose="020B0502040204020203" pitchFamily="34" charset="0"/>
                    <a:ea typeface="Arial"/>
                    <a:cs typeface="Segoe UI" panose="020B0502040204020203" pitchFamily="34" charset="0"/>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Sheet1!$B$1:$C$1</c:f>
              <c:strCache>
                <c:ptCount val="2"/>
                <c:pt idx="0">
                  <c:v>מגזר יהודי</c:v>
                </c:pt>
                <c:pt idx="1">
                  <c:v>מגזר ערבי</c:v>
                </c:pt>
              </c:strCache>
            </c:strRef>
          </c:cat>
          <c:val>
            <c:numRef>
              <c:f>Sheet1!$B$3:$C$3</c:f>
              <c:numCache>
                <c:formatCode>0%</c:formatCode>
                <c:ptCount val="2"/>
                <c:pt idx="0">
                  <c:v>0.859375</c:v>
                </c:pt>
                <c:pt idx="1">
                  <c:v>0.63157894736842102</c:v>
                </c:pt>
              </c:numCache>
            </c:numRef>
          </c:val>
          <c:extLst>
            <c:ext xmlns:c16="http://schemas.microsoft.com/office/drawing/2014/chart" uri="{C3380CC4-5D6E-409C-BE32-E72D297353CC}">
              <c16:uniqueId val="{00000001-1CC2-4945-9D4C-19FFB6800BA3}"/>
            </c:ext>
          </c:extLst>
        </c:ser>
        <c:dLbls>
          <c:showLegendKey val="0"/>
          <c:showVal val="0"/>
          <c:showCatName val="0"/>
          <c:showSerName val="0"/>
          <c:showPercent val="0"/>
          <c:showBubbleSize val="0"/>
        </c:dLbls>
        <c:gapWidth val="80"/>
        <c:overlap val="100"/>
        <c:axId val="184526720"/>
        <c:axId val="184528256"/>
      </c:barChart>
      <c:catAx>
        <c:axId val="184526720"/>
        <c:scaling>
          <c:orientation val="minMax"/>
        </c:scaling>
        <c:delete val="0"/>
        <c:axPos val="b"/>
        <c:numFmt formatCode="General" sourceLinked="1"/>
        <c:majorTickMark val="out"/>
        <c:minorTickMark val="none"/>
        <c:tickLblPos val="low"/>
        <c:spPr>
          <a:ln w="38100">
            <a:solidFill>
              <a:schemeClr val="bg1"/>
            </a:solidFill>
            <a:prstDash val="solid"/>
          </a:ln>
        </c:spPr>
        <c:txPr>
          <a:bodyPr rot="0" vert="horz"/>
          <a:lstStyle/>
          <a:p>
            <a:pPr>
              <a:defRPr sz="1400" b="1">
                <a:solidFill>
                  <a:schemeClr val="tx1">
                    <a:lumMod val="75000"/>
                    <a:lumOff val="25000"/>
                  </a:schemeClr>
                </a:solidFill>
              </a:defRPr>
            </a:pPr>
            <a:endParaRPr lang="he-IL"/>
          </a:p>
        </c:txPr>
        <c:crossAx val="184528256"/>
        <c:crosses val="autoZero"/>
        <c:auto val="1"/>
        <c:lblAlgn val="ctr"/>
        <c:lblOffset val="100"/>
        <c:noMultiLvlLbl val="0"/>
      </c:catAx>
      <c:valAx>
        <c:axId val="184528256"/>
        <c:scaling>
          <c:orientation val="minMax"/>
          <c:max val="1.1000000000000001"/>
          <c:min val="0"/>
        </c:scaling>
        <c:delete val="1"/>
        <c:axPos val="l"/>
        <c:numFmt formatCode="0%" sourceLinked="1"/>
        <c:majorTickMark val="out"/>
        <c:minorTickMark val="none"/>
        <c:tickLblPos val="nextTo"/>
        <c:crossAx val="184526720"/>
        <c:crosses val="autoZero"/>
        <c:crossBetween val="between"/>
      </c:valAx>
      <c:spPr>
        <a:noFill/>
        <a:ln w="25965">
          <a:noFill/>
        </a:ln>
      </c:spPr>
    </c:plotArea>
    <c:legend>
      <c:legendPos val="r"/>
      <c:layout>
        <c:manualLayout>
          <c:xMode val="edge"/>
          <c:yMode val="edge"/>
          <c:x val="0.86085173720621722"/>
          <c:y val="0.21930763888888888"/>
          <c:w val="0.11622092931182978"/>
          <c:h val="0.55452013888888885"/>
        </c:manualLayout>
      </c:layout>
      <c:overlay val="0"/>
      <c:txPr>
        <a:bodyPr/>
        <a:lstStyle/>
        <a:p>
          <a:pPr rtl="0">
            <a:defRPr sz="1400"/>
          </a:pPr>
          <a:endParaRPr lang="he-IL"/>
        </a:p>
      </c:txPr>
    </c:legend>
    <c:plotVisOnly val="1"/>
    <c:dispBlanksAs val="gap"/>
    <c:showDLblsOverMax val="0"/>
  </c:chart>
  <c:spPr>
    <a:noFill/>
    <a:ln>
      <a:noFill/>
    </a:ln>
  </c:spPr>
  <c:txPr>
    <a:bodyPr/>
    <a:lstStyle/>
    <a:p>
      <a:pPr>
        <a:defRPr sz="1100" b="0" i="0" u="none" strike="noStrike" baseline="0">
          <a:solidFill>
            <a:schemeClr val="tx1"/>
          </a:solidFill>
          <a:latin typeface="Segoe UI" panose="020B0502040204020203" pitchFamily="34" charset="0"/>
          <a:ea typeface="Arial"/>
          <a:cs typeface="Segoe UI" panose="020B0502040204020203" pitchFamily="34" charset="0"/>
        </a:defRPr>
      </a:pPr>
      <a:endParaRPr lang="he-IL"/>
    </a:p>
  </c:txPr>
  <c:externalData r:id="rId1">
    <c:autoUpdate val="0"/>
  </c:externalData>
</c:chartSpace>
</file>

<file path=ppt/charts/chart6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1.1262886993089706E-2"/>
          <c:y val="6.5734137750975238E-2"/>
          <c:w val="0.82030930446594341"/>
          <c:h val="0.82823682540007582"/>
        </c:manualLayout>
      </c:layout>
      <c:barChart>
        <c:barDir val="col"/>
        <c:grouping val="stacked"/>
        <c:varyColors val="0"/>
        <c:ser>
          <c:idx val="0"/>
          <c:order val="0"/>
          <c:tx>
            <c:strRef>
              <c:f>Sheet1!$A$2</c:f>
              <c:strCache>
                <c:ptCount val="1"/>
                <c:pt idx="0">
                  <c:v>במידה מועטה</c:v>
                </c:pt>
              </c:strCache>
            </c:strRef>
          </c:tx>
          <c:spPr>
            <a:solidFill>
              <a:srgbClr val="FA4C75"/>
            </a:solidFill>
            <a:ln w="26415">
              <a:noFill/>
            </a:ln>
          </c:spPr>
          <c:invertIfNegative val="0"/>
          <c:dLbls>
            <c:spPr>
              <a:noFill/>
              <a:ln w="26415">
                <a:noFill/>
              </a:ln>
            </c:spPr>
            <c:txPr>
              <a:bodyPr/>
              <a:lstStyle/>
              <a:p>
                <a:pPr>
                  <a:defRPr sz="1200" b="1">
                    <a:solidFill>
                      <a:schemeClr val="bg1"/>
                    </a:solidFill>
                  </a:defRPr>
                </a:pPr>
                <a:endParaRPr lang="he-IL"/>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Sheet1!$B$1:$C$1</c:f>
              <c:strCache>
                <c:ptCount val="2"/>
                <c:pt idx="0">
                  <c:v>מגזר יהודי</c:v>
                </c:pt>
                <c:pt idx="1">
                  <c:v>מגזר ערבי</c:v>
                </c:pt>
              </c:strCache>
            </c:strRef>
          </c:cat>
          <c:val>
            <c:numRef>
              <c:f>Sheet1!$B$2:$C$2</c:f>
              <c:numCache>
                <c:formatCode>0%</c:formatCode>
                <c:ptCount val="2"/>
                <c:pt idx="0">
                  <c:v>0.25</c:v>
                </c:pt>
                <c:pt idx="1">
                  <c:v>0.15789473684210525</c:v>
                </c:pt>
              </c:numCache>
            </c:numRef>
          </c:val>
          <c:extLst>
            <c:ext xmlns:c16="http://schemas.microsoft.com/office/drawing/2014/chart" uri="{C3380CC4-5D6E-409C-BE32-E72D297353CC}">
              <c16:uniqueId val="{00000000-6FA2-4D33-BFF7-940F1A03934A}"/>
            </c:ext>
          </c:extLst>
        </c:ser>
        <c:ser>
          <c:idx val="1"/>
          <c:order val="1"/>
          <c:tx>
            <c:strRef>
              <c:f>Sheet1!$A$3</c:f>
              <c:strCache>
                <c:ptCount val="1"/>
                <c:pt idx="0">
                  <c:v>במידה בינונית</c:v>
                </c:pt>
              </c:strCache>
            </c:strRef>
          </c:tx>
          <c:spPr>
            <a:solidFill>
              <a:srgbClr val="FFB9C0"/>
            </a:solidFill>
          </c:spPr>
          <c:invertIfNegative val="0"/>
          <c:dLbls>
            <c:spPr>
              <a:noFill/>
              <a:ln>
                <a:noFill/>
              </a:ln>
              <a:effectLst/>
            </c:spPr>
            <c:txPr>
              <a:bodyPr wrap="square" lIns="38100" tIns="19050" rIns="38100" bIns="19050" anchor="ctr">
                <a:spAutoFit/>
              </a:bodyPr>
              <a:lstStyle/>
              <a:p>
                <a:pPr>
                  <a:defRPr sz="1200" b="1">
                    <a:solidFill>
                      <a:schemeClr val="bg1"/>
                    </a:solidFill>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Sheet1!$B$1:$C$1</c:f>
              <c:strCache>
                <c:ptCount val="2"/>
                <c:pt idx="0">
                  <c:v>מגזר יהודי</c:v>
                </c:pt>
                <c:pt idx="1">
                  <c:v>מגזר ערבי</c:v>
                </c:pt>
              </c:strCache>
            </c:strRef>
          </c:cat>
          <c:val>
            <c:numRef>
              <c:f>Sheet1!$B$3:$C$3</c:f>
              <c:numCache>
                <c:formatCode>0%</c:formatCode>
                <c:ptCount val="2"/>
                <c:pt idx="0">
                  <c:v>0.265625</c:v>
                </c:pt>
                <c:pt idx="1">
                  <c:v>0.31578947368421051</c:v>
                </c:pt>
              </c:numCache>
            </c:numRef>
          </c:val>
          <c:extLst>
            <c:ext xmlns:c16="http://schemas.microsoft.com/office/drawing/2014/chart" uri="{C3380CC4-5D6E-409C-BE32-E72D297353CC}">
              <c16:uniqueId val="{00000001-6FA2-4D33-BFF7-940F1A03934A}"/>
            </c:ext>
          </c:extLst>
        </c:ser>
        <c:ser>
          <c:idx val="2"/>
          <c:order val="2"/>
          <c:tx>
            <c:strRef>
              <c:f>Sheet1!$A$4</c:f>
              <c:strCache>
                <c:ptCount val="1"/>
                <c:pt idx="0">
                  <c:v>במידה רבה</c:v>
                </c:pt>
              </c:strCache>
            </c:strRef>
          </c:tx>
          <c:spPr>
            <a:solidFill>
              <a:srgbClr val="09AFA7"/>
            </a:solidFill>
            <a:ln w="26415">
              <a:noFill/>
            </a:ln>
          </c:spPr>
          <c:invertIfNegative val="0"/>
          <c:dLbls>
            <c:spPr>
              <a:noFill/>
              <a:ln w="26415">
                <a:noFill/>
              </a:ln>
            </c:spPr>
            <c:txPr>
              <a:bodyPr wrap="square" lIns="38100" tIns="19050" rIns="38100" bIns="19050" anchor="ctr">
                <a:spAutoFit/>
              </a:bodyPr>
              <a:lstStyle/>
              <a:p>
                <a:pPr>
                  <a:defRPr sz="1200" b="1">
                    <a:solidFill>
                      <a:schemeClr val="bg1"/>
                    </a:solidFill>
                  </a:defRPr>
                </a:pPr>
                <a:endParaRPr lang="he-IL"/>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Sheet1!$B$1:$C$1</c:f>
              <c:strCache>
                <c:ptCount val="2"/>
                <c:pt idx="0">
                  <c:v>מגזר יהודי</c:v>
                </c:pt>
                <c:pt idx="1">
                  <c:v>מגזר ערבי</c:v>
                </c:pt>
              </c:strCache>
            </c:strRef>
          </c:cat>
          <c:val>
            <c:numRef>
              <c:f>Sheet1!$B$4:$C$4</c:f>
              <c:numCache>
                <c:formatCode>0%</c:formatCode>
                <c:ptCount val="2"/>
                <c:pt idx="0">
                  <c:v>0.46875</c:v>
                </c:pt>
                <c:pt idx="1">
                  <c:v>0.52631578947368418</c:v>
                </c:pt>
              </c:numCache>
            </c:numRef>
          </c:val>
          <c:extLst>
            <c:ext xmlns:c16="http://schemas.microsoft.com/office/drawing/2014/chart" uri="{C3380CC4-5D6E-409C-BE32-E72D297353CC}">
              <c16:uniqueId val="{00000002-6FA2-4D33-BFF7-940F1A03934A}"/>
            </c:ext>
          </c:extLst>
        </c:ser>
        <c:ser>
          <c:idx val="3"/>
          <c:order val="3"/>
          <c:tx>
            <c:strRef>
              <c:f>Sheet1!$A$5</c:f>
              <c:strCache>
                <c:ptCount val="1"/>
                <c:pt idx="0">
                  <c:v>ממוצע</c:v>
                </c:pt>
              </c:strCache>
            </c:strRef>
          </c:tx>
          <c:spPr>
            <a:noFill/>
            <a:ln w="26415">
              <a:noFill/>
            </a:ln>
          </c:spPr>
          <c:invertIfNegative val="0"/>
          <c:dLbls>
            <c:spPr>
              <a:noFill/>
              <a:ln w="26415">
                <a:noFill/>
              </a:ln>
            </c:spPr>
            <c:txPr>
              <a:bodyPr wrap="square" lIns="38100" tIns="19050" rIns="38100" bIns="19050" anchor="ctr">
                <a:spAutoFit/>
              </a:bodyPr>
              <a:lstStyle/>
              <a:p>
                <a:pPr>
                  <a:defRPr sz="1400" b="1">
                    <a:solidFill>
                      <a:schemeClr val="tx1"/>
                    </a:solidFill>
                  </a:defRPr>
                </a:pPr>
                <a:endParaRPr lang="he-IL"/>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Sheet1!$B$1:$C$1</c:f>
              <c:strCache>
                <c:ptCount val="2"/>
                <c:pt idx="0">
                  <c:v>מגזר יהודי</c:v>
                </c:pt>
                <c:pt idx="1">
                  <c:v>מגזר ערבי</c:v>
                </c:pt>
              </c:strCache>
            </c:strRef>
          </c:cat>
          <c:val>
            <c:numRef>
              <c:f>Sheet1!$B$5:$C$5</c:f>
              <c:numCache>
                <c:formatCode>0.0</c:formatCode>
                <c:ptCount val="2"/>
                <c:pt idx="0">
                  <c:v>3.3809523809523805</c:v>
                </c:pt>
                <c:pt idx="1">
                  <c:v>3.4210526315789473</c:v>
                </c:pt>
              </c:numCache>
            </c:numRef>
          </c:val>
          <c:extLst>
            <c:ext xmlns:c16="http://schemas.microsoft.com/office/drawing/2014/chart" uri="{C3380CC4-5D6E-409C-BE32-E72D297353CC}">
              <c16:uniqueId val="{00000003-6FA2-4D33-BFF7-940F1A03934A}"/>
            </c:ext>
          </c:extLst>
        </c:ser>
        <c:dLbls>
          <c:showLegendKey val="0"/>
          <c:showVal val="0"/>
          <c:showCatName val="0"/>
          <c:showSerName val="0"/>
          <c:showPercent val="0"/>
          <c:showBubbleSize val="0"/>
        </c:dLbls>
        <c:gapWidth val="80"/>
        <c:overlap val="100"/>
        <c:axId val="1594904751"/>
        <c:axId val="1"/>
      </c:barChart>
      <c:catAx>
        <c:axId val="1594904751"/>
        <c:scaling>
          <c:orientation val="minMax"/>
        </c:scaling>
        <c:delete val="0"/>
        <c:axPos val="b"/>
        <c:numFmt formatCode="General" sourceLinked="1"/>
        <c:majorTickMark val="out"/>
        <c:minorTickMark val="none"/>
        <c:tickLblPos val="nextTo"/>
        <c:spPr>
          <a:ln>
            <a:noFill/>
          </a:ln>
        </c:spPr>
        <c:txPr>
          <a:bodyPr/>
          <a:lstStyle/>
          <a:p>
            <a:pPr>
              <a:defRPr sz="1200" b="1"/>
            </a:pPr>
            <a:endParaRPr lang="he-IL"/>
          </a:p>
        </c:txPr>
        <c:crossAx val="1"/>
        <c:crosses val="autoZero"/>
        <c:auto val="1"/>
        <c:lblAlgn val="ctr"/>
        <c:lblOffset val="100"/>
        <c:tickLblSkip val="1"/>
        <c:tickMarkSkip val="1"/>
        <c:noMultiLvlLbl val="0"/>
      </c:catAx>
      <c:valAx>
        <c:axId val="1"/>
        <c:scaling>
          <c:orientation val="minMax"/>
          <c:max val="1.2"/>
          <c:min val="0"/>
        </c:scaling>
        <c:delete val="1"/>
        <c:axPos val="l"/>
        <c:numFmt formatCode="0%" sourceLinked="1"/>
        <c:majorTickMark val="out"/>
        <c:minorTickMark val="none"/>
        <c:tickLblPos val="nextTo"/>
        <c:crossAx val="1594904751"/>
        <c:crosses val="autoZero"/>
        <c:crossBetween val="between"/>
      </c:valAx>
      <c:spPr>
        <a:noFill/>
        <a:ln w="26415">
          <a:noFill/>
        </a:ln>
      </c:spPr>
    </c:plotArea>
    <c:plotVisOnly val="1"/>
    <c:dispBlanksAs val="gap"/>
    <c:showDLblsOverMax val="0"/>
  </c:chart>
  <c:spPr>
    <a:noFill/>
    <a:ln>
      <a:noFill/>
    </a:ln>
  </c:spPr>
  <c:txPr>
    <a:bodyPr/>
    <a:lstStyle/>
    <a:p>
      <a:pPr>
        <a:defRPr sz="1400" b="0" i="0" u="none" strike="noStrike" baseline="0">
          <a:solidFill>
            <a:schemeClr val="tx1">
              <a:lumMod val="75000"/>
              <a:lumOff val="25000"/>
            </a:schemeClr>
          </a:solidFill>
          <a:latin typeface="Segoe UI"/>
          <a:ea typeface="Segoe UI"/>
          <a:cs typeface="Segoe UI"/>
        </a:defRPr>
      </a:pPr>
      <a:endParaRPr lang="he-IL"/>
    </a:p>
  </c:txPr>
  <c:externalData r:id="rId2">
    <c:autoUpdate val="0"/>
  </c:externalData>
</c:chartSpace>
</file>

<file path=ppt/charts/chart6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1.1262886993089706E-2"/>
          <c:y val="6.5734137750975238E-2"/>
          <c:w val="0.82030930446594341"/>
          <c:h val="0.82823682540007582"/>
        </c:manualLayout>
      </c:layout>
      <c:barChart>
        <c:barDir val="col"/>
        <c:grouping val="stacked"/>
        <c:varyColors val="0"/>
        <c:ser>
          <c:idx val="0"/>
          <c:order val="0"/>
          <c:tx>
            <c:strRef>
              <c:f>Sheet1!$A$2</c:f>
              <c:strCache>
                <c:ptCount val="1"/>
                <c:pt idx="0">
                  <c:v>במידה מועטה</c:v>
                </c:pt>
              </c:strCache>
            </c:strRef>
          </c:tx>
          <c:spPr>
            <a:solidFill>
              <a:srgbClr val="FA4C75"/>
            </a:solidFill>
            <a:ln w="26415">
              <a:noFill/>
            </a:ln>
          </c:spPr>
          <c:invertIfNegative val="0"/>
          <c:dLbls>
            <c:spPr>
              <a:noFill/>
              <a:ln w="26415">
                <a:noFill/>
              </a:ln>
            </c:spPr>
            <c:txPr>
              <a:bodyPr/>
              <a:lstStyle/>
              <a:p>
                <a:pPr>
                  <a:defRPr sz="1200" b="1">
                    <a:solidFill>
                      <a:schemeClr val="bg1"/>
                    </a:solidFill>
                  </a:defRPr>
                </a:pPr>
                <a:endParaRPr lang="he-IL"/>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Sheet1!$B$1:$C$1</c:f>
              <c:strCache>
                <c:ptCount val="2"/>
                <c:pt idx="0">
                  <c:v>מגזר יהודי</c:v>
                </c:pt>
                <c:pt idx="1">
                  <c:v>מגזר ערבי</c:v>
                </c:pt>
              </c:strCache>
            </c:strRef>
          </c:cat>
          <c:val>
            <c:numRef>
              <c:f>Sheet1!$B$2:$C$2</c:f>
              <c:numCache>
                <c:formatCode>0%</c:formatCode>
                <c:ptCount val="2"/>
                <c:pt idx="0">
                  <c:v>0.34375</c:v>
                </c:pt>
                <c:pt idx="1">
                  <c:v>0.26315789473684209</c:v>
                </c:pt>
              </c:numCache>
            </c:numRef>
          </c:val>
          <c:extLst>
            <c:ext xmlns:c16="http://schemas.microsoft.com/office/drawing/2014/chart" uri="{C3380CC4-5D6E-409C-BE32-E72D297353CC}">
              <c16:uniqueId val="{00000000-0FC8-4385-A3C9-59EB28BDEAB6}"/>
            </c:ext>
          </c:extLst>
        </c:ser>
        <c:ser>
          <c:idx val="1"/>
          <c:order val="1"/>
          <c:tx>
            <c:strRef>
              <c:f>Sheet1!$A$3</c:f>
              <c:strCache>
                <c:ptCount val="1"/>
                <c:pt idx="0">
                  <c:v>במידה בינונית</c:v>
                </c:pt>
              </c:strCache>
            </c:strRef>
          </c:tx>
          <c:spPr>
            <a:solidFill>
              <a:srgbClr val="FFB9C0"/>
            </a:solidFill>
          </c:spPr>
          <c:invertIfNegative val="0"/>
          <c:dLbls>
            <c:spPr>
              <a:noFill/>
              <a:ln>
                <a:noFill/>
              </a:ln>
              <a:effectLst/>
            </c:spPr>
            <c:txPr>
              <a:bodyPr wrap="square" lIns="38100" tIns="19050" rIns="38100" bIns="19050" anchor="ctr">
                <a:spAutoFit/>
              </a:bodyPr>
              <a:lstStyle/>
              <a:p>
                <a:pPr>
                  <a:defRPr sz="1200" b="1">
                    <a:solidFill>
                      <a:schemeClr val="bg1"/>
                    </a:solidFill>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Sheet1!$B$1:$C$1</c:f>
              <c:strCache>
                <c:ptCount val="2"/>
                <c:pt idx="0">
                  <c:v>מגזר יהודי</c:v>
                </c:pt>
                <c:pt idx="1">
                  <c:v>מגזר ערבי</c:v>
                </c:pt>
              </c:strCache>
            </c:strRef>
          </c:cat>
          <c:val>
            <c:numRef>
              <c:f>Sheet1!$B$3:$C$3</c:f>
              <c:numCache>
                <c:formatCode>0%</c:formatCode>
                <c:ptCount val="2"/>
                <c:pt idx="0">
                  <c:v>0.21875</c:v>
                </c:pt>
                <c:pt idx="1">
                  <c:v>0.26315789473684209</c:v>
                </c:pt>
              </c:numCache>
            </c:numRef>
          </c:val>
          <c:extLst>
            <c:ext xmlns:c16="http://schemas.microsoft.com/office/drawing/2014/chart" uri="{C3380CC4-5D6E-409C-BE32-E72D297353CC}">
              <c16:uniqueId val="{00000001-0FC8-4385-A3C9-59EB28BDEAB6}"/>
            </c:ext>
          </c:extLst>
        </c:ser>
        <c:ser>
          <c:idx val="2"/>
          <c:order val="2"/>
          <c:tx>
            <c:strRef>
              <c:f>Sheet1!$A$4</c:f>
              <c:strCache>
                <c:ptCount val="1"/>
                <c:pt idx="0">
                  <c:v>במידה רבה</c:v>
                </c:pt>
              </c:strCache>
            </c:strRef>
          </c:tx>
          <c:spPr>
            <a:solidFill>
              <a:srgbClr val="09AFA7"/>
            </a:solidFill>
            <a:ln w="26415">
              <a:noFill/>
            </a:ln>
          </c:spPr>
          <c:invertIfNegative val="0"/>
          <c:dLbls>
            <c:spPr>
              <a:noFill/>
              <a:ln w="26415">
                <a:noFill/>
              </a:ln>
            </c:spPr>
            <c:txPr>
              <a:bodyPr wrap="square" lIns="38100" tIns="19050" rIns="38100" bIns="19050" anchor="ctr">
                <a:spAutoFit/>
              </a:bodyPr>
              <a:lstStyle/>
              <a:p>
                <a:pPr>
                  <a:defRPr sz="1200" b="1">
                    <a:solidFill>
                      <a:schemeClr val="bg1"/>
                    </a:solidFill>
                  </a:defRPr>
                </a:pPr>
                <a:endParaRPr lang="he-IL"/>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Sheet1!$B$1:$C$1</c:f>
              <c:strCache>
                <c:ptCount val="2"/>
                <c:pt idx="0">
                  <c:v>מגזר יהודי</c:v>
                </c:pt>
                <c:pt idx="1">
                  <c:v>מגזר ערבי</c:v>
                </c:pt>
              </c:strCache>
            </c:strRef>
          </c:cat>
          <c:val>
            <c:numRef>
              <c:f>Sheet1!$B$4:$C$4</c:f>
              <c:numCache>
                <c:formatCode>0%</c:formatCode>
                <c:ptCount val="2"/>
                <c:pt idx="0">
                  <c:v>0.4375</c:v>
                </c:pt>
                <c:pt idx="1">
                  <c:v>0.47368421052631582</c:v>
                </c:pt>
              </c:numCache>
            </c:numRef>
          </c:val>
          <c:extLst>
            <c:ext xmlns:c16="http://schemas.microsoft.com/office/drawing/2014/chart" uri="{C3380CC4-5D6E-409C-BE32-E72D297353CC}">
              <c16:uniqueId val="{00000002-0FC8-4385-A3C9-59EB28BDEAB6}"/>
            </c:ext>
          </c:extLst>
        </c:ser>
        <c:ser>
          <c:idx val="3"/>
          <c:order val="3"/>
          <c:tx>
            <c:strRef>
              <c:f>Sheet1!$A$5</c:f>
              <c:strCache>
                <c:ptCount val="1"/>
                <c:pt idx="0">
                  <c:v>ממוצע</c:v>
                </c:pt>
              </c:strCache>
            </c:strRef>
          </c:tx>
          <c:spPr>
            <a:noFill/>
            <a:ln w="26415">
              <a:noFill/>
            </a:ln>
          </c:spPr>
          <c:invertIfNegative val="0"/>
          <c:dLbls>
            <c:spPr>
              <a:noFill/>
              <a:ln w="26415">
                <a:noFill/>
              </a:ln>
            </c:spPr>
            <c:txPr>
              <a:bodyPr wrap="square" lIns="38100" tIns="19050" rIns="38100" bIns="19050" anchor="ctr">
                <a:spAutoFit/>
              </a:bodyPr>
              <a:lstStyle/>
              <a:p>
                <a:pPr>
                  <a:defRPr sz="1400" b="1">
                    <a:solidFill>
                      <a:schemeClr val="tx1"/>
                    </a:solidFill>
                  </a:defRPr>
                </a:pPr>
                <a:endParaRPr lang="he-IL"/>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Sheet1!$B$1:$C$1</c:f>
              <c:strCache>
                <c:ptCount val="2"/>
                <c:pt idx="0">
                  <c:v>מגזר יהודי</c:v>
                </c:pt>
                <c:pt idx="1">
                  <c:v>מגזר ערבי</c:v>
                </c:pt>
              </c:strCache>
            </c:strRef>
          </c:cat>
          <c:val>
            <c:numRef>
              <c:f>Sheet1!$B$5:$C$5</c:f>
              <c:numCache>
                <c:formatCode>0.0</c:formatCode>
                <c:ptCount val="2"/>
                <c:pt idx="0">
                  <c:v>3.109375</c:v>
                </c:pt>
                <c:pt idx="1">
                  <c:v>3.0526315789473686</c:v>
                </c:pt>
              </c:numCache>
            </c:numRef>
          </c:val>
          <c:extLst>
            <c:ext xmlns:c16="http://schemas.microsoft.com/office/drawing/2014/chart" uri="{C3380CC4-5D6E-409C-BE32-E72D297353CC}">
              <c16:uniqueId val="{00000003-0FC8-4385-A3C9-59EB28BDEAB6}"/>
            </c:ext>
          </c:extLst>
        </c:ser>
        <c:dLbls>
          <c:showLegendKey val="0"/>
          <c:showVal val="0"/>
          <c:showCatName val="0"/>
          <c:showSerName val="0"/>
          <c:showPercent val="0"/>
          <c:showBubbleSize val="0"/>
        </c:dLbls>
        <c:gapWidth val="80"/>
        <c:overlap val="100"/>
        <c:axId val="1594904751"/>
        <c:axId val="1"/>
      </c:barChart>
      <c:catAx>
        <c:axId val="1594904751"/>
        <c:scaling>
          <c:orientation val="minMax"/>
        </c:scaling>
        <c:delete val="0"/>
        <c:axPos val="b"/>
        <c:numFmt formatCode="General" sourceLinked="1"/>
        <c:majorTickMark val="out"/>
        <c:minorTickMark val="none"/>
        <c:tickLblPos val="nextTo"/>
        <c:spPr>
          <a:ln>
            <a:noFill/>
          </a:ln>
        </c:spPr>
        <c:txPr>
          <a:bodyPr/>
          <a:lstStyle/>
          <a:p>
            <a:pPr>
              <a:defRPr sz="1200" b="1"/>
            </a:pPr>
            <a:endParaRPr lang="he-IL"/>
          </a:p>
        </c:txPr>
        <c:crossAx val="1"/>
        <c:crosses val="autoZero"/>
        <c:auto val="1"/>
        <c:lblAlgn val="ctr"/>
        <c:lblOffset val="100"/>
        <c:tickLblSkip val="1"/>
        <c:tickMarkSkip val="1"/>
        <c:noMultiLvlLbl val="0"/>
      </c:catAx>
      <c:valAx>
        <c:axId val="1"/>
        <c:scaling>
          <c:orientation val="minMax"/>
          <c:max val="1.2"/>
          <c:min val="0"/>
        </c:scaling>
        <c:delete val="1"/>
        <c:axPos val="l"/>
        <c:numFmt formatCode="0%" sourceLinked="1"/>
        <c:majorTickMark val="out"/>
        <c:minorTickMark val="none"/>
        <c:tickLblPos val="nextTo"/>
        <c:crossAx val="1594904751"/>
        <c:crosses val="autoZero"/>
        <c:crossBetween val="between"/>
      </c:valAx>
      <c:spPr>
        <a:noFill/>
        <a:ln w="26415">
          <a:noFill/>
        </a:ln>
      </c:spPr>
    </c:plotArea>
    <c:legend>
      <c:legendPos val="r"/>
      <c:legendEntry>
        <c:idx val="0"/>
        <c:txPr>
          <a:bodyPr/>
          <a:lstStyle/>
          <a:p>
            <a:pPr rtl="0">
              <a:defRPr sz="1200" b="1"/>
            </a:pPr>
            <a:endParaRPr lang="he-IL"/>
          </a:p>
        </c:txPr>
      </c:legendEntry>
      <c:legendEntry>
        <c:idx val="1"/>
        <c:txPr>
          <a:bodyPr/>
          <a:lstStyle/>
          <a:p>
            <a:pPr rtl="0">
              <a:defRPr sz="1100" b="0"/>
            </a:pPr>
            <a:endParaRPr lang="he-IL"/>
          </a:p>
        </c:txPr>
      </c:legendEntry>
      <c:legendEntry>
        <c:idx val="2"/>
        <c:txPr>
          <a:bodyPr/>
          <a:lstStyle/>
          <a:p>
            <a:pPr rtl="0">
              <a:defRPr sz="1100"/>
            </a:pPr>
            <a:endParaRPr lang="he-IL"/>
          </a:p>
        </c:txPr>
      </c:legendEntry>
      <c:legendEntry>
        <c:idx val="3"/>
        <c:txPr>
          <a:bodyPr/>
          <a:lstStyle/>
          <a:p>
            <a:pPr rtl="0">
              <a:defRPr sz="1100"/>
            </a:pPr>
            <a:endParaRPr lang="he-IL"/>
          </a:p>
        </c:txPr>
      </c:legendEntry>
      <c:layout>
        <c:manualLayout>
          <c:xMode val="edge"/>
          <c:yMode val="edge"/>
          <c:x val="0.78037537853540384"/>
          <c:y val="0.16245430996529095"/>
          <c:w val="0.21527214449902066"/>
          <c:h val="0.72119832034729559"/>
        </c:manualLayout>
      </c:layout>
      <c:overlay val="0"/>
      <c:txPr>
        <a:bodyPr/>
        <a:lstStyle/>
        <a:p>
          <a:pPr rtl="0">
            <a:defRPr sz="1100"/>
          </a:pPr>
          <a:endParaRPr lang="he-IL"/>
        </a:p>
      </c:txPr>
    </c:legend>
    <c:plotVisOnly val="1"/>
    <c:dispBlanksAs val="gap"/>
    <c:showDLblsOverMax val="0"/>
  </c:chart>
  <c:spPr>
    <a:noFill/>
    <a:ln>
      <a:noFill/>
    </a:ln>
  </c:spPr>
  <c:txPr>
    <a:bodyPr/>
    <a:lstStyle/>
    <a:p>
      <a:pPr>
        <a:defRPr sz="1400" b="0" i="0" u="none" strike="noStrike" baseline="0">
          <a:solidFill>
            <a:schemeClr val="tx1">
              <a:lumMod val="75000"/>
              <a:lumOff val="25000"/>
            </a:schemeClr>
          </a:solidFill>
          <a:latin typeface="Segoe UI"/>
          <a:ea typeface="Segoe UI"/>
          <a:cs typeface="Segoe UI"/>
        </a:defRPr>
      </a:pPr>
      <a:endParaRPr lang="he-IL"/>
    </a:p>
  </c:txPr>
  <c:externalData r:id="rId2">
    <c:autoUpdate val="0"/>
  </c:externalData>
</c:chartSpace>
</file>

<file path=ppt/charts/chart6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7859770769818229E-2"/>
          <c:y val="4.3281067273958265E-2"/>
          <c:w val="0.78658031430227515"/>
          <c:h val="0.84021001803542239"/>
        </c:manualLayout>
      </c:layout>
      <c:barChart>
        <c:barDir val="col"/>
        <c:grouping val="stacked"/>
        <c:varyColors val="0"/>
        <c:ser>
          <c:idx val="0"/>
          <c:order val="0"/>
          <c:tx>
            <c:strRef>
              <c:f>Sheet1!$A$2</c:f>
              <c:strCache>
                <c:ptCount val="1"/>
                <c:pt idx="0">
                  <c:v>באופן מלא</c:v>
                </c:pt>
              </c:strCache>
            </c:strRef>
          </c:tx>
          <c:spPr>
            <a:solidFill>
              <a:srgbClr val="09AFA7"/>
            </a:solidFill>
            <a:ln w="31750">
              <a:noFill/>
            </a:ln>
          </c:spPr>
          <c:invertIfNegative val="0"/>
          <c:dLbls>
            <c:spPr>
              <a:noFill/>
              <a:ln>
                <a:noFill/>
              </a:ln>
              <a:effectLst/>
            </c:spPr>
            <c:txPr>
              <a:bodyPr/>
              <a:lstStyle/>
              <a:p>
                <a:pPr>
                  <a:defRPr sz="1200" b="1">
                    <a:solidFill>
                      <a:schemeClr val="bg1"/>
                    </a:solidFill>
                    <a:latin typeface="Segoe UI" panose="020B0502040204020203" pitchFamily="34" charset="0"/>
                    <a:cs typeface="Segoe UI" panose="020B0502040204020203" pitchFamily="34" charset="0"/>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Sheet1!$B$1:$C$1</c:f>
              <c:strCache>
                <c:ptCount val="2"/>
                <c:pt idx="0">
                  <c:v>מגזר יהודי</c:v>
                </c:pt>
                <c:pt idx="1">
                  <c:v>מגזר ערבי</c:v>
                </c:pt>
              </c:strCache>
            </c:strRef>
          </c:cat>
          <c:val>
            <c:numRef>
              <c:f>Sheet1!$B$2:$C$2</c:f>
              <c:numCache>
                <c:formatCode>0%</c:formatCode>
                <c:ptCount val="2"/>
                <c:pt idx="0">
                  <c:v>0.203125</c:v>
                </c:pt>
                <c:pt idx="1">
                  <c:v>0.2105263157894737</c:v>
                </c:pt>
              </c:numCache>
            </c:numRef>
          </c:val>
          <c:extLst>
            <c:ext xmlns:c16="http://schemas.microsoft.com/office/drawing/2014/chart" uri="{C3380CC4-5D6E-409C-BE32-E72D297353CC}">
              <c16:uniqueId val="{00000000-0DE3-413B-BCFA-E0921DF056CA}"/>
            </c:ext>
          </c:extLst>
        </c:ser>
        <c:ser>
          <c:idx val="1"/>
          <c:order val="1"/>
          <c:tx>
            <c:strRef>
              <c:f>Sheet1!$A$3</c:f>
              <c:strCache>
                <c:ptCount val="1"/>
                <c:pt idx="0">
                  <c:v>באופן חלקי</c:v>
                </c:pt>
              </c:strCache>
            </c:strRef>
          </c:tx>
          <c:spPr>
            <a:solidFill>
              <a:srgbClr val="59D3B6"/>
            </a:solidFill>
          </c:spPr>
          <c:invertIfNegative val="0"/>
          <c:dLbls>
            <c:spPr>
              <a:noFill/>
              <a:ln>
                <a:noFill/>
              </a:ln>
              <a:effectLst/>
            </c:spPr>
            <c:txPr>
              <a:bodyPr anchorCtr="0"/>
              <a:lstStyle/>
              <a:p>
                <a:pPr algn="ctr">
                  <a:defRPr lang="he-IL" sz="1200" b="1" i="0" u="none" strike="noStrike" kern="1200" baseline="0">
                    <a:solidFill>
                      <a:schemeClr val="bg1"/>
                    </a:solidFill>
                    <a:latin typeface="Segoe UI" panose="020B0502040204020203" pitchFamily="34" charset="0"/>
                    <a:ea typeface="Arial"/>
                    <a:cs typeface="Segoe UI" panose="020B0502040204020203" pitchFamily="34" charset="0"/>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Sheet1!$B$1:$C$1</c:f>
              <c:strCache>
                <c:ptCount val="2"/>
                <c:pt idx="0">
                  <c:v>מגזר יהודי</c:v>
                </c:pt>
                <c:pt idx="1">
                  <c:v>מגזר ערבי</c:v>
                </c:pt>
              </c:strCache>
            </c:strRef>
          </c:cat>
          <c:val>
            <c:numRef>
              <c:f>Sheet1!$B$3:$C$3</c:f>
              <c:numCache>
                <c:formatCode>0%</c:formatCode>
                <c:ptCount val="2"/>
                <c:pt idx="0">
                  <c:v>0.421875</c:v>
                </c:pt>
                <c:pt idx="1">
                  <c:v>0.57894736842105265</c:v>
                </c:pt>
              </c:numCache>
            </c:numRef>
          </c:val>
          <c:extLst>
            <c:ext xmlns:c16="http://schemas.microsoft.com/office/drawing/2014/chart" uri="{C3380CC4-5D6E-409C-BE32-E72D297353CC}">
              <c16:uniqueId val="{00000001-0DE3-413B-BCFA-E0921DF056CA}"/>
            </c:ext>
          </c:extLst>
        </c:ser>
        <c:ser>
          <c:idx val="2"/>
          <c:order val="2"/>
          <c:tx>
            <c:strRef>
              <c:f>Sheet1!$A$4</c:f>
              <c:strCache>
                <c:ptCount val="1"/>
                <c:pt idx="0">
                  <c:v>כלל לא</c:v>
                </c:pt>
              </c:strCache>
            </c:strRef>
          </c:tx>
          <c:spPr>
            <a:solidFill>
              <a:srgbClr val="FA4C75"/>
            </a:solidFill>
          </c:spPr>
          <c:invertIfNegative val="0"/>
          <c:dLbls>
            <c:spPr>
              <a:noFill/>
              <a:ln>
                <a:noFill/>
              </a:ln>
              <a:effectLst/>
            </c:spPr>
            <c:txPr>
              <a:bodyPr wrap="square" lIns="38100" tIns="19050" rIns="38100" bIns="19050" anchor="ctr" anchorCtr="0">
                <a:spAutoFit/>
              </a:bodyPr>
              <a:lstStyle/>
              <a:p>
                <a:pPr algn="ctr">
                  <a:defRPr lang="he-IL" sz="1200" b="1" i="0" u="none" strike="noStrike" kern="1200" baseline="0">
                    <a:solidFill>
                      <a:schemeClr val="bg1"/>
                    </a:solidFill>
                    <a:latin typeface="Segoe UI" panose="020B0502040204020203" pitchFamily="34" charset="0"/>
                    <a:ea typeface="Arial"/>
                    <a:cs typeface="Segoe UI" panose="020B0502040204020203" pitchFamily="34" charset="0"/>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Sheet1!$B$1:$C$1</c:f>
              <c:strCache>
                <c:ptCount val="2"/>
                <c:pt idx="0">
                  <c:v>מגזר יהודי</c:v>
                </c:pt>
                <c:pt idx="1">
                  <c:v>מגזר ערבי</c:v>
                </c:pt>
              </c:strCache>
            </c:strRef>
          </c:cat>
          <c:val>
            <c:numRef>
              <c:f>Sheet1!$B$4:$C$4</c:f>
              <c:numCache>
                <c:formatCode>0%</c:formatCode>
                <c:ptCount val="2"/>
                <c:pt idx="0">
                  <c:v>0.375</c:v>
                </c:pt>
                <c:pt idx="1">
                  <c:v>0.2105263157894737</c:v>
                </c:pt>
              </c:numCache>
            </c:numRef>
          </c:val>
          <c:extLst>
            <c:ext xmlns:c16="http://schemas.microsoft.com/office/drawing/2014/chart" uri="{C3380CC4-5D6E-409C-BE32-E72D297353CC}">
              <c16:uniqueId val="{00000002-0DE3-413B-BCFA-E0921DF056CA}"/>
            </c:ext>
          </c:extLst>
        </c:ser>
        <c:dLbls>
          <c:showLegendKey val="0"/>
          <c:showVal val="0"/>
          <c:showCatName val="0"/>
          <c:showSerName val="0"/>
          <c:showPercent val="0"/>
          <c:showBubbleSize val="0"/>
        </c:dLbls>
        <c:gapWidth val="80"/>
        <c:overlap val="100"/>
        <c:axId val="184526720"/>
        <c:axId val="184528256"/>
      </c:barChart>
      <c:catAx>
        <c:axId val="184526720"/>
        <c:scaling>
          <c:orientation val="minMax"/>
        </c:scaling>
        <c:delete val="0"/>
        <c:axPos val="b"/>
        <c:numFmt formatCode="General" sourceLinked="1"/>
        <c:majorTickMark val="out"/>
        <c:minorTickMark val="none"/>
        <c:tickLblPos val="low"/>
        <c:spPr>
          <a:ln w="38100">
            <a:solidFill>
              <a:schemeClr val="bg1"/>
            </a:solidFill>
            <a:prstDash val="solid"/>
          </a:ln>
        </c:spPr>
        <c:txPr>
          <a:bodyPr rot="0" vert="horz"/>
          <a:lstStyle/>
          <a:p>
            <a:pPr>
              <a:defRPr sz="1200" b="1">
                <a:solidFill>
                  <a:schemeClr val="tx1">
                    <a:lumMod val="75000"/>
                    <a:lumOff val="25000"/>
                  </a:schemeClr>
                </a:solidFill>
              </a:defRPr>
            </a:pPr>
            <a:endParaRPr lang="he-IL"/>
          </a:p>
        </c:txPr>
        <c:crossAx val="184528256"/>
        <c:crosses val="autoZero"/>
        <c:auto val="1"/>
        <c:lblAlgn val="ctr"/>
        <c:lblOffset val="100"/>
        <c:noMultiLvlLbl val="0"/>
      </c:catAx>
      <c:valAx>
        <c:axId val="184528256"/>
        <c:scaling>
          <c:orientation val="minMax"/>
          <c:max val="1.2"/>
          <c:min val="0"/>
        </c:scaling>
        <c:delete val="1"/>
        <c:axPos val="l"/>
        <c:numFmt formatCode="0%" sourceLinked="1"/>
        <c:majorTickMark val="out"/>
        <c:minorTickMark val="none"/>
        <c:tickLblPos val="nextTo"/>
        <c:crossAx val="184526720"/>
        <c:crosses val="autoZero"/>
        <c:crossBetween val="between"/>
      </c:valAx>
      <c:spPr>
        <a:noFill/>
        <a:ln w="25965">
          <a:noFill/>
        </a:ln>
      </c:spPr>
    </c:plotArea>
    <c:legend>
      <c:legendPos val="r"/>
      <c:layout>
        <c:manualLayout>
          <c:xMode val="edge"/>
          <c:yMode val="edge"/>
          <c:x val="0.75904369498968505"/>
          <c:y val="0.1581723090233339"/>
          <c:w val="0.23156625099329994"/>
          <c:h val="0.76350831635421679"/>
        </c:manualLayout>
      </c:layout>
      <c:overlay val="0"/>
      <c:txPr>
        <a:bodyPr/>
        <a:lstStyle/>
        <a:p>
          <a:pPr rtl="0">
            <a:defRPr sz="1100"/>
          </a:pPr>
          <a:endParaRPr lang="he-IL"/>
        </a:p>
      </c:txPr>
    </c:legend>
    <c:plotVisOnly val="1"/>
    <c:dispBlanksAs val="gap"/>
    <c:showDLblsOverMax val="0"/>
  </c:chart>
  <c:spPr>
    <a:noFill/>
    <a:ln>
      <a:noFill/>
    </a:ln>
  </c:spPr>
  <c:txPr>
    <a:bodyPr/>
    <a:lstStyle/>
    <a:p>
      <a:pPr>
        <a:defRPr sz="1100" b="0" i="0" u="none" strike="noStrike" baseline="0">
          <a:solidFill>
            <a:schemeClr val="tx1"/>
          </a:solidFill>
          <a:latin typeface="Segoe UI" panose="020B0502040204020203" pitchFamily="34" charset="0"/>
          <a:ea typeface="Arial"/>
          <a:cs typeface="Segoe UI" panose="020B0502040204020203" pitchFamily="34" charset="0"/>
        </a:defRPr>
      </a:pPr>
      <a:endParaRPr lang="he-IL"/>
    </a:p>
  </c:txPr>
  <c:externalData r:id="rId1">
    <c:autoUpdate val="0"/>
  </c:externalData>
</c:chartSpace>
</file>

<file path=ppt/charts/chart6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1.1262886993089706E-2"/>
          <c:y val="4.9480359475461005E-2"/>
          <c:w val="0.89273376902919432"/>
          <c:h val="0.64734074074074077"/>
        </c:manualLayout>
      </c:layout>
      <c:barChart>
        <c:barDir val="col"/>
        <c:grouping val="stacked"/>
        <c:varyColors val="0"/>
        <c:ser>
          <c:idx val="0"/>
          <c:order val="0"/>
          <c:tx>
            <c:strRef>
              <c:f>Sheet1!$A$2</c:f>
              <c:strCache>
                <c:ptCount val="1"/>
                <c:pt idx="0">
                  <c:v>במידה מועטה</c:v>
                </c:pt>
              </c:strCache>
            </c:strRef>
          </c:tx>
          <c:spPr>
            <a:solidFill>
              <a:srgbClr val="FA4C75"/>
            </a:solidFill>
            <a:ln w="26415">
              <a:noFill/>
            </a:ln>
          </c:spPr>
          <c:invertIfNegative val="0"/>
          <c:dLbls>
            <c:spPr>
              <a:noFill/>
              <a:ln w="26415">
                <a:noFill/>
              </a:ln>
            </c:spPr>
            <c:txPr>
              <a:bodyPr/>
              <a:lstStyle/>
              <a:p>
                <a:pPr>
                  <a:defRPr sz="1200" b="1">
                    <a:solidFill>
                      <a:schemeClr val="bg1"/>
                    </a:solidFill>
                  </a:defRPr>
                </a:pPr>
                <a:endParaRPr lang="he-IL"/>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מגזר יהודי</c:v>
                </c:pt>
                <c:pt idx="1">
                  <c:v>מגזר ערבי</c:v>
                </c:pt>
                <c:pt idx="2">
                  <c:v>נכחו בדיון</c:v>
                </c:pt>
                <c:pt idx="3">
                  <c:v>לא נכחו בדיון
יוצגו ע"י עו"ד</c:v>
                </c:pt>
                <c:pt idx="4">
                  <c:v>לא נכחו בדיון
לא ידעו/התייצבו</c:v>
                </c:pt>
                <c:pt idx="5">
                  <c:v>נכחו בדיון</c:v>
                </c:pt>
                <c:pt idx="6">
                  <c:v>לא נכחו בדיון
יוצגו ע"י עו"ד</c:v>
                </c:pt>
                <c:pt idx="7">
                  <c:v>לא נכחו בדיון
לא ידעו/התייצבו</c:v>
                </c:pt>
              </c:strCache>
            </c:strRef>
          </c:cat>
          <c:val>
            <c:numRef>
              <c:f>Sheet1!$B$2:$I$2</c:f>
              <c:numCache>
                <c:formatCode>0%</c:formatCode>
                <c:ptCount val="8"/>
                <c:pt idx="0">
                  <c:v>0.15384615384615385</c:v>
                </c:pt>
                <c:pt idx="1">
                  <c:v>0.23404255319148937</c:v>
                </c:pt>
                <c:pt idx="2">
                  <c:v>0.140625</c:v>
                </c:pt>
                <c:pt idx="3">
                  <c:v>0.16666666666666669</c:v>
                </c:pt>
                <c:pt idx="4">
                  <c:v>0.2</c:v>
                </c:pt>
                <c:pt idx="5">
                  <c:v>0.2105263157894737</c:v>
                </c:pt>
                <c:pt idx="6">
                  <c:v>0.28571428571428575</c:v>
                </c:pt>
                <c:pt idx="7">
                  <c:v>0.21428571428571427</c:v>
                </c:pt>
              </c:numCache>
            </c:numRef>
          </c:val>
          <c:extLst>
            <c:ext xmlns:c16="http://schemas.microsoft.com/office/drawing/2014/chart" uri="{C3380CC4-5D6E-409C-BE32-E72D297353CC}">
              <c16:uniqueId val="{00000000-C22D-4B9D-86F3-566C9D6B1923}"/>
            </c:ext>
          </c:extLst>
        </c:ser>
        <c:ser>
          <c:idx val="1"/>
          <c:order val="1"/>
          <c:tx>
            <c:strRef>
              <c:f>Sheet1!$A$3</c:f>
              <c:strCache>
                <c:ptCount val="1"/>
                <c:pt idx="0">
                  <c:v>במידה בינונית</c:v>
                </c:pt>
              </c:strCache>
            </c:strRef>
          </c:tx>
          <c:spPr>
            <a:solidFill>
              <a:srgbClr val="FFB9C0"/>
            </a:solidFill>
          </c:spPr>
          <c:invertIfNegative val="0"/>
          <c:dLbls>
            <c:spPr>
              <a:noFill/>
              <a:ln>
                <a:noFill/>
              </a:ln>
              <a:effectLst/>
            </c:spPr>
            <c:txPr>
              <a:bodyPr wrap="square" lIns="38100" tIns="19050" rIns="38100" bIns="19050" anchor="ctr">
                <a:spAutoFit/>
              </a:bodyPr>
              <a:lstStyle/>
              <a:p>
                <a:pPr>
                  <a:defRPr sz="1200" b="1">
                    <a:solidFill>
                      <a:schemeClr val="bg1"/>
                    </a:solidFill>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Sheet1!$B$1:$I$1</c:f>
              <c:strCache>
                <c:ptCount val="8"/>
                <c:pt idx="0">
                  <c:v>מגזר יהודי</c:v>
                </c:pt>
                <c:pt idx="1">
                  <c:v>מגזר ערבי</c:v>
                </c:pt>
                <c:pt idx="2">
                  <c:v>נכחו בדיון</c:v>
                </c:pt>
                <c:pt idx="3">
                  <c:v>לא נכחו בדיון
יוצגו ע"י עו"ד</c:v>
                </c:pt>
                <c:pt idx="4">
                  <c:v>לא נכחו בדיון
לא ידעו/התייצבו</c:v>
                </c:pt>
                <c:pt idx="5">
                  <c:v>נכחו בדיון</c:v>
                </c:pt>
                <c:pt idx="6">
                  <c:v>לא נכחו בדיון
יוצגו ע"י עו"ד</c:v>
                </c:pt>
                <c:pt idx="7">
                  <c:v>לא נכחו בדיון
לא ידעו/התייצבו</c:v>
                </c:pt>
              </c:strCache>
            </c:strRef>
          </c:cat>
          <c:val>
            <c:numRef>
              <c:f>Sheet1!$B$3:$I$3</c:f>
              <c:numCache>
                <c:formatCode>0%</c:formatCode>
                <c:ptCount val="8"/>
                <c:pt idx="0">
                  <c:v>0.2087912087912088</c:v>
                </c:pt>
                <c:pt idx="1">
                  <c:v>0.31914893617021278</c:v>
                </c:pt>
                <c:pt idx="2">
                  <c:v>0.1875</c:v>
                </c:pt>
                <c:pt idx="3">
                  <c:v>0.16666666666666669</c:v>
                </c:pt>
                <c:pt idx="4">
                  <c:v>0.33333333333333337</c:v>
                </c:pt>
                <c:pt idx="5">
                  <c:v>0.2105263157894737</c:v>
                </c:pt>
                <c:pt idx="6">
                  <c:v>0.28571428571428575</c:v>
                </c:pt>
                <c:pt idx="7">
                  <c:v>0.5</c:v>
                </c:pt>
              </c:numCache>
            </c:numRef>
          </c:val>
          <c:extLst>
            <c:ext xmlns:c16="http://schemas.microsoft.com/office/drawing/2014/chart" uri="{C3380CC4-5D6E-409C-BE32-E72D297353CC}">
              <c16:uniqueId val="{00000001-C22D-4B9D-86F3-566C9D6B1923}"/>
            </c:ext>
          </c:extLst>
        </c:ser>
        <c:ser>
          <c:idx val="2"/>
          <c:order val="2"/>
          <c:tx>
            <c:strRef>
              <c:f>Sheet1!$A$4</c:f>
              <c:strCache>
                <c:ptCount val="1"/>
                <c:pt idx="0">
                  <c:v>במידה רבה</c:v>
                </c:pt>
              </c:strCache>
            </c:strRef>
          </c:tx>
          <c:spPr>
            <a:solidFill>
              <a:srgbClr val="09AFA7"/>
            </a:solidFill>
            <a:ln w="26415">
              <a:noFill/>
            </a:ln>
          </c:spPr>
          <c:invertIfNegative val="0"/>
          <c:dLbls>
            <c:spPr>
              <a:noFill/>
              <a:ln w="26415">
                <a:noFill/>
              </a:ln>
            </c:spPr>
            <c:txPr>
              <a:bodyPr wrap="square" lIns="38100" tIns="19050" rIns="38100" bIns="19050" anchor="ctr">
                <a:spAutoFit/>
              </a:bodyPr>
              <a:lstStyle/>
              <a:p>
                <a:pPr>
                  <a:defRPr sz="1200" b="1">
                    <a:solidFill>
                      <a:schemeClr val="bg1"/>
                    </a:solidFill>
                  </a:defRPr>
                </a:pPr>
                <a:endParaRPr lang="he-IL"/>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מגזר יהודי</c:v>
                </c:pt>
                <c:pt idx="1">
                  <c:v>מגזר ערבי</c:v>
                </c:pt>
                <c:pt idx="2">
                  <c:v>נכחו בדיון</c:v>
                </c:pt>
                <c:pt idx="3">
                  <c:v>לא נכחו בדיון
יוצגו ע"י עו"ד</c:v>
                </c:pt>
                <c:pt idx="4">
                  <c:v>לא נכחו בדיון
לא ידעו/התייצבו</c:v>
                </c:pt>
                <c:pt idx="5">
                  <c:v>נכחו בדיון</c:v>
                </c:pt>
                <c:pt idx="6">
                  <c:v>לא נכחו בדיון
יוצגו ע"י עו"ד</c:v>
                </c:pt>
                <c:pt idx="7">
                  <c:v>לא נכחו בדיון
לא ידעו/התייצבו</c:v>
                </c:pt>
              </c:strCache>
            </c:strRef>
          </c:cat>
          <c:val>
            <c:numRef>
              <c:f>Sheet1!$B$4:$I$4</c:f>
              <c:numCache>
                <c:formatCode>0%</c:formatCode>
                <c:ptCount val="8"/>
                <c:pt idx="0">
                  <c:v>0.63736263736263732</c:v>
                </c:pt>
                <c:pt idx="1">
                  <c:v>0.42553191489361702</c:v>
                </c:pt>
                <c:pt idx="2">
                  <c:v>0.671875</c:v>
                </c:pt>
                <c:pt idx="3">
                  <c:v>0.66666666666666674</c:v>
                </c:pt>
                <c:pt idx="4">
                  <c:v>0.46666666666666662</c:v>
                </c:pt>
                <c:pt idx="5">
                  <c:v>0.57894736842105265</c:v>
                </c:pt>
                <c:pt idx="6">
                  <c:v>0.35714285714285715</c:v>
                </c:pt>
                <c:pt idx="7">
                  <c:v>0.28571428571428575</c:v>
                </c:pt>
              </c:numCache>
            </c:numRef>
          </c:val>
          <c:extLst>
            <c:ext xmlns:c16="http://schemas.microsoft.com/office/drawing/2014/chart" uri="{C3380CC4-5D6E-409C-BE32-E72D297353CC}">
              <c16:uniqueId val="{00000002-C22D-4B9D-86F3-566C9D6B1923}"/>
            </c:ext>
          </c:extLst>
        </c:ser>
        <c:ser>
          <c:idx val="3"/>
          <c:order val="3"/>
          <c:tx>
            <c:strRef>
              <c:f>Sheet1!$A$5</c:f>
              <c:strCache>
                <c:ptCount val="1"/>
                <c:pt idx="0">
                  <c:v>ממוצע</c:v>
                </c:pt>
              </c:strCache>
            </c:strRef>
          </c:tx>
          <c:spPr>
            <a:noFill/>
            <a:ln w="26415">
              <a:noFill/>
            </a:ln>
          </c:spPr>
          <c:invertIfNegative val="0"/>
          <c:dLbls>
            <c:spPr>
              <a:noFill/>
              <a:ln w="26415">
                <a:noFill/>
              </a:ln>
            </c:spPr>
            <c:txPr>
              <a:bodyPr wrap="square" lIns="38100" tIns="19050" rIns="38100" bIns="19050" anchor="ctr">
                <a:spAutoFit/>
              </a:bodyPr>
              <a:lstStyle/>
              <a:p>
                <a:pPr>
                  <a:defRPr sz="1400" b="1">
                    <a:solidFill>
                      <a:schemeClr val="tx1"/>
                    </a:solidFill>
                  </a:defRPr>
                </a:pPr>
                <a:endParaRPr lang="he-IL"/>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Sheet1!$B$1:$I$1</c:f>
              <c:strCache>
                <c:ptCount val="8"/>
                <c:pt idx="0">
                  <c:v>מגזר יהודי</c:v>
                </c:pt>
                <c:pt idx="1">
                  <c:v>מגזר ערבי</c:v>
                </c:pt>
                <c:pt idx="2">
                  <c:v>נכחו בדיון</c:v>
                </c:pt>
                <c:pt idx="3">
                  <c:v>לא נכחו בדיון
יוצגו ע"י עו"ד</c:v>
                </c:pt>
                <c:pt idx="4">
                  <c:v>לא נכחו בדיון
לא ידעו/התייצבו</c:v>
                </c:pt>
                <c:pt idx="5">
                  <c:v>נכחו בדיון</c:v>
                </c:pt>
                <c:pt idx="6">
                  <c:v>לא נכחו בדיון
יוצגו ע"י עו"ד</c:v>
                </c:pt>
                <c:pt idx="7">
                  <c:v>לא נכחו בדיון
לא ידעו/התייצבו</c:v>
                </c:pt>
              </c:strCache>
            </c:strRef>
          </c:cat>
          <c:val>
            <c:numRef>
              <c:f>Sheet1!$B$5:$I$5</c:f>
              <c:numCache>
                <c:formatCode>0.0</c:formatCode>
                <c:ptCount val="8"/>
                <c:pt idx="0">
                  <c:v>3.7912087912087915</c:v>
                </c:pt>
                <c:pt idx="1">
                  <c:v>3.1956521739130439</c:v>
                </c:pt>
                <c:pt idx="2">
                  <c:v>3.921875</c:v>
                </c:pt>
                <c:pt idx="3">
                  <c:v>3.6666666666666665</c:v>
                </c:pt>
                <c:pt idx="4">
                  <c:v>3.3333333333333335</c:v>
                </c:pt>
                <c:pt idx="5">
                  <c:v>3.3684210526315788</c:v>
                </c:pt>
                <c:pt idx="6">
                  <c:v>3.1538461538461542</c:v>
                </c:pt>
                <c:pt idx="7">
                  <c:v>3</c:v>
                </c:pt>
              </c:numCache>
            </c:numRef>
          </c:val>
          <c:extLst>
            <c:ext xmlns:c16="http://schemas.microsoft.com/office/drawing/2014/chart" uri="{C3380CC4-5D6E-409C-BE32-E72D297353CC}">
              <c16:uniqueId val="{00000003-C22D-4B9D-86F3-566C9D6B1923}"/>
            </c:ext>
          </c:extLst>
        </c:ser>
        <c:dLbls>
          <c:showLegendKey val="0"/>
          <c:showVal val="0"/>
          <c:showCatName val="0"/>
          <c:showSerName val="0"/>
          <c:showPercent val="0"/>
          <c:showBubbleSize val="0"/>
        </c:dLbls>
        <c:gapWidth val="60"/>
        <c:overlap val="100"/>
        <c:axId val="1594904751"/>
        <c:axId val="1"/>
      </c:barChart>
      <c:catAx>
        <c:axId val="1594904751"/>
        <c:scaling>
          <c:orientation val="minMax"/>
        </c:scaling>
        <c:delete val="0"/>
        <c:axPos val="b"/>
        <c:numFmt formatCode="General" sourceLinked="1"/>
        <c:majorTickMark val="out"/>
        <c:minorTickMark val="none"/>
        <c:tickLblPos val="nextTo"/>
        <c:spPr>
          <a:ln>
            <a:noFill/>
          </a:ln>
        </c:spPr>
        <c:txPr>
          <a:bodyPr/>
          <a:lstStyle/>
          <a:p>
            <a:pPr>
              <a:defRPr sz="1100"/>
            </a:pPr>
            <a:endParaRPr lang="he-IL"/>
          </a:p>
        </c:txPr>
        <c:crossAx val="1"/>
        <c:crosses val="autoZero"/>
        <c:auto val="1"/>
        <c:lblAlgn val="ctr"/>
        <c:lblOffset val="100"/>
        <c:tickLblSkip val="1"/>
        <c:tickMarkSkip val="1"/>
        <c:noMultiLvlLbl val="0"/>
      </c:catAx>
      <c:valAx>
        <c:axId val="1"/>
        <c:scaling>
          <c:orientation val="minMax"/>
          <c:max val="1.2"/>
          <c:min val="0"/>
        </c:scaling>
        <c:delete val="1"/>
        <c:axPos val="l"/>
        <c:numFmt formatCode="0%" sourceLinked="1"/>
        <c:majorTickMark val="out"/>
        <c:minorTickMark val="none"/>
        <c:tickLblPos val="nextTo"/>
        <c:crossAx val="1594904751"/>
        <c:crosses val="autoZero"/>
        <c:crossBetween val="between"/>
      </c:valAx>
      <c:spPr>
        <a:noFill/>
        <a:ln w="26415">
          <a:noFill/>
        </a:ln>
      </c:spPr>
    </c:plotArea>
    <c:legend>
      <c:legendPos val="r"/>
      <c:legendEntry>
        <c:idx val="0"/>
        <c:txPr>
          <a:bodyPr/>
          <a:lstStyle/>
          <a:p>
            <a:pPr rtl="0">
              <a:defRPr sz="1200" b="1"/>
            </a:pPr>
            <a:endParaRPr lang="he-IL"/>
          </a:p>
        </c:txPr>
      </c:legendEntry>
      <c:legendEntry>
        <c:idx val="1"/>
        <c:txPr>
          <a:bodyPr/>
          <a:lstStyle/>
          <a:p>
            <a:pPr rtl="0">
              <a:defRPr sz="1100" b="0"/>
            </a:pPr>
            <a:endParaRPr lang="he-IL"/>
          </a:p>
        </c:txPr>
      </c:legendEntry>
      <c:legendEntry>
        <c:idx val="2"/>
        <c:txPr>
          <a:bodyPr/>
          <a:lstStyle/>
          <a:p>
            <a:pPr rtl="0">
              <a:defRPr sz="1100"/>
            </a:pPr>
            <a:endParaRPr lang="he-IL"/>
          </a:p>
        </c:txPr>
      </c:legendEntry>
      <c:legendEntry>
        <c:idx val="3"/>
        <c:txPr>
          <a:bodyPr/>
          <a:lstStyle/>
          <a:p>
            <a:pPr rtl="0">
              <a:defRPr sz="1100"/>
            </a:pPr>
            <a:endParaRPr lang="he-IL"/>
          </a:p>
        </c:txPr>
      </c:legendEntry>
      <c:layout>
        <c:manualLayout>
          <c:xMode val="edge"/>
          <c:yMode val="edge"/>
          <c:x val="0.89519791228649992"/>
          <c:y val="3.6486882894439167E-2"/>
          <c:w val="0.10044946239677389"/>
          <c:h val="0.58710366939793379"/>
        </c:manualLayout>
      </c:layout>
      <c:overlay val="0"/>
      <c:txPr>
        <a:bodyPr/>
        <a:lstStyle/>
        <a:p>
          <a:pPr rtl="0">
            <a:defRPr sz="1050"/>
          </a:pPr>
          <a:endParaRPr lang="he-IL"/>
        </a:p>
      </c:txPr>
    </c:legend>
    <c:plotVisOnly val="1"/>
    <c:dispBlanksAs val="gap"/>
    <c:showDLblsOverMax val="0"/>
  </c:chart>
  <c:spPr>
    <a:noFill/>
    <a:ln>
      <a:noFill/>
    </a:ln>
  </c:spPr>
  <c:txPr>
    <a:bodyPr/>
    <a:lstStyle/>
    <a:p>
      <a:pPr>
        <a:defRPr sz="1400" b="0" i="0" u="none" strike="noStrike" baseline="0">
          <a:solidFill>
            <a:schemeClr val="tx1">
              <a:lumMod val="75000"/>
              <a:lumOff val="25000"/>
            </a:schemeClr>
          </a:solidFill>
          <a:latin typeface="Segoe UI"/>
          <a:ea typeface="Segoe UI"/>
          <a:cs typeface="Segoe UI"/>
        </a:defRPr>
      </a:pPr>
      <a:endParaRPr lang="he-IL"/>
    </a:p>
  </c:txPr>
  <c:externalData r:id="rId2">
    <c:autoUpdate val="0"/>
  </c:externalData>
</c:chartSpace>
</file>

<file path=ppt/charts/chart6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1.1262886993089706E-2"/>
          <c:y val="4.9480359475461005E-2"/>
          <c:w val="0.89273376902919432"/>
          <c:h val="0.64734074074074077"/>
        </c:manualLayout>
      </c:layout>
      <c:barChart>
        <c:barDir val="col"/>
        <c:grouping val="stacked"/>
        <c:varyColors val="0"/>
        <c:ser>
          <c:idx val="0"/>
          <c:order val="0"/>
          <c:tx>
            <c:strRef>
              <c:f>Sheet1!$A$2</c:f>
              <c:strCache>
                <c:ptCount val="1"/>
                <c:pt idx="0">
                  <c:v>במידה מועטה</c:v>
                </c:pt>
              </c:strCache>
            </c:strRef>
          </c:tx>
          <c:spPr>
            <a:solidFill>
              <a:srgbClr val="FA4C75"/>
            </a:solidFill>
            <a:ln w="26415">
              <a:noFill/>
            </a:ln>
          </c:spPr>
          <c:invertIfNegative val="0"/>
          <c:dLbls>
            <c:spPr>
              <a:noFill/>
              <a:ln w="26415">
                <a:noFill/>
              </a:ln>
            </c:spPr>
            <c:txPr>
              <a:bodyPr/>
              <a:lstStyle/>
              <a:p>
                <a:pPr>
                  <a:defRPr sz="1200" b="1">
                    <a:solidFill>
                      <a:schemeClr val="bg1"/>
                    </a:solidFill>
                  </a:defRPr>
                </a:pPr>
                <a:endParaRPr lang="he-IL"/>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מגזר יהודי</c:v>
                </c:pt>
                <c:pt idx="1">
                  <c:v>מגזר ערבי</c:v>
                </c:pt>
                <c:pt idx="2">
                  <c:v>נכחו בדיון</c:v>
                </c:pt>
                <c:pt idx="3">
                  <c:v>לא נכחו בדיון
יוצגו ע"י עו"ד</c:v>
                </c:pt>
                <c:pt idx="4">
                  <c:v>לא נכחו בדיון
לא ידעו/התייצבו</c:v>
                </c:pt>
                <c:pt idx="5">
                  <c:v>נכחו בדיון</c:v>
                </c:pt>
                <c:pt idx="6">
                  <c:v>לא נכחו בדיון
יוצגו ע"י עו"ד</c:v>
                </c:pt>
                <c:pt idx="7">
                  <c:v>לא נכחו בדיון
לא ידעו/התייצבו</c:v>
                </c:pt>
              </c:strCache>
            </c:strRef>
          </c:cat>
          <c:val>
            <c:numRef>
              <c:f>Sheet1!$B$2:$I$2</c:f>
              <c:numCache>
                <c:formatCode>0%</c:formatCode>
                <c:ptCount val="8"/>
                <c:pt idx="0">
                  <c:v>0.40659340659340659</c:v>
                </c:pt>
                <c:pt idx="1">
                  <c:v>0.2978723404255319</c:v>
                </c:pt>
                <c:pt idx="2">
                  <c:v>0.40625</c:v>
                </c:pt>
                <c:pt idx="3">
                  <c:v>0.33333333333333337</c:v>
                </c:pt>
                <c:pt idx="4">
                  <c:v>0.46666666666666662</c:v>
                </c:pt>
                <c:pt idx="5">
                  <c:v>0.26315789473684209</c:v>
                </c:pt>
                <c:pt idx="6">
                  <c:v>0.35714285714285715</c:v>
                </c:pt>
                <c:pt idx="7">
                  <c:v>0.28571428571428575</c:v>
                </c:pt>
              </c:numCache>
            </c:numRef>
          </c:val>
          <c:extLst>
            <c:ext xmlns:c16="http://schemas.microsoft.com/office/drawing/2014/chart" uri="{C3380CC4-5D6E-409C-BE32-E72D297353CC}">
              <c16:uniqueId val="{00000000-852F-4D41-BB97-FE5B75D9962D}"/>
            </c:ext>
          </c:extLst>
        </c:ser>
        <c:ser>
          <c:idx val="1"/>
          <c:order val="1"/>
          <c:tx>
            <c:strRef>
              <c:f>Sheet1!$A$3</c:f>
              <c:strCache>
                <c:ptCount val="1"/>
                <c:pt idx="0">
                  <c:v>במידה בינונית</c:v>
                </c:pt>
              </c:strCache>
            </c:strRef>
          </c:tx>
          <c:spPr>
            <a:solidFill>
              <a:srgbClr val="FFB9C0"/>
            </a:solidFill>
          </c:spPr>
          <c:invertIfNegative val="0"/>
          <c:dLbls>
            <c:spPr>
              <a:noFill/>
              <a:ln>
                <a:noFill/>
              </a:ln>
              <a:effectLst/>
            </c:spPr>
            <c:txPr>
              <a:bodyPr wrap="square" lIns="38100" tIns="19050" rIns="38100" bIns="19050" anchor="ctr">
                <a:spAutoFit/>
              </a:bodyPr>
              <a:lstStyle/>
              <a:p>
                <a:pPr>
                  <a:defRPr sz="1200" b="1">
                    <a:solidFill>
                      <a:schemeClr val="bg1"/>
                    </a:solidFill>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Sheet1!$B$1:$I$1</c:f>
              <c:strCache>
                <c:ptCount val="8"/>
                <c:pt idx="0">
                  <c:v>מגזר יהודי</c:v>
                </c:pt>
                <c:pt idx="1">
                  <c:v>מגזר ערבי</c:v>
                </c:pt>
                <c:pt idx="2">
                  <c:v>נכחו בדיון</c:v>
                </c:pt>
                <c:pt idx="3">
                  <c:v>לא נכחו בדיון
יוצגו ע"י עו"ד</c:v>
                </c:pt>
                <c:pt idx="4">
                  <c:v>לא נכחו בדיון
לא ידעו/התייצבו</c:v>
                </c:pt>
                <c:pt idx="5">
                  <c:v>נכחו בדיון</c:v>
                </c:pt>
                <c:pt idx="6">
                  <c:v>לא נכחו בדיון
יוצגו ע"י עו"ד</c:v>
                </c:pt>
                <c:pt idx="7">
                  <c:v>לא נכחו בדיון
לא ידעו/התייצבו</c:v>
                </c:pt>
              </c:strCache>
            </c:strRef>
          </c:cat>
          <c:val>
            <c:numRef>
              <c:f>Sheet1!$B$3:$I$3</c:f>
              <c:numCache>
                <c:formatCode>0%</c:formatCode>
                <c:ptCount val="8"/>
                <c:pt idx="0">
                  <c:v>0.19780219780219782</c:v>
                </c:pt>
                <c:pt idx="1">
                  <c:v>0.2978723404255319</c:v>
                </c:pt>
                <c:pt idx="2">
                  <c:v>0.140625</c:v>
                </c:pt>
                <c:pt idx="3">
                  <c:v>0.33333333333333337</c:v>
                </c:pt>
                <c:pt idx="4">
                  <c:v>0.33333333333333337</c:v>
                </c:pt>
                <c:pt idx="5">
                  <c:v>0.31578947368421051</c:v>
                </c:pt>
                <c:pt idx="6">
                  <c:v>0.28571428571428575</c:v>
                </c:pt>
                <c:pt idx="7">
                  <c:v>0.28571428571428575</c:v>
                </c:pt>
              </c:numCache>
            </c:numRef>
          </c:val>
          <c:extLst>
            <c:ext xmlns:c16="http://schemas.microsoft.com/office/drawing/2014/chart" uri="{C3380CC4-5D6E-409C-BE32-E72D297353CC}">
              <c16:uniqueId val="{00000001-852F-4D41-BB97-FE5B75D9962D}"/>
            </c:ext>
          </c:extLst>
        </c:ser>
        <c:ser>
          <c:idx val="2"/>
          <c:order val="2"/>
          <c:tx>
            <c:strRef>
              <c:f>Sheet1!$A$4</c:f>
              <c:strCache>
                <c:ptCount val="1"/>
                <c:pt idx="0">
                  <c:v>במידה רבה</c:v>
                </c:pt>
              </c:strCache>
            </c:strRef>
          </c:tx>
          <c:spPr>
            <a:solidFill>
              <a:srgbClr val="09AFA7"/>
            </a:solidFill>
            <a:ln w="26415">
              <a:noFill/>
            </a:ln>
          </c:spPr>
          <c:invertIfNegative val="0"/>
          <c:dLbls>
            <c:spPr>
              <a:noFill/>
              <a:ln w="26415">
                <a:noFill/>
              </a:ln>
            </c:spPr>
            <c:txPr>
              <a:bodyPr wrap="square" lIns="38100" tIns="19050" rIns="38100" bIns="19050" anchor="ctr">
                <a:spAutoFit/>
              </a:bodyPr>
              <a:lstStyle/>
              <a:p>
                <a:pPr>
                  <a:defRPr sz="1200" b="1">
                    <a:solidFill>
                      <a:schemeClr val="bg1"/>
                    </a:solidFill>
                  </a:defRPr>
                </a:pPr>
                <a:endParaRPr lang="he-IL"/>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Sheet1!$B$1:$I$1</c:f>
              <c:strCache>
                <c:ptCount val="8"/>
                <c:pt idx="0">
                  <c:v>מגזר יהודי</c:v>
                </c:pt>
                <c:pt idx="1">
                  <c:v>מגזר ערבי</c:v>
                </c:pt>
                <c:pt idx="2">
                  <c:v>נכחו בדיון</c:v>
                </c:pt>
                <c:pt idx="3">
                  <c:v>לא נכחו בדיון
יוצגו ע"י עו"ד</c:v>
                </c:pt>
                <c:pt idx="4">
                  <c:v>לא נכחו בדיון
לא ידעו/התייצבו</c:v>
                </c:pt>
                <c:pt idx="5">
                  <c:v>נכחו בדיון</c:v>
                </c:pt>
                <c:pt idx="6">
                  <c:v>לא נכחו בדיון
יוצגו ע"י עו"ד</c:v>
                </c:pt>
                <c:pt idx="7">
                  <c:v>לא נכחו בדיון
לא ידעו/התייצבו</c:v>
                </c:pt>
              </c:strCache>
            </c:strRef>
          </c:cat>
          <c:val>
            <c:numRef>
              <c:f>Sheet1!$B$4:$I$4</c:f>
              <c:numCache>
                <c:formatCode>0%</c:formatCode>
                <c:ptCount val="8"/>
                <c:pt idx="0">
                  <c:v>0.38461538461538458</c:v>
                </c:pt>
                <c:pt idx="1">
                  <c:v>0.4042553191489362</c:v>
                </c:pt>
                <c:pt idx="2">
                  <c:v>0.453125</c:v>
                </c:pt>
                <c:pt idx="3">
                  <c:v>0.33333333333333337</c:v>
                </c:pt>
                <c:pt idx="4">
                  <c:v>0.13333333333333333</c:v>
                </c:pt>
                <c:pt idx="5">
                  <c:v>0.4210526315789474</c:v>
                </c:pt>
                <c:pt idx="6">
                  <c:v>0.35714285714285715</c:v>
                </c:pt>
                <c:pt idx="7">
                  <c:v>0.42857142857142855</c:v>
                </c:pt>
              </c:numCache>
            </c:numRef>
          </c:val>
          <c:extLst>
            <c:ext xmlns:c16="http://schemas.microsoft.com/office/drawing/2014/chart" uri="{C3380CC4-5D6E-409C-BE32-E72D297353CC}">
              <c16:uniqueId val="{00000002-852F-4D41-BB97-FE5B75D9962D}"/>
            </c:ext>
          </c:extLst>
        </c:ser>
        <c:ser>
          <c:idx val="3"/>
          <c:order val="3"/>
          <c:tx>
            <c:strRef>
              <c:f>Sheet1!$A$5</c:f>
              <c:strCache>
                <c:ptCount val="1"/>
                <c:pt idx="0">
                  <c:v>ממוצע</c:v>
                </c:pt>
              </c:strCache>
            </c:strRef>
          </c:tx>
          <c:spPr>
            <a:noFill/>
            <a:ln w="26415">
              <a:noFill/>
            </a:ln>
          </c:spPr>
          <c:invertIfNegative val="0"/>
          <c:dLbls>
            <c:spPr>
              <a:noFill/>
              <a:ln w="26415">
                <a:noFill/>
              </a:ln>
            </c:spPr>
            <c:txPr>
              <a:bodyPr wrap="square" lIns="38100" tIns="19050" rIns="38100" bIns="19050" anchor="ctr">
                <a:spAutoFit/>
              </a:bodyPr>
              <a:lstStyle/>
              <a:p>
                <a:pPr>
                  <a:defRPr sz="1400" b="1">
                    <a:solidFill>
                      <a:schemeClr val="tx1"/>
                    </a:solidFill>
                  </a:defRPr>
                </a:pPr>
                <a:endParaRPr lang="he-IL"/>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Sheet1!$B$1:$I$1</c:f>
              <c:strCache>
                <c:ptCount val="8"/>
                <c:pt idx="0">
                  <c:v>מגזר יהודי</c:v>
                </c:pt>
                <c:pt idx="1">
                  <c:v>מגזר ערבי</c:v>
                </c:pt>
                <c:pt idx="2">
                  <c:v>נכחו בדיון</c:v>
                </c:pt>
                <c:pt idx="3">
                  <c:v>לא נכחו בדיון
יוצגו ע"י עו"ד</c:v>
                </c:pt>
                <c:pt idx="4">
                  <c:v>לא נכחו בדיון
לא ידעו/התייצבו</c:v>
                </c:pt>
                <c:pt idx="5">
                  <c:v>נכחו בדיון</c:v>
                </c:pt>
                <c:pt idx="6">
                  <c:v>לא נכחו בדיון
יוצגו ע"י עו"ד</c:v>
                </c:pt>
                <c:pt idx="7">
                  <c:v>לא נכחו בדיון
לא ידעו/התייצבו</c:v>
                </c:pt>
              </c:strCache>
            </c:strRef>
          </c:cat>
          <c:val>
            <c:numRef>
              <c:f>Sheet1!$B$5:$I$5</c:f>
              <c:numCache>
                <c:formatCode>0.0</c:formatCode>
                <c:ptCount val="8"/>
                <c:pt idx="0">
                  <c:v>2.9333333333333331</c:v>
                </c:pt>
                <c:pt idx="1">
                  <c:v>3.1063829787234036</c:v>
                </c:pt>
                <c:pt idx="2">
                  <c:v>2.953125</c:v>
                </c:pt>
                <c:pt idx="3">
                  <c:v>3.0833333333333335</c:v>
                </c:pt>
                <c:pt idx="4">
                  <c:v>2.714285714285714</c:v>
                </c:pt>
                <c:pt idx="5">
                  <c:v>3.2105263157894735</c:v>
                </c:pt>
                <c:pt idx="6">
                  <c:v>2.9285714285714284</c:v>
                </c:pt>
                <c:pt idx="7">
                  <c:v>3.1428571428571428</c:v>
                </c:pt>
              </c:numCache>
            </c:numRef>
          </c:val>
          <c:extLst>
            <c:ext xmlns:c16="http://schemas.microsoft.com/office/drawing/2014/chart" uri="{C3380CC4-5D6E-409C-BE32-E72D297353CC}">
              <c16:uniqueId val="{00000003-852F-4D41-BB97-FE5B75D9962D}"/>
            </c:ext>
          </c:extLst>
        </c:ser>
        <c:dLbls>
          <c:showLegendKey val="0"/>
          <c:showVal val="0"/>
          <c:showCatName val="0"/>
          <c:showSerName val="0"/>
          <c:showPercent val="0"/>
          <c:showBubbleSize val="0"/>
        </c:dLbls>
        <c:gapWidth val="60"/>
        <c:overlap val="100"/>
        <c:axId val="1594904751"/>
        <c:axId val="1"/>
      </c:barChart>
      <c:catAx>
        <c:axId val="1594904751"/>
        <c:scaling>
          <c:orientation val="minMax"/>
        </c:scaling>
        <c:delete val="0"/>
        <c:axPos val="b"/>
        <c:numFmt formatCode="General" sourceLinked="1"/>
        <c:majorTickMark val="out"/>
        <c:minorTickMark val="none"/>
        <c:tickLblPos val="nextTo"/>
        <c:spPr>
          <a:ln>
            <a:noFill/>
          </a:ln>
        </c:spPr>
        <c:txPr>
          <a:bodyPr/>
          <a:lstStyle/>
          <a:p>
            <a:pPr>
              <a:defRPr sz="1100"/>
            </a:pPr>
            <a:endParaRPr lang="he-IL"/>
          </a:p>
        </c:txPr>
        <c:crossAx val="1"/>
        <c:crosses val="autoZero"/>
        <c:auto val="1"/>
        <c:lblAlgn val="ctr"/>
        <c:lblOffset val="100"/>
        <c:tickLblSkip val="1"/>
        <c:tickMarkSkip val="1"/>
        <c:noMultiLvlLbl val="0"/>
      </c:catAx>
      <c:valAx>
        <c:axId val="1"/>
        <c:scaling>
          <c:orientation val="minMax"/>
          <c:max val="1.2"/>
          <c:min val="0"/>
        </c:scaling>
        <c:delete val="1"/>
        <c:axPos val="l"/>
        <c:numFmt formatCode="0%" sourceLinked="1"/>
        <c:majorTickMark val="out"/>
        <c:minorTickMark val="none"/>
        <c:tickLblPos val="nextTo"/>
        <c:crossAx val="1594904751"/>
        <c:crosses val="autoZero"/>
        <c:crossBetween val="between"/>
      </c:valAx>
      <c:spPr>
        <a:noFill/>
        <a:ln w="26415">
          <a:noFill/>
        </a:ln>
      </c:spPr>
    </c:plotArea>
    <c:legend>
      <c:legendPos val="r"/>
      <c:legendEntry>
        <c:idx val="0"/>
        <c:txPr>
          <a:bodyPr/>
          <a:lstStyle/>
          <a:p>
            <a:pPr rtl="0">
              <a:defRPr sz="1200" b="1"/>
            </a:pPr>
            <a:endParaRPr lang="he-IL"/>
          </a:p>
        </c:txPr>
      </c:legendEntry>
      <c:legendEntry>
        <c:idx val="1"/>
        <c:txPr>
          <a:bodyPr/>
          <a:lstStyle/>
          <a:p>
            <a:pPr rtl="0">
              <a:defRPr sz="1100" b="0"/>
            </a:pPr>
            <a:endParaRPr lang="he-IL"/>
          </a:p>
        </c:txPr>
      </c:legendEntry>
      <c:legendEntry>
        <c:idx val="2"/>
        <c:txPr>
          <a:bodyPr/>
          <a:lstStyle/>
          <a:p>
            <a:pPr rtl="0">
              <a:defRPr sz="1100"/>
            </a:pPr>
            <a:endParaRPr lang="he-IL"/>
          </a:p>
        </c:txPr>
      </c:legendEntry>
      <c:legendEntry>
        <c:idx val="3"/>
        <c:txPr>
          <a:bodyPr/>
          <a:lstStyle/>
          <a:p>
            <a:pPr rtl="0">
              <a:defRPr sz="1100"/>
            </a:pPr>
            <a:endParaRPr lang="he-IL"/>
          </a:p>
        </c:txPr>
      </c:legendEntry>
      <c:layout>
        <c:manualLayout>
          <c:xMode val="edge"/>
          <c:yMode val="edge"/>
          <c:x val="0.89519791228649992"/>
          <c:y val="3.6486882894439167E-2"/>
          <c:w val="0.10044946239677389"/>
          <c:h val="0.58710366939793379"/>
        </c:manualLayout>
      </c:layout>
      <c:overlay val="0"/>
      <c:txPr>
        <a:bodyPr/>
        <a:lstStyle/>
        <a:p>
          <a:pPr rtl="0">
            <a:defRPr sz="1050"/>
          </a:pPr>
          <a:endParaRPr lang="he-IL"/>
        </a:p>
      </c:txPr>
    </c:legend>
    <c:plotVisOnly val="1"/>
    <c:dispBlanksAs val="gap"/>
    <c:showDLblsOverMax val="0"/>
  </c:chart>
  <c:spPr>
    <a:noFill/>
    <a:ln>
      <a:noFill/>
    </a:ln>
  </c:spPr>
  <c:txPr>
    <a:bodyPr/>
    <a:lstStyle/>
    <a:p>
      <a:pPr>
        <a:defRPr sz="1400" b="0" i="0" u="none" strike="noStrike" baseline="0">
          <a:solidFill>
            <a:schemeClr val="tx1">
              <a:lumMod val="75000"/>
              <a:lumOff val="25000"/>
            </a:schemeClr>
          </a:solidFill>
          <a:latin typeface="Segoe UI"/>
          <a:ea typeface="Segoe UI"/>
          <a:cs typeface="Segoe UI"/>
        </a:defRPr>
      </a:pPr>
      <a:endParaRPr lang="he-IL"/>
    </a:p>
  </c:txPr>
  <c:externalData r:id="rId2">
    <c:autoUpdate val="0"/>
  </c:externalData>
</c:chartSpace>
</file>

<file path=ppt/charts/chart6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4669033210601145"/>
          <c:y val="3.8183022381065447E-2"/>
          <c:w val="0.53880843449625127"/>
          <c:h val="0.92955878753370957"/>
        </c:manualLayout>
      </c:layout>
      <c:barChart>
        <c:barDir val="bar"/>
        <c:grouping val="clustered"/>
        <c:varyColors val="0"/>
        <c:ser>
          <c:idx val="0"/>
          <c:order val="0"/>
          <c:tx>
            <c:strRef>
              <c:f>Sheet1!$B$1</c:f>
              <c:strCache>
                <c:ptCount val="1"/>
                <c:pt idx="0">
                  <c:v>מגזר יהודי</c:v>
                </c:pt>
              </c:strCache>
            </c:strRef>
          </c:tx>
          <c:spPr>
            <a:solidFill>
              <a:srgbClr val="0070C0"/>
            </a:solidFill>
            <a:ln>
              <a:solidFill>
                <a:schemeClr val="bg1"/>
              </a:solidFill>
            </a:ln>
            <a:effectLst/>
          </c:spPr>
          <c:invertIfNegative val="0"/>
          <c:dPt>
            <c:idx val="4"/>
            <c:invertIfNegative val="0"/>
            <c:bubble3D val="0"/>
            <c:spPr>
              <a:solidFill>
                <a:srgbClr val="0070C0"/>
              </a:solidFill>
              <a:ln>
                <a:solidFill>
                  <a:schemeClr val="bg1"/>
                </a:solidFill>
              </a:ln>
              <a:effectLst/>
            </c:spPr>
            <c:extLst>
              <c:ext xmlns:c16="http://schemas.microsoft.com/office/drawing/2014/chart" uri="{C3380CC4-5D6E-409C-BE32-E72D297353CC}">
                <c16:uniqueId val="{00000001-27CF-4379-87B4-AAD39946FC63}"/>
              </c:ext>
            </c:extLst>
          </c:dPt>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rgbClr val="0070C0"/>
                    </a:solidFill>
                    <a:latin typeface="Segoe UI" panose="020B0502040204020203" pitchFamily="34" charset="0"/>
                    <a:ea typeface="+mn-ea"/>
                    <a:cs typeface="Segoe UI" panose="020B0502040204020203" pitchFamily="34" charset="0"/>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Sheet1!$A$2:$A$10</c:f>
              <c:strCache>
                <c:ptCount val="9"/>
                <c:pt idx="0">
                  <c:v>יחס טוב והוגנות</c:v>
                </c:pt>
                <c:pt idx="1">
                  <c:v>מתן הסברים / מידע</c:v>
                </c:pt>
                <c:pt idx="2">
                  <c:v>פישוט התהליך / הפחתת בירוקרטיה </c:v>
                </c:pt>
                <c:pt idx="3">
                  <c:v>הוכחה והצגה של הראיות</c:v>
                </c:pt>
                <c:pt idx="4">
                  <c:v>קיצור זמני המתנה / זירוז התהליך</c:v>
                </c:pt>
                <c:pt idx="5">
                  <c:v>הפחתת ענישה / הקלה בקנס / מתן פיצויים</c:v>
                </c:pt>
                <c:pt idx="6">
                  <c:v>אפשרות המרה באזהרה ולהדגיש אפשרות זו</c:v>
                </c:pt>
                <c:pt idx="7">
                  <c:v>לא הייתי משנה דבר / כלום</c:v>
                </c:pt>
                <c:pt idx="8">
                  <c:v>לא יודע</c:v>
                </c:pt>
              </c:strCache>
            </c:strRef>
          </c:cat>
          <c:val>
            <c:numRef>
              <c:f>Sheet1!$B$2:$B$10</c:f>
              <c:numCache>
                <c:formatCode>0%</c:formatCode>
                <c:ptCount val="9"/>
                <c:pt idx="0">
                  <c:v>0.21739130434782608</c:v>
                </c:pt>
                <c:pt idx="1">
                  <c:v>0.10559006211180125</c:v>
                </c:pt>
                <c:pt idx="2">
                  <c:v>9.9378881987577633E-2</c:v>
                </c:pt>
                <c:pt idx="3">
                  <c:v>3.1055900621118012E-2</c:v>
                </c:pt>
                <c:pt idx="4">
                  <c:v>6.8322981366459631E-2</c:v>
                </c:pt>
                <c:pt idx="5">
                  <c:v>4.3478260869565216E-2</c:v>
                </c:pt>
                <c:pt idx="6">
                  <c:v>5.5900621118012424E-2</c:v>
                </c:pt>
                <c:pt idx="7">
                  <c:v>0.11801242236024845</c:v>
                </c:pt>
                <c:pt idx="8">
                  <c:v>0.13043478260869565</c:v>
                </c:pt>
              </c:numCache>
            </c:numRef>
          </c:val>
          <c:extLst>
            <c:ext xmlns:c16="http://schemas.microsoft.com/office/drawing/2014/chart" uri="{C3380CC4-5D6E-409C-BE32-E72D297353CC}">
              <c16:uniqueId val="{00000002-27CF-4379-87B4-AAD39946FC63}"/>
            </c:ext>
          </c:extLst>
        </c:ser>
        <c:ser>
          <c:idx val="1"/>
          <c:order val="1"/>
          <c:tx>
            <c:strRef>
              <c:f>Sheet1!$C$1</c:f>
              <c:strCache>
                <c:ptCount val="1"/>
                <c:pt idx="0">
                  <c:v>מגזר ערבי</c:v>
                </c:pt>
              </c:strCache>
            </c:strRef>
          </c:tx>
          <c:spPr>
            <a:solidFill>
              <a:srgbClr val="00B0F0"/>
            </a:solidFill>
            <a:ln>
              <a:solidFill>
                <a:schemeClr val="bg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rgbClr val="00B0F0"/>
                    </a:solidFill>
                    <a:latin typeface="Segoe UI" panose="020B0502040204020203" pitchFamily="34" charset="0"/>
                    <a:ea typeface="+mn-ea"/>
                    <a:cs typeface="Segoe UI" panose="020B0502040204020203" pitchFamily="34" charset="0"/>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Sheet1!$A$2:$A$10</c:f>
              <c:strCache>
                <c:ptCount val="9"/>
                <c:pt idx="0">
                  <c:v>יחס טוב והוגנות</c:v>
                </c:pt>
                <c:pt idx="1">
                  <c:v>מתן הסברים / מידע</c:v>
                </c:pt>
                <c:pt idx="2">
                  <c:v>פישוט התהליך / הפחתת בירוקרטיה </c:v>
                </c:pt>
                <c:pt idx="3">
                  <c:v>הוכחה והצגה של הראיות</c:v>
                </c:pt>
                <c:pt idx="4">
                  <c:v>קיצור זמני המתנה / זירוז התהליך</c:v>
                </c:pt>
                <c:pt idx="5">
                  <c:v>הפחתת ענישה / הקלה בקנס / מתן פיצויים</c:v>
                </c:pt>
                <c:pt idx="6">
                  <c:v>אפשרות המרה באזהרה ולהדגיש אפשרות זו</c:v>
                </c:pt>
                <c:pt idx="7">
                  <c:v>לא הייתי משנה דבר / כלום</c:v>
                </c:pt>
                <c:pt idx="8">
                  <c:v>לא יודע</c:v>
                </c:pt>
              </c:strCache>
            </c:strRef>
          </c:cat>
          <c:val>
            <c:numRef>
              <c:f>Sheet1!$C$2:$C$10</c:f>
              <c:numCache>
                <c:formatCode>0%</c:formatCode>
                <c:ptCount val="9"/>
                <c:pt idx="0">
                  <c:v>9.8765432098765427E-2</c:v>
                </c:pt>
                <c:pt idx="1">
                  <c:v>9.8765432098765427E-2</c:v>
                </c:pt>
                <c:pt idx="2">
                  <c:v>9.8765432098765427E-2</c:v>
                </c:pt>
                <c:pt idx="3">
                  <c:v>4.9382716049382713E-2</c:v>
                </c:pt>
                <c:pt idx="4">
                  <c:v>0.14814814814814814</c:v>
                </c:pt>
                <c:pt idx="5">
                  <c:v>9.8765432098765427E-2</c:v>
                </c:pt>
                <c:pt idx="6">
                  <c:v>4.9382716049382713E-2</c:v>
                </c:pt>
                <c:pt idx="7">
                  <c:v>9.8765432098765427E-2</c:v>
                </c:pt>
                <c:pt idx="8">
                  <c:v>0.22222222222222221</c:v>
                </c:pt>
              </c:numCache>
            </c:numRef>
          </c:val>
          <c:extLst>
            <c:ext xmlns:c16="http://schemas.microsoft.com/office/drawing/2014/chart" uri="{C3380CC4-5D6E-409C-BE32-E72D297353CC}">
              <c16:uniqueId val="{00000003-27CF-4379-87B4-AAD39946FC63}"/>
            </c:ext>
          </c:extLst>
        </c:ser>
        <c:dLbls>
          <c:dLblPos val="outEnd"/>
          <c:showLegendKey val="0"/>
          <c:showVal val="1"/>
          <c:showCatName val="0"/>
          <c:showSerName val="0"/>
          <c:showPercent val="0"/>
          <c:showBubbleSize val="0"/>
        </c:dLbls>
        <c:gapWidth val="80"/>
        <c:axId val="218240"/>
        <c:axId val="12131296"/>
      </c:barChart>
      <c:catAx>
        <c:axId val="218240"/>
        <c:scaling>
          <c:orientation val="maxMin"/>
        </c:scaling>
        <c:delete val="0"/>
        <c:axPos val="l"/>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0"/>
          <a:lstStyle/>
          <a:p>
            <a:pPr>
              <a:defRPr sz="1100" b="0" i="0" u="none" strike="noStrike" kern="1200" baseline="0">
                <a:solidFill>
                  <a:srgbClr val="3D4A6F"/>
                </a:solidFill>
                <a:latin typeface="Segoe UI" panose="020B0502040204020203" pitchFamily="34" charset="0"/>
                <a:ea typeface="+mn-ea"/>
                <a:cs typeface="Segoe UI" panose="020B0502040204020203" pitchFamily="34" charset="0"/>
              </a:defRPr>
            </a:pPr>
            <a:endParaRPr lang="he-IL"/>
          </a:p>
        </c:txPr>
        <c:crossAx val="12131296"/>
        <c:crosses val="autoZero"/>
        <c:auto val="1"/>
        <c:lblAlgn val="ctr"/>
        <c:lblOffset val="100"/>
        <c:noMultiLvlLbl val="0"/>
      </c:catAx>
      <c:valAx>
        <c:axId val="12131296"/>
        <c:scaling>
          <c:orientation val="minMax"/>
          <c:max val="0.30000000000000004"/>
          <c:min val="0"/>
        </c:scaling>
        <c:delete val="1"/>
        <c:axPos val="t"/>
        <c:numFmt formatCode="0%" sourceLinked="1"/>
        <c:majorTickMark val="out"/>
        <c:minorTickMark val="none"/>
        <c:tickLblPos val="nextTo"/>
        <c:crossAx val="218240"/>
        <c:crosses val="autoZero"/>
        <c:crossBetween val="between"/>
      </c:valAx>
      <c:spPr>
        <a:noFill/>
        <a:ln>
          <a:noFill/>
        </a:ln>
        <a:effectLst/>
      </c:spPr>
    </c:plotArea>
    <c:legend>
      <c:legendPos val="r"/>
      <c:layout>
        <c:manualLayout>
          <c:xMode val="edge"/>
          <c:yMode val="edge"/>
          <c:x val="0.82089515511647404"/>
          <c:y val="0.7386903765167514"/>
          <c:w val="0.15415694530519"/>
          <c:h val="0.13839221223898129"/>
        </c:manualLayout>
      </c:layout>
      <c:overlay val="0"/>
      <c:spPr>
        <a:noFill/>
        <a:ln>
          <a:noFill/>
        </a:ln>
        <a:effectLst/>
      </c:spPr>
      <c:txPr>
        <a:bodyPr rot="0" spcFirstLastPara="1" vertOverflow="ellipsis" vert="horz" wrap="square" anchor="ctr" anchorCtr="1"/>
        <a:lstStyle/>
        <a:p>
          <a:pPr>
            <a:defRPr sz="1200" b="0" i="0" u="none" strike="noStrike" kern="1200" baseline="0">
              <a:solidFill>
                <a:srgbClr val="3D4A6F"/>
              </a:solidFill>
              <a:latin typeface="Segoe UI" panose="020B0502040204020203" pitchFamily="34" charset="0"/>
              <a:ea typeface="+mn-ea"/>
              <a:cs typeface="Segoe UI" panose="020B0502040204020203" pitchFamily="34" charset="0"/>
            </a:defRPr>
          </a:pPr>
          <a:endParaRPr lang="he-I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a:noFill/>
    </a:ln>
    <a:effectLst/>
  </c:spPr>
  <c:txPr>
    <a:bodyPr/>
    <a:lstStyle/>
    <a:p>
      <a:pPr>
        <a:defRPr sz="1200">
          <a:latin typeface="Segoe UI" panose="020B0502040204020203" pitchFamily="34" charset="0"/>
          <a:cs typeface="Segoe UI" panose="020B0502040204020203" pitchFamily="34" charset="0"/>
        </a:defRPr>
      </a:pPr>
      <a:endParaRPr lang="he-IL"/>
    </a:p>
  </c:txPr>
  <c:externalData r:id="rId3">
    <c:autoUpdate val="0"/>
  </c:externalData>
</c:chartSpace>
</file>

<file path=ppt/charts/chart6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1.1262886993089706E-2"/>
          <c:y val="4.9480359475461005E-2"/>
          <c:w val="0.89273376902919432"/>
          <c:h val="0.64734074074074077"/>
        </c:manualLayout>
      </c:layout>
      <c:barChart>
        <c:barDir val="col"/>
        <c:grouping val="stacked"/>
        <c:varyColors val="0"/>
        <c:ser>
          <c:idx val="0"/>
          <c:order val="0"/>
          <c:tx>
            <c:strRef>
              <c:f>Sheet1!$A$2</c:f>
              <c:strCache>
                <c:ptCount val="1"/>
                <c:pt idx="0">
                  <c:v>במידה מועטה</c:v>
                </c:pt>
              </c:strCache>
            </c:strRef>
          </c:tx>
          <c:spPr>
            <a:solidFill>
              <a:srgbClr val="FA4C75"/>
            </a:solidFill>
            <a:ln w="26415">
              <a:noFill/>
            </a:ln>
          </c:spPr>
          <c:invertIfNegative val="0"/>
          <c:dLbls>
            <c:spPr>
              <a:noFill/>
              <a:ln w="26415">
                <a:noFill/>
              </a:ln>
            </c:spPr>
            <c:txPr>
              <a:bodyPr/>
              <a:lstStyle/>
              <a:p>
                <a:pPr>
                  <a:defRPr sz="1200" b="1">
                    <a:solidFill>
                      <a:schemeClr val="bg1"/>
                    </a:solidFill>
                  </a:defRPr>
                </a:pPr>
                <a:endParaRPr lang="he-IL"/>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Sheet1!$B$1:$E$1</c:f>
              <c:strCache>
                <c:ptCount val="4"/>
                <c:pt idx="0">
                  <c:v>מגזר יהודי</c:v>
                </c:pt>
                <c:pt idx="1">
                  <c:v>מגזר ערבי</c:v>
                </c:pt>
                <c:pt idx="2">
                  <c:v>מגזר יהודי</c:v>
                </c:pt>
                <c:pt idx="3">
                  <c:v>מגזר ערבי</c:v>
                </c:pt>
              </c:strCache>
            </c:strRef>
          </c:cat>
          <c:val>
            <c:numRef>
              <c:f>Sheet1!$B$2:$E$2</c:f>
              <c:numCache>
                <c:formatCode>0%</c:formatCode>
                <c:ptCount val="4"/>
                <c:pt idx="0">
                  <c:v>0.42372881355932202</c:v>
                </c:pt>
                <c:pt idx="1">
                  <c:v>0.44186046511627908</c:v>
                </c:pt>
                <c:pt idx="2">
                  <c:v>0.41614906832298137</c:v>
                </c:pt>
                <c:pt idx="3">
                  <c:v>0.32098765432098764</c:v>
                </c:pt>
              </c:numCache>
            </c:numRef>
          </c:val>
          <c:extLst>
            <c:ext xmlns:c16="http://schemas.microsoft.com/office/drawing/2014/chart" uri="{C3380CC4-5D6E-409C-BE32-E72D297353CC}">
              <c16:uniqueId val="{00000000-C22D-4B9D-86F3-566C9D6B1923}"/>
            </c:ext>
          </c:extLst>
        </c:ser>
        <c:ser>
          <c:idx val="1"/>
          <c:order val="1"/>
          <c:tx>
            <c:strRef>
              <c:f>Sheet1!$A$3</c:f>
              <c:strCache>
                <c:ptCount val="1"/>
                <c:pt idx="0">
                  <c:v>במידה בינונית</c:v>
                </c:pt>
              </c:strCache>
            </c:strRef>
          </c:tx>
          <c:spPr>
            <a:solidFill>
              <a:srgbClr val="FFB9C0"/>
            </a:solidFill>
          </c:spPr>
          <c:invertIfNegative val="0"/>
          <c:dLbls>
            <c:spPr>
              <a:noFill/>
              <a:ln>
                <a:noFill/>
              </a:ln>
              <a:effectLst/>
            </c:spPr>
            <c:txPr>
              <a:bodyPr wrap="square" lIns="38100" tIns="19050" rIns="38100" bIns="19050" anchor="ctr">
                <a:spAutoFit/>
              </a:bodyPr>
              <a:lstStyle/>
              <a:p>
                <a:pPr>
                  <a:defRPr sz="1200" b="1">
                    <a:solidFill>
                      <a:schemeClr val="bg1"/>
                    </a:solidFill>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Sheet1!$B$1:$E$1</c:f>
              <c:strCache>
                <c:ptCount val="4"/>
                <c:pt idx="0">
                  <c:v>מגזר יהודי</c:v>
                </c:pt>
                <c:pt idx="1">
                  <c:v>מגזר ערבי</c:v>
                </c:pt>
                <c:pt idx="2">
                  <c:v>מגזר יהודי</c:v>
                </c:pt>
                <c:pt idx="3">
                  <c:v>מגזר ערבי</c:v>
                </c:pt>
              </c:strCache>
            </c:strRef>
          </c:cat>
          <c:val>
            <c:numRef>
              <c:f>Sheet1!$B$3:$E$3</c:f>
              <c:numCache>
                <c:formatCode>0%</c:formatCode>
                <c:ptCount val="4"/>
                <c:pt idx="0">
                  <c:v>0.20338983050847456</c:v>
                </c:pt>
                <c:pt idx="1">
                  <c:v>0.22093023255813954</c:v>
                </c:pt>
                <c:pt idx="2">
                  <c:v>0.2608695652173913</c:v>
                </c:pt>
                <c:pt idx="3">
                  <c:v>0.37037037037037041</c:v>
                </c:pt>
              </c:numCache>
            </c:numRef>
          </c:val>
          <c:extLst>
            <c:ext xmlns:c16="http://schemas.microsoft.com/office/drawing/2014/chart" uri="{C3380CC4-5D6E-409C-BE32-E72D297353CC}">
              <c16:uniqueId val="{00000001-C22D-4B9D-86F3-566C9D6B1923}"/>
            </c:ext>
          </c:extLst>
        </c:ser>
        <c:ser>
          <c:idx val="2"/>
          <c:order val="2"/>
          <c:tx>
            <c:strRef>
              <c:f>Sheet1!$A$4</c:f>
              <c:strCache>
                <c:ptCount val="1"/>
                <c:pt idx="0">
                  <c:v>במידה רבה</c:v>
                </c:pt>
              </c:strCache>
            </c:strRef>
          </c:tx>
          <c:spPr>
            <a:solidFill>
              <a:srgbClr val="09AFA7"/>
            </a:solidFill>
            <a:ln w="26415">
              <a:noFill/>
            </a:ln>
          </c:spPr>
          <c:invertIfNegative val="0"/>
          <c:dLbls>
            <c:spPr>
              <a:noFill/>
              <a:ln w="26415">
                <a:noFill/>
              </a:ln>
            </c:spPr>
            <c:txPr>
              <a:bodyPr wrap="square" lIns="38100" tIns="19050" rIns="38100" bIns="19050" anchor="ctr">
                <a:spAutoFit/>
              </a:bodyPr>
              <a:lstStyle/>
              <a:p>
                <a:pPr>
                  <a:defRPr sz="1200" b="1">
                    <a:solidFill>
                      <a:schemeClr val="bg1"/>
                    </a:solidFill>
                  </a:defRPr>
                </a:pPr>
                <a:endParaRPr lang="he-IL"/>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Sheet1!$B$1:$E$1</c:f>
              <c:strCache>
                <c:ptCount val="4"/>
                <c:pt idx="0">
                  <c:v>מגזר יהודי</c:v>
                </c:pt>
                <c:pt idx="1">
                  <c:v>מגזר ערבי</c:v>
                </c:pt>
                <c:pt idx="2">
                  <c:v>מגזר יהודי</c:v>
                </c:pt>
                <c:pt idx="3">
                  <c:v>מגזר ערבי</c:v>
                </c:pt>
              </c:strCache>
            </c:strRef>
          </c:cat>
          <c:val>
            <c:numRef>
              <c:f>Sheet1!$B$4:$E$4</c:f>
              <c:numCache>
                <c:formatCode>0%</c:formatCode>
                <c:ptCount val="4"/>
                <c:pt idx="0">
                  <c:v>0.31638418079096042</c:v>
                </c:pt>
                <c:pt idx="1">
                  <c:v>0.29069767441860461</c:v>
                </c:pt>
                <c:pt idx="2">
                  <c:v>0.26708074534161491</c:v>
                </c:pt>
                <c:pt idx="3">
                  <c:v>0.27160493827160492</c:v>
                </c:pt>
              </c:numCache>
            </c:numRef>
          </c:val>
          <c:extLst>
            <c:ext xmlns:c16="http://schemas.microsoft.com/office/drawing/2014/chart" uri="{C3380CC4-5D6E-409C-BE32-E72D297353CC}">
              <c16:uniqueId val="{00000002-C22D-4B9D-86F3-566C9D6B1923}"/>
            </c:ext>
          </c:extLst>
        </c:ser>
        <c:ser>
          <c:idx val="3"/>
          <c:order val="3"/>
          <c:tx>
            <c:strRef>
              <c:f>Sheet1!$A$5</c:f>
              <c:strCache>
                <c:ptCount val="1"/>
                <c:pt idx="0">
                  <c:v>ממוצע</c:v>
                </c:pt>
              </c:strCache>
            </c:strRef>
          </c:tx>
          <c:spPr>
            <a:noFill/>
            <a:ln w="26415">
              <a:noFill/>
            </a:ln>
          </c:spPr>
          <c:invertIfNegative val="0"/>
          <c:dLbls>
            <c:spPr>
              <a:noFill/>
              <a:ln w="26415">
                <a:noFill/>
              </a:ln>
            </c:spPr>
            <c:txPr>
              <a:bodyPr wrap="square" lIns="38100" tIns="19050" rIns="38100" bIns="19050" anchor="ctr">
                <a:spAutoFit/>
              </a:bodyPr>
              <a:lstStyle/>
              <a:p>
                <a:pPr>
                  <a:defRPr sz="1400" b="1">
                    <a:solidFill>
                      <a:schemeClr val="tx1"/>
                    </a:solidFill>
                  </a:defRPr>
                </a:pPr>
                <a:endParaRPr lang="he-IL"/>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Sheet1!$B$1:$E$1</c:f>
              <c:strCache>
                <c:ptCount val="4"/>
                <c:pt idx="0">
                  <c:v>מגזר יהודי</c:v>
                </c:pt>
                <c:pt idx="1">
                  <c:v>מגזר ערבי</c:v>
                </c:pt>
                <c:pt idx="2">
                  <c:v>מגזר יהודי</c:v>
                </c:pt>
                <c:pt idx="3">
                  <c:v>מגזר ערבי</c:v>
                </c:pt>
              </c:strCache>
            </c:strRef>
          </c:cat>
          <c:val>
            <c:numRef>
              <c:f>Sheet1!$B$5:$E$5</c:f>
              <c:numCache>
                <c:formatCode>0.0</c:formatCode>
                <c:ptCount val="4"/>
                <c:pt idx="0">
                  <c:v>2.7724550898203599</c:v>
                </c:pt>
                <c:pt idx="1">
                  <c:v>2.6585365853658534</c:v>
                </c:pt>
                <c:pt idx="2">
                  <c:v>2.6842105263157885</c:v>
                </c:pt>
                <c:pt idx="3">
                  <c:v>2.8205128205128203</c:v>
                </c:pt>
              </c:numCache>
            </c:numRef>
          </c:val>
          <c:extLst>
            <c:ext xmlns:c16="http://schemas.microsoft.com/office/drawing/2014/chart" uri="{C3380CC4-5D6E-409C-BE32-E72D297353CC}">
              <c16:uniqueId val="{00000003-C22D-4B9D-86F3-566C9D6B1923}"/>
            </c:ext>
          </c:extLst>
        </c:ser>
        <c:dLbls>
          <c:showLegendKey val="0"/>
          <c:showVal val="0"/>
          <c:showCatName val="0"/>
          <c:showSerName val="0"/>
          <c:showPercent val="0"/>
          <c:showBubbleSize val="0"/>
        </c:dLbls>
        <c:gapWidth val="60"/>
        <c:overlap val="100"/>
        <c:axId val="1594904751"/>
        <c:axId val="1"/>
      </c:barChart>
      <c:catAx>
        <c:axId val="1594904751"/>
        <c:scaling>
          <c:orientation val="minMax"/>
        </c:scaling>
        <c:delete val="0"/>
        <c:axPos val="b"/>
        <c:numFmt formatCode="General" sourceLinked="1"/>
        <c:majorTickMark val="out"/>
        <c:minorTickMark val="none"/>
        <c:tickLblPos val="nextTo"/>
        <c:spPr>
          <a:ln>
            <a:noFill/>
          </a:ln>
        </c:spPr>
        <c:txPr>
          <a:bodyPr/>
          <a:lstStyle/>
          <a:p>
            <a:pPr>
              <a:defRPr sz="1100"/>
            </a:pPr>
            <a:endParaRPr lang="he-IL"/>
          </a:p>
        </c:txPr>
        <c:crossAx val="1"/>
        <c:crosses val="autoZero"/>
        <c:auto val="1"/>
        <c:lblAlgn val="ctr"/>
        <c:lblOffset val="100"/>
        <c:tickLblSkip val="1"/>
        <c:tickMarkSkip val="1"/>
        <c:noMultiLvlLbl val="0"/>
      </c:catAx>
      <c:valAx>
        <c:axId val="1"/>
        <c:scaling>
          <c:orientation val="minMax"/>
          <c:max val="1.2"/>
          <c:min val="0"/>
        </c:scaling>
        <c:delete val="1"/>
        <c:axPos val="l"/>
        <c:numFmt formatCode="0%" sourceLinked="1"/>
        <c:majorTickMark val="out"/>
        <c:minorTickMark val="none"/>
        <c:tickLblPos val="nextTo"/>
        <c:crossAx val="1594904751"/>
        <c:crosses val="autoZero"/>
        <c:crossBetween val="between"/>
      </c:valAx>
      <c:spPr>
        <a:noFill/>
        <a:ln w="26415">
          <a:noFill/>
        </a:ln>
      </c:spPr>
    </c:plotArea>
    <c:legend>
      <c:legendPos val="r"/>
      <c:legendEntry>
        <c:idx val="0"/>
        <c:txPr>
          <a:bodyPr/>
          <a:lstStyle/>
          <a:p>
            <a:pPr rtl="0">
              <a:defRPr sz="1200" b="1"/>
            </a:pPr>
            <a:endParaRPr lang="he-IL"/>
          </a:p>
        </c:txPr>
      </c:legendEntry>
      <c:legendEntry>
        <c:idx val="1"/>
        <c:txPr>
          <a:bodyPr/>
          <a:lstStyle/>
          <a:p>
            <a:pPr rtl="0">
              <a:defRPr sz="1100" b="0"/>
            </a:pPr>
            <a:endParaRPr lang="he-IL"/>
          </a:p>
        </c:txPr>
      </c:legendEntry>
      <c:legendEntry>
        <c:idx val="2"/>
        <c:txPr>
          <a:bodyPr/>
          <a:lstStyle/>
          <a:p>
            <a:pPr rtl="0">
              <a:defRPr sz="1100"/>
            </a:pPr>
            <a:endParaRPr lang="he-IL"/>
          </a:p>
        </c:txPr>
      </c:legendEntry>
      <c:legendEntry>
        <c:idx val="3"/>
        <c:txPr>
          <a:bodyPr/>
          <a:lstStyle/>
          <a:p>
            <a:pPr rtl="0">
              <a:defRPr sz="1100"/>
            </a:pPr>
            <a:endParaRPr lang="he-IL"/>
          </a:p>
        </c:txPr>
      </c:legendEntry>
      <c:layout>
        <c:manualLayout>
          <c:xMode val="edge"/>
          <c:yMode val="edge"/>
          <c:x val="0.89519791228649992"/>
          <c:y val="3.6486882894439167E-2"/>
          <c:w val="0.10044946239677389"/>
          <c:h val="0.58710366939793379"/>
        </c:manualLayout>
      </c:layout>
      <c:overlay val="0"/>
      <c:txPr>
        <a:bodyPr/>
        <a:lstStyle/>
        <a:p>
          <a:pPr rtl="0">
            <a:defRPr sz="1050"/>
          </a:pPr>
          <a:endParaRPr lang="he-IL"/>
        </a:p>
      </c:txPr>
    </c:legend>
    <c:plotVisOnly val="1"/>
    <c:dispBlanksAs val="gap"/>
    <c:showDLblsOverMax val="0"/>
  </c:chart>
  <c:spPr>
    <a:noFill/>
    <a:ln>
      <a:noFill/>
    </a:ln>
  </c:spPr>
  <c:txPr>
    <a:bodyPr/>
    <a:lstStyle/>
    <a:p>
      <a:pPr>
        <a:defRPr sz="1400" b="0" i="0" u="none" strike="noStrike" baseline="0">
          <a:solidFill>
            <a:schemeClr val="tx1">
              <a:lumMod val="75000"/>
              <a:lumOff val="25000"/>
            </a:schemeClr>
          </a:solidFill>
          <a:latin typeface="Segoe UI"/>
          <a:ea typeface="Segoe UI"/>
          <a:cs typeface="Segoe UI"/>
        </a:defRPr>
      </a:pPr>
      <a:endParaRPr lang="he-IL"/>
    </a:p>
  </c:txPr>
  <c:externalData r:id="rId2">
    <c:autoUpdate val="0"/>
  </c:externalData>
</c:chartSpace>
</file>

<file path=ppt/charts/chart6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1.1262886993089706E-2"/>
          <c:y val="4.9480359475461005E-2"/>
          <c:w val="0.89273376902919432"/>
          <c:h val="0.64734074074074077"/>
        </c:manualLayout>
      </c:layout>
      <c:barChart>
        <c:barDir val="col"/>
        <c:grouping val="stacked"/>
        <c:varyColors val="0"/>
        <c:ser>
          <c:idx val="0"/>
          <c:order val="0"/>
          <c:tx>
            <c:strRef>
              <c:f>Sheet1!$A$2</c:f>
              <c:strCache>
                <c:ptCount val="1"/>
                <c:pt idx="0">
                  <c:v>במידה מועטה</c:v>
                </c:pt>
              </c:strCache>
            </c:strRef>
          </c:tx>
          <c:spPr>
            <a:solidFill>
              <a:srgbClr val="FA4C75"/>
            </a:solidFill>
            <a:ln w="26415">
              <a:noFill/>
            </a:ln>
          </c:spPr>
          <c:invertIfNegative val="0"/>
          <c:dLbls>
            <c:spPr>
              <a:noFill/>
              <a:ln w="26415">
                <a:noFill/>
              </a:ln>
            </c:spPr>
            <c:txPr>
              <a:bodyPr/>
              <a:lstStyle/>
              <a:p>
                <a:pPr>
                  <a:defRPr sz="1200" b="1">
                    <a:solidFill>
                      <a:schemeClr val="bg1"/>
                    </a:solidFill>
                  </a:defRPr>
                </a:pPr>
                <a:endParaRPr lang="he-IL"/>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Sheet1!$B$1:$E$1</c:f>
              <c:strCache>
                <c:ptCount val="4"/>
                <c:pt idx="0">
                  <c:v>מגזר יהודי</c:v>
                </c:pt>
                <c:pt idx="1">
                  <c:v>מגזר ערבי</c:v>
                </c:pt>
                <c:pt idx="2">
                  <c:v>מגזר יהודי</c:v>
                </c:pt>
                <c:pt idx="3">
                  <c:v>מגזר ערבי</c:v>
                </c:pt>
              </c:strCache>
            </c:strRef>
          </c:cat>
          <c:val>
            <c:numRef>
              <c:f>Sheet1!$B$2:$E$2</c:f>
              <c:numCache>
                <c:formatCode>0%</c:formatCode>
                <c:ptCount val="4"/>
                <c:pt idx="0">
                  <c:v>0.30508474576271188</c:v>
                </c:pt>
                <c:pt idx="1">
                  <c:v>0.22093023255813954</c:v>
                </c:pt>
                <c:pt idx="2">
                  <c:v>0.39751552795031053</c:v>
                </c:pt>
                <c:pt idx="3">
                  <c:v>0.22222222222222221</c:v>
                </c:pt>
              </c:numCache>
            </c:numRef>
          </c:val>
          <c:extLst>
            <c:ext xmlns:c16="http://schemas.microsoft.com/office/drawing/2014/chart" uri="{C3380CC4-5D6E-409C-BE32-E72D297353CC}">
              <c16:uniqueId val="{00000000-FB11-4DD5-8412-E875B305CA1E}"/>
            </c:ext>
          </c:extLst>
        </c:ser>
        <c:ser>
          <c:idx val="1"/>
          <c:order val="1"/>
          <c:tx>
            <c:strRef>
              <c:f>Sheet1!$A$3</c:f>
              <c:strCache>
                <c:ptCount val="1"/>
                <c:pt idx="0">
                  <c:v>במידה בינונית</c:v>
                </c:pt>
              </c:strCache>
            </c:strRef>
          </c:tx>
          <c:spPr>
            <a:solidFill>
              <a:srgbClr val="FFB9C0"/>
            </a:solidFill>
          </c:spPr>
          <c:invertIfNegative val="0"/>
          <c:dLbls>
            <c:spPr>
              <a:noFill/>
              <a:ln>
                <a:noFill/>
              </a:ln>
              <a:effectLst/>
            </c:spPr>
            <c:txPr>
              <a:bodyPr wrap="square" lIns="38100" tIns="19050" rIns="38100" bIns="19050" anchor="ctr">
                <a:spAutoFit/>
              </a:bodyPr>
              <a:lstStyle/>
              <a:p>
                <a:pPr>
                  <a:defRPr sz="1200" b="1">
                    <a:solidFill>
                      <a:schemeClr val="bg1"/>
                    </a:solidFill>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Sheet1!$B$1:$E$1</c:f>
              <c:strCache>
                <c:ptCount val="4"/>
                <c:pt idx="0">
                  <c:v>מגזר יהודי</c:v>
                </c:pt>
                <c:pt idx="1">
                  <c:v>מגזר ערבי</c:v>
                </c:pt>
                <c:pt idx="2">
                  <c:v>מגזר יהודי</c:v>
                </c:pt>
                <c:pt idx="3">
                  <c:v>מגזר ערבי</c:v>
                </c:pt>
              </c:strCache>
            </c:strRef>
          </c:cat>
          <c:val>
            <c:numRef>
              <c:f>Sheet1!$B$3:$E$3</c:f>
              <c:numCache>
                <c:formatCode>0%</c:formatCode>
                <c:ptCount val="4"/>
                <c:pt idx="0">
                  <c:v>0.12429378531073447</c:v>
                </c:pt>
                <c:pt idx="1">
                  <c:v>0.16279069767441862</c:v>
                </c:pt>
                <c:pt idx="2">
                  <c:v>0.19254658385093168</c:v>
                </c:pt>
                <c:pt idx="3">
                  <c:v>0.29629629629629628</c:v>
                </c:pt>
              </c:numCache>
            </c:numRef>
          </c:val>
          <c:extLst>
            <c:ext xmlns:c16="http://schemas.microsoft.com/office/drawing/2014/chart" uri="{C3380CC4-5D6E-409C-BE32-E72D297353CC}">
              <c16:uniqueId val="{00000001-FB11-4DD5-8412-E875B305CA1E}"/>
            </c:ext>
          </c:extLst>
        </c:ser>
        <c:ser>
          <c:idx val="2"/>
          <c:order val="2"/>
          <c:tx>
            <c:strRef>
              <c:f>Sheet1!$A$4</c:f>
              <c:strCache>
                <c:ptCount val="1"/>
                <c:pt idx="0">
                  <c:v>במידה רבה</c:v>
                </c:pt>
              </c:strCache>
            </c:strRef>
          </c:tx>
          <c:spPr>
            <a:solidFill>
              <a:srgbClr val="09AFA7"/>
            </a:solidFill>
            <a:ln w="26415">
              <a:noFill/>
            </a:ln>
          </c:spPr>
          <c:invertIfNegative val="0"/>
          <c:dLbls>
            <c:spPr>
              <a:noFill/>
              <a:ln w="26415">
                <a:noFill/>
              </a:ln>
            </c:spPr>
            <c:txPr>
              <a:bodyPr wrap="square" lIns="38100" tIns="19050" rIns="38100" bIns="19050" anchor="ctr">
                <a:spAutoFit/>
              </a:bodyPr>
              <a:lstStyle/>
              <a:p>
                <a:pPr>
                  <a:defRPr sz="1200" b="1">
                    <a:solidFill>
                      <a:schemeClr val="bg1"/>
                    </a:solidFill>
                  </a:defRPr>
                </a:pPr>
                <a:endParaRPr lang="he-IL"/>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Sheet1!$B$1:$E$1</c:f>
              <c:strCache>
                <c:ptCount val="4"/>
                <c:pt idx="0">
                  <c:v>מגזר יהודי</c:v>
                </c:pt>
                <c:pt idx="1">
                  <c:v>מגזר ערבי</c:v>
                </c:pt>
                <c:pt idx="2">
                  <c:v>מגזר יהודי</c:v>
                </c:pt>
                <c:pt idx="3">
                  <c:v>מגזר ערבי</c:v>
                </c:pt>
              </c:strCache>
            </c:strRef>
          </c:cat>
          <c:val>
            <c:numRef>
              <c:f>Sheet1!$B$4:$E$4</c:f>
              <c:numCache>
                <c:formatCode>0%</c:formatCode>
                <c:ptCount val="4"/>
                <c:pt idx="0">
                  <c:v>0.54802259887005644</c:v>
                </c:pt>
                <c:pt idx="1">
                  <c:v>0.58139534883720922</c:v>
                </c:pt>
                <c:pt idx="2">
                  <c:v>0.38509316770186336</c:v>
                </c:pt>
                <c:pt idx="3">
                  <c:v>0.45679012345679015</c:v>
                </c:pt>
              </c:numCache>
            </c:numRef>
          </c:val>
          <c:extLst>
            <c:ext xmlns:c16="http://schemas.microsoft.com/office/drawing/2014/chart" uri="{C3380CC4-5D6E-409C-BE32-E72D297353CC}">
              <c16:uniqueId val="{00000002-FB11-4DD5-8412-E875B305CA1E}"/>
            </c:ext>
          </c:extLst>
        </c:ser>
        <c:ser>
          <c:idx val="3"/>
          <c:order val="3"/>
          <c:tx>
            <c:strRef>
              <c:f>Sheet1!$A$5</c:f>
              <c:strCache>
                <c:ptCount val="1"/>
                <c:pt idx="0">
                  <c:v>ממוצע</c:v>
                </c:pt>
              </c:strCache>
            </c:strRef>
          </c:tx>
          <c:spPr>
            <a:noFill/>
            <a:ln w="26415">
              <a:noFill/>
            </a:ln>
          </c:spPr>
          <c:invertIfNegative val="0"/>
          <c:dLbls>
            <c:spPr>
              <a:noFill/>
              <a:ln w="26415">
                <a:noFill/>
              </a:ln>
            </c:spPr>
            <c:txPr>
              <a:bodyPr wrap="square" lIns="38100" tIns="19050" rIns="38100" bIns="19050" anchor="ctr">
                <a:spAutoFit/>
              </a:bodyPr>
              <a:lstStyle/>
              <a:p>
                <a:pPr>
                  <a:defRPr sz="1400" b="1">
                    <a:solidFill>
                      <a:schemeClr val="tx1"/>
                    </a:solidFill>
                  </a:defRPr>
                </a:pPr>
                <a:endParaRPr lang="he-IL"/>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Sheet1!$B$1:$E$1</c:f>
              <c:strCache>
                <c:ptCount val="4"/>
                <c:pt idx="0">
                  <c:v>מגזר יהודי</c:v>
                </c:pt>
                <c:pt idx="1">
                  <c:v>מגזר ערבי</c:v>
                </c:pt>
                <c:pt idx="2">
                  <c:v>מגזר יהודי</c:v>
                </c:pt>
                <c:pt idx="3">
                  <c:v>מגזר ערבי</c:v>
                </c:pt>
              </c:strCache>
            </c:strRef>
          </c:cat>
          <c:val>
            <c:numRef>
              <c:f>Sheet1!$B$5:$E$5</c:f>
              <c:numCache>
                <c:formatCode>0.0</c:formatCode>
                <c:ptCount val="4"/>
                <c:pt idx="0">
                  <c:v>3.3583815028901749</c:v>
                </c:pt>
                <c:pt idx="1">
                  <c:v>3.6385542168674703</c:v>
                </c:pt>
                <c:pt idx="2">
                  <c:v>2.8853503184713367</c:v>
                </c:pt>
                <c:pt idx="3">
                  <c:v>3.3164556962025324</c:v>
                </c:pt>
              </c:numCache>
            </c:numRef>
          </c:val>
          <c:extLst>
            <c:ext xmlns:c16="http://schemas.microsoft.com/office/drawing/2014/chart" uri="{C3380CC4-5D6E-409C-BE32-E72D297353CC}">
              <c16:uniqueId val="{00000003-FB11-4DD5-8412-E875B305CA1E}"/>
            </c:ext>
          </c:extLst>
        </c:ser>
        <c:dLbls>
          <c:showLegendKey val="0"/>
          <c:showVal val="0"/>
          <c:showCatName val="0"/>
          <c:showSerName val="0"/>
          <c:showPercent val="0"/>
          <c:showBubbleSize val="0"/>
        </c:dLbls>
        <c:gapWidth val="60"/>
        <c:overlap val="100"/>
        <c:axId val="1594904751"/>
        <c:axId val="1"/>
      </c:barChart>
      <c:catAx>
        <c:axId val="1594904751"/>
        <c:scaling>
          <c:orientation val="minMax"/>
        </c:scaling>
        <c:delete val="0"/>
        <c:axPos val="b"/>
        <c:numFmt formatCode="General" sourceLinked="1"/>
        <c:majorTickMark val="out"/>
        <c:minorTickMark val="none"/>
        <c:tickLblPos val="nextTo"/>
        <c:spPr>
          <a:ln>
            <a:noFill/>
          </a:ln>
        </c:spPr>
        <c:txPr>
          <a:bodyPr/>
          <a:lstStyle/>
          <a:p>
            <a:pPr>
              <a:defRPr sz="1100"/>
            </a:pPr>
            <a:endParaRPr lang="he-IL"/>
          </a:p>
        </c:txPr>
        <c:crossAx val="1"/>
        <c:crosses val="autoZero"/>
        <c:auto val="1"/>
        <c:lblAlgn val="ctr"/>
        <c:lblOffset val="100"/>
        <c:tickLblSkip val="1"/>
        <c:tickMarkSkip val="1"/>
        <c:noMultiLvlLbl val="0"/>
      </c:catAx>
      <c:valAx>
        <c:axId val="1"/>
        <c:scaling>
          <c:orientation val="minMax"/>
          <c:max val="1.2"/>
          <c:min val="0"/>
        </c:scaling>
        <c:delete val="1"/>
        <c:axPos val="l"/>
        <c:numFmt formatCode="0%" sourceLinked="1"/>
        <c:majorTickMark val="out"/>
        <c:minorTickMark val="none"/>
        <c:tickLblPos val="nextTo"/>
        <c:crossAx val="1594904751"/>
        <c:crosses val="autoZero"/>
        <c:crossBetween val="between"/>
      </c:valAx>
      <c:spPr>
        <a:noFill/>
        <a:ln w="26415">
          <a:noFill/>
        </a:ln>
      </c:spPr>
    </c:plotArea>
    <c:legend>
      <c:legendPos val="r"/>
      <c:legendEntry>
        <c:idx val="0"/>
        <c:txPr>
          <a:bodyPr/>
          <a:lstStyle/>
          <a:p>
            <a:pPr rtl="0">
              <a:defRPr sz="1200" b="1"/>
            </a:pPr>
            <a:endParaRPr lang="he-IL"/>
          </a:p>
        </c:txPr>
      </c:legendEntry>
      <c:legendEntry>
        <c:idx val="1"/>
        <c:txPr>
          <a:bodyPr/>
          <a:lstStyle/>
          <a:p>
            <a:pPr rtl="0">
              <a:defRPr sz="1100" b="0"/>
            </a:pPr>
            <a:endParaRPr lang="he-IL"/>
          </a:p>
        </c:txPr>
      </c:legendEntry>
      <c:legendEntry>
        <c:idx val="2"/>
        <c:txPr>
          <a:bodyPr/>
          <a:lstStyle/>
          <a:p>
            <a:pPr rtl="0">
              <a:defRPr sz="1100"/>
            </a:pPr>
            <a:endParaRPr lang="he-IL"/>
          </a:p>
        </c:txPr>
      </c:legendEntry>
      <c:legendEntry>
        <c:idx val="3"/>
        <c:txPr>
          <a:bodyPr/>
          <a:lstStyle/>
          <a:p>
            <a:pPr rtl="0">
              <a:defRPr sz="1100"/>
            </a:pPr>
            <a:endParaRPr lang="he-IL"/>
          </a:p>
        </c:txPr>
      </c:legendEntry>
      <c:layout>
        <c:manualLayout>
          <c:xMode val="edge"/>
          <c:yMode val="edge"/>
          <c:x val="0.89519791228649992"/>
          <c:y val="3.6486882894439167E-2"/>
          <c:w val="0.10044946239677389"/>
          <c:h val="0.58710366939793379"/>
        </c:manualLayout>
      </c:layout>
      <c:overlay val="0"/>
      <c:txPr>
        <a:bodyPr/>
        <a:lstStyle/>
        <a:p>
          <a:pPr rtl="0">
            <a:defRPr sz="1050"/>
          </a:pPr>
          <a:endParaRPr lang="he-IL"/>
        </a:p>
      </c:txPr>
    </c:legend>
    <c:plotVisOnly val="1"/>
    <c:dispBlanksAs val="gap"/>
    <c:showDLblsOverMax val="0"/>
  </c:chart>
  <c:spPr>
    <a:noFill/>
    <a:ln>
      <a:noFill/>
    </a:ln>
  </c:spPr>
  <c:txPr>
    <a:bodyPr/>
    <a:lstStyle/>
    <a:p>
      <a:pPr>
        <a:defRPr sz="1400" b="0" i="0" u="none" strike="noStrike" baseline="0">
          <a:solidFill>
            <a:schemeClr val="tx1">
              <a:lumMod val="75000"/>
              <a:lumOff val="25000"/>
            </a:schemeClr>
          </a:solidFill>
          <a:latin typeface="Segoe UI"/>
          <a:ea typeface="Segoe UI"/>
          <a:cs typeface="Segoe UI"/>
        </a:defRPr>
      </a:pPr>
      <a:endParaRPr lang="he-IL"/>
    </a:p>
  </c:txPr>
  <c:externalData r:id="rId2">
    <c:autoUpdate val="0"/>
  </c:externalData>
</c:chartSpace>
</file>

<file path=ppt/charts/chart6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6866995454128806"/>
          <c:y val="3.7771860754247821E-2"/>
          <c:w val="0.73133004545871172"/>
          <c:h val="0.96222820200773551"/>
        </c:manualLayout>
      </c:layout>
      <c:barChart>
        <c:barDir val="bar"/>
        <c:grouping val="clustered"/>
        <c:varyColors val="0"/>
        <c:ser>
          <c:idx val="0"/>
          <c:order val="0"/>
          <c:tx>
            <c:strRef>
              <c:f>Sheet1!$B$1</c:f>
              <c:strCache>
                <c:ptCount val="1"/>
              </c:strCache>
            </c:strRef>
          </c:tx>
          <c:spPr>
            <a:solidFill>
              <a:srgbClr val="002060"/>
            </a:solidFill>
            <a:ln w="31750">
              <a:noFill/>
            </a:ln>
          </c:spPr>
          <c:invertIfNegative val="0"/>
          <c:dLbls>
            <c:spPr>
              <a:noFill/>
              <a:ln>
                <a:noFill/>
              </a:ln>
              <a:effectLst/>
            </c:spPr>
            <c:txPr>
              <a:bodyPr/>
              <a:lstStyle/>
              <a:p>
                <a:pPr>
                  <a:defRPr sz="1200" b="1">
                    <a:solidFill>
                      <a:srgbClr val="1D1C64"/>
                    </a:solidFill>
                    <a:latin typeface="Segoe UI" panose="020B0502040204020203" pitchFamily="34" charset="0"/>
                    <a:cs typeface="Segoe UI" panose="020B0502040204020203" pitchFamily="34" charset="0"/>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Sheet1!$A$2:$A$7</c:f>
              <c:strCache>
                <c:ptCount val="6"/>
                <c:pt idx="0">
                  <c:v>לשלם מייד</c:v>
                </c:pt>
                <c:pt idx="1">
                  <c:v>לפנות לייעוץ משפטי</c:v>
                </c:pt>
                <c:pt idx="2">
                  <c:v>לבקש להישפט</c:v>
                </c:pt>
                <c:pt idx="3">
                  <c:v>לבקש המרה לאזהרה</c:v>
                </c:pt>
                <c:pt idx="4">
                  <c:v>תלוי בעבירה / נסיבות</c:v>
                </c:pt>
                <c:pt idx="5">
                  <c:v>לערער</c:v>
                </c:pt>
              </c:strCache>
            </c:strRef>
          </c:cat>
          <c:val>
            <c:numRef>
              <c:f>Sheet1!$B$2:$B$7</c:f>
              <c:numCache>
                <c:formatCode>0%</c:formatCode>
                <c:ptCount val="6"/>
                <c:pt idx="0">
                  <c:v>0.40112994350282483</c:v>
                </c:pt>
                <c:pt idx="1">
                  <c:v>0.22598870056497178</c:v>
                </c:pt>
                <c:pt idx="2">
                  <c:v>0.16949152542372883</c:v>
                </c:pt>
                <c:pt idx="3">
                  <c:v>9.6045197740112997E-2</c:v>
                </c:pt>
                <c:pt idx="4">
                  <c:v>3.9548022598870053E-2</c:v>
                </c:pt>
                <c:pt idx="5">
                  <c:v>3.3898305084745763E-2</c:v>
                </c:pt>
              </c:numCache>
            </c:numRef>
          </c:val>
          <c:extLst>
            <c:ext xmlns:c16="http://schemas.microsoft.com/office/drawing/2014/chart" uri="{C3380CC4-5D6E-409C-BE32-E72D297353CC}">
              <c16:uniqueId val="{00000000-21DF-47E5-9251-D793AC4EFEE4}"/>
            </c:ext>
          </c:extLst>
        </c:ser>
        <c:dLbls>
          <c:dLblPos val="outEnd"/>
          <c:showLegendKey val="0"/>
          <c:showVal val="1"/>
          <c:showCatName val="0"/>
          <c:showSerName val="0"/>
          <c:showPercent val="0"/>
          <c:showBubbleSize val="0"/>
        </c:dLbls>
        <c:gapWidth val="80"/>
        <c:axId val="201487104"/>
        <c:axId val="201488640"/>
      </c:barChart>
      <c:catAx>
        <c:axId val="201487104"/>
        <c:scaling>
          <c:orientation val="maxMin"/>
        </c:scaling>
        <c:delete val="0"/>
        <c:axPos val="l"/>
        <c:numFmt formatCode="General" sourceLinked="1"/>
        <c:majorTickMark val="out"/>
        <c:minorTickMark val="none"/>
        <c:tickLblPos val="low"/>
        <c:spPr>
          <a:ln w="38100">
            <a:noFill/>
            <a:prstDash val="solid"/>
          </a:ln>
        </c:spPr>
        <c:txPr>
          <a:bodyPr rot="0" vert="horz"/>
          <a:lstStyle/>
          <a:p>
            <a:pPr>
              <a:defRPr sz="1100">
                <a:solidFill>
                  <a:schemeClr val="tx1">
                    <a:lumMod val="75000"/>
                    <a:lumOff val="25000"/>
                  </a:schemeClr>
                </a:solidFill>
              </a:defRPr>
            </a:pPr>
            <a:endParaRPr lang="he-IL"/>
          </a:p>
        </c:txPr>
        <c:crossAx val="201488640"/>
        <c:crosses val="autoZero"/>
        <c:auto val="1"/>
        <c:lblAlgn val="ctr"/>
        <c:lblOffset val="100"/>
        <c:noMultiLvlLbl val="0"/>
      </c:catAx>
      <c:valAx>
        <c:axId val="201488640"/>
        <c:scaling>
          <c:orientation val="minMax"/>
          <c:max val="1"/>
          <c:min val="0"/>
        </c:scaling>
        <c:delete val="1"/>
        <c:axPos val="t"/>
        <c:numFmt formatCode="0%" sourceLinked="1"/>
        <c:majorTickMark val="out"/>
        <c:minorTickMark val="none"/>
        <c:tickLblPos val="nextTo"/>
        <c:crossAx val="201487104"/>
        <c:crosses val="autoZero"/>
        <c:crossBetween val="between"/>
      </c:valAx>
      <c:spPr>
        <a:noFill/>
        <a:ln w="25965">
          <a:noFill/>
        </a:ln>
      </c:spPr>
    </c:plotArea>
    <c:plotVisOnly val="1"/>
    <c:dispBlanksAs val="gap"/>
    <c:showDLblsOverMax val="0"/>
  </c:chart>
  <c:spPr>
    <a:noFill/>
    <a:ln>
      <a:noFill/>
    </a:ln>
  </c:spPr>
  <c:txPr>
    <a:bodyPr/>
    <a:lstStyle/>
    <a:p>
      <a:pPr>
        <a:defRPr sz="1400" b="0" i="0" u="none" strike="noStrike" baseline="0">
          <a:solidFill>
            <a:schemeClr val="bg1"/>
          </a:solidFill>
          <a:latin typeface="Segoe UI" panose="020B0502040204020203" pitchFamily="34" charset="0"/>
          <a:ea typeface="Arial"/>
          <a:cs typeface="Segoe UI" panose="020B0502040204020203" pitchFamily="34" charset="0"/>
        </a:defRPr>
      </a:pPr>
      <a:endParaRPr lang="he-IL"/>
    </a:p>
  </c:txPr>
  <c:externalData r:id="rId1">
    <c:autoUpdate val="0"/>
  </c:externalData>
</c:chartSpace>
</file>

<file path=ppt/charts/chart6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6866995454128806"/>
          <c:y val="3.7771860754247821E-2"/>
          <c:w val="0.73133004545871172"/>
          <c:h val="0.96222820200773551"/>
        </c:manualLayout>
      </c:layout>
      <c:barChart>
        <c:barDir val="bar"/>
        <c:grouping val="clustered"/>
        <c:varyColors val="0"/>
        <c:ser>
          <c:idx val="0"/>
          <c:order val="0"/>
          <c:tx>
            <c:strRef>
              <c:f>Sheet1!$B$1</c:f>
              <c:strCache>
                <c:ptCount val="1"/>
              </c:strCache>
            </c:strRef>
          </c:tx>
          <c:spPr>
            <a:solidFill>
              <a:srgbClr val="002060"/>
            </a:solidFill>
            <a:ln w="31750">
              <a:noFill/>
            </a:ln>
          </c:spPr>
          <c:invertIfNegative val="0"/>
          <c:dLbls>
            <c:spPr>
              <a:noFill/>
              <a:ln>
                <a:noFill/>
              </a:ln>
              <a:effectLst/>
            </c:spPr>
            <c:txPr>
              <a:bodyPr/>
              <a:lstStyle/>
              <a:p>
                <a:pPr>
                  <a:defRPr sz="1200" b="1">
                    <a:solidFill>
                      <a:srgbClr val="1D1C64"/>
                    </a:solidFill>
                    <a:latin typeface="Segoe UI" panose="020B0502040204020203" pitchFamily="34" charset="0"/>
                    <a:cs typeface="Segoe UI" panose="020B0502040204020203" pitchFamily="34" charset="0"/>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Sheet1!$A$2:$A$7</c:f>
              <c:strCache>
                <c:ptCount val="6"/>
                <c:pt idx="0">
                  <c:v>לשלם מייד</c:v>
                </c:pt>
                <c:pt idx="1">
                  <c:v>לפנות לייעוץ משפטי</c:v>
                </c:pt>
                <c:pt idx="2">
                  <c:v>לבקש להישפט</c:v>
                </c:pt>
                <c:pt idx="3">
                  <c:v>תלוי בעבירה / נסיבות</c:v>
                </c:pt>
                <c:pt idx="4">
                  <c:v>לבקש המרה לאזהרה</c:v>
                </c:pt>
                <c:pt idx="5">
                  <c:v>לערער</c:v>
                </c:pt>
              </c:strCache>
            </c:strRef>
          </c:cat>
          <c:val>
            <c:numRef>
              <c:f>Sheet1!$B$2:$B$7</c:f>
              <c:numCache>
                <c:formatCode>0%</c:formatCode>
                <c:ptCount val="6"/>
                <c:pt idx="0">
                  <c:v>0.45348837209302323</c:v>
                </c:pt>
                <c:pt idx="1">
                  <c:v>0.34883720930232553</c:v>
                </c:pt>
                <c:pt idx="2">
                  <c:v>0.12790697674418605</c:v>
                </c:pt>
                <c:pt idx="3">
                  <c:v>3.4883720930232558E-2</c:v>
                </c:pt>
              </c:numCache>
            </c:numRef>
          </c:val>
          <c:extLst>
            <c:ext xmlns:c16="http://schemas.microsoft.com/office/drawing/2014/chart" uri="{C3380CC4-5D6E-409C-BE32-E72D297353CC}">
              <c16:uniqueId val="{00000000-5BA3-4E16-858A-F7FDBC3258B6}"/>
            </c:ext>
          </c:extLst>
        </c:ser>
        <c:dLbls>
          <c:dLblPos val="outEnd"/>
          <c:showLegendKey val="0"/>
          <c:showVal val="1"/>
          <c:showCatName val="0"/>
          <c:showSerName val="0"/>
          <c:showPercent val="0"/>
          <c:showBubbleSize val="0"/>
        </c:dLbls>
        <c:gapWidth val="80"/>
        <c:axId val="201487104"/>
        <c:axId val="201488640"/>
      </c:barChart>
      <c:catAx>
        <c:axId val="201487104"/>
        <c:scaling>
          <c:orientation val="maxMin"/>
        </c:scaling>
        <c:delete val="0"/>
        <c:axPos val="l"/>
        <c:numFmt formatCode="General" sourceLinked="1"/>
        <c:majorTickMark val="out"/>
        <c:minorTickMark val="none"/>
        <c:tickLblPos val="low"/>
        <c:spPr>
          <a:ln w="38100">
            <a:noFill/>
            <a:prstDash val="solid"/>
          </a:ln>
        </c:spPr>
        <c:txPr>
          <a:bodyPr rot="0" vert="horz"/>
          <a:lstStyle/>
          <a:p>
            <a:pPr>
              <a:defRPr sz="1100">
                <a:solidFill>
                  <a:schemeClr val="tx1">
                    <a:lumMod val="75000"/>
                    <a:lumOff val="25000"/>
                  </a:schemeClr>
                </a:solidFill>
              </a:defRPr>
            </a:pPr>
            <a:endParaRPr lang="he-IL"/>
          </a:p>
        </c:txPr>
        <c:crossAx val="201488640"/>
        <c:crosses val="autoZero"/>
        <c:auto val="1"/>
        <c:lblAlgn val="ctr"/>
        <c:lblOffset val="100"/>
        <c:noMultiLvlLbl val="0"/>
      </c:catAx>
      <c:valAx>
        <c:axId val="201488640"/>
        <c:scaling>
          <c:orientation val="minMax"/>
          <c:max val="1"/>
          <c:min val="0"/>
        </c:scaling>
        <c:delete val="1"/>
        <c:axPos val="t"/>
        <c:numFmt formatCode="0%" sourceLinked="1"/>
        <c:majorTickMark val="out"/>
        <c:minorTickMark val="none"/>
        <c:tickLblPos val="nextTo"/>
        <c:crossAx val="201487104"/>
        <c:crosses val="autoZero"/>
        <c:crossBetween val="between"/>
      </c:valAx>
      <c:spPr>
        <a:noFill/>
        <a:ln w="25965">
          <a:noFill/>
        </a:ln>
      </c:spPr>
    </c:plotArea>
    <c:plotVisOnly val="1"/>
    <c:dispBlanksAs val="gap"/>
    <c:showDLblsOverMax val="0"/>
  </c:chart>
  <c:spPr>
    <a:noFill/>
    <a:ln>
      <a:noFill/>
    </a:ln>
  </c:spPr>
  <c:txPr>
    <a:bodyPr/>
    <a:lstStyle/>
    <a:p>
      <a:pPr>
        <a:defRPr sz="1400" b="0" i="0" u="none" strike="noStrike" baseline="0">
          <a:solidFill>
            <a:schemeClr val="bg1"/>
          </a:solidFill>
          <a:latin typeface="Segoe UI" panose="020B0502040204020203" pitchFamily="34" charset="0"/>
          <a:ea typeface="Arial"/>
          <a:cs typeface="Segoe UI" panose="020B0502040204020203" pitchFamily="34" charset="0"/>
        </a:defRPr>
      </a:pPr>
      <a:endParaRPr lang="he-IL"/>
    </a:p>
  </c:txPr>
  <c:externalData r:id="rId1">
    <c:autoUpdate val="0"/>
  </c:externalData>
</c:chartSpace>
</file>

<file path=ppt/charts/chart7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6866995454128806"/>
          <c:y val="3.7771860754247821E-2"/>
          <c:w val="0.73133004545871172"/>
          <c:h val="0.96222820200773551"/>
        </c:manualLayout>
      </c:layout>
      <c:barChart>
        <c:barDir val="bar"/>
        <c:grouping val="clustered"/>
        <c:varyColors val="0"/>
        <c:ser>
          <c:idx val="0"/>
          <c:order val="0"/>
          <c:tx>
            <c:strRef>
              <c:f>Sheet1!$B$1</c:f>
              <c:strCache>
                <c:ptCount val="1"/>
              </c:strCache>
            </c:strRef>
          </c:tx>
          <c:spPr>
            <a:solidFill>
              <a:srgbClr val="002060"/>
            </a:solidFill>
            <a:ln w="31750">
              <a:noFill/>
            </a:ln>
          </c:spPr>
          <c:invertIfNegative val="0"/>
          <c:dLbls>
            <c:spPr>
              <a:noFill/>
              <a:ln>
                <a:noFill/>
              </a:ln>
              <a:effectLst/>
            </c:spPr>
            <c:txPr>
              <a:bodyPr/>
              <a:lstStyle/>
              <a:p>
                <a:pPr>
                  <a:defRPr sz="1200" b="1">
                    <a:solidFill>
                      <a:srgbClr val="1D1C64"/>
                    </a:solidFill>
                    <a:latin typeface="Segoe UI" panose="020B0502040204020203" pitchFamily="34" charset="0"/>
                    <a:cs typeface="Segoe UI" panose="020B0502040204020203" pitchFamily="34" charset="0"/>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Sheet1!$A$2:$A$7</c:f>
              <c:strCache>
                <c:ptCount val="6"/>
                <c:pt idx="0">
                  <c:v>לבקש להישפט</c:v>
                </c:pt>
                <c:pt idx="1">
                  <c:v>לפנות לייעוץ משפטי</c:v>
                </c:pt>
                <c:pt idx="2">
                  <c:v>לשלם מייד</c:v>
                </c:pt>
                <c:pt idx="3">
                  <c:v>תלוי בעבירה / נסיבות</c:v>
                </c:pt>
                <c:pt idx="4">
                  <c:v>לבקש המרה לאזהרה</c:v>
                </c:pt>
                <c:pt idx="5">
                  <c:v>לערער</c:v>
                </c:pt>
              </c:strCache>
            </c:strRef>
          </c:cat>
          <c:val>
            <c:numRef>
              <c:f>Sheet1!$B$2:$B$7</c:f>
              <c:numCache>
                <c:formatCode>0%</c:formatCode>
                <c:ptCount val="6"/>
                <c:pt idx="0">
                  <c:v>0.46583850931677018</c:v>
                </c:pt>
                <c:pt idx="1">
                  <c:v>0.31055900621118016</c:v>
                </c:pt>
                <c:pt idx="2">
                  <c:v>0.11180124223602485</c:v>
                </c:pt>
                <c:pt idx="3">
                  <c:v>5.5900621118012424E-2</c:v>
                </c:pt>
                <c:pt idx="4">
                  <c:v>1.8633540372670808E-2</c:v>
                </c:pt>
                <c:pt idx="5">
                  <c:v>1.2422360248447204E-2</c:v>
                </c:pt>
              </c:numCache>
            </c:numRef>
          </c:val>
          <c:extLst>
            <c:ext xmlns:c16="http://schemas.microsoft.com/office/drawing/2014/chart" uri="{C3380CC4-5D6E-409C-BE32-E72D297353CC}">
              <c16:uniqueId val="{00000000-A430-4413-BD15-0C4D758A5556}"/>
            </c:ext>
          </c:extLst>
        </c:ser>
        <c:dLbls>
          <c:dLblPos val="outEnd"/>
          <c:showLegendKey val="0"/>
          <c:showVal val="1"/>
          <c:showCatName val="0"/>
          <c:showSerName val="0"/>
          <c:showPercent val="0"/>
          <c:showBubbleSize val="0"/>
        </c:dLbls>
        <c:gapWidth val="80"/>
        <c:axId val="201487104"/>
        <c:axId val="201488640"/>
      </c:barChart>
      <c:catAx>
        <c:axId val="201487104"/>
        <c:scaling>
          <c:orientation val="maxMin"/>
        </c:scaling>
        <c:delete val="0"/>
        <c:axPos val="l"/>
        <c:numFmt formatCode="General" sourceLinked="1"/>
        <c:majorTickMark val="out"/>
        <c:minorTickMark val="none"/>
        <c:tickLblPos val="low"/>
        <c:spPr>
          <a:ln w="38100">
            <a:noFill/>
            <a:prstDash val="solid"/>
          </a:ln>
        </c:spPr>
        <c:txPr>
          <a:bodyPr rot="0" vert="horz"/>
          <a:lstStyle/>
          <a:p>
            <a:pPr>
              <a:defRPr sz="1100">
                <a:solidFill>
                  <a:schemeClr val="tx1">
                    <a:lumMod val="75000"/>
                    <a:lumOff val="25000"/>
                  </a:schemeClr>
                </a:solidFill>
              </a:defRPr>
            </a:pPr>
            <a:endParaRPr lang="he-IL"/>
          </a:p>
        </c:txPr>
        <c:crossAx val="201488640"/>
        <c:crosses val="autoZero"/>
        <c:auto val="1"/>
        <c:lblAlgn val="ctr"/>
        <c:lblOffset val="100"/>
        <c:noMultiLvlLbl val="0"/>
      </c:catAx>
      <c:valAx>
        <c:axId val="201488640"/>
        <c:scaling>
          <c:orientation val="minMax"/>
          <c:max val="1"/>
          <c:min val="0"/>
        </c:scaling>
        <c:delete val="1"/>
        <c:axPos val="t"/>
        <c:numFmt formatCode="0%" sourceLinked="1"/>
        <c:majorTickMark val="out"/>
        <c:minorTickMark val="none"/>
        <c:tickLblPos val="nextTo"/>
        <c:crossAx val="201487104"/>
        <c:crosses val="autoZero"/>
        <c:crossBetween val="between"/>
      </c:valAx>
      <c:spPr>
        <a:noFill/>
        <a:ln w="25965">
          <a:noFill/>
        </a:ln>
      </c:spPr>
    </c:plotArea>
    <c:plotVisOnly val="1"/>
    <c:dispBlanksAs val="gap"/>
    <c:showDLblsOverMax val="0"/>
  </c:chart>
  <c:spPr>
    <a:noFill/>
    <a:ln>
      <a:noFill/>
    </a:ln>
  </c:spPr>
  <c:txPr>
    <a:bodyPr/>
    <a:lstStyle/>
    <a:p>
      <a:pPr>
        <a:defRPr sz="1400" b="0" i="0" u="none" strike="noStrike" baseline="0">
          <a:solidFill>
            <a:schemeClr val="bg1"/>
          </a:solidFill>
          <a:latin typeface="Segoe UI" panose="020B0502040204020203" pitchFamily="34" charset="0"/>
          <a:ea typeface="Arial"/>
          <a:cs typeface="Segoe UI" panose="020B0502040204020203" pitchFamily="34" charset="0"/>
        </a:defRPr>
      </a:pPr>
      <a:endParaRPr lang="he-IL"/>
    </a:p>
  </c:txPr>
  <c:externalData r:id="rId1">
    <c:autoUpdate val="0"/>
  </c:externalData>
</c:chartSpace>
</file>

<file path=ppt/charts/chart7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6866995454128806"/>
          <c:y val="3.7771860754247821E-2"/>
          <c:w val="0.73133004545871172"/>
          <c:h val="0.96222820200773551"/>
        </c:manualLayout>
      </c:layout>
      <c:barChart>
        <c:barDir val="bar"/>
        <c:grouping val="clustered"/>
        <c:varyColors val="0"/>
        <c:ser>
          <c:idx val="0"/>
          <c:order val="0"/>
          <c:tx>
            <c:strRef>
              <c:f>Sheet1!$B$1</c:f>
              <c:strCache>
                <c:ptCount val="1"/>
              </c:strCache>
            </c:strRef>
          </c:tx>
          <c:spPr>
            <a:solidFill>
              <a:srgbClr val="002060"/>
            </a:solidFill>
            <a:ln w="31750">
              <a:noFill/>
            </a:ln>
          </c:spPr>
          <c:invertIfNegative val="0"/>
          <c:dLbls>
            <c:spPr>
              <a:noFill/>
              <a:ln>
                <a:noFill/>
              </a:ln>
              <a:effectLst/>
            </c:spPr>
            <c:txPr>
              <a:bodyPr/>
              <a:lstStyle/>
              <a:p>
                <a:pPr>
                  <a:defRPr sz="1200" b="1">
                    <a:solidFill>
                      <a:srgbClr val="1D1C64"/>
                    </a:solidFill>
                    <a:latin typeface="Segoe UI" panose="020B0502040204020203" pitchFamily="34" charset="0"/>
                    <a:cs typeface="Segoe UI" panose="020B0502040204020203" pitchFamily="34" charset="0"/>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Sheet1!$A$2:$A$7</c:f>
              <c:strCache>
                <c:ptCount val="6"/>
                <c:pt idx="0">
                  <c:v>לפנות לייעוץ משפטי</c:v>
                </c:pt>
                <c:pt idx="1">
                  <c:v>לבקש להישפט</c:v>
                </c:pt>
                <c:pt idx="2">
                  <c:v>לשלם מייד</c:v>
                </c:pt>
                <c:pt idx="3">
                  <c:v>תלוי בעבירה / נסיבות</c:v>
                </c:pt>
                <c:pt idx="4">
                  <c:v>לבקש המרה לאזהרה</c:v>
                </c:pt>
                <c:pt idx="5">
                  <c:v>לערער</c:v>
                </c:pt>
              </c:strCache>
            </c:strRef>
          </c:cat>
          <c:val>
            <c:numRef>
              <c:f>Sheet1!$B$2:$B$7</c:f>
              <c:numCache>
                <c:formatCode>0%</c:formatCode>
                <c:ptCount val="6"/>
                <c:pt idx="0">
                  <c:v>0.50617283950617287</c:v>
                </c:pt>
                <c:pt idx="1">
                  <c:v>0.37037037037037041</c:v>
                </c:pt>
                <c:pt idx="2">
                  <c:v>0.12345679012345678</c:v>
                </c:pt>
              </c:numCache>
            </c:numRef>
          </c:val>
          <c:extLst>
            <c:ext xmlns:c16="http://schemas.microsoft.com/office/drawing/2014/chart" uri="{C3380CC4-5D6E-409C-BE32-E72D297353CC}">
              <c16:uniqueId val="{00000000-80FB-4D71-8D3D-5DD77E29C6D2}"/>
            </c:ext>
          </c:extLst>
        </c:ser>
        <c:dLbls>
          <c:dLblPos val="outEnd"/>
          <c:showLegendKey val="0"/>
          <c:showVal val="1"/>
          <c:showCatName val="0"/>
          <c:showSerName val="0"/>
          <c:showPercent val="0"/>
          <c:showBubbleSize val="0"/>
        </c:dLbls>
        <c:gapWidth val="80"/>
        <c:axId val="201487104"/>
        <c:axId val="201488640"/>
      </c:barChart>
      <c:catAx>
        <c:axId val="201487104"/>
        <c:scaling>
          <c:orientation val="maxMin"/>
        </c:scaling>
        <c:delete val="0"/>
        <c:axPos val="l"/>
        <c:numFmt formatCode="General" sourceLinked="1"/>
        <c:majorTickMark val="out"/>
        <c:minorTickMark val="none"/>
        <c:tickLblPos val="low"/>
        <c:spPr>
          <a:ln w="38100">
            <a:noFill/>
            <a:prstDash val="solid"/>
          </a:ln>
        </c:spPr>
        <c:txPr>
          <a:bodyPr rot="0" vert="horz"/>
          <a:lstStyle/>
          <a:p>
            <a:pPr>
              <a:defRPr sz="1100">
                <a:solidFill>
                  <a:schemeClr val="tx1">
                    <a:lumMod val="75000"/>
                    <a:lumOff val="25000"/>
                  </a:schemeClr>
                </a:solidFill>
              </a:defRPr>
            </a:pPr>
            <a:endParaRPr lang="he-IL"/>
          </a:p>
        </c:txPr>
        <c:crossAx val="201488640"/>
        <c:crosses val="autoZero"/>
        <c:auto val="1"/>
        <c:lblAlgn val="ctr"/>
        <c:lblOffset val="100"/>
        <c:noMultiLvlLbl val="0"/>
      </c:catAx>
      <c:valAx>
        <c:axId val="201488640"/>
        <c:scaling>
          <c:orientation val="minMax"/>
          <c:max val="1"/>
          <c:min val="0"/>
        </c:scaling>
        <c:delete val="1"/>
        <c:axPos val="t"/>
        <c:numFmt formatCode="0%" sourceLinked="1"/>
        <c:majorTickMark val="out"/>
        <c:minorTickMark val="none"/>
        <c:tickLblPos val="nextTo"/>
        <c:crossAx val="201487104"/>
        <c:crosses val="autoZero"/>
        <c:crossBetween val="between"/>
      </c:valAx>
      <c:spPr>
        <a:noFill/>
        <a:ln w="25965">
          <a:noFill/>
        </a:ln>
      </c:spPr>
    </c:plotArea>
    <c:plotVisOnly val="1"/>
    <c:dispBlanksAs val="gap"/>
    <c:showDLblsOverMax val="0"/>
  </c:chart>
  <c:spPr>
    <a:noFill/>
    <a:ln>
      <a:noFill/>
    </a:ln>
  </c:spPr>
  <c:txPr>
    <a:bodyPr/>
    <a:lstStyle/>
    <a:p>
      <a:pPr>
        <a:defRPr sz="1400" b="0" i="0" u="none" strike="noStrike" baseline="0">
          <a:solidFill>
            <a:schemeClr val="bg1"/>
          </a:solidFill>
          <a:latin typeface="Segoe UI" panose="020B0502040204020203" pitchFamily="34" charset="0"/>
          <a:ea typeface="Arial"/>
          <a:cs typeface="Segoe UI" panose="020B0502040204020203" pitchFamily="34" charset="0"/>
        </a:defRPr>
      </a:pPr>
      <a:endParaRPr lang="he-IL"/>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5.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064"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26.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064"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2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omments/modernComment_44E_1ECFF911.xml><?xml version="1.0" encoding="utf-8"?>
<p188:cmLst xmlns:a="http://schemas.openxmlformats.org/drawingml/2006/main" xmlns:r="http://schemas.openxmlformats.org/officeDocument/2006/relationships" xmlns:p188="http://schemas.microsoft.com/office/powerpoint/2018/8/main">
  <p188:cm id="{E7E602E0-FF5B-46AC-ACDE-9F02E87497DC}" authorId="{C7BFFB99-4AFF-3083-A3D1-79E09E4CCF5E}" created="2026-05-04T14:23:35.911">
    <pc:sldMkLst xmlns:pc="http://schemas.microsoft.com/office/powerpoint/2013/main/command">
      <pc:docMk/>
      <pc:sldMk cId="516946193" sldId="1102"/>
    </pc:sldMkLst>
    <p188:txBody>
      <a:bodyPr/>
      <a:lstStyle/>
      <a:p>
        <a:r>
          <a:rPr lang="en-IL"/>
          <a:t>בגדול במצגת עושים רק אחוזים , ממוצעים , השוואה ויואלית .
אין רווחי סמך , רגרסיה , p-values 
אי אשפר לקבל החלטות מדיניות אמיתיות על בסיס זה.</a:t>
        </a:r>
      </a:p>
    </p188:txBody>
  </p188:cm>
  <p188:cm id="{5D5B7CF0-D3F2-4EB5-B067-12E0FA748A84}" authorId="{C7BFFB99-4AFF-3083-A3D1-79E09E4CCF5E}" created="2026-05-04T14:24:22.565">
    <pc:sldMkLst xmlns:pc="http://schemas.microsoft.com/office/powerpoint/2013/main/command">
      <pc:docMk/>
      <pc:sldMk cId="516946193" sldId="1102"/>
    </pc:sldMkLst>
    <p188:txBody>
      <a:bodyPr/>
      <a:lstStyle/>
      <a:p>
        <a:r>
          <a:rPr lang="en-IL"/>
          <a:t>נהיתוח נטו מבוסס על סטטיסטיקה תיאורית ,לכן לא ניתן לקבוע האם ההבדלים בין הקבוצות מובהקים סטטיטית או תוצאה של שונות מקרית</a:t>
        </a:r>
      </a:p>
    </p188:txBody>
  </p188:cm>
</p188:cmLst>
</file>

<file path=ppt/comments/modernComment_97C_4BAEDD40.xml><?xml version="1.0" encoding="utf-8"?>
<p188:cmLst xmlns:a="http://schemas.openxmlformats.org/drawingml/2006/main" xmlns:r="http://schemas.openxmlformats.org/officeDocument/2006/relationships" xmlns:p188="http://schemas.microsoft.com/office/powerpoint/2018/8/main">
  <p188:cm id="{136D0877-FF3B-49AE-9714-B00AD23BE6B2}" authorId="{C7BFFB99-4AFF-3083-A3D1-79E09E4CCF5E}" created="2026-05-04T11:15:49.947">
    <pc:sldMkLst xmlns:pc="http://schemas.microsoft.com/office/powerpoint/2013/main/command">
      <pc:docMk/>
      <pc:sldMk cId="1269751104" sldId="2428"/>
    </pc:sldMkLst>
    <p188:txBody>
      <a:bodyPr/>
      <a:lstStyle/>
      <a:p>
        <a:r>
          <a:rPr lang="en-IL"/>
          <a:t>האחוזים לא מדויקים.
עוברות 100% . 
20+29+9+23+17+20+14 =  132אחוזים.
</a:t>
        </a:r>
      </a:p>
    </p188:txBody>
  </p188:cm>
</p188:cmLst>
</file>

<file path=ppt/comments/modernComment_97E_F2807F2D.xml><?xml version="1.0" encoding="utf-8"?>
<p188:cmLst xmlns:a="http://schemas.openxmlformats.org/drawingml/2006/main" xmlns:r="http://schemas.openxmlformats.org/officeDocument/2006/relationships" xmlns:p188="http://schemas.microsoft.com/office/powerpoint/2018/8/main">
  <p188:cm id="{C8CE3ED9-6E67-49A4-88F9-2310C2A4A1C3}" authorId="{C7BFFB99-4AFF-3083-A3D1-79E09E4CCF5E}" created="2026-05-04T10:17:38.018">
    <pc:sldMkLst xmlns:pc="http://schemas.microsoft.com/office/powerpoint/2013/main/command">
      <pc:docMk/>
      <pc:sldMk cId="4068507437" sldId="2430"/>
    </pc:sldMkLst>
    <p188:txBody>
      <a:bodyPr/>
      <a:lstStyle/>
      <a:p>
        <a:r>
          <a:rPr lang="en-IL"/>
          <a:t>איך אפשר לדעת ? 
בלי לדעת גודל המדגם </a:t>
        </a:r>
      </a:p>
    </p188:txBody>
  </p188:cm>
  <p188:cm id="{647E1E13-AB73-4207-BF82-72FBBBF29172}" authorId="{C7BFFB99-4AFF-3083-A3D1-79E09E4CCF5E}" created="2026-05-04T12:02:12.111">
    <pc:sldMkLst xmlns:pc="http://schemas.microsoft.com/office/powerpoint/2013/main/command">
      <pc:docMk/>
      <pc:sldMk cId="4068507437" sldId="2430"/>
    </pc:sldMkLst>
    <p188:txBody>
      <a:bodyPr/>
      <a:lstStyle/>
      <a:p>
        <a:r>
          <a:rPr lang="en-IL"/>
          <a:t>יותר מדי עמוס, יותר מדי דברים/נתונים במכה אחת. 
מלא עמודות קטנות ,
אין BASELINE ברור 
אין הדגשה של תוצאה חשובה
</a:t>
        </a:r>
      </a:p>
    </p188:txBody>
  </p188:cm>
  <p188:cm id="{12BEEF69-E09B-4723-BF68-E5EE3A711515}" authorId="{C7BFFB99-4AFF-3083-A3D1-79E09E4CCF5E}" created="2026-05-04T12:19:36.173">
    <pc:sldMkLst xmlns:pc="http://schemas.microsoft.com/office/powerpoint/2013/main/command">
      <pc:docMk/>
      <pc:sldMk cId="4068507437" sldId="2430"/>
    </pc:sldMkLst>
    <p188:txBody>
      <a:bodyPr/>
      <a:lstStyle/>
      <a:p>
        <a:r>
          <a:rPr lang="en-IL"/>
          <a:t>אין הבדל מובהק גם וממוצעים כלליים</a:t>
        </a:r>
      </a:p>
    </p188:txBody>
  </p188:cm>
</p188:cmLst>
</file>

<file path=ppt/comments/modernComment_864_F8F537D5.xml><?xml version="1.0" encoding="utf-8"?>
<p188:cmLst xmlns:a="http://schemas.openxmlformats.org/drawingml/2006/main" xmlns:r="http://schemas.openxmlformats.org/officeDocument/2006/relationships" xmlns:p188="http://schemas.microsoft.com/office/powerpoint/2018/8/main">
  <p188:cm id="{55C5EC7A-912F-4D9F-9A6B-5D29C155C504}" authorId="{C7BFFB99-4AFF-3083-A3D1-79E09E4CCF5E}" created="2026-05-04T09:54:57.742">
    <pc:sldMkLst xmlns:pc="http://schemas.microsoft.com/office/powerpoint/2013/main/command">
      <pc:docMk/>
      <pc:sldMk cId="4176820181" sldId="2148"/>
    </pc:sldMkLst>
    <p188:replyLst>
      <p188:reply id="{21833AE3-A3B7-41F3-AA23-FE55AD3F9F7E}" authorId="{C7BFFB99-4AFF-3083-A3D1-79E09E4CCF5E}" created="2026-05-04T13:18:26.910">
        <p188:txBody>
          <a:bodyPr/>
          <a:lstStyle/>
          <a:p>
            <a:r>
              <a:rPr lang="en-IL"/>
              <a:t>לדוגמא גודל המדגם של 50 + זה 168 .
30-49 זה 234 
18-29 זה 103
והם מתחלים לאלה שביקשו להישפט , ולא ביקשו</a:t>
            </a:r>
          </a:p>
        </p188:txBody>
      </p188:reply>
    </p188:replyLst>
    <p188:txBody>
      <a:bodyPr/>
      <a:lstStyle/>
      <a:p>
        <a:r>
          <a:rPr lang="en-IL"/>
          <a:t>הבנתי שמדובר על ממוצע פה, אבל גודל המדגם הולך ומשתנה.
בכללי : צריך לכתוב גודל(מרחב) מגדם מה הוא בדיוק ולחדד לדוגמא בגילאים ברור שאלו בגיל 50+ תהיה להם הסתברות גדולה יותר כי גודל המדגם שלהם יהיה קטן יותר מאשר זה של 18-29 </a:t>
        </a:r>
      </a:p>
    </p188:txBody>
  </p188:cm>
  <p188:cm id="{4EE3537B-D879-4BB7-AE2B-9387CFC066B2}" authorId="{C7BFFB99-4AFF-3083-A3D1-79E09E4CCF5E}" created="2026-05-04T10:17:53.777">
    <pc:sldMkLst xmlns:pc="http://schemas.microsoft.com/office/powerpoint/2013/main/command">
      <pc:docMk/>
      <pc:sldMk cId="4176820181" sldId="2148"/>
    </pc:sldMkLst>
    <p188:txBody>
      <a:bodyPr/>
      <a:lstStyle/>
      <a:p>
        <a:r>
          <a:rPr lang="en-IL"/>
          <a:t>השוואה בין
מגזר יהודי / ערבי  - 
גילאים ,מי שנשפט / לא נשפט 
אבל , 
אין התאמה להתפלגות באוכלוסייה 
ערבים ≈ 20% באוכלוסייה 
במדגם ≈ 33% 
התוצאות מוטות</a:t>
        </a:r>
      </a:p>
    </p188:txBody>
  </p188:cm>
</p188:cmLst>
</file>

<file path=ppt/comments/modernComment_909_961218F.xml><?xml version="1.0" encoding="utf-8"?>
<p188:cmLst xmlns:a="http://schemas.openxmlformats.org/drawingml/2006/main" xmlns:r="http://schemas.openxmlformats.org/officeDocument/2006/relationships" xmlns:p188="http://schemas.microsoft.com/office/powerpoint/2018/8/main">
  <p188:cm id="{4DC65027-29D0-4A27-B682-AE76E7B150EA}" authorId="{C7BFFB99-4AFF-3083-A3D1-79E09E4CCF5E}" created="2026-05-04T10:00:14.326">
    <pc:sldMkLst xmlns:pc="http://schemas.microsoft.com/office/powerpoint/2013/main/command">
      <pc:docMk/>
      <pc:sldMk cId="157360527" sldId="2313"/>
    </pc:sldMkLst>
    <p188:txBody>
      <a:bodyPr/>
      <a:lstStyle/>
      <a:p>
        <a:r>
          <a:rPr lang="en-IL"/>
          <a:t>המספרים 1,2,+3 לא מובנות 
עדיף להחליף למשהו כמו דוח אחד, שתי דוחות , שלושה ומעלה...
</a:t>
        </a:r>
      </a:p>
    </p188:txBody>
  </p188:cm>
  <p188:cm id="{6EEFEBBA-470F-471F-AAC2-37202926155F}" authorId="{C7BFFB99-4AFF-3083-A3D1-79E09E4CCF5E}" created="2026-05-04T10:02:47.011">
    <pc:sldMkLst xmlns:pc="http://schemas.microsoft.com/office/powerpoint/2013/main/command">
      <pc:docMk/>
      <pc:sldMk cId="157360527" sldId="2313"/>
    </pc:sldMkLst>
    <p188:txBody>
      <a:bodyPr/>
      <a:lstStyle/>
      <a:p>
        <a:r>
          <a:rPr lang="en-IL"/>
          <a:t>בנוסף לכך,מה הוא גודל המדגם פה.
 איך אפשר לדעת שבמגזר הערבי- שביקשו להישפט - 
75%
קיבלו דוח אחד בלבד?</a:t>
        </a:r>
      </a:p>
    </p188:txBody>
  </p188:cm>
</p188:cmLst>
</file>

<file path=ppt/comments/modernComment_934_E723A811.xml><?xml version="1.0" encoding="utf-8"?>
<p188:cmLst xmlns:a="http://schemas.openxmlformats.org/drawingml/2006/main" xmlns:r="http://schemas.openxmlformats.org/officeDocument/2006/relationships" xmlns:p188="http://schemas.microsoft.com/office/powerpoint/2018/8/main">
  <p188:cm id="{158D71C6-CE95-4B95-A845-9E0DEC258DA7}" authorId="{C7BFFB99-4AFF-3083-A3D1-79E09E4CCF5E}" created="2026-05-04T10:21:05.251">
    <pc:sldMkLst xmlns:pc="http://schemas.microsoft.com/office/powerpoint/2013/main/command">
      <pc:docMk/>
      <pc:sldMk cId="3877873681" sldId="2356"/>
    </pc:sldMkLst>
    <p188:txBody>
      <a:bodyPr/>
      <a:lstStyle/>
      <a:p>
        <a:r>
          <a:rPr lang="en-IL"/>
          <a:t>הערה זו היא גם לשאר השקופיות.
מוצגים הבדלים כמו 1.3 מול 1.5 דוחות
או פה כמו 28% מול 24% 
אבל אין ר"ס  (רווח סמך) , אין מבחני מובהקות , אין  p-value 
אי אפשר לדעת אם ההבדלים באמת אמיתיים או לא</a:t>
        </a:r>
      </a:p>
    </p188:txBody>
  </p188:cm>
</p188:cmLst>
</file>

<file path=ppt/comments/modernComment_937_F71287CE.xml><?xml version="1.0" encoding="utf-8"?>
<p188:cmLst xmlns:a="http://schemas.openxmlformats.org/drawingml/2006/main" xmlns:r="http://schemas.openxmlformats.org/officeDocument/2006/relationships" xmlns:p188="http://schemas.microsoft.com/office/powerpoint/2018/8/main">
  <p188:cm id="{BC0C3301-CC60-4FA6-85AE-988C515DC613}" authorId="{C7BFFB99-4AFF-3083-A3D1-79E09E4CCF5E}" created="2026-05-04T11:33:21.964">
    <pc:sldMkLst xmlns:pc="http://schemas.microsoft.com/office/powerpoint/2013/main/command">
      <pc:docMk/>
      <pc:sldMk cId="4145186766" sldId="2359"/>
    </pc:sldMkLst>
    <p188:txBody>
      <a:bodyPr/>
      <a:lstStyle/>
      <a:p>
        <a:r>
          <a:rPr lang="en-IL"/>
          <a:t>ממוצע לשים אותו במקום טוב יותר
</a:t>
        </a:r>
      </a:p>
    </p188:txBody>
  </p188:cm>
</p188:cmLst>
</file>

<file path=ppt/comments/modernComment_980_AA1D2A6A.xml><?xml version="1.0" encoding="utf-8"?>
<p188:cmLst xmlns:a="http://schemas.openxmlformats.org/drawingml/2006/main" xmlns:r="http://schemas.openxmlformats.org/officeDocument/2006/relationships" xmlns:p188="http://schemas.microsoft.com/office/powerpoint/2018/8/main">
  <p188:cm id="{B4764EAE-2122-4D49-BCE5-19B84F0FD1C7}" authorId="{C7BFFB99-4AFF-3083-A3D1-79E09E4CCF5E}" created="2026-05-04T13:03:14.926">
    <pc:sldMkLst xmlns:pc="http://schemas.microsoft.com/office/powerpoint/2013/main/command">
      <pc:docMk/>
      <pc:sldMk cId="2854038122" sldId="2432"/>
    </pc:sldMkLst>
    <p188:txBody>
      <a:bodyPr/>
      <a:lstStyle/>
      <a:p>
        <a:r>
          <a:rPr lang="en-IL"/>
          <a:t>הבנתי מה המסר אבל
יותר מדי עמוס , מבלבל</a:t>
        </a:r>
      </a:p>
    </p188:txBody>
  </p188:cm>
</p188:cmLst>
</file>

<file path=ppt/comments/modernComment_981_BE952244.xml><?xml version="1.0" encoding="utf-8"?>
<p188:cmLst xmlns:a="http://schemas.openxmlformats.org/drawingml/2006/main" xmlns:r="http://schemas.openxmlformats.org/officeDocument/2006/relationships" xmlns:p188="http://schemas.microsoft.com/office/powerpoint/2018/8/main">
  <p188:cm id="{F65D09E4-496F-430C-AB94-3E4F41DC1C7A}" authorId="{C7BFFB99-4AFF-3083-A3D1-79E09E4CCF5E}" created="2026-05-04T11:57:51.804">
    <pc:sldMkLst xmlns:pc="http://schemas.microsoft.com/office/powerpoint/2013/main/command">
      <pc:docMk/>
      <pc:sldMk cId="3197444676" sldId="2433"/>
    </pc:sldMkLst>
    <p188:txBody>
      <a:bodyPr/>
      <a:lstStyle/>
      <a:p>
        <a:r>
          <a:rPr lang="en-IL"/>
          <a:t>בדיקת מובהקות ,גודל
צריך לפרט עוד
למרות שזה עמוס אבל חסר סטטיסטיקה </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D17E3D4-2BE0-4C94-A20C-F33CACBA279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r">
              <a:defRPr sz="1200"/>
            </a:lvl1pPr>
          </a:lstStyle>
          <a:p>
            <a:endParaRPr lang="he-IL"/>
          </a:p>
        </p:txBody>
      </p:sp>
      <p:sp>
        <p:nvSpPr>
          <p:cNvPr id="4" name="Footer Placeholder 3">
            <a:extLst>
              <a:ext uri="{FF2B5EF4-FFF2-40B4-BE49-F238E27FC236}">
                <a16:creationId xmlns:a16="http://schemas.microsoft.com/office/drawing/2014/main" id="{7AB93FDF-C1E9-4D67-BBEF-7C38B56CA44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r">
              <a:defRPr sz="1200"/>
            </a:lvl1pPr>
          </a:lstStyle>
          <a:p>
            <a:endParaRPr lang="he-IL"/>
          </a:p>
        </p:txBody>
      </p:sp>
      <p:sp>
        <p:nvSpPr>
          <p:cNvPr id="5" name="Slide Number Placeholder 4">
            <a:extLst>
              <a:ext uri="{FF2B5EF4-FFF2-40B4-BE49-F238E27FC236}">
                <a16:creationId xmlns:a16="http://schemas.microsoft.com/office/drawing/2014/main" id="{B7CAF48C-2773-44CB-86F2-B8E3E28D9FE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l">
              <a:defRPr sz="1200"/>
            </a:lvl1pPr>
          </a:lstStyle>
          <a:p>
            <a:fld id="{0E6AAE12-CC21-4027-AE22-83B4E7552DB6}" type="slidenum">
              <a:rPr lang="he-IL" smtClean="0"/>
              <a:t>‹#›</a:t>
            </a:fld>
            <a:endParaRPr lang="he-IL"/>
          </a:p>
        </p:txBody>
      </p:sp>
    </p:spTree>
    <p:extLst>
      <p:ext uri="{BB962C8B-B14F-4D97-AF65-F5344CB8AC3E}">
        <p14:creationId xmlns:p14="http://schemas.microsoft.com/office/powerpoint/2010/main" val="4294304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r">
              <a:defRPr sz="1200"/>
            </a:lvl1pPr>
          </a:lstStyle>
          <a:p>
            <a:endParaRPr lang="he-I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l">
              <a:defRPr sz="1200"/>
            </a:lvl1pPr>
          </a:lstStyle>
          <a:p>
            <a:fld id="{BE749305-24F5-4EC7-BD99-03FEAAF7DDBF}" type="datetimeFigureOut">
              <a:rPr lang="he-IL" smtClean="0"/>
              <a:t>י"ז/אייר/תשפ"ו</a:t>
            </a:fld>
            <a:endParaRPr lang="he-I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he-I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r">
              <a:defRPr sz="1200"/>
            </a:lvl1pPr>
          </a:lstStyle>
          <a:p>
            <a:endParaRPr lang="he-I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l">
              <a:defRPr sz="1200"/>
            </a:lvl1pPr>
          </a:lstStyle>
          <a:p>
            <a:fld id="{10CB6826-D6B3-4DF1-8B9C-6B5F8FAB66EC}" type="slidenum">
              <a:rPr lang="he-IL" smtClean="0"/>
              <a:t>‹#›</a:t>
            </a:fld>
            <a:endParaRPr lang="he-IL"/>
          </a:p>
        </p:txBody>
      </p:sp>
    </p:spTree>
    <p:extLst>
      <p:ext uri="{BB962C8B-B14F-4D97-AF65-F5344CB8AC3E}">
        <p14:creationId xmlns:p14="http://schemas.microsoft.com/office/powerpoint/2010/main" val="32506169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תמונה 1" descr="תמונה שמכילה אדם, לבוש, פני אדם, איש&#10;&#10;תוכן בינה מלאכותית גנרטיבית עשוי להיות שגוי.">
            <a:extLst>
              <a:ext uri="{FF2B5EF4-FFF2-40B4-BE49-F238E27FC236}">
                <a16:creationId xmlns:a16="http://schemas.microsoft.com/office/drawing/2014/main" id="{BF458231-8531-DFCA-3066-CE8ABF4DE0F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3873" y="0"/>
            <a:ext cx="10142703" cy="6858000"/>
          </a:xfrm>
          <a:prstGeom prst="rect">
            <a:avLst/>
          </a:prstGeom>
        </p:spPr>
      </p:pic>
      <p:sp>
        <p:nvSpPr>
          <p:cNvPr id="14" name="Rectangle 13">
            <a:extLst>
              <a:ext uri="{FF2B5EF4-FFF2-40B4-BE49-F238E27FC236}">
                <a16:creationId xmlns:a16="http://schemas.microsoft.com/office/drawing/2014/main" id="{2450D003-6367-8AC7-2FA7-9CDB0BE3A2E8}"/>
              </a:ext>
            </a:extLst>
          </p:cNvPr>
          <p:cNvSpPr/>
          <p:nvPr userDrawn="1"/>
        </p:nvSpPr>
        <p:spPr>
          <a:xfrm>
            <a:off x="113874" y="4761"/>
            <a:ext cx="11789703" cy="6857999"/>
          </a:xfrm>
          <a:prstGeom prst="rect">
            <a:avLst/>
          </a:prstGeom>
          <a:gradFill>
            <a:gsLst>
              <a:gs pos="34000">
                <a:srgbClr val="6BDFDB">
                  <a:alpha val="0"/>
                </a:srgbClr>
              </a:gs>
              <a:gs pos="100000">
                <a:srgbClr val="5BD8FF">
                  <a:alpha val="69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7" name="Picture 6">
            <a:extLst>
              <a:ext uri="{FF2B5EF4-FFF2-40B4-BE49-F238E27FC236}">
                <a16:creationId xmlns:a16="http://schemas.microsoft.com/office/drawing/2014/main" id="{F346C820-9CB3-4A76-B5CC-4E3BFFB19778}"/>
              </a:ext>
            </a:extLst>
          </p:cNvPr>
          <p:cNvPicPr>
            <a:picLocks noChangeAspect="1"/>
          </p:cNvPicPr>
          <p:nvPr userDrawn="1"/>
        </p:nvPicPr>
        <p:blipFill>
          <a:blip r:embed="rId3"/>
          <a:stretch>
            <a:fillRect/>
          </a:stretch>
        </p:blipFill>
        <p:spPr>
          <a:xfrm>
            <a:off x="-1270" y="-4760"/>
            <a:ext cx="12192000" cy="6857998"/>
          </a:xfrm>
          <a:prstGeom prst="rect">
            <a:avLst/>
          </a:prstGeom>
        </p:spPr>
      </p:pic>
      <p:grpSp>
        <p:nvGrpSpPr>
          <p:cNvPr id="12" name="Group 7">
            <a:extLst>
              <a:ext uri="{FF2B5EF4-FFF2-40B4-BE49-F238E27FC236}">
                <a16:creationId xmlns:a16="http://schemas.microsoft.com/office/drawing/2014/main" id="{1292C8B5-B33D-1A6F-FD27-20ED6FCC24EB}"/>
              </a:ext>
            </a:extLst>
          </p:cNvPr>
          <p:cNvGrpSpPr/>
          <p:nvPr userDrawn="1"/>
        </p:nvGrpSpPr>
        <p:grpSpPr>
          <a:xfrm>
            <a:off x="113874" y="5735743"/>
            <a:ext cx="1247700" cy="878029"/>
            <a:chOff x="133426" y="5832714"/>
            <a:chExt cx="1247700" cy="878029"/>
          </a:xfrm>
        </p:grpSpPr>
        <p:sp>
          <p:nvSpPr>
            <p:cNvPr id="13" name="TextBox 9">
              <a:extLst>
                <a:ext uri="{FF2B5EF4-FFF2-40B4-BE49-F238E27FC236}">
                  <a16:creationId xmlns:a16="http://schemas.microsoft.com/office/drawing/2014/main" id="{1291A64B-29A4-E6E4-51BC-7356400EAC93}"/>
                </a:ext>
              </a:extLst>
            </p:cNvPr>
            <p:cNvSpPr txBox="1"/>
            <p:nvPr/>
          </p:nvSpPr>
          <p:spPr>
            <a:xfrm>
              <a:off x="133426" y="6433744"/>
              <a:ext cx="1247700" cy="276999"/>
            </a:xfrm>
            <a:prstGeom prst="rect">
              <a:avLst/>
            </a:prstGeom>
            <a:noFill/>
          </p:spPr>
          <p:txBody>
            <a:bodyPr wrap="none" rtlCol="1">
              <a:noAutofit/>
            </a:bodyPr>
            <a:lstStyle/>
            <a:p>
              <a:pPr algn="ctr"/>
              <a:r>
                <a:rPr lang="he-IL" sz="1200" b="1" dirty="0">
                  <a:solidFill>
                    <a:srgbClr val="558BA1"/>
                  </a:solidFill>
                  <a:latin typeface="Segoe UI Bold" panose="020B0802040204020203" pitchFamily="34" charset="0"/>
                  <a:cs typeface="Segoe UI Bold" panose="020B0802040204020203" pitchFamily="34" charset="0"/>
                </a:rPr>
                <a:t>סי.איי</a:t>
              </a:r>
              <a:r>
                <a:rPr lang="he-IL" sz="1200" dirty="0">
                  <a:solidFill>
                    <a:srgbClr val="558BA1"/>
                  </a:solidFill>
                  <a:latin typeface="Segoe UI Bold" panose="020B0802040204020203" pitchFamily="34" charset="0"/>
                  <a:cs typeface="Segoe UI Bold" panose="020B0802040204020203" pitchFamily="34" charset="0"/>
                </a:rPr>
                <a:t> </a:t>
              </a:r>
              <a:r>
                <a:rPr lang="he-IL" sz="1200" dirty="0">
                  <a:solidFill>
                    <a:srgbClr val="80BF8C"/>
                  </a:solidFill>
                  <a:latin typeface="Segoe UI" panose="020B0502040204020203" pitchFamily="34" charset="0"/>
                  <a:cs typeface="Segoe UI" panose="020B0502040204020203" pitchFamily="34" charset="0"/>
                </a:rPr>
                <a:t>מידע שיווקי</a:t>
              </a:r>
              <a:endParaRPr lang="he-IL" sz="1400" dirty="0">
                <a:solidFill>
                  <a:srgbClr val="80BF8C"/>
                </a:solidFill>
                <a:latin typeface="Segoe UI" panose="020B0502040204020203" pitchFamily="34" charset="0"/>
                <a:cs typeface="Segoe UI" panose="020B0502040204020203" pitchFamily="34" charset="0"/>
              </a:endParaRPr>
            </a:p>
          </p:txBody>
        </p:sp>
        <p:pic>
          <p:nvPicPr>
            <p:cNvPr id="16" name="Graphic 14">
              <a:extLst>
                <a:ext uri="{FF2B5EF4-FFF2-40B4-BE49-F238E27FC236}">
                  <a16:creationId xmlns:a16="http://schemas.microsoft.com/office/drawing/2014/main" id="{D7902D41-2DE2-00C9-236C-366BF43EDE2E}"/>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4"/>
                </a:ext>
              </a:extLst>
            </a:blip>
            <a:srcRect l="23605" t="6780" r="27265" b="30997"/>
            <a:stretch/>
          </p:blipFill>
          <p:spPr>
            <a:xfrm>
              <a:off x="307975" y="5832714"/>
              <a:ext cx="901700" cy="642383"/>
            </a:xfrm>
            <a:prstGeom prst="rect">
              <a:avLst/>
            </a:prstGeom>
          </p:spPr>
        </p:pic>
      </p:grpSp>
    </p:spTree>
    <p:extLst>
      <p:ext uri="{BB962C8B-B14F-4D97-AF65-F5344CB8AC3E}">
        <p14:creationId xmlns:p14="http://schemas.microsoft.com/office/powerpoint/2010/main" val="36036110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A092BFE6-DCBF-40A4-A2EB-16577A268BA1}"/>
              </a:ext>
            </a:extLst>
          </p:cNvPr>
          <p:cNvGrpSpPr/>
          <p:nvPr userDrawn="1"/>
        </p:nvGrpSpPr>
        <p:grpSpPr>
          <a:xfrm>
            <a:off x="133426" y="5876256"/>
            <a:ext cx="1247700" cy="878029"/>
            <a:chOff x="133426" y="5832714"/>
            <a:chExt cx="1247700" cy="878029"/>
          </a:xfrm>
        </p:grpSpPr>
        <p:sp>
          <p:nvSpPr>
            <p:cNvPr id="14" name="TextBox 13">
              <a:extLst>
                <a:ext uri="{FF2B5EF4-FFF2-40B4-BE49-F238E27FC236}">
                  <a16:creationId xmlns:a16="http://schemas.microsoft.com/office/drawing/2014/main" id="{DF70875E-5966-40A1-BB46-1F7D4E189729}"/>
                </a:ext>
              </a:extLst>
            </p:cNvPr>
            <p:cNvSpPr txBox="1"/>
            <p:nvPr/>
          </p:nvSpPr>
          <p:spPr>
            <a:xfrm>
              <a:off x="133426" y="6433744"/>
              <a:ext cx="1247700" cy="276999"/>
            </a:xfrm>
            <a:prstGeom prst="rect">
              <a:avLst/>
            </a:prstGeom>
            <a:noFill/>
          </p:spPr>
          <p:txBody>
            <a:bodyPr wrap="none" rtlCol="1">
              <a:noAutofit/>
            </a:bodyPr>
            <a:lstStyle/>
            <a:p>
              <a:pPr algn="ctr"/>
              <a:r>
                <a:rPr lang="he-IL" sz="1200" b="1" dirty="0">
                  <a:solidFill>
                    <a:srgbClr val="558BA1"/>
                  </a:solidFill>
                  <a:latin typeface="Segoe UI Bold" panose="020B0802040204020203" pitchFamily="34" charset="0"/>
                  <a:cs typeface="Segoe UI Bold" panose="020B0802040204020203" pitchFamily="34" charset="0"/>
                </a:rPr>
                <a:t>סי.איי</a:t>
              </a:r>
              <a:r>
                <a:rPr lang="he-IL" sz="1200" dirty="0">
                  <a:solidFill>
                    <a:srgbClr val="558BA1"/>
                  </a:solidFill>
                  <a:latin typeface="Segoe UI Bold" panose="020B0802040204020203" pitchFamily="34" charset="0"/>
                  <a:cs typeface="Segoe UI Bold" panose="020B0802040204020203" pitchFamily="34" charset="0"/>
                </a:rPr>
                <a:t> </a:t>
              </a:r>
              <a:r>
                <a:rPr lang="he-IL" sz="1200" dirty="0">
                  <a:solidFill>
                    <a:srgbClr val="80BF8C"/>
                  </a:solidFill>
                  <a:latin typeface="Segoe UI" panose="020B0502040204020203" pitchFamily="34" charset="0"/>
                  <a:cs typeface="Segoe UI" panose="020B0502040204020203" pitchFamily="34" charset="0"/>
                </a:rPr>
                <a:t>מידע שיווקי</a:t>
              </a:r>
              <a:endParaRPr lang="he-IL" sz="1400" dirty="0">
                <a:solidFill>
                  <a:srgbClr val="80BF8C"/>
                </a:solidFill>
                <a:latin typeface="Segoe UI" panose="020B0502040204020203" pitchFamily="34" charset="0"/>
                <a:cs typeface="Segoe UI" panose="020B0502040204020203" pitchFamily="34" charset="0"/>
              </a:endParaRPr>
            </a:p>
          </p:txBody>
        </p:sp>
        <p:pic>
          <p:nvPicPr>
            <p:cNvPr id="15" name="Graphic 14">
              <a:extLst>
                <a:ext uri="{FF2B5EF4-FFF2-40B4-BE49-F238E27FC236}">
                  <a16:creationId xmlns:a16="http://schemas.microsoft.com/office/drawing/2014/main" id="{ED1A9E6C-8DBF-45DE-811B-9C34F2EFC9B5}"/>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3605" t="6780" r="27265" b="30997"/>
            <a:stretch/>
          </p:blipFill>
          <p:spPr>
            <a:xfrm>
              <a:off x="307975" y="5832714"/>
              <a:ext cx="901700" cy="642383"/>
            </a:xfrm>
            <a:prstGeom prst="rect">
              <a:avLst/>
            </a:prstGeom>
          </p:spPr>
        </p:pic>
      </p:grpSp>
      <p:sp>
        <p:nvSpPr>
          <p:cNvPr id="18" name="Slide Number Placeholder 5">
            <a:extLst>
              <a:ext uri="{FF2B5EF4-FFF2-40B4-BE49-F238E27FC236}">
                <a16:creationId xmlns:a16="http://schemas.microsoft.com/office/drawing/2014/main" id="{6D1AA208-678C-4C5A-B947-731B8D77837C}"/>
              </a:ext>
            </a:extLst>
          </p:cNvPr>
          <p:cNvSpPr>
            <a:spLocks noGrp="1"/>
          </p:cNvSpPr>
          <p:nvPr>
            <p:ph type="sldNum" sz="quarter" idx="4"/>
          </p:nvPr>
        </p:nvSpPr>
        <p:spPr>
          <a:xfrm>
            <a:off x="11468100" y="6473957"/>
            <a:ext cx="615950"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1" fromWordArt="0" anchor="b" anchorCtr="0" forceAA="0" compatLnSpc="1">
            <a:prstTxWarp prst="textNoShape">
              <a:avLst/>
            </a:prstTxWarp>
            <a:noAutofit/>
          </a:bodyPr>
          <a:lstStyle>
            <a:lvl1pPr>
              <a:defRPr lang="he-IL" sz="1100" smtClean="0">
                <a:solidFill>
                  <a:schemeClr val="bg1">
                    <a:lumMod val="75000"/>
                  </a:schemeClr>
                </a:solidFill>
                <a:latin typeface="Segoe UI" panose="020B0502040204020203" pitchFamily="34" charset="0"/>
                <a:cs typeface="Segoe UI" panose="020B0502040204020203" pitchFamily="34" charset="0"/>
              </a:defRPr>
            </a:lvl1pPr>
          </a:lstStyle>
          <a:p>
            <a:pPr algn="r" rtl="1"/>
            <a:fld id="{7A91BF3F-E284-4570-AC28-CDAE2F1A1EA1}" type="slidenum">
              <a:rPr lang="he-IL" smtClean="0"/>
              <a:pPr algn="r" rtl="1"/>
              <a:t>‹#›</a:t>
            </a:fld>
            <a:endParaRPr lang="he-IL"/>
          </a:p>
        </p:txBody>
      </p:sp>
      <p:pic>
        <p:nvPicPr>
          <p:cNvPr id="3" name="תמונה 2" descr="תמונה שמכילה טקסט, לוגו, גופן, עיצוב&#10;&#10;התיאור נוצר באופן אוטומטי">
            <a:extLst>
              <a:ext uri="{FF2B5EF4-FFF2-40B4-BE49-F238E27FC236}">
                <a16:creationId xmlns:a16="http://schemas.microsoft.com/office/drawing/2014/main" id="{FE769887-F27C-972B-7BE0-C96BED617102}"/>
              </a:ext>
            </a:extLst>
          </p:cNvPr>
          <p:cNvPicPr>
            <a:picLocks noChangeAspect="1"/>
          </p:cNvPicPr>
          <p:nvPr userDrawn="1"/>
        </p:nvPicPr>
        <p:blipFill rotWithShape="1">
          <a:blip r:embed="rId3">
            <a:clrChange>
              <a:clrFrom>
                <a:srgbClr val="FCFFFE"/>
              </a:clrFrom>
              <a:clrTo>
                <a:srgbClr val="FCFFFE">
                  <a:alpha val="0"/>
                </a:srgbClr>
              </a:clrTo>
            </a:clrChange>
            <a:extLst>
              <a:ext uri="{28A0092B-C50C-407E-A947-70E740481C1C}">
                <a14:useLocalDpi xmlns:a14="http://schemas.microsoft.com/office/drawing/2010/main" val="0"/>
              </a:ext>
            </a:extLst>
          </a:blip>
          <a:srcRect/>
          <a:stretch/>
        </p:blipFill>
        <p:spPr>
          <a:xfrm>
            <a:off x="181051" y="142875"/>
            <a:ext cx="1100429" cy="883556"/>
          </a:xfrm>
          <a:prstGeom prst="rect">
            <a:avLst/>
          </a:prstGeom>
        </p:spPr>
      </p:pic>
    </p:spTree>
    <p:extLst>
      <p:ext uri="{BB962C8B-B14F-4D97-AF65-F5344CB8AC3E}">
        <p14:creationId xmlns:p14="http://schemas.microsoft.com/office/powerpoint/2010/main" val="4813822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A092BFE6-DCBF-40A4-A2EB-16577A268BA1}"/>
              </a:ext>
            </a:extLst>
          </p:cNvPr>
          <p:cNvGrpSpPr/>
          <p:nvPr userDrawn="1"/>
        </p:nvGrpSpPr>
        <p:grpSpPr>
          <a:xfrm>
            <a:off x="133426" y="5876256"/>
            <a:ext cx="1247700" cy="878029"/>
            <a:chOff x="133426" y="5832714"/>
            <a:chExt cx="1247700" cy="878029"/>
          </a:xfrm>
        </p:grpSpPr>
        <p:sp>
          <p:nvSpPr>
            <p:cNvPr id="14" name="TextBox 13">
              <a:extLst>
                <a:ext uri="{FF2B5EF4-FFF2-40B4-BE49-F238E27FC236}">
                  <a16:creationId xmlns:a16="http://schemas.microsoft.com/office/drawing/2014/main" id="{DF70875E-5966-40A1-BB46-1F7D4E189729}"/>
                </a:ext>
              </a:extLst>
            </p:cNvPr>
            <p:cNvSpPr txBox="1"/>
            <p:nvPr/>
          </p:nvSpPr>
          <p:spPr>
            <a:xfrm>
              <a:off x="133426" y="6433744"/>
              <a:ext cx="1247700" cy="276999"/>
            </a:xfrm>
            <a:prstGeom prst="rect">
              <a:avLst/>
            </a:prstGeom>
            <a:noFill/>
          </p:spPr>
          <p:txBody>
            <a:bodyPr wrap="none" rtlCol="1">
              <a:noAutofit/>
            </a:bodyPr>
            <a:lstStyle/>
            <a:p>
              <a:pPr algn="ctr"/>
              <a:r>
                <a:rPr lang="he-IL" sz="1200" b="1" dirty="0">
                  <a:solidFill>
                    <a:srgbClr val="558BA1"/>
                  </a:solidFill>
                  <a:latin typeface="Segoe UI Bold" panose="020B0802040204020203" pitchFamily="34" charset="0"/>
                  <a:cs typeface="Segoe UI Bold" panose="020B0802040204020203" pitchFamily="34" charset="0"/>
                </a:rPr>
                <a:t>סי.איי</a:t>
              </a:r>
              <a:r>
                <a:rPr lang="he-IL" sz="1200" dirty="0">
                  <a:solidFill>
                    <a:srgbClr val="558BA1"/>
                  </a:solidFill>
                  <a:latin typeface="Segoe UI Bold" panose="020B0802040204020203" pitchFamily="34" charset="0"/>
                  <a:cs typeface="Segoe UI Bold" panose="020B0802040204020203" pitchFamily="34" charset="0"/>
                </a:rPr>
                <a:t> </a:t>
              </a:r>
              <a:r>
                <a:rPr lang="he-IL" sz="1200" dirty="0">
                  <a:solidFill>
                    <a:srgbClr val="80BF8C"/>
                  </a:solidFill>
                  <a:latin typeface="Segoe UI" panose="020B0502040204020203" pitchFamily="34" charset="0"/>
                  <a:cs typeface="Segoe UI" panose="020B0502040204020203" pitchFamily="34" charset="0"/>
                </a:rPr>
                <a:t>מידע שיווקי</a:t>
              </a:r>
              <a:endParaRPr lang="he-IL" sz="1400" dirty="0">
                <a:solidFill>
                  <a:srgbClr val="80BF8C"/>
                </a:solidFill>
                <a:latin typeface="Segoe UI" panose="020B0502040204020203" pitchFamily="34" charset="0"/>
                <a:cs typeface="Segoe UI" panose="020B0502040204020203" pitchFamily="34" charset="0"/>
              </a:endParaRPr>
            </a:p>
          </p:txBody>
        </p:sp>
        <p:pic>
          <p:nvPicPr>
            <p:cNvPr id="15" name="Graphic 14">
              <a:extLst>
                <a:ext uri="{FF2B5EF4-FFF2-40B4-BE49-F238E27FC236}">
                  <a16:creationId xmlns:a16="http://schemas.microsoft.com/office/drawing/2014/main" id="{ED1A9E6C-8DBF-45DE-811B-9C34F2EFC9B5}"/>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3605" t="6780" r="27265" b="30997"/>
            <a:stretch/>
          </p:blipFill>
          <p:spPr>
            <a:xfrm>
              <a:off x="307975" y="5832714"/>
              <a:ext cx="901700" cy="642383"/>
            </a:xfrm>
            <a:prstGeom prst="rect">
              <a:avLst/>
            </a:prstGeom>
          </p:spPr>
        </p:pic>
      </p:grpSp>
      <p:sp>
        <p:nvSpPr>
          <p:cNvPr id="18" name="Slide Number Placeholder 5">
            <a:extLst>
              <a:ext uri="{FF2B5EF4-FFF2-40B4-BE49-F238E27FC236}">
                <a16:creationId xmlns:a16="http://schemas.microsoft.com/office/drawing/2014/main" id="{6D1AA208-678C-4C5A-B947-731B8D77837C}"/>
              </a:ext>
            </a:extLst>
          </p:cNvPr>
          <p:cNvSpPr>
            <a:spLocks noGrp="1"/>
          </p:cNvSpPr>
          <p:nvPr>
            <p:ph type="sldNum" sz="quarter" idx="4"/>
          </p:nvPr>
        </p:nvSpPr>
        <p:spPr>
          <a:xfrm>
            <a:off x="11468100" y="6473957"/>
            <a:ext cx="615950"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1" fromWordArt="0" anchor="b" anchorCtr="0" forceAA="0" compatLnSpc="1">
            <a:prstTxWarp prst="textNoShape">
              <a:avLst/>
            </a:prstTxWarp>
            <a:noAutofit/>
          </a:bodyPr>
          <a:lstStyle>
            <a:lvl1pPr>
              <a:defRPr lang="he-IL" sz="1100" smtClean="0">
                <a:solidFill>
                  <a:schemeClr val="bg1">
                    <a:lumMod val="75000"/>
                  </a:schemeClr>
                </a:solidFill>
                <a:latin typeface="Segoe UI" panose="020B0502040204020203" pitchFamily="34" charset="0"/>
                <a:cs typeface="Segoe UI" panose="020B0502040204020203" pitchFamily="34" charset="0"/>
              </a:defRPr>
            </a:lvl1pPr>
          </a:lstStyle>
          <a:p>
            <a:pPr algn="r" rtl="1"/>
            <a:fld id="{7A91BF3F-E284-4570-AC28-CDAE2F1A1EA1}" type="slidenum">
              <a:rPr lang="he-IL" smtClean="0"/>
              <a:pPr algn="r" rtl="1"/>
              <a:t>‹#›</a:t>
            </a:fld>
            <a:endParaRPr lang="he-IL"/>
          </a:p>
        </p:txBody>
      </p:sp>
      <p:pic>
        <p:nvPicPr>
          <p:cNvPr id="3" name="תמונה 2" descr="תמונה שמכילה טקסט, לוגו, גופן, עיצוב&#10;&#10;התיאור נוצר באופן אוטומטי">
            <a:extLst>
              <a:ext uri="{FF2B5EF4-FFF2-40B4-BE49-F238E27FC236}">
                <a16:creationId xmlns:a16="http://schemas.microsoft.com/office/drawing/2014/main" id="{BB69646B-64C9-9758-C6CB-E5F60C46DBAD}"/>
              </a:ext>
            </a:extLst>
          </p:cNvPr>
          <p:cNvPicPr>
            <a:picLocks noChangeAspect="1"/>
          </p:cNvPicPr>
          <p:nvPr userDrawn="1"/>
        </p:nvPicPr>
        <p:blipFill rotWithShape="1">
          <a:blip r:embed="rId3">
            <a:clrChange>
              <a:clrFrom>
                <a:srgbClr val="FCFFFE"/>
              </a:clrFrom>
              <a:clrTo>
                <a:srgbClr val="FCFFFE">
                  <a:alpha val="0"/>
                </a:srgbClr>
              </a:clrTo>
            </a:clrChange>
            <a:extLst>
              <a:ext uri="{28A0092B-C50C-407E-A947-70E740481C1C}">
                <a14:useLocalDpi xmlns:a14="http://schemas.microsoft.com/office/drawing/2010/main" val="0"/>
              </a:ext>
            </a:extLst>
          </a:blip>
          <a:srcRect/>
          <a:stretch/>
        </p:blipFill>
        <p:spPr>
          <a:xfrm>
            <a:off x="181051" y="142875"/>
            <a:ext cx="1100429" cy="883556"/>
          </a:xfrm>
          <a:prstGeom prst="rect">
            <a:avLst/>
          </a:prstGeom>
        </p:spPr>
      </p:pic>
    </p:spTree>
    <p:extLst>
      <p:ext uri="{BB962C8B-B14F-4D97-AF65-F5344CB8AC3E}">
        <p14:creationId xmlns:p14="http://schemas.microsoft.com/office/powerpoint/2010/main" val="32094712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18" name="Slide Number Placeholder 5">
            <a:extLst>
              <a:ext uri="{FF2B5EF4-FFF2-40B4-BE49-F238E27FC236}">
                <a16:creationId xmlns:a16="http://schemas.microsoft.com/office/drawing/2014/main" id="{6D1AA208-678C-4C5A-B947-731B8D77837C}"/>
              </a:ext>
            </a:extLst>
          </p:cNvPr>
          <p:cNvSpPr>
            <a:spLocks noGrp="1"/>
          </p:cNvSpPr>
          <p:nvPr>
            <p:ph type="sldNum" sz="quarter" idx="4"/>
          </p:nvPr>
        </p:nvSpPr>
        <p:spPr>
          <a:xfrm>
            <a:off x="11468100" y="6473957"/>
            <a:ext cx="615950"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1" fromWordArt="0" anchor="b" anchorCtr="0" forceAA="0" compatLnSpc="1">
            <a:prstTxWarp prst="textNoShape">
              <a:avLst/>
            </a:prstTxWarp>
            <a:noAutofit/>
          </a:bodyPr>
          <a:lstStyle>
            <a:lvl1pPr>
              <a:defRPr lang="he-IL" sz="1100" smtClean="0">
                <a:solidFill>
                  <a:schemeClr val="bg1">
                    <a:lumMod val="75000"/>
                  </a:schemeClr>
                </a:solidFill>
                <a:latin typeface="Segoe UI" panose="020B0502040204020203" pitchFamily="34" charset="0"/>
                <a:cs typeface="Segoe UI" panose="020B0502040204020203" pitchFamily="34" charset="0"/>
              </a:defRPr>
            </a:lvl1pPr>
          </a:lstStyle>
          <a:p>
            <a:pPr algn="r" rtl="1"/>
            <a:fld id="{7A91BF3F-E284-4570-AC28-CDAE2F1A1EA1}" type="slidenum">
              <a:rPr lang="he-IL" smtClean="0"/>
              <a:pPr algn="r" rtl="1"/>
              <a:t>‹#›</a:t>
            </a:fld>
            <a:endParaRPr lang="he-IL"/>
          </a:p>
        </p:txBody>
      </p:sp>
      <p:pic>
        <p:nvPicPr>
          <p:cNvPr id="3" name="תמונה 2" descr="תמונה שמכילה טקסט, לוגו, גופן, עיצוב&#10;&#10;התיאור נוצר באופן אוטומטי">
            <a:extLst>
              <a:ext uri="{FF2B5EF4-FFF2-40B4-BE49-F238E27FC236}">
                <a16:creationId xmlns:a16="http://schemas.microsoft.com/office/drawing/2014/main" id="{BB69646B-64C9-9758-C6CB-E5F60C46DBAD}"/>
              </a:ext>
            </a:extLst>
          </p:cNvPr>
          <p:cNvPicPr>
            <a:picLocks noChangeAspect="1"/>
          </p:cNvPicPr>
          <p:nvPr userDrawn="1"/>
        </p:nvPicPr>
        <p:blipFill rotWithShape="1">
          <a:blip r:embed="rId2">
            <a:clrChange>
              <a:clrFrom>
                <a:srgbClr val="FCFFFE"/>
              </a:clrFrom>
              <a:clrTo>
                <a:srgbClr val="FCFFFE">
                  <a:alpha val="0"/>
                </a:srgbClr>
              </a:clrTo>
            </a:clrChange>
            <a:extLst>
              <a:ext uri="{28A0092B-C50C-407E-A947-70E740481C1C}">
                <a14:useLocalDpi xmlns:a14="http://schemas.microsoft.com/office/drawing/2010/main" val="0"/>
              </a:ext>
            </a:extLst>
          </a:blip>
          <a:srcRect/>
          <a:stretch/>
        </p:blipFill>
        <p:spPr>
          <a:xfrm>
            <a:off x="181051" y="142875"/>
            <a:ext cx="1100429" cy="883556"/>
          </a:xfrm>
          <a:prstGeom prst="rect">
            <a:avLst/>
          </a:prstGeom>
        </p:spPr>
      </p:pic>
    </p:spTree>
    <p:extLst>
      <p:ext uri="{BB962C8B-B14F-4D97-AF65-F5344CB8AC3E}">
        <p14:creationId xmlns:p14="http://schemas.microsoft.com/office/powerpoint/2010/main" val="15306610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4136229"/>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9" r:id="rId3"/>
    <p:sldLayoutId id="2147483660" r:id="rId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microsoft.com/office/2018/10/relationships/comments" Target="../comments/modernComment_909_961218F.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microsoft.com/office/2018/10/relationships/comments" Target="../comments/modernComment_864_F8F537D5.xml"/><Relationship Id="rId1" Type="http://schemas.openxmlformats.org/officeDocument/2006/relationships/slideLayout" Target="../slideLayouts/slideLayout2.xml"/><Relationship Id="rId6" Type="http://schemas.openxmlformats.org/officeDocument/2006/relationships/chart" Target="../charts/chart5.xml"/><Relationship Id="rId5" Type="http://schemas.openxmlformats.org/officeDocument/2006/relationships/chart" Target="../charts/chart4.xml"/><Relationship Id="rId4" Type="http://schemas.openxmlformats.org/officeDocument/2006/relationships/chart" Target="../charts/chart3.xml"/></Relationships>
</file>

<file path=ppt/slides/_rels/slide6.xml.rels><?xml version="1.0" encoding="UTF-8" standalone="yes"?>
<Relationships xmlns="http://schemas.openxmlformats.org/package/2006/relationships"><Relationship Id="rId3" Type="http://schemas.openxmlformats.org/officeDocument/2006/relationships/chart" Target="../charts/chart6.xml"/><Relationship Id="rId2" Type="http://schemas.microsoft.com/office/2018/10/relationships/comments" Target="../comments/modernComment_934_E723A811.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8" Type="http://schemas.openxmlformats.org/officeDocument/2006/relationships/chart" Target="../charts/chart11.xml"/><Relationship Id="rId3" Type="http://schemas.openxmlformats.org/officeDocument/2006/relationships/chart" Target="../charts/chart7.xml"/><Relationship Id="rId7" Type="http://schemas.openxmlformats.org/officeDocument/2006/relationships/chart" Target="../charts/chart10.xml"/><Relationship Id="rId2" Type="http://schemas.microsoft.com/office/2018/10/relationships/comments" Target="../comments/modernComment_97E_F2807F2D.xml"/><Relationship Id="rId1" Type="http://schemas.openxmlformats.org/officeDocument/2006/relationships/slideLayout" Target="../slideLayouts/slideLayout4.xml"/><Relationship Id="rId6" Type="http://schemas.openxmlformats.org/officeDocument/2006/relationships/chart" Target="../charts/chart9.xml"/><Relationship Id="rId5" Type="http://schemas.openxmlformats.org/officeDocument/2006/relationships/chart" Target="../charts/chart8.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chart" Target="../charts/chart12.xml"/><Relationship Id="rId1" Type="http://schemas.openxmlformats.org/officeDocument/2006/relationships/slideLayout" Target="../slideLayouts/slideLayout3.xml"/><Relationship Id="rId5" Type="http://schemas.openxmlformats.org/officeDocument/2006/relationships/chart" Target="../charts/chart15.xml"/><Relationship Id="rId4" Type="http://schemas.openxmlformats.org/officeDocument/2006/relationships/chart" Target="../charts/chart14.xml"/></Relationships>
</file>

<file path=ppt/slides/_rels/slide9.xml.rels><?xml version="1.0" encoding="UTF-8" standalone="yes"?>
<Relationships xmlns="http://schemas.openxmlformats.org/package/2006/relationships"><Relationship Id="rId3" Type="http://schemas.openxmlformats.org/officeDocument/2006/relationships/chart" Target="../charts/chart17.xml"/><Relationship Id="rId2" Type="http://schemas.openxmlformats.org/officeDocument/2006/relationships/chart" Target="../charts/chart16.xml"/><Relationship Id="rId1" Type="http://schemas.openxmlformats.org/officeDocument/2006/relationships/slideLayout" Target="../slideLayouts/slideLayout3.xml"/><Relationship Id="rId5" Type="http://schemas.openxmlformats.org/officeDocument/2006/relationships/chart" Target="../charts/chart19.xml"/><Relationship Id="rId4" Type="http://schemas.openxmlformats.org/officeDocument/2006/relationships/chart" Target="../charts/chart18.xml"/></Relationships>
</file>

<file path=ppt/slides/_rels/slide10.xml.rels><?xml version="1.0" encoding="UTF-8" standalone="yes"?>
<Relationships xmlns="http://schemas.openxmlformats.org/package/2006/relationships"><Relationship Id="rId3" Type="http://schemas.openxmlformats.org/officeDocument/2006/relationships/chart" Target="../charts/chart21.xml"/><Relationship Id="rId2" Type="http://schemas.openxmlformats.org/officeDocument/2006/relationships/chart" Target="../charts/chart20.xml"/><Relationship Id="rId1" Type="http://schemas.openxmlformats.org/officeDocument/2006/relationships/slideLayout" Target="../slideLayouts/slideLayout3.xml"/><Relationship Id="rId5" Type="http://schemas.openxmlformats.org/officeDocument/2006/relationships/chart" Target="../charts/chart23.xml"/><Relationship Id="rId4" Type="http://schemas.openxmlformats.org/officeDocument/2006/relationships/chart" Target="../charts/chart22.xml"/></Relationships>
</file>

<file path=ppt/slides/_rels/slide11.xml.rels><?xml version="1.0" encoding="UTF-8" standalone="yes"?>
<Relationships xmlns="http://schemas.openxmlformats.org/package/2006/relationships"><Relationship Id="rId3" Type="http://schemas.openxmlformats.org/officeDocument/2006/relationships/chart" Target="../charts/chart25.xml"/><Relationship Id="rId2" Type="http://schemas.openxmlformats.org/officeDocument/2006/relationships/chart" Target="../charts/chart24.xml"/><Relationship Id="rId1" Type="http://schemas.openxmlformats.org/officeDocument/2006/relationships/slideLayout" Target="../slideLayouts/slideLayout3.xml"/><Relationship Id="rId5" Type="http://schemas.openxmlformats.org/officeDocument/2006/relationships/chart" Target="../charts/chart27.xml"/><Relationship Id="rId4" Type="http://schemas.openxmlformats.org/officeDocument/2006/relationships/chart" Target="../charts/chart26.xml"/></Relationships>
</file>

<file path=ppt/slides/_rels/slide12.xml.rels><?xml version="1.0" encoding="UTF-8" standalone="yes"?>
<Relationships xmlns="http://schemas.openxmlformats.org/package/2006/relationships"><Relationship Id="rId3" Type="http://schemas.openxmlformats.org/officeDocument/2006/relationships/chart" Target="../charts/chart29.xml"/><Relationship Id="rId2" Type="http://schemas.openxmlformats.org/officeDocument/2006/relationships/chart" Target="../charts/chart28.xml"/><Relationship Id="rId1" Type="http://schemas.openxmlformats.org/officeDocument/2006/relationships/slideLayout" Target="../slideLayouts/slideLayout3.xml"/><Relationship Id="rId5" Type="http://schemas.openxmlformats.org/officeDocument/2006/relationships/chart" Target="../charts/chart31.xml"/><Relationship Id="rId4" Type="http://schemas.openxmlformats.org/officeDocument/2006/relationships/chart" Target="../charts/chart30.xml"/></Relationships>
</file>

<file path=ppt/slides/_rels/slide13.xml.rels><?xml version="1.0" encoding="UTF-8" standalone="yes"?>
<Relationships xmlns="http://schemas.openxmlformats.org/package/2006/relationships"><Relationship Id="rId3" Type="http://schemas.openxmlformats.org/officeDocument/2006/relationships/chart" Target="../charts/chart32.xml"/><Relationship Id="rId2" Type="http://schemas.microsoft.com/office/2018/10/relationships/comments" Target="../comments/modernComment_97C_4BAEDD40.xml"/><Relationship Id="rId1" Type="http://schemas.openxmlformats.org/officeDocument/2006/relationships/slideLayout" Target="../slideLayouts/slideLayout3.xml"/><Relationship Id="rId6" Type="http://schemas.openxmlformats.org/officeDocument/2006/relationships/chart" Target="../charts/chart35.xml"/><Relationship Id="rId5" Type="http://schemas.openxmlformats.org/officeDocument/2006/relationships/chart" Target="../charts/chart34.xml"/><Relationship Id="rId4" Type="http://schemas.openxmlformats.org/officeDocument/2006/relationships/chart" Target="../charts/chart33.xml"/></Relationships>
</file>

<file path=ppt/slides/_rels/slide14.xml.rels><?xml version="1.0" encoding="UTF-8" standalone="yes"?>
<Relationships xmlns="http://schemas.openxmlformats.org/package/2006/relationships"><Relationship Id="rId3" Type="http://schemas.openxmlformats.org/officeDocument/2006/relationships/chart" Target="../charts/chart37.xml"/><Relationship Id="rId2" Type="http://schemas.openxmlformats.org/officeDocument/2006/relationships/chart" Target="../charts/chart36.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chart" Target="../charts/chart39.xml"/><Relationship Id="rId2" Type="http://schemas.openxmlformats.org/officeDocument/2006/relationships/chart" Target="../charts/chart38.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chart" Target="../charts/chart40.xml"/><Relationship Id="rId2" Type="http://schemas.microsoft.com/office/2018/10/relationships/comments" Target="../comments/modernComment_937_F71287CE.xml"/><Relationship Id="rId1" Type="http://schemas.openxmlformats.org/officeDocument/2006/relationships/slideLayout" Target="../slideLayouts/slideLayout3.xml"/><Relationship Id="rId4" Type="http://schemas.openxmlformats.org/officeDocument/2006/relationships/chart" Target="../charts/chart41.xml"/></Relationships>
</file>

<file path=ppt/slides/_rels/slide18.xml.rels><?xml version="1.0" encoding="UTF-8" standalone="yes"?>
<Relationships xmlns="http://schemas.openxmlformats.org/package/2006/relationships"><Relationship Id="rId3" Type="http://schemas.openxmlformats.org/officeDocument/2006/relationships/chart" Target="../charts/chart43.xml"/><Relationship Id="rId2" Type="http://schemas.openxmlformats.org/officeDocument/2006/relationships/chart" Target="../charts/chart42.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chart" Target="../charts/chart44.xml"/><Relationship Id="rId2" Type="http://schemas.microsoft.com/office/2018/10/relationships/comments" Target="../comments/modernComment_981_BE952244.xml"/><Relationship Id="rId1" Type="http://schemas.openxmlformats.org/officeDocument/2006/relationships/slideLayout" Target="../slideLayouts/slideLayout3.xml"/><Relationship Id="rId5" Type="http://schemas.openxmlformats.org/officeDocument/2006/relationships/image" Target="../media/image9.png"/><Relationship Id="rId4" Type="http://schemas.openxmlformats.org/officeDocument/2006/relationships/chart" Target="../charts/chart45.xml"/></Relationships>
</file>

<file path=ppt/slides/_rels/slide20.xml.rels><?xml version="1.0" encoding="UTF-8" standalone="yes"?>
<Relationships xmlns="http://schemas.openxmlformats.org/package/2006/relationships"><Relationship Id="rId2" Type="http://schemas.openxmlformats.org/officeDocument/2006/relationships/chart" Target="../charts/chart46.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chart" Target="../charts/chart47.xml"/><Relationship Id="rId2" Type="http://schemas.microsoft.com/office/2018/10/relationships/comments" Target="../comments/modernComment_980_AA1D2A6A.xml"/><Relationship Id="rId1" Type="http://schemas.openxmlformats.org/officeDocument/2006/relationships/slideLayout" Target="../slideLayouts/slideLayout3.xml"/><Relationship Id="rId6" Type="http://schemas.openxmlformats.org/officeDocument/2006/relationships/chart" Target="../charts/chart49.xml"/><Relationship Id="rId5" Type="http://schemas.openxmlformats.org/officeDocument/2006/relationships/chart" Target="../charts/chart48.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chart" Target="../charts/chart51.xml"/><Relationship Id="rId2" Type="http://schemas.openxmlformats.org/officeDocument/2006/relationships/chart" Target="../charts/chart50.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chart" Target="../charts/chart5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chart" Target="../charts/chart54.xml"/><Relationship Id="rId2" Type="http://schemas.openxmlformats.org/officeDocument/2006/relationships/chart" Target="../charts/chart53.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chart" Target="../charts/chart56.xml"/><Relationship Id="rId2" Type="http://schemas.openxmlformats.org/officeDocument/2006/relationships/chart" Target="../charts/chart55.xml"/><Relationship Id="rId1" Type="http://schemas.openxmlformats.org/officeDocument/2006/relationships/slideLayout" Target="../slideLayouts/slideLayout3.xml"/><Relationship Id="rId4" Type="http://schemas.openxmlformats.org/officeDocument/2006/relationships/chart" Target="../charts/chart57.xml"/></Relationships>
</file>

<file path=ppt/slides/_rels/slide27.xml.rels><?xml version="1.0" encoding="UTF-8" standalone="yes"?>
<Relationships xmlns="http://schemas.openxmlformats.org/package/2006/relationships"><Relationship Id="rId2" Type="http://schemas.openxmlformats.org/officeDocument/2006/relationships/chart" Target="../charts/chart58.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chart" Target="../charts/chart59.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chart" Target="../charts/chart61.xml"/><Relationship Id="rId2" Type="http://schemas.openxmlformats.org/officeDocument/2006/relationships/chart" Target="../charts/chart60.xml"/><Relationship Id="rId1" Type="http://schemas.openxmlformats.org/officeDocument/2006/relationships/slideLayout" Target="../slideLayouts/slideLayout3.xml"/><Relationship Id="rId4" Type="http://schemas.openxmlformats.org/officeDocument/2006/relationships/chart" Target="../charts/chart62.xml"/></Relationships>
</file>

<file path=ppt/slides/_rels/slide30.xml.rels><?xml version="1.0" encoding="UTF-8" standalone="yes"?>
<Relationships xmlns="http://schemas.openxmlformats.org/package/2006/relationships"><Relationship Id="rId3" Type="http://schemas.openxmlformats.org/officeDocument/2006/relationships/chart" Target="../charts/chart64.xml"/><Relationship Id="rId2" Type="http://schemas.openxmlformats.org/officeDocument/2006/relationships/chart" Target="../charts/chart63.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chart" Target="../charts/chart65.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chart" Target="../charts/chart67.xml"/><Relationship Id="rId2" Type="http://schemas.openxmlformats.org/officeDocument/2006/relationships/chart" Target="../charts/chart66.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chart" Target="../charts/chart69.xml"/><Relationship Id="rId2" Type="http://schemas.openxmlformats.org/officeDocument/2006/relationships/chart" Target="../charts/chart68.xml"/><Relationship Id="rId1" Type="http://schemas.openxmlformats.org/officeDocument/2006/relationships/slideLayout" Target="../slideLayouts/slideLayout3.xml"/><Relationship Id="rId5" Type="http://schemas.openxmlformats.org/officeDocument/2006/relationships/chart" Target="../charts/chart71.xml"/><Relationship Id="rId4" Type="http://schemas.openxmlformats.org/officeDocument/2006/relationships/chart" Target="../charts/chart70.xml"/></Relationships>
</file>

<file path=ppt/slides/_rels/slide35.xml.rels><?xml version="1.0" encoding="UTF-8" standalone="yes"?>
<Relationships xmlns="http://schemas.openxmlformats.org/package/2006/relationships"><Relationship Id="rId3" Type="http://schemas.openxmlformats.org/officeDocument/2006/relationships/image" Target="../media/image6.png"/><Relationship Id="rId2" Type="http://schemas.microsoft.com/office/2018/10/relationships/comments" Target="../comments/modernComment_44E_1ECFF9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06C9002-79DD-9348-F1EC-09C08176062B}"/>
              </a:ext>
            </a:extLst>
          </p:cNvPr>
          <p:cNvSpPr/>
          <p:nvPr/>
        </p:nvSpPr>
        <p:spPr>
          <a:xfrm>
            <a:off x="5809663" y="2633835"/>
            <a:ext cx="6593611" cy="131899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t"/>
          <a:lstStyle/>
          <a:p>
            <a:pPr algn="ctr" rtl="1">
              <a:spcBef>
                <a:spcPts val="1200"/>
              </a:spcBef>
            </a:pPr>
            <a:r>
              <a:rPr lang="he-IL" sz="6000" b="1" dirty="0">
                <a:gradFill>
                  <a:gsLst>
                    <a:gs pos="0">
                      <a:srgbClr val="1FC3BF"/>
                    </a:gs>
                    <a:gs pos="100000">
                      <a:srgbClr val="0176B9"/>
                    </a:gs>
                  </a:gsLst>
                  <a:lin ang="0" scaled="1"/>
                </a:gradFill>
                <a:latin typeface="Segoe UI" panose="020B0502040204020203" pitchFamily="34" charset="0"/>
                <a:cs typeface="Segoe UI" panose="020B0502040204020203" pitchFamily="34" charset="0"/>
              </a:rPr>
              <a:t>מחקר מקבלי דוחות תעבורה</a:t>
            </a:r>
            <a:br>
              <a:rPr lang="en-US" sz="3600" b="1" dirty="0">
                <a:gradFill>
                  <a:gsLst>
                    <a:gs pos="0">
                      <a:srgbClr val="1FC3BF"/>
                    </a:gs>
                    <a:gs pos="100000">
                      <a:srgbClr val="0176B9"/>
                    </a:gs>
                  </a:gsLst>
                  <a:lin ang="0" scaled="1"/>
                </a:gradFill>
                <a:latin typeface="Segoe UI" panose="020B0502040204020203" pitchFamily="34" charset="0"/>
                <a:cs typeface="Segoe UI" panose="020B0502040204020203" pitchFamily="34" charset="0"/>
              </a:rPr>
            </a:br>
            <a:r>
              <a:rPr lang="he-IL" sz="3600" b="1" dirty="0">
                <a:gradFill>
                  <a:gsLst>
                    <a:gs pos="0">
                      <a:srgbClr val="1FC3BF"/>
                    </a:gs>
                    <a:gs pos="100000">
                      <a:srgbClr val="0176B9"/>
                    </a:gs>
                  </a:gsLst>
                  <a:lin ang="0" scaled="1"/>
                </a:gradFill>
                <a:latin typeface="Segoe UI" panose="020B0502040204020203" pitchFamily="34" charset="0"/>
                <a:cs typeface="Segoe UI" panose="020B0502040204020203" pitchFamily="34" charset="0"/>
              </a:rPr>
              <a:t>טרום הרפורמה</a:t>
            </a:r>
            <a:endParaRPr lang="he-IL" sz="4000" b="1" dirty="0">
              <a:gradFill>
                <a:gsLst>
                  <a:gs pos="0">
                    <a:srgbClr val="1FC3BF"/>
                  </a:gs>
                  <a:gs pos="100000">
                    <a:srgbClr val="0176B9"/>
                  </a:gs>
                </a:gsLst>
                <a:lin ang="0" scaled="1"/>
              </a:gradFill>
              <a:latin typeface="Segoe UI" panose="020B0502040204020203" pitchFamily="34" charset="0"/>
              <a:cs typeface="Segoe UI" panose="020B0502040204020203" pitchFamily="34" charset="0"/>
            </a:endParaRPr>
          </a:p>
          <a:p>
            <a:pPr marL="0" marR="0" lvl="0" indent="0" algn="ctr" defTabSz="914400" rtl="1" eaLnBrk="1" fontAlgn="auto" latinLnBrk="0" hangingPunct="1">
              <a:lnSpc>
                <a:spcPct val="100000"/>
              </a:lnSpc>
              <a:spcBef>
                <a:spcPts val="1200"/>
              </a:spcBef>
              <a:spcAft>
                <a:spcPts val="0"/>
              </a:spcAft>
              <a:buClrTx/>
              <a:buSzTx/>
              <a:buFontTx/>
              <a:buNone/>
              <a:tabLst/>
              <a:defRPr/>
            </a:pPr>
            <a:r>
              <a:rPr kumimoji="0" lang="he-IL" sz="2000" b="0" i="0" u="none" strike="noStrike" kern="1200" cap="none" spc="0" normalizeH="0" baseline="0" noProof="0" dirty="0">
                <a:ln>
                  <a:noFill/>
                </a:ln>
                <a:solidFill>
                  <a:prstClr val="white">
                    <a:lumMod val="65000"/>
                  </a:prstClr>
                </a:solidFill>
                <a:effectLst/>
                <a:uLnTx/>
                <a:uFillTx/>
                <a:latin typeface="Segoe UI" panose="020B0502040204020203" pitchFamily="34" charset="0"/>
                <a:ea typeface="+mn-ea"/>
                <a:cs typeface="Segoe UI" panose="020B0502040204020203" pitchFamily="34" charset="0"/>
              </a:rPr>
              <a:t>סיכום מחקר – אפריל 2026</a:t>
            </a:r>
            <a:endParaRPr lang="he-IL" sz="6600" b="1" dirty="0">
              <a:gradFill>
                <a:gsLst>
                  <a:gs pos="0">
                    <a:srgbClr val="1FC3BF"/>
                  </a:gs>
                  <a:gs pos="100000">
                    <a:srgbClr val="0176B9"/>
                  </a:gs>
                </a:gsLst>
                <a:lin ang="0" scaled="1"/>
              </a:gradFill>
              <a:latin typeface="Segoe UI" panose="020B0502040204020203" pitchFamily="34" charset="0"/>
              <a:cs typeface="Segoe UI" panose="020B0502040204020203" pitchFamily="34" charset="0"/>
            </a:endParaRPr>
          </a:p>
        </p:txBody>
      </p:sp>
      <p:pic>
        <p:nvPicPr>
          <p:cNvPr id="3" name="תמונה 2">
            <a:extLst>
              <a:ext uri="{FF2B5EF4-FFF2-40B4-BE49-F238E27FC236}">
                <a16:creationId xmlns:a16="http://schemas.microsoft.com/office/drawing/2014/main" id="{1236DE35-F0E7-E969-103D-083DF51F0287}"/>
              </a:ext>
            </a:extLst>
          </p:cNvPr>
          <p:cNvPicPr>
            <a:picLocks noChangeAspect="1"/>
          </p:cNvPicPr>
          <p:nvPr/>
        </p:nvPicPr>
        <p:blipFill>
          <a:blip r:embed="rId2" cstate="print">
            <a:extLst>
              <a:ext uri="{28A0092B-C50C-407E-A947-70E740481C1C}">
                <a14:useLocalDpi xmlns:a14="http://schemas.microsoft.com/office/drawing/2010/main" val="0"/>
              </a:ext>
            </a:extLst>
          </a:blip>
          <a:srcRect r="11849" b="-3078"/>
          <a:stretch/>
        </p:blipFill>
        <p:spPr>
          <a:xfrm>
            <a:off x="10510594" y="6522481"/>
            <a:ext cx="1081332" cy="220486"/>
          </a:xfrm>
          <a:prstGeom prst="rect">
            <a:avLst/>
          </a:prstGeom>
        </p:spPr>
      </p:pic>
      <p:cxnSp>
        <p:nvCxnSpPr>
          <p:cNvPr id="12" name="Straight Connector 11">
            <a:extLst>
              <a:ext uri="{FF2B5EF4-FFF2-40B4-BE49-F238E27FC236}">
                <a16:creationId xmlns:a16="http://schemas.microsoft.com/office/drawing/2014/main" id="{2152C6BD-5E38-293A-583C-16644366F381}"/>
              </a:ext>
            </a:extLst>
          </p:cNvPr>
          <p:cNvCxnSpPr/>
          <p:nvPr/>
        </p:nvCxnSpPr>
        <p:spPr>
          <a:xfrm>
            <a:off x="6708996" y="2633747"/>
            <a:ext cx="4867275"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6" name="AutoShape 4" descr="כרטיס אשראי מקס - איך לבחור כרטיסי אשראי שמתאימים לכם - max">
            <a:extLst>
              <a:ext uri="{FF2B5EF4-FFF2-40B4-BE49-F238E27FC236}">
                <a16:creationId xmlns:a16="http://schemas.microsoft.com/office/drawing/2014/main" id="{64D0C428-236F-6C64-7B50-BA26DB3515DD}"/>
              </a:ext>
            </a:extLst>
          </p:cNvPr>
          <p:cNvSpPr>
            <a:spLocks noChangeAspect="1" noChangeArrowheads="1"/>
          </p:cNvSpPr>
          <p:nvPr/>
        </p:nvSpPr>
        <p:spPr bwMode="auto">
          <a:xfrm>
            <a:off x="5943600" y="3175003"/>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he-IL"/>
          </a:p>
        </p:txBody>
      </p:sp>
      <p:pic>
        <p:nvPicPr>
          <p:cNvPr id="4" name="תמונה 3" descr="תמונה שמכילה טקסט, גופן, לוגו, סמל&#10;&#10;תוכן בינה מלאכותית גנרטיבית עשוי להיות שגוי.">
            <a:extLst>
              <a:ext uri="{FF2B5EF4-FFF2-40B4-BE49-F238E27FC236}">
                <a16:creationId xmlns:a16="http://schemas.microsoft.com/office/drawing/2014/main" id="{B7897097-4FAE-3F5E-FEC2-8DF62BB79E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34200" y="1441752"/>
            <a:ext cx="4265824" cy="1061715"/>
          </a:xfrm>
          <a:prstGeom prst="rect">
            <a:avLst/>
          </a:prstGeom>
        </p:spPr>
      </p:pic>
    </p:spTree>
    <p:extLst>
      <p:ext uri="{BB962C8B-B14F-4D97-AF65-F5344CB8AC3E}">
        <p14:creationId xmlns:p14="http://schemas.microsoft.com/office/powerpoint/2010/main" val="3395079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9">
            <a:extLst>
              <a:ext uri="{FF2B5EF4-FFF2-40B4-BE49-F238E27FC236}">
                <a16:creationId xmlns:a16="http://schemas.microsoft.com/office/drawing/2014/main" id="{C5C2C23B-040D-B2FB-EC1F-34243D19DA1E}"/>
              </a:ext>
            </a:extLst>
          </p:cNvPr>
          <p:cNvSpPr/>
          <p:nvPr/>
        </p:nvSpPr>
        <p:spPr>
          <a:xfrm>
            <a:off x="304802" y="201289"/>
            <a:ext cx="11647073" cy="3259086"/>
          </a:xfrm>
          <a:prstGeom prst="roundRect">
            <a:avLst>
              <a:gd name="adj" fmla="val 1819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1">
              <a:lnSpc>
                <a:spcPct val="150000"/>
              </a:lnSpc>
              <a:spcBef>
                <a:spcPts val="600"/>
              </a:spcBef>
            </a:pPr>
            <a:r>
              <a:rPr lang="he-IL" sz="2400" dirty="0">
                <a:latin typeface="Segoe UI" panose="020B0502040204020203" pitchFamily="34" charset="0"/>
                <a:cs typeface="Segoe UI" panose="020B0502040204020203" pitchFamily="34" charset="0"/>
              </a:rPr>
              <a:t>מטרה: </a:t>
            </a:r>
            <a:r>
              <a:rPr lang="he-IL" sz="2400" b="1" kern="0" dirty="0">
                <a:solidFill>
                  <a:schemeClr val="bg1"/>
                </a:solidFill>
                <a:latin typeface="Segoe UI" panose="020B0502040204020203" pitchFamily="34" charset="0"/>
                <a:cs typeface="Segoe UI" panose="020B0502040204020203" pitchFamily="34" charset="0"/>
              </a:rPr>
              <a:t>הבנת חוויית האזרח המקבל דו"ח תעבורה  </a:t>
            </a:r>
            <a:br>
              <a:rPr lang="en-US" sz="1600" b="1" kern="0" dirty="0">
                <a:solidFill>
                  <a:schemeClr val="bg1"/>
                </a:solidFill>
                <a:latin typeface="Segoe UI" panose="020B0502040204020203" pitchFamily="34" charset="0"/>
                <a:cs typeface="Segoe UI" panose="020B0502040204020203" pitchFamily="34" charset="0"/>
              </a:rPr>
            </a:br>
            <a:r>
              <a:rPr lang="he-IL" sz="1600" kern="0" dirty="0">
                <a:solidFill>
                  <a:schemeClr val="bg1"/>
                </a:solidFill>
                <a:latin typeface="Segoe UI" panose="020B0502040204020203" pitchFamily="34" charset="0"/>
                <a:cs typeface="Segoe UI" panose="020B0502040204020203" pitchFamily="34" charset="0"/>
              </a:rPr>
              <a:t>(</a:t>
            </a:r>
            <a:r>
              <a:rPr lang="he-IL" sz="1600" dirty="0">
                <a:latin typeface="Segoe UI" panose="020B0502040204020203" pitchFamily="34" charset="0"/>
                <a:cs typeface="Segoe UI" panose="020B0502040204020203" pitchFamily="34" charset="0"/>
              </a:rPr>
              <a:t>קבלת הדו"ח -&gt; מודעות לחלופות התגובה והתמודדות בפועל -&gt; ההליך משפטי -&gt; </a:t>
            </a:r>
            <a:r>
              <a:rPr lang="he-IL" sz="1600" dirty="0" err="1">
                <a:latin typeface="Segoe UI" panose="020B0502040204020203" pitchFamily="34" charset="0"/>
                <a:cs typeface="Segoe UI" panose="020B0502040204020203" pitchFamily="34" charset="0"/>
              </a:rPr>
              <a:t>ש"ר</a:t>
            </a:r>
            <a:r>
              <a:rPr lang="he-IL" sz="1600" dirty="0">
                <a:latin typeface="Segoe UI" panose="020B0502040204020203" pitchFamily="34" charset="0"/>
                <a:cs typeface="Segoe UI" panose="020B0502040204020203" pitchFamily="34" charset="0"/>
              </a:rPr>
              <a:t> והמלצות בראייה "מפוקחת" בסוף התהליך) </a:t>
            </a:r>
            <a:r>
              <a:rPr lang="he-IL" sz="1600" b="1" kern="0" dirty="0">
                <a:solidFill>
                  <a:schemeClr val="bg1"/>
                </a:solidFill>
                <a:latin typeface="Segoe UI" panose="020B0502040204020203" pitchFamily="34" charset="0"/>
                <a:cs typeface="Segoe UI" panose="020B0502040204020203" pitchFamily="34" charset="0"/>
              </a:rPr>
              <a:t>המחקר ישמש כ-</a:t>
            </a:r>
            <a:r>
              <a:rPr lang="en-US" sz="1600" b="1" kern="0" dirty="0">
                <a:solidFill>
                  <a:schemeClr val="bg1"/>
                </a:solidFill>
                <a:latin typeface="Segoe UI" panose="020B0502040204020203" pitchFamily="34" charset="0"/>
                <a:cs typeface="Segoe UI" panose="020B0502040204020203" pitchFamily="34" charset="0"/>
              </a:rPr>
              <a:t>To</a:t>
            </a:r>
            <a:r>
              <a:rPr lang="he-IL" sz="1600" b="1" kern="0" dirty="0">
                <a:solidFill>
                  <a:schemeClr val="bg1"/>
                </a:solidFill>
                <a:latin typeface="Segoe UI" panose="020B0502040204020203" pitchFamily="34" charset="0"/>
                <a:cs typeface="Segoe UI" panose="020B0502040204020203" pitchFamily="34" charset="0"/>
              </a:rPr>
              <a:t> טרום ביצוע רפורמת חוק “הפרות תעבורה מנהליות” של משרד המשפטים לייעול ופישוט התהליך המשפטי בעבירות קנס </a:t>
            </a:r>
            <a:r>
              <a:rPr lang="he-IL" sz="1400" kern="0" dirty="0">
                <a:solidFill>
                  <a:schemeClr val="bg1"/>
                </a:solidFill>
                <a:latin typeface="Segoe UI" panose="020B0502040204020203" pitchFamily="34" charset="0"/>
                <a:cs typeface="Segoe UI" panose="020B0502040204020203" pitchFamily="34" charset="0"/>
              </a:rPr>
              <a:t>("ברירת משפט") </a:t>
            </a:r>
            <a:r>
              <a:rPr lang="he-IL" sz="1600" b="1" kern="0" dirty="0">
                <a:solidFill>
                  <a:schemeClr val="bg1"/>
                </a:solidFill>
                <a:latin typeface="Segoe UI" panose="020B0502040204020203" pitchFamily="34" charset="0"/>
                <a:cs typeface="Segoe UI" panose="020B0502040204020203" pitchFamily="34" charset="0"/>
              </a:rPr>
              <a:t>מנהלתיות בתחום התעבורה שיועברו במסגרת הרפורמה לדיון בבית דין מנהלי דיגיטלי במקום בתי משפט פליליים רגילים לפישוט תהליך מהיר ויעיל יותר שיקל על הנהגים ויפחית את העומס השיפוטי</a:t>
            </a:r>
            <a:br>
              <a:rPr lang="en-US" sz="1600" b="1" kern="0" dirty="0">
                <a:solidFill>
                  <a:schemeClr val="bg1"/>
                </a:solidFill>
                <a:latin typeface="Segoe UI" panose="020B0502040204020203" pitchFamily="34" charset="0"/>
                <a:cs typeface="Segoe UI" panose="020B0502040204020203" pitchFamily="34" charset="0"/>
              </a:rPr>
            </a:br>
            <a:r>
              <a:rPr lang="he-IL" sz="1400" kern="0" dirty="0">
                <a:solidFill>
                  <a:schemeClr val="bg1"/>
                </a:solidFill>
                <a:latin typeface="Segoe UI" panose="020B0502040204020203" pitchFamily="34" charset="0"/>
                <a:cs typeface="Segoe UI" panose="020B0502040204020203" pitchFamily="34" charset="0"/>
              </a:rPr>
              <a:t>(שמאפשר כיום "לתמרן את המערכת" ולהתחמק ממשפט בגלל העומס על המערכת השיפוטית)</a:t>
            </a:r>
          </a:p>
        </p:txBody>
      </p:sp>
      <p:sp>
        <p:nvSpPr>
          <p:cNvPr id="8" name="Rectangle 25">
            <a:extLst>
              <a:ext uri="{FF2B5EF4-FFF2-40B4-BE49-F238E27FC236}">
                <a16:creationId xmlns:a16="http://schemas.microsoft.com/office/drawing/2014/main" id="{4B2FA345-D989-8262-EED3-7616A158FE74}"/>
              </a:ext>
            </a:extLst>
          </p:cNvPr>
          <p:cNvSpPr/>
          <p:nvPr/>
        </p:nvSpPr>
        <p:spPr>
          <a:xfrm>
            <a:off x="10291481" y="3416711"/>
            <a:ext cx="1544549" cy="3240000"/>
          </a:xfrm>
          <a:prstGeom prst="rect">
            <a:avLst/>
          </a:prstGeom>
          <a:noFill/>
          <a:ln w="12700" cap="flat" cmpd="sng" algn="ctr">
            <a:noFill/>
            <a:prstDash val="solid"/>
            <a:miter lim="800000"/>
          </a:ln>
          <a:effectLst/>
        </p:spPr>
        <p:txBody>
          <a:bodyPr rtlCol="1" anchor="t"/>
          <a:lstStyle/>
          <a:p>
            <a:pPr marL="0" marR="0" lvl="0" indent="0" algn="r" defTabSz="914400" rtl="1" eaLnBrk="1" fontAlgn="auto" latinLnBrk="0" hangingPunct="1">
              <a:lnSpc>
                <a:spcPct val="120000"/>
              </a:lnSpc>
              <a:spcBef>
                <a:spcPts val="0"/>
              </a:spcBef>
              <a:spcAft>
                <a:spcPts val="0"/>
              </a:spcAft>
              <a:buClrTx/>
              <a:buSzTx/>
              <a:buFontTx/>
              <a:buNone/>
              <a:tabLst/>
              <a:defRPr/>
            </a:pPr>
            <a:r>
              <a:rPr kumimoji="0" lang="he-IL" b="1" i="0" u="none" strike="noStrike" kern="0" cap="none" spc="0" normalizeH="0" baseline="0" noProof="0" dirty="0">
                <a:ln>
                  <a:noFill/>
                </a:ln>
                <a:solidFill>
                  <a:srgbClr val="1D1C64"/>
                </a:solidFill>
                <a:effectLst/>
                <a:uLnTx/>
                <a:uFillTx/>
                <a:latin typeface="Segoe UI" panose="020B0502040204020203" pitchFamily="34" charset="0"/>
                <a:ea typeface="+mn-ea"/>
                <a:cs typeface="Segoe UI" panose="020B0502040204020203" pitchFamily="34" charset="0"/>
              </a:rPr>
              <a:t>עבודת שדה</a:t>
            </a:r>
          </a:p>
          <a:p>
            <a:pPr marL="0" marR="0" lvl="0" indent="0" algn="r" defTabSz="914400" rtl="1" eaLnBrk="1" fontAlgn="auto" latinLnBrk="0" hangingPunct="1">
              <a:lnSpc>
                <a:spcPct val="120000"/>
              </a:lnSpc>
              <a:spcBef>
                <a:spcPts val="0"/>
              </a:spcBef>
              <a:spcAft>
                <a:spcPts val="0"/>
              </a:spcAft>
              <a:buClrTx/>
              <a:buSzTx/>
              <a:buFontTx/>
              <a:buNone/>
              <a:tabLst/>
              <a:defRPr/>
            </a:pPr>
            <a:r>
              <a:rPr kumimoji="0" lang="he-IL" sz="1500" b="0" i="0" u="none" strike="noStrike" kern="0" cap="none" spc="0" normalizeH="0" baseline="0" noProof="0" dirty="0">
                <a:ln>
                  <a:noFill/>
                </a:ln>
                <a:solidFill>
                  <a:srgbClr val="5B5B5B"/>
                </a:solidFill>
                <a:effectLst/>
                <a:uLnTx/>
                <a:uFillTx/>
                <a:latin typeface="Segoe UI" panose="020B0502040204020203" pitchFamily="34" charset="0"/>
                <a:ea typeface="+mn-ea"/>
                <a:cs typeface="Segoe UI" panose="020B0502040204020203" pitchFamily="34" charset="0"/>
              </a:rPr>
              <a:t>1/26 – 11/25</a:t>
            </a:r>
          </a:p>
          <a:p>
            <a:pPr marL="0" marR="0" lvl="0" indent="0" algn="r" defTabSz="914400" rtl="1" eaLnBrk="1" fontAlgn="auto" latinLnBrk="0" hangingPunct="1">
              <a:lnSpc>
                <a:spcPct val="120000"/>
              </a:lnSpc>
              <a:spcBef>
                <a:spcPts val="0"/>
              </a:spcBef>
              <a:spcAft>
                <a:spcPts val="0"/>
              </a:spcAft>
              <a:buClrTx/>
              <a:buSzTx/>
              <a:buFontTx/>
              <a:buNone/>
              <a:tabLst/>
              <a:defRPr/>
            </a:pPr>
            <a:endParaRPr kumimoji="0" lang="he-IL" sz="1600" b="0" i="0" u="none" strike="noStrike" kern="0" cap="none" spc="0" normalizeH="0" baseline="0" noProof="0" dirty="0">
              <a:ln>
                <a:noFill/>
              </a:ln>
              <a:solidFill>
                <a:srgbClr val="5B5B5B"/>
              </a:solidFill>
              <a:effectLst/>
              <a:uLnTx/>
              <a:uFillTx/>
              <a:latin typeface="Segoe UI" panose="020B0502040204020203" pitchFamily="34" charset="0"/>
              <a:ea typeface="+mn-ea"/>
              <a:cs typeface="Segoe UI" panose="020B0502040204020203" pitchFamily="34" charset="0"/>
            </a:endParaRPr>
          </a:p>
        </p:txBody>
      </p:sp>
      <p:sp>
        <p:nvSpPr>
          <p:cNvPr id="10" name="Rectangle 28">
            <a:extLst>
              <a:ext uri="{FF2B5EF4-FFF2-40B4-BE49-F238E27FC236}">
                <a16:creationId xmlns:a16="http://schemas.microsoft.com/office/drawing/2014/main" id="{64C30F00-45A4-800C-69A9-C742217F8F33}"/>
              </a:ext>
            </a:extLst>
          </p:cNvPr>
          <p:cNvSpPr/>
          <p:nvPr/>
        </p:nvSpPr>
        <p:spPr>
          <a:xfrm>
            <a:off x="3818964" y="3416711"/>
            <a:ext cx="2608730" cy="3240000"/>
          </a:xfrm>
          <a:prstGeom prst="rect">
            <a:avLst/>
          </a:prstGeom>
          <a:noFill/>
          <a:ln w="12700" cap="flat" cmpd="sng" algn="ctr">
            <a:noFill/>
            <a:prstDash val="solid"/>
            <a:miter lim="800000"/>
          </a:ln>
          <a:effectLst/>
        </p:spPr>
        <p:txBody>
          <a:bodyPr rtlCol="1" anchor="t"/>
          <a:lstStyle/>
          <a:p>
            <a:pPr marL="0" marR="0" lvl="0" indent="0" algn="r" defTabSz="914400" rtl="1" eaLnBrk="1" fontAlgn="auto" latinLnBrk="0" hangingPunct="1">
              <a:lnSpc>
                <a:spcPct val="120000"/>
              </a:lnSpc>
              <a:spcBef>
                <a:spcPts val="0"/>
              </a:spcBef>
              <a:spcAft>
                <a:spcPts val="0"/>
              </a:spcAft>
              <a:buClrTx/>
              <a:buSzTx/>
              <a:buFontTx/>
              <a:buNone/>
              <a:tabLst/>
              <a:defRPr/>
            </a:pPr>
            <a:r>
              <a:rPr kumimoji="0" lang="he-IL" b="1" i="0" u="none" strike="noStrike" kern="0" cap="none" spc="0" normalizeH="0" baseline="0" noProof="0" dirty="0">
                <a:ln>
                  <a:noFill/>
                </a:ln>
                <a:solidFill>
                  <a:srgbClr val="1D1C64"/>
                </a:solidFill>
                <a:effectLst/>
                <a:uLnTx/>
                <a:uFillTx/>
                <a:latin typeface="Segoe UI" panose="020B0502040204020203" pitchFamily="34" charset="0"/>
                <a:ea typeface="+mn-ea"/>
                <a:cs typeface="Segoe UI" panose="020B0502040204020203" pitchFamily="34" charset="0"/>
              </a:rPr>
              <a:t>שיטה</a:t>
            </a:r>
            <a:endParaRPr kumimoji="0" lang="he-IL" sz="2000" b="1" i="0" u="none" strike="noStrike" kern="0" cap="none" spc="0" normalizeH="0" baseline="0" noProof="0" dirty="0">
              <a:ln>
                <a:noFill/>
              </a:ln>
              <a:solidFill>
                <a:srgbClr val="1D1C64"/>
              </a:solidFill>
              <a:effectLst/>
              <a:uLnTx/>
              <a:uFillTx/>
              <a:latin typeface="Segoe UI" panose="020B0502040204020203" pitchFamily="34" charset="0"/>
              <a:ea typeface="+mn-ea"/>
              <a:cs typeface="Segoe UI" panose="020B0502040204020203" pitchFamily="34" charset="0"/>
            </a:endParaRPr>
          </a:p>
          <a:p>
            <a:pPr marL="285750" marR="0" lvl="0" indent="-285750" algn="r" defTabSz="914400" rtl="1"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he-IL" sz="1500" b="0" i="0" u="none" strike="noStrike" kern="0" cap="none" spc="0" normalizeH="0" baseline="0" noProof="0" dirty="0">
                <a:ln>
                  <a:noFill/>
                </a:ln>
                <a:solidFill>
                  <a:srgbClr val="5B5B5B"/>
                </a:solidFill>
                <a:effectLst/>
                <a:uLnTx/>
                <a:uFillTx/>
                <a:latin typeface="Segoe UI" panose="020B0502040204020203" pitchFamily="34" charset="0"/>
                <a:ea typeface="+mn-ea"/>
                <a:cs typeface="Segoe UI" panose="020B0502040204020203" pitchFamily="34" charset="0"/>
              </a:rPr>
              <a:t>מילוי עצמי על גבי האינטרנט באמצעות </a:t>
            </a:r>
            <a:r>
              <a:rPr kumimoji="0" lang="en-US" sz="1500" b="0" i="0" u="none" strike="noStrike" kern="0" cap="none" spc="0" normalizeH="0" baseline="0" noProof="0" dirty="0">
                <a:ln>
                  <a:noFill/>
                </a:ln>
                <a:solidFill>
                  <a:srgbClr val="5B5B5B"/>
                </a:solidFill>
                <a:effectLst/>
                <a:uLnTx/>
                <a:uFillTx/>
                <a:latin typeface="Segoe UI" panose="020B0502040204020203" pitchFamily="34" charset="0"/>
                <a:ea typeface="+mn-ea"/>
                <a:cs typeface="Segoe UI" panose="020B0502040204020203" pitchFamily="34" charset="0"/>
              </a:rPr>
              <a:t>Panel View</a:t>
            </a:r>
            <a:endParaRPr kumimoji="0" lang="he-IL" sz="1500" b="0" i="0" u="none" strike="noStrike" kern="0" cap="none" spc="0" normalizeH="0" baseline="0" noProof="0" dirty="0">
              <a:ln>
                <a:noFill/>
              </a:ln>
              <a:solidFill>
                <a:srgbClr val="5B5B5B"/>
              </a:solidFill>
              <a:effectLst/>
              <a:uLnTx/>
              <a:uFillTx/>
              <a:latin typeface="Segoe UI" panose="020B0502040204020203" pitchFamily="34" charset="0"/>
              <a:ea typeface="+mn-ea"/>
              <a:cs typeface="Segoe UI" panose="020B0502040204020203" pitchFamily="34" charset="0"/>
            </a:endParaRPr>
          </a:p>
          <a:p>
            <a:pPr marL="285750" marR="0" lvl="0" indent="-285750" algn="r" defTabSz="914400" rtl="1"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he-IL" sz="1500" b="0" i="0" u="none" strike="noStrike" kern="0" cap="none" spc="0" normalizeH="0" baseline="0" noProof="0" dirty="0">
                <a:ln>
                  <a:noFill/>
                </a:ln>
                <a:solidFill>
                  <a:srgbClr val="5B5B5B"/>
                </a:solidFill>
                <a:effectLst/>
                <a:uLnTx/>
                <a:uFillTx/>
                <a:latin typeface="Segoe UI" panose="020B0502040204020203" pitchFamily="34" charset="0"/>
                <a:ea typeface="+mn-ea"/>
                <a:cs typeface="Segoe UI" panose="020B0502040204020203" pitchFamily="34" charset="0"/>
              </a:rPr>
              <a:t>הסתברותית אקראית</a:t>
            </a:r>
            <a:endParaRPr kumimoji="0" lang="en-US" sz="1600" b="0" i="0" u="none" strike="noStrike" kern="0" cap="none" spc="0" normalizeH="0" baseline="0" noProof="0" dirty="0">
              <a:ln>
                <a:noFill/>
              </a:ln>
              <a:solidFill>
                <a:srgbClr val="5B5B5B"/>
              </a:solidFill>
              <a:effectLst/>
              <a:uLnTx/>
              <a:uFillTx/>
              <a:latin typeface="Segoe UI" panose="020B0502040204020203" pitchFamily="34" charset="0"/>
              <a:ea typeface="+mn-ea"/>
              <a:cs typeface="Segoe UI" panose="020B0502040204020203" pitchFamily="34" charset="0"/>
            </a:endParaRPr>
          </a:p>
          <a:p>
            <a:pPr marL="0" marR="0" lvl="0" indent="0" algn="r" defTabSz="914400" rtl="1" eaLnBrk="1" fontAlgn="auto" latinLnBrk="0" hangingPunct="1">
              <a:lnSpc>
                <a:spcPct val="120000"/>
              </a:lnSpc>
              <a:spcBef>
                <a:spcPts val="0"/>
              </a:spcBef>
              <a:spcAft>
                <a:spcPts val="0"/>
              </a:spcAft>
              <a:buClrTx/>
              <a:buSzTx/>
              <a:buFontTx/>
              <a:buNone/>
              <a:tabLst/>
              <a:defRPr/>
            </a:pPr>
            <a:endParaRPr kumimoji="0" lang="en-US" b="0" i="0" u="none" strike="noStrike" kern="0" cap="none" spc="0" normalizeH="0" baseline="0" noProof="0" dirty="0">
              <a:ln>
                <a:noFill/>
              </a:ln>
              <a:solidFill>
                <a:srgbClr val="5B5B5B"/>
              </a:solidFill>
              <a:effectLst/>
              <a:uLnTx/>
              <a:uFillTx/>
              <a:latin typeface="Segoe UI" panose="020B0502040204020203" pitchFamily="34" charset="0"/>
              <a:ea typeface="+mn-ea"/>
              <a:cs typeface="Segoe UI" panose="020B0502040204020203" pitchFamily="34" charset="0"/>
            </a:endParaRPr>
          </a:p>
        </p:txBody>
      </p:sp>
      <p:sp>
        <p:nvSpPr>
          <p:cNvPr id="11" name="Rectangle 29">
            <a:extLst>
              <a:ext uri="{FF2B5EF4-FFF2-40B4-BE49-F238E27FC236}">
                <a16:creationId xmlns:a16="http://schemas.microsoft.com/office/drawing/2014/main" id="{A090495E-16E6-13DC-BD69-85EEF6573F4F}"/>
              </a:ext>
            </a:extLst>
          </p:cNvPr>
          <p:cNvSpPr/>
          <p:nvPr/>
        </p:nvSpPr>
        <p:spPr>
          <a:xfrm>
            <a:off x="421640" y="3416711"/>
            <a:ext cx="3203789" cy="3240000"/>
          </a:xfrm>
          <a:prstGeom prst="rect">
            <a:avLst/>
          </a:prstGeom>
          <a:noFill/>
          <a:ln w="12700" cap="flat" cmpd="sng" algn="ctr">
            <a:noFill/>
            <a:prstDash val="solid"/>
            <a:miter lim="800000"/>
          </a:ln>
          <a:effectLst/>
        </p:spPr>
        <p:txBody>
          <a:bodyPr rtlCol="1" anchor="t"/>
          <a:lstStyle/>
          <a:p>
            <a:pPr marL="0" marR="0" lvl="0" indent="0" algn="r" defTabSz="914400" rtl="1" eaLnBrk="1" fontAlgn="auto" latinLnBrk="0" hangingPunct="1">
              <a:lnSpc>
                <a:spcPct val="120000"/>
              </a:lnSpc>
              <a:spcBef>
                <a:spcPts val="0"/>
              </a:spcBef>
              <a:spcAft>
                <a:spcPts val="0"/>
              </a:spcAft>
              <a:buClrTx/>
              <a:buSzTx/>
              <a:buFontTx/>
              <a:buNone/>
              <a:tabLst/>
              <a:defRPr/>
            </a:pPr>
            <a:r>
              <a:rPr kumimoji="0" lang="he-IL" b="1" i="0" u="none" strike="noStrike" kern="0" cap="none" spc="0" normalizeH="0" baseline="0" noProof="0" dirty="0">
                <a:ln>
                  <a:noFill/>
                </a:ln>
                <a:solidFill>
                  <a:srgbClr val="1D1C64"/>
                </a:solidFill>
                <a:effectLst/>
                <a:uLnTx/>
                <a:uFillTx/>
                <a:latin typeface="Segoe UI" panose="020B0502040204020203" pitchFamily="34" charset="0"/>
                <a:ea typeface="+mn-ea"/>
                <a:cs typeface="Segoe UI" panose="020B0502040204020203" pitchFamily="34" charset="0"/>
              </a:rPr>
              <a:t>הערות</a:t>
            </a:r>
            <a:endParaRPr kumimoji="0" lang="he-IL" sz="2000" b="1" i="0" u="none" strike="noStrike" kern="0" cap="none" spc="0" normalizeH="0" baseline="0" noProof="0" dirty="0">
              <a:ln>
                <a:noFill/>
              </a:ln>
              <a:solidFill>
                <a:srgbClr val="1D1C64"/>
              </a:solidFill>
              <a:effectLst/>
              <a:uLnTx/>
              <a:uFillTx/>
              <a:latin typeface="Segoe UI" panose="020B0502040204020203" pitchFamily="34" charset="0"/>
              <a:ea typeface="+mn-ea"/>
              <a:cs typeface="Segoe UI" panose="020B0502040204020203" pitchFamily="34" charset="0"/>
            </a:endParaRPr>
          </a:p>
          <a:p>
            <a:pPr marL="182563" lvl="0" indent="-182563" algn="r" rtl="1">
              <a:lnSpc>
                <a:spcPct val="120000"/>
              </a:lnSpc>
              <a:buFont typeface="Arial" panose="020B0604020202020204" pitchFamily="34" charset="0"/>
              <a:buChar char="•"/>
              <a:defRPr/>
            </a:pPr>
            <a:r>
              <a:rPr lang="he-IL" sz="1500" dirty="0">
                <a:solidFill>
                  <a:srgbClr val="5B5B5B"/>
                </a:solidFill>
                <a:latin typeface="Segoe UI" panose="020B0502040204020203" pitchFamily="34" charset="0"/>
                <a:cs typeface="Segoe UI" panose="020B0502040204020203" pitchFamily="34" charset="0"/>
              </a:rPr>
              <a:t>פילוחים והעמקות מוצגים רק בין קבוצות שהיה ביניהם הבדלים וערך מוסף לדוח </a:t>
            </a:r>
            <a:r>
              <a:rPr lang="he-IL" sz="1400" dirty="0">
                <a:solidFill>
                  <a:srgbClr val="5B5B5B"/>
                </a:solidFill>
                <a:latin typeface="Segoe UI" panose="020B0502040204020203" pitchFamily="34" charset="0"/>
                <a:cs typeface="Segoe UI" panose="020B0502040204020203" pitchFamily="34" charset="0"/>
              </a:rPr>
              <a:t>(כלל הפילוחים והעמקות מפורטים בממצאי האקסל)</a:t>
            </a:r>
          </a:p>
          <a:p>
            <a:pPr marL="182563" lvl="0" indent="-182563" algn="r" rtl="1">
              <a:lnSpc>
                <a:spcPct val="120000"/>
              </a:lnSpc>
              <a:buFont typeface="Arial" panose="020B0604020202020204" pitchFamily="34" charset="0"/>
              <a:buChar char="•"/>
              <a:defRPr/>
            </a:pPr>
            <a:r>
              <a:rPr lang="he-IL" sz="1500" dirty="0">
                <a:solidFill>
                  <a:srgbClr val="5B5B5B"/>
                </a:solidFill>
                <a:latin typeface="Segoe UI" panose="020B0502040204020203" pitchFamily="34" charset="0"/>
                <a:cs typeface="Segoe UI" panose="020B0502040204020203" pitchFamily="34" charset="0"/>
              </a:rPr>
              <a:t>קיימים שקפי פילוחים במצב הסתרה עם לינק מעבר </a:t>
            </a:r>
            <a:br>
              <a:rPr lang="en-US" sz="1500">
                <a:solidFill>
                  <a:srgbClr val="5B5B5B"/>
                </a:solidFill>
                <a:latin typeface="Segoe UI" panose="020B0502040204020203" pitchFamily="34" charset="0"/>
                <a:cs typeface="Segoe UI" panose="020B0502040204020203" pitchFamily="34" charset="0"/>
              </a:rPr>
            </a:br>
            <a:r>
              <a:rPr lang="he-IL" sz="1500">
                <a:solidFill>
                  <a:srgbClr val="5B5B5B"/>
                </a:solidFill>
                <a:latin typeface="Segoe UI" panose="020B0502040204020203" pitchFamily="34" charset="0"/>
                <a:cs typeface="Segoe UI" panose="020B0502040204020203" pitchFamily="34" charset="0"/>
              </a:rPr>
              <a:t>מהשקף </a:t>
            </a:r>
            <a:r>
              <a:rPr lang="he-IL" sz="1500" dirty="0">
                <a:solidFill>
                  <a:srgbClr val="5B5B5B"/>
                </a:solidFill>
                <a:latin typeface="Segoe UI" panose="020B0502040204020203" pitchFamily="34" charset="0"/>
                <a:cs typeface="Segoe UI" panose="020B0502040204020203" pitchFamily="34" charset="0"/>
              </a:rPr>
              <a:t>הרלוונטי</a:t>
            </a:r>
          </a:p>
          <a:p>
            <a:pPr marL="182563" lvl="0" indent="-182563" algn="r" rtl="1">
              <a:lnSpc>
                <a:spcPct val="120000"/>
              </a:lnSpc>
              <a:buFont typeface="Arial" panose="020B0604020202020204" pitchFamily="34" charset="0"/>
              <a:buChar char="•"/>
              <a:defRPr/>
            </a:pPr>
            <a:r>
              <a:rPr lang="he-IL" sz="1500" dirty="0">
                <a:solidFill>
                  <a:srgbClr val="5B5B5B"/>
                </a:solidFill>
                <a:latin typeface="Segoe UI" panose="020B0502040204020203" pitchFamily="34" charset="0"/>
                <a:cs typeface="Segoe UI" panose="020B0502040204020203" pitchFamily="34" charset="0"/>
              </a:rPr>
              <a:t>חלק מהשקפים מכילים הנפשות ויש לצפות בדוח במצב 'הצגה'</a:t>
            </a:r>
          </a:p>
          <a:p>
            <a:pPr algn="r" rtl="1">
              <a:lnSpc>
                <a:spcPct val="120000"/>
              </a:lnSpc>
            </a:pPr>
            <a:endParaRPr lang="he-IL" sz="1600" dirty="0">
              <a:solidFill>
                <a:srgbClr val="5B5B5B"/>
              </a:solidFill>
              <a:latin typeface="Segoe UI" panose="020B0502040204020203" pitchFamily="34" charset="0"/>
              <a:cs typeface="Segoe UI" panose="020B0502040204020203" pitchFamily="34" charset="0"/>
            </a:endParaRPr>
          </a:p>
          <a:p>
            <a:pPr marR="0" lvl="0" algn="r" defTabSz="914400" rtl="1" eaLnBrk="1" fontAlgn="auto" latinLnBrk="0" hangingPunct="1">
              <a:lnSpc>
                <a:spcPct val="120000"/>
              </a:lnSpc>
              <a:spcBef>
                <a:spcPts val="0"/>
              </a:spcBef>
              <a:spcAft>
                <a:spcPts val="0"/>
              </a:spcAft>
              <a:buClrTx/>
              <a:buSzTx/>
              <a:tabLst/>
              <a:defRPr/>
            </a:pPr>
            <a:br>
              <a:rPr kumimoji="0" lang="en-US" sz="1600" b="0" i="0" u="none" strike="noStrike" kern="0" cap="none" spc="0" normalizeH="0" baseline="0" noProof="0" dirty="0">
                <a:ln>
                  <a:noFill/>
                </a:ln>
                <a:solidFill>
                  <a:srgbClr val="5B5B5B"/>
                </a:solidFill>
                <a:effectLst/>
                <a:highlight>
                  <a:srgbClr val="FFFF00"/>
                </a:highlight>
                <a:uLnTx/>
                <a:uFillTx/>
                <a:latin typeface="Segoe UI" panose="020B0502040204020203" pitchFamily="34" charset="0"/>
                <a:ea typeface="+mn-ea"/>
                <a:cs typeface="Segoe UI" panose="020B0502040204020203" pitchFamily="34" charset="0"/>
              </a:rPr>
            </a:br>
            <a:endParaRPr kumimoji="0" lang="he-IL" sz="2000" b="0" i="0" u="none" strike="noStrike" kern="0" cap="none" spc="0" normalizeH="0" baseline="0" noProof="0" dirty="0">
              <a:ln>
                <a:noFill/>
              </a:ln>
              <a:solidFill>
                <a:srgbClr val="5B5B5B"/>
              </a:solidFill>
              <a:effectLst/>
              <a:highlight>
                <a:srgbClr val="FFFF00"/>
              </a:highlight>
              <a:uLnTx/>
              <a:uFillTx/>
              <a:latin typeface="Segoe UI" panose="020B0502040204020203" pitchFamily="34" charset="0"/>
              <a:ea typeface="+mn-ea"/>
              <a:cs typeface="Segoe UI" panose="020B0502040204020203" pitchFamily="34" charset="0"/>
            </a:endParaRPr>
          </a:p>
        </p:txBody>
      </p:sp>
      <p:sp>
        <p:nvSpPr>
          <p:cNvPr id="3" name="Rectangle 25">
            <a:extLst>
              <a:ext uri="{FF2B5EF4-FFF2-40B4-BE49-F238E27FC236}">
                <a16:creationId xmlns:a16="http://schemas.microsoft.com/office/drawing/2014/main" id="{5C06DBE1-6D82-4CB6-8315-382291C60D46}"/>
              </a:ext>
            </a:extLst>
          </p:cNvPr>
          <p:cNvSpPr/>
          <p:nvPr/>
        </p:nvSpPr>
        <p:spPr>
          <a:xfrm>
            <a:off x="6621229" y="3416711"/>
            <a:ext cx="3600000" cy="3240000"/>
          </a:xfrm>
          <a:prstGeom prst="rect">
            <a:avLst/>
          </a:prstGeom>
          <a:noFill/>
          <a:ln w="12700" cap="flat" cmpd="sng" algn="ctr">
            <a:noFill/>
            <a:prstDash val="solid"/>
            <a:miter lim="800000"/>
          </a:ln>
          <a:effectLst/>
        </p:spPr>
        <p:txBody>
          <a:bodyPr rtlCol="1" anchor="t"/>
          <a:lstStyle/>
          <a:p>
            <a:pPr marL="0" marR="0" lvl="0" indent="0" algn="r" defTabSz="914400" rtl="1" eaLnBrk="1" fontAlgn="auto" latinLnBrk="0" hangingPunct="1">
              <a:lnSpc>
                <a:spcPct val="120000"/>
              </a:lnSpc>
              <a:spcBef>
                <a:spcPts val="0"/>
              </a:spcBef>
              <a:spcAft>
                <a:spcPts val="0"/>
              </a:spcAft>
              <a:buClrTx/>
              <a:buSzTx/>
              <a:buFontTx/>
              <a:buNone/>
              <a:tabLst/>
              <a:defRPr/>
            </a:pPr>
            <a:r>
              <a:rPr kumimoji="0" lang="he-IL" b="1" i="0" u="none" strike="noStrike" kern="0" cap="none" spc="0" normalizeH="0" baseline="0" noProof="0" dirty="0">
                <a:ln>
                  <a:noFill/>
                </a:ln>
                <a:solidFill>
                  <a:srgbClr val="1D1C64"/>
                </a:solidFill>
                <a:effectLst/>
                <a:uLnTx/>
                <a:uFillTx/>
                <a:latin typeface="Segoe UI" panose="020B0502040204020203" pitchFamily="34" charset="0"/>
                <a:ea typeface="+mn-ea"/>
                <a:cs typeface="Segoe UI" panose="020B0502040204020203" pitchFamily="34" charset="0"/>
              </a:rPr>
              <a:t>מדגם ויח' הדגימה</a:t>
            </a:r>
          </a:p>
          <a:p>
            <a:pPr algn="r" rtl="1">
              <a:lnSpc>
                <a:spcPct val="120000"/>
              </a:lnSpc>
              <a:defRPr/>
            </a:pPr>
            <a:r>
              <a:rPr kumimoji="0" lang="he-IL" sz="1600" i="0" u="none" strike="noStrike" kern="0" cap="none" spc="0" normalizeH="0" baseline="0" noProof="0" dirty="0">
                <a:ln>
                  <a:noFill/>
                </a:ln>
                <a:solidFill>
                  <a:srgbClr val="5B5B5B"/>
                </a:solidFill>
                <a:effectLst/>
                <a:uLnTx/>
                <a:uFillTx/>
                <a:latin typeface="Segoe UI" panose="020B0502040204020203" pitchFamily="34" charset="0"/>
                <a:ea typeface="+mn-ea"/>
                <a:cs typeface="Segoe UI" panose="020B0502040204020203" pitchFamily="34" charset="0"/>
              </a:rPr>
              <a:t>505</a:t>
            </a:r>
            <a:r>
              <a:rPr kumimoji="0" lang="he-IL" sz="1500" i="0" u="none" strike="noStrike" kern="0" cap="none" spc="0" normalizeH="0" baseline="0" noProof="0" dirty="0">
                <a:ln>
                  <a:noFill/>
                </a:ln>
                <a:solidFill>
                  <a:srgbClr val="5B5B5B"/>
                </a:solidFill>
                <a:effectLst/>
                <a:uLnTx/>
                <a:uFillTx/>
                <a:latin typeface="Segoe UI" panose="020B0502040204020203" pitchFamily="34" charset="0"/>
                <a:ea typeface="+mn-ea"/>
                <a:cs typeface="Segoe UI" panose="020B0502040204020203" pitchFamily="34" charset="0"/>
              </a:rPr>
              <a:t> </a:t>
            </a:r>
            <a:r>
              <a:rPr lang="he-IL" sz="1500" kern="0" dirty="0">
                <a:solidFill>
                  <a:srgbClr val="5B5B5B"/>
                </a:solidFill>
                <a:latin typeface="Segoe UI" panose="020B0502040204020203" pitchFamily="34" charset="0"/>
                <a:cs typeface="Segoe UI" panose="020B0502040204020203" pitchFamily="34" charset="0"/>
              </a:rPr>
              <a:t>מרואיינים במגזר היהודי והערבי שקיבלו דוח תעבורה בשנים 2020-2025 בחלוקה הבאה:</a:t>
            </a:r>
            <a:r>
              <a:rPr lang="en-US" sz="1500" kern="0" dirty="0">
                <a:solidFill>
                  <a:srgbClr val="5B5B5B"/>
                </a:solidFill>
                <a:latin typeface="Segoe UI" panose="020B0502040204020203" pitchFamily="34" charset="0"/>
                <a:cs typeface="Segoe UI" panose="020B0502040204020203" pitchFamily="34" charset="0"/>
              </a:rPr>
              <a:t> </a:t>
            </a:r>
          </a:p>
          <a:p>
            <a:pPr marL="285750" indent="-285750" algn="r" rtl="1">
              <a:lnSpc>
                <a:spcPct val="120000"/>
              </a:lnSpc>
              <a:buFont typeface="Arial" panose="020B0604020202020204" pitchFamily="34" charset="0"/>
              <a:buChar char="•"/>
              <a:defRPr/>
            </a:pPr>
            <a:r>
              <a:rPr lang="he-IL" sz="1500" kern="0" dirty="0">
                <a:solidFill>
                  <a:srgbClr val="5B5B5B"/>
                </a:solidFill>
                <a:latin typeface="Segoe UI" panose="020B0502040204020203" pitchFamily="34" charset="0"/>
                <a:cs typeface="Segoe UI" panose="020B0502040204020203" pitchFamily="34" charset="0"/>
              </a:rPr>
              <a:t>263 מרואיינים שבחרו לא להישפט:</a:t>
            </a:r>
          </a:p>
          <a:p>
            <a:pPr marL="742950" lvl="1" indent="-285750" algn="r" rtl="1">
              <a:lnSpc>
                <a:spcPct val="120000"/>
              </a:lnSpc>
              <a:buFont typeface="Arial" panose="020B0604020202020204" pitchFamily="34" charset="0"/>
              <a:buChar char="•"/>
              <a:defRPr/>
            </a:pPr>
            <a:r>
              <a:rPr lang="he-IL" sz="1500" kern="0" dirty="0">
                <a:solidFill>
                  <a:srgbClr val="5B5B5B"/>
                </a:solidFill>
                <a:latin typeface="Segoe UI" panose="020B0502040204020203" pitchFamily="34" charset="0"/>
                <a:cs typeface="Segoe UI" panose="020B0502040204020203" pitchFamily="34" charset="0"/>
              </a:rPr>
              <a:t>177 מרואיינים במגזר היהודי</a:t>
            </a:r>
          </a:p>
          <a:p>
            <a:pPr marL="742950" lvl="1" indent="-285750" algn="r" rtl="1">
              <a:lnSpc>
                <a:spcPct val="120000"/>
              </a:lnSpc>
              <a:buFont typeface="Arial" panose="020B0604020202020204" pitchFamily="34" charset="0"/>
              <a:buChar char="•"/>
              <a:defRPr/>
            </a:pPr>
            <a:r>
              <a:rPr lang="he-IL" sz="1500" kern="0" dirty="0">
                <a:solidFill>
                  <a:srgbClr val="5B5B5B"/>
                </a:solidFill>
                <a:latin typeface="Segoe UI" panose="020B0502040204020203" pitchFamily="34" charset="0"/>
                <a:cs typeface="Segoe UI" panose="020B0502040204020203" pitchFamily="34" charset="0"/>
              </a:rPr>
              <a:t>86 מרואיינים במגזר הערבי</a:t>
            </a:r>
          </a:p>
          <a:p>
            <a:pPr marL="285750" indent="-285750" algn="r" rtl="1">
              <a:lnSpc>
                <a:spcPct val="120000"/>
              </a:lnSpc>
              <a:buFont typeface="Arial" panose="020B0604020202020204" pitchFamily="34" charset="0"/>
              <a:buChar char="•"/>
              <a:defRPr/>
            </a:pPr>
            <a:r>
              <a:rPr lang="he-IL" sz="1500" kern="0" dirty="0">
                <a:solidFill>
                  <a:srgbClr val="5B5B5B"/>
                </a:solidFill>
                <a:latin typeface="Segoe UI" panose="020B0502040204020203" pitchFamily="34" charset="0"/>
                <a:cs typeface="Segoe UI" panose="020B0502040204020203" pitchFamily="34" charset="0"/>
              </a:rPr>
              <a:t>242 מרואיינים שבחרו להישפט:</a:t>
            </a:r>
          </a:p>
          <a:p>
            <a:pPr marL="742950" lvl="1" indent="-285750" algn="r" rtl="1">
              <a:lnSpc>
                <a:spcPct val="120000"/>
              </a:lnSpc>
              <a:buFont typeface="Arial" panose="020B0604020202020204" pitchFamily="34" charset="0"/>
              <a:buChar char="•"/>
              <a:defRPr/>
            </a:pPr>
            <a:r>
              <a:rPr lang="he-IL" sz="1500" kern="0" dirty="0">
                <a:solidFill>
                  <a:srgbClr val="5B5B5B"/>
                </a:solidFill>
                <a:latin typeface="Segoe UI" panose="020B0502040204020203" pitchFamily="34" charset="0"/>
                <a:cs typeface="Segoe UI" panose="020B0502040204020203" pitchFamily="34" charset="0"/>
              </a:rPr>
              <a:t>161 מרואיינים במגזר היהודי</a:t>
            </a:r>
          </a:p>
          <a:p>
            <a:pPr marL="742950" lvl="1" indent="-285750" algn="r" rtl="1">
              <a:lnSpc>
                <a:spcPct val="120000"/>
              </a:lnSpc>
              <a:buFont typeface="Arial" panose="020B0604020202020204" pitchFamily="34" charset="0"/>
              <a:buChar char="•"/>
              <a:defRPr/>
            </a:pPr>
            <a:r>
              <a:rPr lang="he-IL" sz="1500" kern="0" dirty="0">
                <a:solidFill>
                  <a:srgbClr val="5B5B5B"/>
                </a:solidFill>
                <a:latin typeface="Segoe UI" panose="020B0502040204020203" pitchFamily="34" charset="0"/>
                <a:cs typeface="Segoe UI" panose="020B0502040204020203" pitchFamily="34" charset="0"/>
              </a:rPr>
              <a:t>81 מרואיינים במגזר הערבי</a:t>
            </a:r>
          </a:p>
          <a:p>
            <a:pPr lvl="1" algn="r" rtl="1">
              <a:lnSpc>
                <a:spcPct val="120000"/>
              </a:lnSpc>
              <a:defRPr/>
            </a:pPr>
            <a:endParaRPr lang="he-IL" sz="1500" kern="0" dirty="0">
              <a:solidFill>
                <a:srgbClr val="5B5B5B"/>
              </a:solidFill>
              <a:latin typeface="Segoe UI" panose="020B0502040204020203" pitchFamily="34" charset="0"/>
              <a:cs typeface="Segoe UI" panose="020B0502040204020203" pitchFamily="34" charset="0"/>
            </a:endParaRPr>
          </a:p>
          <a:p>
            <a:pPr marL="0" marR="0" lvl="0" indent="0" algn="r" defTabSz="914400" rtl="1" eaLnBrk="1" fontAlgn="auto" latinLnBrk="0" hangingPunct="1">
              <a:lnSpc>
                <a:spcPct val="120000"/>
              </a:lnSpc>
              <a:spcBef>
                <a:spcPts val="0"/>
              </a:spcBef>
              <a:spcAft>
                <a:spcPts val="0"/>
              </a:spcAft>
              <a:buClrTx/>
              <a:buSzTx/>
              <a:buFontTx/>
              <a:buNone/>
              <a:tabLst/>
              <a:defRPr/>
            </a:pPr>
            <a:endParaRPr kumimoji="0" lang="he-IL" sz="1600" b="0" i="0" u="none" strike="noStrike" kern="0" cap="none" spc="0" normalizeH="0" baseline="0" noProof="0" dirty="0">
              <a:ln>
                <a:noFill/>
              </a:ln>
              <a:solidFill>
                <a:srgbClr val="5B5B5B"/>
              </a:solidFill>
              <a:effectLst/>
              <a:uLnTx/>
              <a:uFillTx/>
              <a:latin typeface="Segoe UI" panose="020B0502040204020203" pitchFamily="34" charset="0"/>
              <a:ea typeface="+mn-ea"/>
              <a:cs typeface="Segoe UI" panose="020B0502040204020203" pitchFamily="34" charset="0"/>
            </a:endParaRPr>
          </a:p>
        </p:txBody>
      </p:sp>
    </p:spTree>
    <p:extLst>
      <p:ext uri="{BB962C8B-B14F-4D97-AF65-F5344CB8AC3E}">
        <p14:creationId xmlns:p14="http://schemas.microsoft.com/office/powerpoint/2010/main" val="21847918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6">
            <a:extLst>
              <a:ext uri="{FF2B5EF4-FFF2-40B4-BE49-F238E27FC236}">
                <a16:creationId xmlns:a16="http://schemas.microsoft.com/office/drawing/2014/main" id="{EB65215C-BF47-C85C-5AAA-F0791281C811}"/>
              </a:ext>
            </a:extLst>
          </p:cNvPr>
          <p:cNvSpPr/>
          <p:nvPr/>
        </p:nvSpPr>
        <p:spPr>
          <a:xfrm>
            <a:off x="6057814" y="2767038"/>
            <a:ext cx="5712725" cy="720000"/>
          </a:xfrm>
          <a:prstGeom prst="roundRect">
            <a:avLst>
              <a:gd name="adj" fmla="val 28339"/>
            </a:avLst>
          </a:prstGeom>
          <a:gradFill flip="none" rotWithShape="1">
            <a:gsLst>
              <a:gs pos="0">
                <a:srgbClr val="1FC3BF"/>
              </a:gs>
              <a:gs pos="100000">
                <a:srgbClr val="0176B9"/>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1">
              <a:lnSpc>
                <a:spcPct val="120000"/>
              </a:lnSpc>
              <a:spcBef>
                <a:spcPts val="600"/>
              </a:spcBef>
            </a:pPr>
            <a:endParaRPr lang="he-IL" sz="2400" b="1" dirty="0">
              <a:solidFill>
                <a:schemeClr val="lt1"/>
              </a:solidFill>
              <a:cs typeface="Segoe UI" panose="020B0502040204020203" pitchFamily="34" charset="0"/>
            </a:endParaRPr>
          </a:p>
        </p:txBody>
      </p:sp>
      <p:sp>
        <p:nvSpPr>
          <p:cNvPr id="6" name="Rectangle 5">
            <a:extLst>
              <a:ext uri="{FF2B5EF4-FFF2-40B4-BE49-F238E27FC236}">
                <a16:creationId xmlns:a16="http://schemas.microsoft.com/office/drawing/2014/main" id="{512F6A08-F182-18C1-9934-D8D8090D2C65}"/>
              </a:ext>
            </a:extLst>
          </p:cNvPr>
          <p:cNvSpPr/>
          <p:nvPr/>
        </p:nvSpPr>
        <p:spPr>
          <a:xfrm>
            <a:off x="6058970" y="2484495"/>
            <a:ext cx="5712725" cy="2667480"/>
          </a:xfrm>
          <a:prstGeom prst="rect">
            <a:avLst/>
          </a:prstGeom>
          <a:noFill/>
          <a:ln w="12700" cap="flat" cmpd="sng" algn="ctr">
            <a:noFill/>
            <a:prstDash val="solid"/>
            <a:miter lim="800000"/>
          </a:ln>
          <a:effectLst/>
        </p:spPr>
        <p:txBody>
          <a:bodyPr rtlCol="1" anchor="t"/>
          <a:lstStyle/>
          <a:p>
            <a:pPr marL="0" marR="0" lvl="0" indent="0" algn="r" defTabSz="914400" rtl="1" eaLnBrk="1" fontAlgn="auto" latinLnBrk="0" hangingPunct="1">
              <a:lnSpc>
                <a:spcPct val="200000"/>
              </a:lnSpc>
              <a:spcBef>
                <a:spcPts val="600"/>
              </a:spcBef>
              <a:spcAft>
                <a:spcPts val="0"/>
              </a:spcAft>
              <a:buClrTx/>
              <a:buSzTx/>
              <a:buFontTx/>
              <a:buNone/>
              <a:tabLst/>
              <a:defRPr/>
            </a:pPr>
            <a:r>
              <a:rPr lang="he-IL" sz="3200" b="1" kern="0" dirty="0">
                <a:solidFill>
                  <a:prstClr val="white"/>
                </a:solidFill>
                <a:latin typeface="Segoe UI" panose="020B0502040204020203" pitchFamily="34" charset="0"/>
                <a:cs typeface="Segoe UI" panose="020B0502040204020203" pitchFamily="34" charset="0"/>
              </a:rPr>
              <a:t>רקע – קבלת הדוח </a:t>
            </a:r>
            <a:r>
              <a:rPr lang="he-IL" kern="0" dirty="0">
                <a:solidFill>
                  <a:prstClr val="white"/>
                </a:solidFill>
                <a:latin typeface="Segoe UI" panose="020B0502040204020203" pitchFamily="34" charset="0"/>
                <a:cs typeface="Segoe UI" panose="020B0502040204020203" pitchFamily="34" charset="0"/>
              </a:rPr>
              <a:t>(תחילת התהליך)</a:t>
            </a:r>
            <a:endParaRPr kumimoji="0" lang="he-IL" sz="3200" b="1" i="0" u="none" strike="noStrike" kern="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a:p>
            <a:pPr algn="r" rtl="1">
              <a:lnSpc>
                <a:spcPct val="200000"/>
              </a:lnSpc>
              <a:spcBef>
                <a:spcPts val="600"/>
              </a:spcBef>
              <a:defRPr/>
            </a:pPr>
            <a:r>
              <a:rPr lang="he-IL" sz="2000" kern="0" dirty="0">
                <a:solidFill>
                  <a:prstClr val="white">
                    <a:lumMod val="65000"/>
                  </a:prstClr>
                </a:solidFill>
                <a:latin typeface="Segoe UI" panose="020B0502040204020203" pitchFamily="34" charset="0"/>
                <a:cs typeface="Segoe UI" panose="020B0502040204020203" pitchFamily="34" charset="0"/>
              </a:rPr>
              <a:t>הבנת הדוח, חלופות התגובה והתמודדות בפועל</a:t>
            </a:r>
            <a:endParaRPr kumimoji="0" lang="he-IL" sz="2000" b="0" i="0" u="none" strike="noStrike" kern="0" cap="none" spc="0" normalizeH="0" baseline="0" noProof="0" dirty="0">
              <a:ln>
                <a:noFill/>
              </a:ln>
              <a:solidFill>
                <a:prstClr val="white">
                  <a:lumMod val="65000"/>
                </a:prstClr>
              </a:solidFill>
              <a:effectLst/>
              <a:uLnTx/>
              <a:uFillTx/>
              <a:latin typeface="Segoe UI" panose="020B0502040204020203" pitchFamily="34" charset="0"/>
              <a:ea typeface="+mn-ea"/>
              <a:cs typeface="Segoe UI" panose="020B0502040204020203" pitchFamily="34" charset="0"/>
            </a:endParaRPr>
          </a:p>
          <a:p>
            <a:pPr marL="0" marR="0" lvl="0" indent="0" algn="r" defTabSz="914400" rtl="1" eaLnBrk="1" fontAlgn="auto" latinLnBrk="0" hangingPunct="1">
              <a:lnSpc>
                <a:spcPct val="200000"/>
              </a:lnSpc>
              <a:spcBef>
                <a:spcPts val="600"/>
              </a:spcBef>
              <a:spcAft>
                <a:spcPts val="0"/>
              </a:spcAft>
              <a:buClrTx/>
              <a:buSzTx/>
              <a:buFontTx/>
              <a:buNone/>
              <a:tabLst/>
              <a:defRPr/>
            </a:pPr>
            <a:r>
              <a:rPr kumimoji="0" lang="he-IL" sz="2000" b="0" i="0" u="none" strike="noStrike" kern="0" cap="none" spc="0" normalizeH="0" baseline="0" noProof="0" dirty="0">
                <a:ln>
                  <a:noFill/>
                </a:ln>
                <a:solidFill>
                  <a:prstClr val="white">
                    <a:lumMod val="65000"/>
                  </a:prstClr>
                </a:solidFill>
                <a:effectLst/>
                <a:uLnTx/>
                <a:uFillTx/>
                <a:latin typeface="Segoe UI" panose="020B0502040204020203" pitchFamily="34" charset="0"/>
                <a:ea typeface="+mn-ea"/>
                <a:cs typeface="Segoe UI" panose="020B0502040204020203" pitchFamily="34" charset="0"/>
              </a:rPr>
              <a:t>ההליך המשפטי</a:t>
            </a:r>
          </a:p>
          <a:p>
            <a:pPr marL="0" marR="0" lvl="0" indent="0" algn="r" defTabSz="914400" rtl="1" eaLnBrk="1" fontAlgn="auto" latinLnBrk="0" hangingPunct="1">
              <a:lnSpc>
                <a:spcPct val="200000"/>
              </a:lnSpc>
              <a:spcBef>
                <a:spcPts val="600"/>
              </a:spcBef>
              <a:spcAft>
                <a:spcPts val="0"/>
              </a:spcAft>
              <a:buClrTx/>
              <a:buSzTx/>
              <a:buFontTx/>
              <a:buNone/>
              <a:tabLst/>
              <a:defRPr/>
            </a:pPr>
            <a:r>
              <a:rPr lang="he-IL" sz="2000" kern="0" dirty="0">
                <a:solidFill>
                  <a:prstClr val="white">
                    <a:lumMod val="65000"/>
                  </a:prstClr>
                </a:solidFill>
                <a:latin typeface="Segoe UI" panose="020B0502040204020203" pitchFamily="34" charset="0"/>
                <a:cs typeface="Segoe UI" panose="020B0502040204020203" pitchFamily="34" charset="0"/>
              </a:rPr>
              <a:t>שביעות רצון והמלצות </a:t>
            </a:r>
            <a:r>
              <a:rPr lang="he-IL" kern="0" dirty="0">
                <a:solidFill>
                  <a:prstClr val="white">
                    <a:lumMod val="65000"/>
                  </a:prstClr>
                </a:solidFill>
                <a:latin typeface="Segoe UI" panose="020B0502040204020203" pitchFamily="34" charset="0"/>
                <a:cs typeface="Segoe UI" panose="020B0502040204020203" pitchFamily="34" charset="0"/>
              </a:rPr>
              <a:t>(סיום התהליך)</a:t>
            </a:r>
            <a:endParaRPr kumimoji="0" lang="he-IL" b="0" i="0" u="none" strike="noStrike" kern="0" cap="none" spc="0" normalizeH="0" baseline="0" noProof="0" dirty="0">
              <a:ln>
                <a:noFill/>
              </a:ln>
              <a:solidFill>
                <a:prstClr val="white">
                  <a:lumMod val="65000"/>
                </a:prstClr>
              </a:solidFill>
              <a:effectLst/>
              <a:uLnTx/>
              <a:uFillTx/>
              <a:latin typeface="Segoe UI" panose="020B0502040204020203" pitchFamily="34" charset="0"/>
              <a:ea typeface="+mn-ea"/>
              <a:cs typeface="Segoe UI" panose="020B0502040204020203" pitchFamily="34" charset="0"/>
            </a:endParaRPr>
          </a:p>
        </p:txBody>
      </p:sp>
      <p:pic>
        <p:nvPicPr>
          <p:cNvPr id="3" name="תמונה 2" descr="תמונה שמכילה טקסט, גופן, לוגו, סמל&#10;&#10;תוכן בינה מלאכותית גנרטיבית עשוי להיות שגוי.">
            <a:extLst>
              <a:ext uri="{FF2B5EF4-FFF2-40B4-BE49-F238E27FC236}">
                <a16:creationId xmlns:a16="http://schemas.microsoft.com/office/drawing/2014/main" id="{193F4183-BF75-3B32-DE42-66E3C6D4ED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34200" y="1441752"/>
            <a:ext cx="4265824" cy="1061715"/>
          </a:xfrm>
          <a:prstGeom prst="rect">
            <a:avLst/>
          </a:prstGeom>
        </p:spPr>
      </p:pic>
    </p:spTree>
    <p:extLst>
      <p:ext uri="{BB962C8B-B14F-4D97-AF65-F5344CB8AC3E}">
        <p14:creationId xmlns:p14="http://schemas.microsoft.com/office/powerpoint/2010/main" val="354491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alpha val="99000"/>
          </a:schemeClr>
        </a:solidFill>
        <a:effectLst/>
      </p:bgPr>
    </p:bg>
    <p:spTree>
      <p:nvGrpSpPr>
        <p:cNvPr id="1" name="">
          <a:extLst>
            <a:ext uri="{FF2B5EF4-FFF2-40B4-BE49-F238E27FC236}">
              <a16:creationId xmlns:a16="http://schemas.microsoft.com/office/drawing/2014/main" id="{15050D48-4349-7276-656A-317B61B9DEF6}"/>
            </a:ext>
          </a:extLst>
        </p:cNvPr>
        <p:cNvGrpSpPr/>
        <p:nvPr/>
      </p:nvGrpSpPr>
      <p:grpSpPr>
        <a:xfrm>
          <a:off x="0" y="0"/>
          <a:ext cx="0" cy="0"/>
          <a:chOff x="0" y="0"/>
          <a:chExt cx="0" cy="0"/>
        </a:xfrm>
      </p:grpSpPr>
      <p:sp>
        <p:nvSpPr>
          <p:cNvPr id="7" name="Rectangle 3">
            <a:extLst>
              <a:ext uri="{FF2B5EF4-FFF2-40B4-BE49-F238E27FC236}">
                <a16:creationId xmlns:a16="http://schemas.microsoft.com/office/drawing/2014/main" id="{F3F25957-A64D-68ED-8449-33F82F5F70C6}"/>
              </a:ext>
            </a:extLst>
          </p:cNvPr>
          <p:cNvSpPr/>
          <p:nvPr/>
        </p:nvSpPr>
        <p:spPr>
          <a:xfrm>
            <a:off x="1320802" y="191076"/>
            <a:ext cx="10614278" cy="5075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t"/>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0" cap="none" spc="0" normalizeH="0" baseline="0" noProof="0" dirty="0">
                <a:ln>
                  <a:noFill/>
                </a:ln>
                <a:solidFill>
                  <a:srgbClr val="104E88"/>
                </a:solidFill>
                <a:effectLst/>
                <a:uLnTx/>
                <a:uFillTx/>
                <a:latin typeface="Segoe UI" panose="020B0502040204020203" pitchFamily="34" charset="0"/>
                <a:cs typeface="Segoe UI" panose="020B0502040204020203" pitchFamily="34" charset="0"/>
                <a:sym typeface="Arial"/>
              </a:rPr>
              <a:t>כמות דוחות התעבורה שקיבלו</a:t>
            </a:r>
          </a:p>
        </p:txBody>
      </p:sp>
      <p:sp>
        <p:nvSpPr>
          <p:cNvPr id="15" name="Slide Number Placeholder 1">
            <a:extLst>
              <a:ext uri="{FF2B5EF4-FFF2-40B4-BE49-F238E27FC236}">
                <a16:creationId xmlns:a16="http://schemas.microsoft.com/office/drawing/2014/main" id="{BC548326-F0AE-6DE4-B459-1DA9100AA6E2}"/>
              </a:ext>
            </a:extLst>
          </p:cNvPr>
          <p:cNvSpPr txBox="1">
            <a:spLocks/>
          </p:cNvSpPr>
          <p:nvPr/>
        </p:nvSpPr>
        <p:spPr>
          <a:xfrm>
            <a:off x="11541989" y="6473956"/>
            <a:ext cx="540000" cy="360000"/>
          </a:xfrm>
          <a:prstGeom prst="rect">
            <a:avLst/>
          </a:prstGeom>
          <a:noFill/>
          <a:ln w="12700" cap="flat" cmpd="sng" algn="ctr">
            <a:noFill/>
            <a:prstDash val="solid"/>
            <a:miter lim="800000"/>
          </a:ln>
          <a:effectLst/>
        </p:spPr>
        <p:txBody>
          <a:bodyPr rot="0" spcFirstLastPara="0" vertOverflow="overflow" horzOverflow="overflow" vert="horz" wrap="square" lIns="91440" tIns="45720" rIns="91440" bIns="45720" numCol="1" spcCol="0" rtlCol="1" fromWordArt="0" anchor="ctr" anchorCtr="0" forceAA="0" compatLnSpc="1">
            <a:prstTxWarp prst="textNoShape">
              <a:avLst/>
            </a:prstTxWarp>
            <a:noAutofit/>
          </a:bodyPr>
          <a:lstStyle>
            <a:defPPr>
              <a:defRPr lang="he-IL"/>
            </a:defPPr>
            <a:lvl1pPr marL="0" algn="l" defTabSz="914400" rtl="0" eaLnBrk="1" latinLnBrk="0" hangingPunct="1">
              <a:defRPr lang="he-IL" sz="1100" kern="1200" smtClean="0">
                <a:solidFill>
                  <a:schemeClr val="bg1">
                    <a:lumMod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r" rtl="1">
              <a:defRPr/>
            </a:pPr>
            <a:fld id="{7A91BF3F-E284-4570-AC28-CDAE2F1A1EA1}" type="slidenum">
              <a:rPr lang="he-IL" smtClean="0">
                <a:solidFill>
                  <a:prstClr val="white">
                    <a:lumMod val="75000"/>
                  </a:prstClr>
                </a:solidFill>
              </a:rPr>
              <a:pPr algn="r" rtl="1">
                <a:defRPr/>
              </a:pPr>
              <a:t>4</a:t>
            </a:fld>
            <a:endParaRPr lang="he-IL" dirty="0">
              <a:solidFill>
                <a:prstClr val="white">
                  <a:lumMod val="75000"/>
                </a:prstClr>
              </a:solidFill>
            </a:endParaRPr>
          </a:p>
        </p:txBody>
      </p:sp>
      <p:sp>
        <p:nvSpPr>
          <p:cNvPr id="16" name="Rectangle 28">
            <a:extLst>
              <a:ext uri="{FF2B5EF4-FFF2-40B4-BE49-F238E27FC236}">
                <a16:creationId xmlns:a16="http://schemas.microsoft.com/office/drawing/2014/main" id="{4951B06F-82F3-74CD-60FB-8EC5B8BB8001}"/>
              </a:ext>
            </a:extLst>
          </p:cNvPr>
          <p:cNvSpPr/>
          <p:nvPr/>
        </p:nvSpPr>
        <p:spPr>
          <a:xfrm>
            <a:off x="3119718" y="6473956"/>
            <a:ext cx="8732332" cy="360000"/>
          </a:xfrm>
          <a:prstGeom prst="rect">
            <a:avLst/>
          </a:prstGeom>
          <a:noFill/>
          <a:ln>
            <a:noFill/>
          </a:ln>
        </p:spPr>
        <p:txBody>
          <a:bodyPr rot="0" spcFirstLastPara="0" vertOverflow="overflow" horzOverflow="overflow" vert="horz" wrap="square" lIns="91440" tIns="45720" rIns="91440" bIns="45720" numCol="1" spcCol="0" rtlCol="1" fromWordArt="0" anchor="ctr" anchorCtr="0" forceAA="0" compatLnSpc="1">
            <a:prstTxWarp prst="textNoShape">
              <a:avLst/>
            </a:prstTxWarp>
            <a:noAutofit/>
          </a:bodyPr>
          <a:lstStyle/>
          <a:p>
            <a:pPr lvl="0" algn="r" rtl="1">
              <a:defRPr/>
            </a:pPr>
            <a:r>
              <a:rPr lang="he-IL" sz="1000" dirty="0">
                <a:solidFill>
                  <a:prstClr val="white">
                    <a:lumMod val="65000"/>
                  </a:prstClr>
                </a:solidFill>
                <a:latin typeface="Segoe UI" panose="020B0502040204020203" pitchFamily="34" charset="0"/>
                <a:cs typeface="Segoe UI" panose="020B0502040204020203" pitchFamily="34" charset="0"/>
              </a:rPr>
              <a:t>"האם בחמש השנים האחרונות (2020-2025) קיבלת דו"ח תעבורה אחד יותר(לא כולל דו"חות חנייה)? ואם קיבלת יותר מדוח אחד, </a:t>
            </a:r>
            <a:br>
              <a:rPr lang="en-US" sz="1000" dirty="0">
                <a:solidFill>
                  <a:prstClr val="white">
                    <a:lumMod val="65000"/>
                  </a:prstClr>
                </a:solidFill>
                <a:latin typeface="Segoe UI" panose="020B0502040204020203" pitchFamily="34" charset="0"/>
                <a:cs typeface="Segoe UI" panose="020B0502040204020203" pitchFamily="34" charset="0"/>
              </a:rPr>
            </a:br>
            <a:r>
              <a:rPr lang="he-IL" sz="1000" dirty="0">
                <a:solidFill>
                  <a:prstClr val="white">
                    <a:lumMod val="65000"/>
                  </a:prstClr>
                </a:solidFill>
                <a:latin typeface="Segoe UI" panose="020B0502040204020203" pitchFamily="34" charset="0"/>
                <a:cs typeface="Segoe UI" panose="020B0502040204020203" pitchFamily="34" charset="0"/>
              </a:rPr>
              <a:t>נסה להיזכר כמה דו"חות תעבורה קיבלת בסך </a:t>
            </a:r>
            <a:r>
              <a:rPr lang="he-IL" sz="1000" dirty="0" err="1">
                <a:solidFill>
                  <a:prstClr val="white">
                    <a:lumMod val="65000"/>
                  </a:prstClr>
                </a:solidFill>
                <a:latin typeface="Segoe UI" panose="020B0502040204020203" pitchFamily="34" charset="0"/>
                <a:cs typeface="Segoe UI" panose="020B0502040204020203" pitchFamily="34" charset="0"/>
              </a:rPr>
              <a:t>הכל</a:t>
            </a:r>
            <a:r>
              <a:rPr lang="he-IL" sz="1000" dirty="0">
                <a:solidFill>
                  <a:prstClr val="white">
                    <a:lumMod val="65000"/>
                  </a:prstClr>
                </a:solidFill>
                <a:latin typeface="Segoe UI" panose="020B0502040204020203" pitchFamily="34" charset="0"/>
                <a:cs typeface="Segoe UI" panose="020B0502040204020203" pitchFamily="34" charset="0"/>
              </a:rPr>
              <a:t> בתקופה זו?"</a:t>
            </a:r>
          </a:p>
        </p:txBody>
      </p:sp>
      <p:cxnSp>
        <p:nvCxnSpPr>
          <p:cNvPr id="2" name="Straight Connector 6">
            <a:extLst>
              <a:ext uri="{FF2B5EF4-FFF2-40B4-BE49-F238E27FC236}">
                <a16:creationId xmlns:a16="http://schemas.microsoft.com/office/drawing/2014/main" id="{C41FDFD2-F941-730B-F4AD-310CA7120E8E}"/>
              </a:ext>
            </a:extLst>
          </p:cNvPr>
          <p:cNvCxnSpPr>
            <a:cxnSpLocks/>
          </p:cNvCxnSpPr>
          <p:nvPr/>
        </p:nvCxnSpPr>
        <p:spPr>
          <a:xfrm rot="16200000" flipV="1">
            <a:off x="6096000" y="-866951"/>
            <a:ext cx="0" cy="10800000"/>
          </a:xfrm>
          <a:prstGeom prst="line">
            <a:avLst/>
          </a:prstGeom>
          <a:ln w="25400" cap="rnd">
            <a:solidFill>
              <a:schemeClr val="bg1">
                <a:lumMod val="85000"/>
              </a:schemeClr>
            </a:solidFill>
            <a:round/>
          </a:ln>
        </p:spPr>
        <p:style>
          <a:lnRef idx="1">
            <a:schemeClr val="accent1"/>
          </a:lnRef>
          <a:fillRef idx="0">
            <a:schemeClr val="accent1"/>
          </a:fillRef>
          <a:effectRef idx="0">
            <a:schemeClr val="accent1"/>
          </a:effectRef>
          <a:fontRef idx="minor">
            <a:schemeClr val="tx1"/>
          </a:fontRef>
        </p:style>
      </p:cxnSp>
      <p:sp>
        <p:nvSpPr>
          <p:cNvPr id="3" name="Rectangle 6">
            <a:extLst>
              <a:ext uri="{FF2B5EF4-FFF2-40B4-BE49-F238E27FC236}">
                <a16:creationId xmlns:a16="http://schemas.microsoft.com/office/drawing/2014/main" id="{D550E08A-2C1D-666C-2FA1-5D5DCD5987F5}"/>
              </a:ext>
            </a:extLst>
          </p:cNvPr>
          <p:cNvSpPr/>
          <p:nvPr/>
        </p:nvSpPr>
        <p:spPr>
          <a:xfrm>
            <a:off x="651874" y="4926378"/>
            <a:ext cx="11304192" cy="1440000"/>
          </a:xfrm>
          <a:prstGeom prst="rect">
            <a:avLst/>
          </a:prstGeom>
        </p:spPr>
        <p:txBody>
          <a:bodyPr wrap="square" anchor="ctr">
            <a:noAutofit/>
          </a:bodyPr>
          <a:lstStyle/>
          <a:p>
            <a:pPr algn="ctr" rtl="1">
              <a:lnSpc>
                <a:spcPct val="150000"/>
              </a:lnSpc>
            </a:pPr>
            <a:r>
              <a:rPr lang="en-US" sz="1600" dirty="0">
                <a:latin typeface="Segoe UI" panose="020B0502040204020203" pitchFamily="34" charset="0"/>
                <a:cs typeface="Segoe UI" panose="020B0502040204020203" pitchFamily="34" charset="0"/>
              </a:rPr>
              <a:t> </a:t>
            </a:r>
            <a:r>
              <a:rPr lang="he-IL" sz="1600" b="1" dirty="0">
                <a:latin typeface="Segoe UI" panose="020B0502040204020203" pitchFamily="34" charset="0"/>
                <a:cs typeface="Segoe UI" panose="020B0502040204020203" pitchFamily="34" charset="0"/>
              </a:rPr>
              <a:t>מרבית המרואיינים קיבלו דו"ח אחד בלבד. </a:t>
            </a:r>
            <a:r>
              <a:rPr lang="he-IL" sz="1600" dirty="0">
                <a:latin typeface="Segoe UI" panose="020B0502040204020203" pitchFamily="34" charset="0"/>
                <a:cs typeface="Segoe UI" panose="020B0502040204020203" pitchFamily="34" charset="0"/>
              </a:rPr>
              <a:t>ובתוך כך, ממוצע הדוחות בקרב המבקשים להישפט מעט גבוה יותר </a:t>
            </a:r>
            <a:r>
              <a:rPr lang="he-IL" sz="1400" dirty="0">
                <a:latin typeface="Segoe UI" panose="020B0502040204020203" pitchFamily="34" charset="0"/>
                <a:cs typeface="Segoe UI" panose="020B0502040204020203" pitchFamily="34" charset="0"/>
              </a:rPr>
              <a:t>(וגם במגזר הערבי לעומת היהודי בשני הקהלים)</a:t>
            </a:r>
            <a:r>
              <a:rPr lang="he-IL" sz="1600" dirty="0">
                <a:latin typeface="Segoe UI" panose="020B0502040204020203" pitchFamily="34" charset="0"/>
                <a:cs typeface="Segoe UI" panose="020B0502040204020203" pitchFamily="34" charset="0"/>
              </a:rPr>
              <a:t> ונראה שהם מעט יותר "מכירים את המערכת" </a:t>
            </a:r>
            <a:r>
              <a:rPr lang="he-IL" sz="1600" b="1" dirty="0">
                <a:latin typeface="Segoe UI" panose="020B0502040204020203" pitchFamily="34" charset="0"/>
                <a:cs typeface="Segoe UI" panose="020B0502040204020203" pitchFamily="34" charset="0"/>
              </a:rPr>
              <a:t>ומוכנים לקחת סיכון מחושב שלא יגיעו לדיון בפועל.</a:t>
            </a:r>
            <a:endParaRPr lang="en-US" sz="1600" b="1" dirty="0">
              <a:latin typeface="Segoe UI" panose="020B0502040204020203" pitchFamily="34" charset="0"/>
              <a:cs typeface="Segoe UI" panose="020B0502040204020203" pitchFamily="34" charset="0"/>
            </a:endParaRPr>
          </a:p>
          <a:p>
            <a:pPr algn="ctr" rtl="1">
              <a:lnSpc>
                <a:spcPct val="150000"/>
              </a:lnSpc>
            </a:pPr>
            <a:r>
              <a:rPr lang="en-US" sz="1400" b="1" dirty="0">
                <a:latin typeface="Segoe UI" panose="020B0502040204020203" pitchFamily="34" charset="0"/>
                <a:cs typeface="Segoe UI" panose="020B0502040204020203" pitchFamily="34" charset="0"/>
              </a:rPr>
              <a:t> </a:t>
            </a:r>
            <a:r>
              <a:rPr lang="he-IL" sz="1600" b="1" dirty="0">
                <a:solidFill>
                  <a:srgbClr val="1D1C64"/>
                </a:solidFill>
                <a:latin typeface="Segoe UI" panose="020B0502040204020203" pitchFamily="34" charset="0"/>
                <a:cs typeface="Segoe UI" panose="020B0502040204020203" pitchFamily="34" charset="0"/>
              </a:rPr>
              <a:t>מומלץ לשקול לרתום את "הדיגיטליות" בתהליך </a:t>
            </a:r>
            <a:r>
              <a:rPr lang="he-IL" sz="1600" b="1" u="sng" dirty="0">
                <a:solidFill>
                  <a:srgbClr val="1D1C64"/>
                </a:solidFill>
                <a:latin typeface="Segoe UI" panose="020B0502040204020203" pitchFamily="34" charset="0"/>
                <a:cs typeface="Segoe UI" panose="020B0502040204020203" pitchFamily="34" charset="0"/>
              </a:rPr>
              <a:t>מחד</a:t>
            </a:r>
            <a:r>
              <a:rPr lang="he-IL" sz="1600" b="1" dirty="0">
                <a:solidFill>
                  <a:srgbClr val="1D1C64"/>
                </a:solidFill>
                <a:latin typeface="Segoe UI" panose="020B0502040204020203" pitchFamily="34" charset="0"/>
                <a:cs typeface="Segoe UI" panose="020B0502040204020203" pitchFamily="34" charset="0"/>
              </a:rPr>
              <a:t> במפגש עם הדוח הראשון עם חשיפה והסבר לכל האפשרויות להגדלת שיעור השימוש הנבון בחלופות</a:t>
            </a:r>
            <a:r>
              <a:rPr lang="en-US" sz="1600" b="1" dirty="0">
                <a:solidFill>
                  <a:srgbClr val="1D1C64"/>
                </a:solidFill>
                <a:latin typeface="Segoe UI" panose="020B0502040204020203" pitchFamily="34" charset="0"/>
                <a:cs typeface="Segoe UI" panose="020B0502040204020203" pitchFamily="34" charset="0"/>
              </a:rPr>
              <a:t>.</a:t>
            </a:r>
            <a:r>
              <a:rPr lang="he-IL" sz="1600" b="1" dirty="0">
                <a:solidFill>
                  <a:srgbClr val="1D1C64"/>
                </a:solidFill>
                <a:latin typeface="Segoe UI" panose="020B0502040204020203" pitchFamily="34" charset="0"/>
                <a:cs typeface="Segoe UI" panose="020B0502040204020203" pitchFamily="34" charset="0"/>
              </a:rPr>
              <a:t> </a:t>
            </a:r>
            <a:r>
              <a:rPr lang="he-IL" sz="1600" b="1" u="sng" dirty="0">
                <a:solidFill>
                  <a:srgbClr val="1D1C64"/>
                </a:solidFill>
                <a:latin typeface="Segoe UI" panose="020B0502040204020203" pitchFamily="34" charset="0"/>
                <a:cs typeface="Segoe UI" panose="020B0502040204020203" pitchFamily="34" charset="0"/>
              </a:rPr>
              <a:t>ומאידך</a:t>
            </a:r>
            <a:r>
              <a:rPr lang="en-US" sz="1600" b="1" dirty="0">
                <a:solidFill>
                  <a:srgbClr val="1D1C64"/>
                </a:solidFill>
                <a:latin typeface="Segoe UI" panose="020B0502040204020203" pitchFamily="34" charset="0"/>
                <a:cs typeface="Segoe UI" panose="020B0502040204020203" pitchFamily="34" charset="0"/>
              </a:rPr>
              <a:t> </a:t>
            </a:r>
            <a:r>
              <a:rPr lang="he-IL" sz="1600" b="1" dirty="0">
                <a:solidFill>
                  <a:srgbClr val="1D1C64"/>
                </a:solidFill>
                <a:latin typeface="Segoe UI" panose="020B0502040204020203" pitchFamily="34" charset="0"/>
                <a:cs typeface="Segoe UI" panose="020B0502040204020203" pitchFamily="34" charset="0"/>
              </a:rPr>
              <a:t>תמיכה ייעודית למקבלים דוחות חוזרים/מספר דוחות שהנם בעלי פוטנציאל גבוה יותר לחיכוך ומורכבות דרך הסברה ממוקדת על השלכות צבירת עבירות בטרם בחירתם בהליך משפטי ארוך</a:t>
            </a:r>
            <a:r>
              <a:rPr lang="en-US" sz="1600" b="1" dirty="0">
                <a:solidFill>
                  <a:srgbClr val="1D1C64"/>
                </a:solidFill>
                <a:latin typeface="Segoe UI" panose="020B0502040204020203" pitchFamily="34" charset="0"/>
                <a:cs typeface="Segoe UI" panose="020B0502040204020203" pitchFamily="34" charset="0"/>
              </a:rPr>
              <a:t>.</a:t>
            </a:r>
            <a:endParaRPr lang="en-US" sz="1600" dirty="0">
              <a:solidFill>
                <a:srgbClr val="1D1C64"/>
              </a:solidFill>
              <a:latin typeface="Segoe UI" panose="020B0502040204020203" pitchFamily="34" charset="0"/>
              <a:cs typeface="Segoe UI" panose="020B0502040204020203" pitchFamily="34" charset="0"/>
            </a:endParaRPr>
          </a:p>
          <a:p>
            <a:pPr algn="ctr" rtl="1">
              <a:lnSpc>
                <a:spcPct val="150000"/>
              </a:lnSpc>
            </a:pPr>
            <a:endParaRPr lang="he-IL" sz="1400" kern="100" dirty="0">
              <a:latin typeface="Segoe UI" panose="020B0502040204020203" pitchFamily="34" charset="0"/>
              <a:ea typeface="Aptos" panose="020B0004020202020204" pitchFamily="34" charset="0"/>
              <a:cs typeface="Segoe UI" panose="020B0502040204020203" pitchFamily="34" charset="0"/>
            </a:endParaRPr>
          </a:p>
        </p:txBody>
      </p:sp>
      <p:graphicFrame>
        <p:nvGraphicFramePr>
          <p:cNvPr id="5" name="אובייקט 3">
            <a:extLst>
              <a:ext uri="{FF2B5EF4-FFF2-40B4-BE49-F238E27FC236}">
                <a16:creationId xmlns:a16="http://schemas.microsoft.com/office/drawing/2014/main" id="{10D3ED26-68DA-3B50-7525-07F73F726762}"/>
              </a:ext>
            </a:extLst>
          </p:cNvPr>
          <p:cNvGraphicFramePr>
            <a:graphicFrameLocks noChangeAspect="1"/>
          </p:cNvGraphicFramePr>
          <p:nvPr>
            <p:extLst>
              <p:ext uri="{D42A27DB-BD31-4B8C-83A1-F6EECF244321}">
                <p14:modId xmlns:p14="http://schemas.microsoft.com/office/powerpoint/2010/main" val="1893257044"/>
              </p:ext>
            </p:extLst>
          </p:nvPr>
        </p:nvGraphicFramePr>
        <p:xfrm>
          <a:off x="547858" y="1426029"/>
          <a:ext cx="11304192" cy="2880000"/>
        </p:xfrm>
        <a:graphic>
          <a:graphicData uri="http://schemas.openxmlformats.org/drawingml/2006/chart">
            <c:chart xmlns:c="http://schemas.openxmlformats.org/drawingml/2006/chart" xmlns:r="http://schemas.openxmlformats.org/officeDocument/2006/relationships" r:id="rId3"/>
          </a:graphicData>
        </a:graphic>
      </p:graphicFrame>
      <p:cxnSp>
        <p:nvCxnSpPr>
          <p:cNvPr id="9" name="מחבר ישר 8">
            <a:extLst>
              <a:ext uri="{FF2B5EF4-FFF2-40B4-BE49-F238E27FC236}">
                <a16:creationId xmlns:a16="http://schemas.microsoft.com/office/drawing/2014/main" id="{F66FC04F-A6DE-D1AD-2D90-3171BB5CA3AF}"/>
              </a:ext>
            </a:extLst>
          </p:cNvPr>
          <p:cNvCxnSpPr>
            <a:cxnSpLocks/>
          </p:cNvCxnSpPr>
          <p:nvPr/>
        </p:nvCxnSpPr>
        <p:spPr>
          <a:xfrm>
            <a:off x="6109298" y="1061841"/>
            <a:ext cx="0" cy="3240000"/>
          </a:xfrm>
          <a:prstGeom prst="line">
            <a:avLst/>
          </a:prstGeom>
          <a:ln>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12" name="תיבת טקסט 11">
            <a:extLst>
              <a:ext uri="{FF2B5EF4-FFF2-40B4-BE49-F238E27FC236}">
                <a16:creationId xmlns:a16="http://schemas.microsoft.com/office/drawing/2014/main" id="{9E9B0BE9-2D11-CBB8-96EC-343ABD7C953A}"/>
              </a:ext>
            </a:extLst>
          </p:cNvPr>
          <p:cNvSpPr txBox="1"/>
          <p:nvPr/>
        </p:nvSpPr>
        <p:spPr>
          <a:xfrm>
            <a:off x="2247667" y="1151513"/>
            <a:ext cx="2520000" cy="307777"/>
          </a:xfrm>
          <a:prstGeom prst="rect">
            <a:avLst/>
          </a:prstGeom>
          <a:noFill/>
        </p:spPr>
        <p:txBody>
          <a:bodyPr wrap="square">
            <a:spAutoFit/>
          </a:bodyPr>
          <a:lstStyle/>
          <a:p>
            <a:pPr algn="ctr" rtl="1" fontAlgn="ctr"/>
            <a:r>
              <a:rPr lang="he-IL" sz="1400" b="1" u="none" strike="noStrike" dirty="0">
                <a:effectLst/>
                <a:latin typeface="Segoe UI" panose="020B0502040204020203" pitchFamily="34" charset="0"/>
                <a:cs typeface="Segoe UI" panose="020B0502040204020203" pitchFamily="34" charset="0"/>
              </a:rPr>
              <a:t>לא ביקשו להישפט</a:t>
            </a:r>
          </a:p>
        </p:txBody>
      </p:sp>
      <p:sp>
        <p:nvSpPr>
          <p:cNvPr id="13" name="תיבת טקסט 12">
            <a:extLst>
              <a:ext uri="{FF2B5EF4-FFF2-40B4-BE49-F238E27FC236}">
                <a16:creationId xmlns:a16="http://schemas.microsoft.com/office/drawing/2014/main" id="{22CA5BB9-76B2-469B-8036-CCBF06C8775C}"/>
              </a:ext>
            </a:extLst>
          </p:cNvPr>
          <p:cNvSpPr txBox="1"/>
          <p:nvPr/>
        </p:nvSpPr>
        <p:spPr>
          <a:xfrm>
            <a:off x="7426473" y="1110353"/>
            <a:ext cx="2520000" cy="307777"/>
          </a:xfrm>
          <a:prstGeom prst="rect">
            <a:avLst/>
          </a:prstGeom>
          <a:noFill/>
        </p:spPr>
        <p:txBody>
          <a:bodyPr wrap="square">
            <a:spAutoFit/>
          </a:bodyPr>
          <a:lstStyle/>
          <a:p>
            <a:pPr algn="ctr" rtl="1" fontAlgn="b"/>
            <a:r>
              <a:rPr lang="he-IL" sz="1400" b="1" u="none" strike="noStrike" dirty="0">
                <a:effectLst/>
                <a:latin typeface="Segoe UI" panose="020B0502040204020203" pitchFamily="34" charset="0"/>
                <a:cs typeface="Segoe UI" panose="020B0502040204020203" pitchFamily="34" charset="0"/>
              </a:rPr>
              <a:t>ביקשו להישפט</a:t>
            </a:r>
            <a:endParaRPr lang="he-IL" sz="1400" b="1" i="0" u="none" strike="noStrike" dirty="0">
              <a:solidFill>
                <a:srgbClr val="000000"/>
              </a:solidFill>
              <a:effectLst/>
              <a:latin typeface="Segoe UI" panose="020B0502040204020203" pitchFamily="34" charset="0"/>
              <a:cs typeface="Segoe UI" panose="020B0502040204020203" pitchFamily="34" charset="0"/>
            </a:endParaRPr>
          </a:p>
        </p:txBody>
      </p:sp>
      <p:sp>
        <p:nvSpPr>
          <p:cNvPr id="14" name="תיבת טקסט 13">
            <a:extLst>
              <a:ext uri="{FF2B5EF4-FFF2-40B4-BE49-F238E27FC236}">
                <a16:creationId xmlns:a16="http://schemas.microsoft.com/office/drawing/2014/main" id="{0151E9BE-FF98-8E63-B92D-4AAF701A6473}"/>
              </a:ext>
            </a:extLst>
          </p:cNvPr>
          <p:cNvSpPr txBox="1"/>
          <p:nvPr/>
        </p:nvSpPr>
        <p:spPr>
          <a:xfrm>
            <a:off x="1864049" y="1454147"/>
            <a:ext cx="540000" cy="338554"/>
          </a:xfrm>
          <a:prstGeom prst="rect">
            <a:avLst/>
          </a:prstGeom>
          <a:noFill/>
        </p:spPr>
        <p:txBody>
          <a:bodyPr wrap="square">
            <a:spAutoFit/>
          </a:bodyPr>
          <a:lstStyle/>
          <a:p>
            <a:pPr algn="ctr" rtl="1" fontAlgn="ctr"/>
            <a:r>
              <a:rPr lang="he-IL" sz="1600" b="1" u="none" strike="noStrike" dirty="0">
                <a:effectLst/>
                <a:highlight>
                  <a:srgbClr val="FFFF00"/>
                </a:highlight>
              </a:rPr>
              <a:t>1.3</a:t>
            </a:r>
          </a:p>
        </p:txBody>
      </p:sp>
      <p:sp>
        <p:nvSpPr>
          <p:cNvPr id="17" name="תיבת טקסט 16">
            <a:extLst>
              <a:ext uri="{FF2B5EF4-FFF2-40B4-BE49-F238E27FC236}">
                <a16:creationId xmlns:a16="http://schemas.microsoft.com/office/drawing/2014/main" id="{C419EDC1-CC42-3694-0ADA-B801190845EB}"/>
              </a:ext>
            </a:extLst>
          </p:cNvPr>
          <p:cNvSpPr txBox="1"/>
          <p:nvPr/>
        </p:nvSpPr>
        <p:spPr>
          <a:xfrm>
            <a:off x="4417355" y="1454147"/>
            <a:ext cx="540000" cy="338554"/>
          </a:xfrm>
          <a:prstGeom prst="rect">
            <a:avLst/>
          </a:prstGeom>
          <a:noFill/>
        </p:spPr>
        <p:txBody>
          <a:bodyPr wrap="square">
            <a:spAutoFit/>
          </a:bodyPr>
          <a:lstStyle/>
          <a:p>
            <a:pPr algn="ctr" rtl="1" fontAlgn="ctr"/>
            <a:r>
              <a:rPr lang="he-IL" sz="1600" b="1" u="none" strike="noStrike" dirty="0">
                <a:effectLst/>
                <a:highlight>
                  <a:srgbClr val="FFFF00"/>
                </a:highlight>
              </a:rPr>
              <a:t>1.4</a:t>
            </a:r>
          </a:p>
        </p:txBody>
      </p:sp>
      <p:sp>
        <p:nvSpPr>
          <p:cNvPr id="18" name="תיבת טקסט 17">
            <a:extLst>
              <a:ext uri="{FF2B5EF4-FFF2-40B4-BE49-F238E27FC236}">
                <a16:creationId xmlns:a16="http://schemas.microsoft.com/office/drawing/2014/main" id="{45AC9518-0E1E-EE23-3287-0CFCE56A10AE}"/>
              </a:ext>
            </a:extLst>
          </p:cNvPr>
          <p:cNvSpPr txBox="1"/>
          <p:nvPr/>
        </p:nvSpPr>
        <p:spPr>
          <a:xfrm>
            <a:off x="6977772" y="1454147"/>
            <a:ext cx="540000" cy="338554"/>
          </a:xfrm>
          <a:prstGeom prst="rect">
            <a:avLst/>
          </a:prstGeom>
          <a:noFill/>
        </p:spPr>
        <p:txBody>
          <a:bodyPr wrap="square">
            <a:spAutoFit/>
          </a:bodyPr>
          <a:lstStyle/>
          <a:p>
            <a:pPr algn="ctr" rtl="1" fontAlgn="ctr"/>
            <a:r>
              <a:rPr lang="he-IL" sz="1600" b="1" u="none" strike="noStrike" dirty="0">
                <a:effectLst/>
                <a:highlight>
                  <a:srgbClr val="FFFF00"/>
                </a:highlight>
              </a:rPr>
              <a:t>1.4</a:t>
            </a:r>
          </a:p>
        </p:txBody>
      </p:sp>
      <p:sp>
        <p:nvSpPr>
          <p:cNvPr id="19" name="תיבת טקסט 18">
            <a:extLst>
              <a:ext uri="{FF2B5EF4-FFF2-40B4-BE49-F238E27FC236}">
                <a16:creationId xmlns:a16="http://schemas.microsoft.com/office/drawing/2014/main" id="{1E61460C-A122-0F67-160C-C337EC84FFAC}"/>
              </a:ext>
            </a:extLst>
          </p:cNvPr>
          <p:cNvSpPr txBox="1"/>
          <p:nvPr/>
        </p:nvSpPr>
        <p:spPr>
          <a:xfrm>
            <a:off x="9390913" y="1454147"/>
            <a:ext cx="790946" cy="338554"/>
          </a:xfrm>
          <a:prstGeom prst="rect">
            <a:avLst/>
          </a:prstGeom>
          <a:noFill/>
        </p:spPr>
        <p:txBody>
          <a:bodyPr wrap="square">
            <a:spAutoFit/>
          </a:bodyPr>
          <a:lstStyle/>
          <a:p>
            <a:pPr algn="ctr" rtl="1" fontAlgn="ctr"/>
            <a:r>
              <a:rPr lang="he-IL" sz="1600" b="1" u="none" strike="noStrike" dirty="0">
                <a:effectLst/>
                <a:highlight>
                  <a:srgbClr val="FFFF00"/>
                </a:highlight>
              </a:rPr>
              <a:t>1.5</a:t>
            </a:r>
          </a:p>
        </p:txBody>
      </p:sp>
      <p:sp>
        <p:nvSpPr>
          <p:cNvPr id="20" name="תיבת טקסט 19">
            <a:extLst>
              <a:ext uri="{FF2B5EF4-FFF2-40B4-BE49-F238E27FC236}">
                <a16:creationId xmlns:a16="http://schemas.microsoft.com/office/drawing/2014/main" id="{9B293AC9-4733-918A-366C-7AB0E198E9A8}"/>
              </a:ext>
            </a:extLst>
          </p:cNvPr>
          <p:cNvSpPr txBox="1"/>
          <p:nvPr/>
        </p:nvSpPr>
        <p:spPr>
          <a:xfrm>
            <a:off x="10622880" y="1592502"/>
            <a:ext cx="1229170" cy="307777"/>
          </a:xfrm>
          <a:prstGeom prst="rect">
            <a:avLst/>
          </a:prstGeom>
          <a:noFill/>
        </p:spPr>
        <p:txBody>
          <a:bodyPr wrap="square">
            <a:spAutoFit/>
          </a:bodyPr>
          <a:lstStyle/>
          <a:p>
            <a:pPr algn="ctr" rtl="1" fontAlgn="ctr"/>
            <a:r>
              <a:rPr lang="he-IL" sz="1400" b="1" u="none" strike="noStrike" dirty="0">
                <a:effectLst/>
                <a:highlight>
                  <a:srgbClr val="FFFF00"/>
                </a:highlight>
              </a:rPr>
              <a:t>ממוצע דוחות</a:t>
            </a:r>
          </a:p>
        </p:txBody>
      </p:sp>
      <p:sp>
        <p:nvSpPr>
          <p:cNvPr id="4" name="Rectangle: Rounded Corners 54">
            <a:hlinkClick r:id="" action="ppaction://noaction"/>
            <a:extLst>
              <a:ext uri="{FF2B5EF4-FFF2-40B4-BE49-F238E27FC236}">
                <a16:creationId xmlns:a16="http://schemas.microsoft.com/office/drawing/2014/main" id="{9DE49D65-14DD-285D-B520-99D712B20E48}"/>
              </a:ext>
            </a:extLst>
          </p:cNvPr>
          <p:cNvSpPr/>
          <p:nvPr/>
        </p:nvSpPr>
        <p:spPr>
          <a:xfrm>
            <a:off x="1418590" y="6568993"/>
            <a:ext cx="900000" cy="144000"/>
          </a:xfrm>
          <a:prstGeom prst="roundRect">
            <a:avLst>
              <a:gd name="adj" fmla="val 50000"/>
            </a:avLst>
          </a:prstGeom>
          <a:solidFill>
            <a:schemeClr val="bg1"/>
          </a:solidFill>
          <a:ln w="12700">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r" defTabSz="914400" rtl="1" eaLnBrk="1" latinLnBrk="0" hangingPunct="1">
              <a:defRPr sz="1800" kern="1200">
                <a:solidFill>
                  <a:schemeClr val="lt1"/>
                </a:solidFill>
                <a:latin typeface="+mn-lt"/>
                <a:ea typeface="+mn-ea"/>
                <a:cs typeface="+mn-cs"/>
              </a:defRPr>
            </a:lvl1pPr>
            <a:lvl2pPr marL="457200" algn="r" defTabSz="914400" rtl="1" eaLnBrk="1" latinLnBrk="0" hangingPunct="1">
              <a:defRPr sz="1800" kern="1200">
                <a:solidFill>
                  <a:schemeClr val="lt1"/>
                </a:solidFill>
                <a:latin typeface="+mn-lt"/>
                <a:ea typeface="+mn-ea"/>
                <a:cs typeface="+mn-cs"/>
              </a:defRPr>
            </a:lvl2pPr>
            <a:lvl3pPr marL="914400" algn="r" defTabSz="914400" rtl="1" eaLnBrk="1" latinLnBrk="0" hangingPunct="1">
              <a:defRPr sz="1800" kern="1200">
                <a:solidFill>
                  <a:schemeClr val="lt1"/>
                </a:solidFill>
                <a:latin typeface="+mn-lt"/>
                <a:ea typeface="+mn-ea"/>
                <a:cs typeface="+mn-cs"/>
              </a:defRPr>
            </a:lvl3pPr>
            <a:lvl4pPr marL="1371600" algn="r" defTabSz="914400" rtl="1" eaLnBrk="1" latinLnBrk="0" hangingPunct="1">
              <a:defRPr sz="1800" kern="1200">
                <a:solidFill>
                  <a:schemeClr val="lt1"/>
                </a:solidFill>
                <a:latin typeface="+mn-lt"/>
                <a:ea typeface="+mn-ea"/>
                <a:cs typeface="+mn-cs"/>
              </a:defRPr>
            </a:lvl4pPr>
            <a:lvl5pPr marL="1828800" algn="r" defTabSz="914400" rtl="1" eaLnBrk="1" latinLnBrk="0" hangingPunct="1">
              <a:defRPr sz="1800" kern="1200">
                <a:solidFill>
                  <a:schemeClr val="lt1"/>
                </a:solidFill>
                <a:latin typeface="+mn-lt"/>
                <a:ea typeface="+mn-ea"/>
                <a:cs typeface="+mn-cs"/>
              </a:defRPr>
            </a:lvl5pPr>
            <a:lvl6pPr marL="2286000" algn="r" defTabSz="914400" rtl="1" eaLnBrk="1" latinLnBrk="0" hangingPunct="1">
              <a:defRPr sz="1800" kern="1200">
                <a:solidFill>
                  <a:schemeClr val="lt1"/>
                </a:solidFill>
                <a:latin typeface="+mn-lt"/>
                <a:ea typeface="+mn-ea"/>
                <a:cs typeface="+mn-cs"/>
              </a:defRPr>
            </a:lvl6pPr>
            <a:lvl7pPr marL="2743200" algn="r" defTabSz="914400" rtl="1" eaLnBrk="1" latinLnBrk="0" hangingPunct="1">
              <a:defRPr sz="1800" kern="1200">
                <a:solidFill>
                  <a:schemeClr val="lt1"/>
                </a:solidFill>
                <a:latin typeface="+mn-lt"/>
                <a:ea typeface="+mn-ea"/>
                <a:cs typeface="+mn-cs"/>
              </a:defRPr>
            </a:lvl7pPr>
            <a:lvl8pPr marL="3200400" algn="r" defTabSz="914400" rtl="1" eaLnBrk="1" latinLnBrk="0" hangingPunct="1">
              <a:defRPr sz="1800" kern="1200">
                <a:solidFill>
                  <a:schemeClr val="lt1"/>
                </a:solidFill>
                <a:latin typeface="+mn-lt"/>
                <a:ea typeface="+mn-ea"/>
                <a:cs typeface="+mn-cs"/>
              </a:defRPr>
            </a:lvl8pPr>
            <a:lvl9pPr marL="3657600" algn="r" defTabSz="914400" rtl="1" eaLnBrk="1" latinLnBrk="0" hangingPunct="1">
              <a:defRPr sz="1800" kern="1200">
                <a:solidFill>
                  <a:schemeClr val="lt1"/>
                </a:solidFill>
                <a:latin typeface="+mn-lt"/>
                <a:ea typeface="+mn-ea"/>
                <a:cs typeface="+mn-cs"/>
              </a:defRPr>
            </a:lvl9pPr>
          </a:lstStyle>
          <a:p>
            <a:pPr marL="0" marR="0" lvl="0" indent="0" algn="ctr" defTabSz="914400" rtl="1" eaLnBrk="1" fontAlgn="base" latinLnBrk="0" hangingPunct="1">
              <a:lnSpc>
                <a:spcPct val="100000"/>
              </a:lnSpc>
              <a:spcBef>
                <a:spcPct val="0"/>
              </a:spcBef>
              <a:spcAft>
                <a:spcPct val="0"/>
              </a:spcAft>
              <a:buClrTx/>
              <a:buSzTx/>
              <a:buFontTx/>
              <a:buNone/>
              <a:tabLst/>
              <a:defRPr/>
            </a:pPr>
            <a:r>
              <a:rPr kumimoji="0" lang="he-IL" sz="1100" b="0" i="0" u="none" strike="noStrike" kern="1200" cap="none" spc="0" normalizeH="0" baseline="0" noProof="0" dirty="0">
                <a:ln>
                  <a:noFill/>
                </a:ln>
                <a:solidFill>
                  <a:schemeClr val="bg1">
                    <a:lumMod val="65000"/>
                  </a:schemeClr>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סגמנטציה</a:t>
            </a:r>
            <a:endParaRPr kumimoji="0" lang="en-IL" sz="1100" b="0" i="0" u="none" strike="noStrike" kern="1200" cap="none" spc="0" normalizeH="0" baseline="0" noProof="0" dirty="0">
              <a:ln>
                <a:noFill/>
              </a:ln>
              <a:solidFill>
                <a:schemeClr val="bg1">
                  <a:lumMod val="65000"/>
                </a:schemeClr>
              </a:solidFill>
              <a:effectLst/>
              <a:uLnTx/>
              <a:uFillTx/>
              <a:latin typeface="Segoe UI" panose="020B0502040204020203" pitchFamily="34" charset="0"/>
              <a:ea typeface="+mn-ea"/>
              <a:cs typeface="Segoe UI" panose="020B0502040204020203" pitchFamily="34" charset="0"/>
            </a:endParaRPr>
          </a:p>
        </p:txBody>
      </p:sp>
    </p:spTree>
    <p:extLst>
      <p:ext uri="{BB962C8B-B14F-4D97-AF65-F5344CB8AC3E}">
        <p14:creationId xmlns:p14="http://schemas.microsoft.com/office/powerpoint/2010/main" val="157360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4AE32F71-B263-3C20-5A96-6978831FC666}"/>
              </a:ext>
            </a:extLst>
          </p:cNvPr>
          <p:cNvSpPr/>
          <p:nvPr/>
        </p:nvSpPr>
        <p:spPr>
          <a:xfrm>
            <a:off x="2730500" y="224245"/>
            <a:ext cx="8957125" cy="8403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t"/>
          <a:lstStyle/>
          <a:p>
            <a:pPr lvl="0" algn="r" rtl="1">
              <a:defRPr/>
            </a:pPr>
            <a:r>
              <a:rPr lang="he-IL" sz="2800" b="1" kern="0" dirty="0">
                <a:solidFill>
                  <a:srgbClr val="104E88"/>
                </a:solidFill>
                <a:latin typeface="Segoe UI" panose="020B0502040204020203" pitchFamily="34" charset="0"/>
                <a:cs typeface="Segoe UI" panose="020B0502040204020203" pitchFamily="34" charset="0"/>
                <a:sym typeface="Arial"/>
              </a:rPr>
              <a:t>כמות דוחות התעבורה שקיבלו </a:t>
            </a:r>
            <a:r>
              <a:rPr kumimoji="0" lang="he-IL" sz="2000" i="0" u="none" strike="noStrike" kern="0" cap="none" spc="0" normalizeH="0" baseline="0" noProof="0" dirty="0">
                <a:ln>
                  <a:noFill/>
                </a:ln>
                <a:solidFill>
                  <a:srgbClr val="104E88"/>
                </a:solidFill>
                <a:effectLst/>
                <a:uLnTx/>
                <a:uFillTx/>
                <a:latin typeface="Segoe UI" panose="020B0502040204020203" pitchFamily="34" charset="0"/>
                <a:ea typeface="+mn-ea"/>
                <a:cs typeface="Segoe UI" panose="020B0502040204020203" pitchFamily="34" charset="0"/>
                <a:sym typeface="Arial"/>
              </a:rPr>
              <a:t>| סגמנטציה (ממוצע דוחות)</a:t>
            </a:r>
            <a:endParaRPr lang="he-IL" sz="2800" kern="0" dirty="0">
              <a:solidFill>
                <a:srgbClr val="104E88"/>
              </a:solidFill>
              <a:latin typeface="Segoe UI" panose="020B0502040204020203" pitchFamily="34" charset="0"/>
              <a:cs typeface="Segoe UI" panose="020B0502040204020203" pitchFamily="34" charset="0"/>
              <a:sym typeface="Arial"/>
            </a:endParaRPr>
          </a:p>
        </p:txBody>
      </p:sp>
      <p:sp>
        <p:nvSpPr>
          <p:cNvPr id="21" name="Rectangle 9">
            <a:extLst>
              <a:ext uri="{FF2B5EF4-FFF2-40B4-BE49-F238E27FC236}">
                <a16:creationId xmlns:a16="http://schemas.microsoft.com/office/drawing/2014/main" id="{505A7E25-3A79-FD9F-2920-43AA57D88118}"/>
              </a:ext>
            </a:extLst>
          </p:cNvPr>
          <p:cNvSpPr/>
          <p:nvPr/>
        </p:nvSpPr>
        <p:spPr>
          <a:xfrm>
            <a:off x="1434478" y="5818484"/>
            <a:ext cx="9739961" cy="45719"/>
          </a:xfrm>
          <a:prstGeom prst="rect">
            <a:avLst/>
          </a:prstGeom>
        </p:spPr>
        <p:txBody>
          <a:bodyPr wrap="square" anchor="ctr">
            <a:noAutofit/>
          </a:bodyPr>
          <a:lstStyle/>
          <a:p>
            <a:pPr algn="ctr" rtl="1">
              <a:lnSpc>
                <a:spcPct val="150000"/>
              </a:lnSpc>
            </a:pPr>
            <a:r>
              <a:rPr lang="he-IL" sz="1600" dirty="0">
                <a:latin typeface="Segoe UI" panose="020B0502040204020203" pitchFamily="34" charset="0"/>
                <a:cs typeface="Segoe UI" panose="020B0502040204020203" pitchFamily="34" charset="0"/>
              </a:rPr>
              <a:t>יותר דוחות בקרב מקבלי דוחות מהשנתיים האחרונות, גברים ובני +50 שביקשו להישפט</a:t>
            </a:r>
            <a:br>
              <a:rPr lang="en-US" sz="1600" dirty="0">
                <a:latin typeface="Segoe UI" panose="020B0502040204020203" pitchFamily="34" charset="0"/>
                <a:cs typeface="Segoe UI" panose="020B0502040204020203" pitchFamily="34" charset="0"/>
              </a:rPr>
            </a:br>
            <a:r>
              <a:rPr lang="he-IL" sz="1600" b="1" dirty="0">
                <a:latin typeface="Segoe UI" panose="020B0502040204020203" pitchFamily="34" charset="0"/>
                <a:cs typeface="Segoe UI" panose="020B0502040204020203" pitchFamily="34" charset="0"/>
              </a:rPr>
              <a:t>כלומר המורכבות נוטה לעלות בקבוצות מסוימות ולא מתחלקת באופן אחיד</a:t>
            </a:r>
            <a:endParaRPr lang="en-US" sz="1600" b="1" dirty="0">
              <a:latin typeface="Segoe UI" panose="020B0502040204020203" pitchFamily="34" charset="0"/>
              <a:cs typeface="Segoe UI" panose="020B0502040204020203" pitchFamily="34" charset="0"/>
            </a:endParaRPr>
          </a:p>
          <a:p>
            <a:pPr algn="ctr" rtl="1">
              <a:lnSpc>
                <a:spcPct val="150000"/>
              </a:lnSpc>
            </a:pPr>
            <a:r>
              <a:rPr lang="he-IL" sz="1600" b="1" dirty="0">
                <a:solidFill>
                  <a:srgbClr val="1D1C64"/>
                </a:solidFill>
                <a:latin typeface="Segoe UI" panose="020B0502040204020203" pitchFamily="34" charset="0"/>
                <a:cs typeface="Segoe UI" panose="020B0502040204020203" pitchFamily="34" charset="0"/>
              </a:rPr>
              <a:t>בתקשור הרפורמה כדאי לשקול לייצר מסע דיפרנציאלי לפי פרופיל הנהג, ולא להסתפק במסר אחיד לכולם</a:t>
            </a:r>
            <a:endParaRPr lang="en-US" sz="1600" dirty="0">
              <a:solidFill>
                <a:srgbClr val="1D1C64"/>
              </a:solidFill>
              <a:latin typeface="Segoe UI" panose="020B0502040204020203" pitchFamily="34" charset="0"/>
              <a:cs typeface="Segoe UI" panose="020B0502040204020203" pitchFamily="34" charset="0"/>
            </a:endParaRPr>
          </a:p>
        </p:txBody>
      </p:sp>
      <p:sp>
        <p:nvSpPr>
          <p:cNvPr id="5" name="Rectangle: Rounded Corners 54">
            <a:hlinkClick r:id="" action="ppaction://noaction"/>
            <a:extLst>
              <a:ext uri="{FF2B5EF4-FFF2-40B4-BE49-F238E27FC236}">
                <a16:creationId xmlns:a16="http://schemas.microsoft.com/office/drawing/2014/main" id="{15E1EC9E-B49C-5223-FF04-CC65160105F4}"/>
              </a:ext>
            </a:extLst>
          </p:cNvPr>
          <p:cNvSpPr/>
          <p:nvPr/>
        </p:nvSpPr>
        <p:spPr>
          <a:xfrm>
            <a:off x="1418590" y="6568993"/>
            <a:ext cx="900000" cy="144000"/>
          </a:xfrm>
          <a:prstGeom prst="roundRect">
            <a:avLst>
              <a:gd name="adj" fmla="val 50000"/>
            </a:avLst>
          </a:prstGeom>
          <a:solidFill>
            <a:schemeClr val="bg1"/>
          </a:solidFill>
          <a:ln w="12700">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r" defTabSz="914400" rtl="1" eaLnBrk="1" latinLnBrk="0" hangingPunct="1">
              <a:defRPr sz="1800" kern="1200">
                <a:solidFill>
                  <a:schemeClr val="lt1"/>
                </a:solidFill>
                <a:latin typeface="+mn-lt"/>
                <a:ea typeface="+mn-ea"/>
                <a:cs typeface="+mn-cs"/>
              </a:defRPr>
            </a:lvl1pPr>
            <a:lvl2pPr marL="457200" algn="r" defTabSz="914400" rtl="1" eaLnBrk="1" latinLnBrk="0" hangingPunct="1">
              <a:defRPr sz="1800" kern="1200">
                <a:solidFill>
                  <a:schemeClr val="lt1"/>
                </a:solidFill>
                <a:latin typeface="+mn-lt"/>
                <a:ea typeface="+mn-ea"/>
                <a:cs typeface="+mn-cs"/>
              </a:defRPr>
            </a:lvl2pPr>
            <a:lvl3pPr marL="914400" algn="r" defTabSz="914400" rtl="1" eaLnBrk="1" latinLnBrk="0" hangingPunct="1">
              <a:defRPr sz="1800" kern="1200">
                <a:solidFill>
                  <a:schemeClr val="lt1"/>
                </a:solidFill>
                <a:latin typeface="+mn-lt"/>
                <a:ea typeface="+mn-ea"/>
                <a:cs typeface="+mn-cs"/>
              </a:defRPr>
            </a:lvl3pPr>
            <a:lvl4pPr marL="1371600" algn="r" defTabSz="914400" rtl="1" eaLnBrk="1" latinLnBrk="0" hangingPunct="1">
              <a:defRPr sz="1800" kern="1200">
                <a:solidFill>
                  <a:schemeClr val="lt1"/>
                </a:solidFill>
                <a:latin typeface="+mn-lt"/>
                <a:ea typeface="+mn-ea"/>
                <a:cs typeface="+mn-cs"/>
              </a:defRPr>
            </a:lvl4pPr>
            <a:lvl5pPr marL="1828800" algn="r" defTabSz="914400" rtl="1" eaLnBrk="1" latinLnBrk="0" hangingPunct="1">
              <a:defRPr sz="1800" kern="1200">
                <a:solidFill>
                  <a:schemeClr val="lt1"/>
                </a:solidFill>
                <a:latin typeface="+mn-lt"/>
                <a:ea typeface="+mn-ea"/>
                <a:cs typeface="+mn-cs"/>
              </a:defRPr>
            </a:lvl5pPr>
            <a:lvl6pPr marL="2286000" algn="r" defTabSz="914400" rtl="1" eaLnBrk="1" latinLnBrk="0" hangingPunct="1">
              <a:defRPr sz="1800" kern="1200">
                <a:solidFill>
                  <a:schemeClr val="lt1"/>
                </a:solidFill>
                <a:latin typeface="+mn-lt"/>
                <a:ea typeface="+mn-ea"/>
                <a:cs typeface="+mn-cs"/>
              </a:defRPr>
            </a:lvl6pPr>
            <a:lvl7pPr marL="2743200" algn="r" defTabSz="914400" rtl="1" eaLnBrk="1" latinLnBrk="0" hangingPunct="1">
              <a:defRPr sz="1800" kern="1200">
                <a:solidFill>
                  <a:schemeClr val="lt1"/>
                </a:solidFill>
                <a:latin typeface="+mn-lt"/>
                <a:ea typeface="+mn-ea"/>
                <a:cs typeface="+mn-cs"/>
              </a:defRPr>
            </a:lvl7pPr>
            <a:lvl8pPr marL="3200400" algn="r" defTabSz="914400" rtl="1" eaLnBrk="1" latinLnBrk="0" hangingPunct="1">
              <a:defRPr sz="1800" kern="1200">
                <a:solidFill>
                  <a:schemeClr val="lt1"/>
                </a:solidFill>
                <a:latin typeface="+mn-lt"/>
                <a:ea typeface="+mn-ea"/>
                <a:cs typeface="+mn-cs"/>
              </a:defRPr>
            </a:lvl8pPr>
            <a:lvl9pPr marL="3657600" algn="r" defTabSz="914400" rtl="1" eaLnBrk="1" latinLnBrk="0" hangingPunct="1">
              <a:defRPr sz="1800" kern="1200">
                <a:solidFill>
                  <a:schemeClr val="lt1"/>
                </a:solidFill>
                <a:latin typeface="+mn-lt"/>
                <a:ea typeface="+mn-ea"/>
                <a:cs typeface="+mn-cs"/>
              </a:defRPr>
            </a:lvl9pPr>
          </a:lstStyle>
          <a:p>
            <a:pPr marL="0" marR="0" lvl="0" indent="0" algn="ctr" defTabSz="914400" rtl="1" eaLnBrk="1" fontAlgn="base" latinLnBrk="0" hangingPunct="1">
              <a:lnSpc>
                <a:spcPct val="100000"/>
              </a:lnSpc>
              <a:spcBef>
                <a:spcPct val="0"/>
              </a:spcBef>
              <a:spcAft>
                <a:spcPct val="0"/>
              </a:spcAft>
              <a:buClrTx/>
              <a:buSzTx/>
              <a:buFontTx/>
              <a:buNone/>
              <a:tabLst/>
              <a:defRPr/>
            </a:pPr>
            <a:r>
              <a:rPr kumimoji="0" lang="he-IL" sz="1100" b="0" i="0" u="none" strike="noStrike" kern="1200" cap="none" spc="0" normalizeH="0" baseline="0" noProof="0" dirty="0">
                <a:ln>
                  <a:noFill/>
                </a:ln>
                <a:solidFill>
                  <a:schemeClr val="bg1">
                    <a:lumMod val="65000"/>
                  </a:schemeClr>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&lt;--- חזור</a:t>
            </a:r>
            <a:endParaRPr kumimoji="0" lang="en-IL" sz="1100" b="0" i="0" u="none" strike="noStrike" kern="1200" cap="none" spc="0" normalizeH="0" baseline="0" noProof="0" dirty="0">
              <a:ln>
                <a:noFill/>
              </a:ln>
              <a:solidFill>
                <a:schemeClr val="bg1">
                  <a:lumMod val="65000"/>
                </a:schemeClr>
              </a:solidFill>
              <a:effectLst/>
              <a:uLnTx/>
              <a:uFillTx/>
              <a:latin typeface="Segoe UI" panose="020B0502040204020203" pitchFamily="34" charset="0"/>
              <a:ea typeface="+mn-ea"/>
              <a:cs typeface="Segoe UI" panose="020B0502040204020203" pitchFamily="34" charset="0"/>
            </a:endParaRPr>
          </a:p>
        </p:txBody>
      </p:sp>
      <p:cxnSp>
        <p:nvCxnSpPr>
          <p:cNvPr id="48" name="Straight Connector 47">
            <a:extLst>
              <a:ext uri="{FF2B5EF4-FFF2-40B4-BE49-F238E27FC236}">
                <a16:creationId xmlns:a16="http://schemas.microsoft.com/office/drawing/2014/main" id="{CFD73719-1186-EB3B-5032-18B9DF16D60F}"/>
              </a:ext>
            </a:extLst>
          </p:cNvPr>
          <p:cNvCxnSpPr>
            <a:cxnSpLocks/>
          </p:cNvCxnSpPr>
          <p:nvPr/>
        </p:nvCxnSpPr>
        <p:spPr>
          <a:xfrm>
            <a:off x="549275" y="5159413"/>
            <a:ext cx="10795000" cy="0"/>
          </a:xfrm>
          <a:prstGeom prst="line">
            <a:avLst/>
          </a:prstGeom>
          <a:ln w="25400" cap="rnd">
            <a:solidFill>
              <a:schemeClr val="bg1">
                <a:lumMod val="85000"/>
              </a:schemeClr>
            </a:solidFill>
            <a:round/>
          </a:ln>
        </p:spPr>
        <p:style>
          <a:lnRef idx="1">
            <a:schemeClr val="accent1"/>
          </a:lnRef>
          <a:fillRef idx="0">
            <a:schemeClr val="accent1"/>
          </a:fillRef>
          <a:effectRef idx="0">
            <a:schemeClr val="accent1"/>
          </a:effectRef>
          <a:fontRef idx="minor">
            <a:schemeClr val="tx1"/>
          </a:fontRef>
        </p:style>
      </p:cxnSp>
      <p:sp>
        <p:nvSpPr>
          <p:cNvPr id="7" name="Isosceles Triangle 37">
            <a:extLst>
              <a:ext uri="{FF2B5EF4-FFF2-40B4-BE49-F238E27FC236}">
                <a16:creationId xmlns:a16="http://schemas.microsoft.com/office/drawing/2014/main" id="{405C253F-C4E5-7020-EEA3-796A3ECCB66B}"/>
              </a:ext>
            </a:extLst>
          </p:cNvPr>
          <p:cNvSpPr/>
          <p:nvPr/>
        </p:nvSpPr>
        <p:spPr>
          <a:xfrm flipH="1">
            <a:off x="-704573" y="1906195"/>
            <a:ext cx="108000" cy="85654"/>
          </a:xfrm>
          <a:prstGeom prst="triangle">
            <a:avLst/>
          </a:prstGeom>
          <a:solidFill>
            <a:schemeClr val="bg1"/>
          </a:solidFill>
          <a:ln>
            <a:noFill/>
          </a:ln>
          <a:effectLst>
            <a:outerShdw blurRad="50800" dist="12700" dir="2700000" algn="tl" rotWithShape="0">
              <a:prstClr val="black">
                <a:alpha val="5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 name="Slide Number Placeholder 2">
            <a:extLst>
              <a:ext uri="{FF2B5EF4-FFF2-40B4-BE49-F238E27FC236}">
                <a16:creationId xmlns:a16="http://schemas.microsoft.com/office/drawing/2014/main" id="{462FE17D-AA37-33FC-4AC8-BAF8BB55B4CD}"/>
              </a:ext>
            </a:extLst>
          </p:cNvPr>
          <p:cNvSpPr>
            <a:spLocks noGrp="1"/>
          </p:cNvSpPr>
          <p:nvPr>
            <p:ph type="sldNum" sz="quarter" idx="4"/>
          </p:nvPr>
        </p:nvSpPr>
        <p:spPr>
          <a:xfrm>
            <a:off x="11576050" y="6473825"/>
            <a:ext cx="615950" cy="277813"/>
          </a:xfrm>
          <a:prstGeom prst="rect">
            <a:avLst/>
          </a:prstGeom>
        </p:spPr>
        <p:txBody>
          <a:bodyPr/>
          <a:lstStyle/>
          <a:p>
            <a:pPr algn="r" rtl="1"/>
            <a:fld id="{7A91BF3F-E284-4570-AC28-CDAE2F1A1EA1}" type="slidenum">
              <a:rPr lang="he-IL" sz="1100">
                <a:solidFill>
                  <a:schemeClr val="bg1">
                    <a:lumMod val="50000"/>
                  </a:schemeClr>
                </a:solidFill>
              </a:rPr>
              <a:pPr algn="r" rtl="1"/>
              <a:t>5</a:t>
            </a:fld>
            <a:endParaRPr lang="he-IL" sz="1100" dirty="0">
              <a:solidFill>
                <a:schemeClr val="bg1">
                  <a:lumMod val="50000"/>
                </a:schemeClr>
              </a:solidFill>
            </a:endParaRPr>
          </a:p>
        </p:txBody>
      </p:sp>
      <p:sp>
        <p:nvSpPr>
          <p:cNvPr id="28" name="Isosceles Triangle 37">
            <a:extLst>
              <a:ext uri="{FF2B5EF4-FFF2-40B4-BE49-F238E27FC236}">
                <a16:creationId xmlns:a16="http://schemas.microsoft.com/office/drawing/2014/main" id="{CAB1440D-BFDB-D923-05BD-7D89AA62D38B}"/>
              </a:ext>
            </a:extLst>
          </p:cNvPr>
          <p:cNvSpPr/>
          <p:nvPr/>
        </p:nvSpPr>
        <p:spPr>
          <a:xfrm flipH="1">
            <a:off x="9984124" y="1870024"/>
            <a:ext cx="108000" cy="85654"/>
          </a:xfrm>
          <a:prstGeom prst="triangle">
            <a:avLst/>
          </a:prstGeom>
          <a:solidFill>
            <a:schemeClr val="bg1"/>
          </a:solidFill>
          <a:ln>
            <a:noFill/>
          </a:ln>
          <a:effectLst>
            <a:outerShdw blurRad="50800" dist="12700" dir="2700000" algn="tl" rotWithShape="0">
              <a:prstClr val="black">
                <a:alpha val="5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graphicFrame>
        <p:nvGraphicFramePr>
          <p:cNvPr id="6" name="Chart 3">
            <a:extLst>
              <a:ext uri="{FF2B5EF4-FFF2-40B4-BE49-F238E27FC236}">
                <a16:creationId xmlns:a16="http://schemas.microsoft.com/office/drawing/2014/main" id="{553CA76B-72AE-D766-18B8-AEAEC290D4E9}"/>
              </a:ext>
            </a:extLst>
          </p:cNvPr>
          <p:cNvGraphicFramePr/>
          <p:nvPr>
            <p:extLst>
              <p:ext uri="{D42A27DB-BD31-4B8C-83A1-F6EECF244321}">
                <p14:modId xmlns:p14="http://schemas.microsoft.com/office/powerpoint/2010/main" val="3485083244"/>
              </p:ext>
            </p:extLst>
          </p:nvPr>
        </p:nvGraphicFramePr>
        <p:xfrm>
          <a:off x="6212127" y="3299453"/>
          <a:ext cx="5545338" cy="1800000"/>
        </p:xfrm>
        <a:graphic>
          <a:graphicData uri="http://schemas.openxmlformats.org/drawingml/2006/chart">
            <c:chart xmlns:c="http://schemas.openxmlformats.org/drawingml/2006/chart" xmlns:r="http://schemas.openxmlformats.org/officeDocument/2006/relationships" r:id="rId3"/>
          </a:graphicData>
        </a:graphic>
      </p:graphicFrame>
      <p:sp>
        <p:nvSpPr>
          <p:cNvPr id="8" name="מלבן: פינות מעוגלות 7">
            <a:extLst>
              <a:ext uri="{FF2B5EF4-FFF2-40B4-BE49-F238E27FC236}">
                <a16:creationId xmlns:a16="http://schemas.microsoft.com/office/drawing/2014/main" id="{1732376A-5ABE-34DD-B058-A8778B772DC6}"/>
              </a:ext>
            </a:extLst>
          </p:cNvPr>
          <p:cNvSpPr/>
          <p:nvPr/>
        </p:nvSpPr>
        <p:spPr>
          <a:xfrm>
            <a:off x="296837" y="3172607"/>
            <a:ext cx="5580000" cy="1872000"/>
          </a:xfrm>
          <a:prstGeom prst="roundRect">
            <a:avLst/>
          </a:prstGeom>
          <a:noFill/>
          <a:ln>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9" name="מלבן: פינות מעוגלות 8">
            <a:extLst>
              <a:ext uri="{FF2B5EF4-FFF2-40B4-BE49-F238E27FC236}">
                <a16:creationId xmlns:a16="http://schemas.microsoft.com/office/drawing/2014/main" id="{A80F47B8-0D9D-6C50-8B59-5012E939C51A}"/>
              </a:ext>
            </a:extLst>
          </p:cNvPr>
          <p:cNvSpPr/>
          <p:nvPr/>
        </p:nvSpPr>
        <p:spPr>
          <a:xfrm>
            <a:off x="6189605" y="3172607"/>
            <a:ext cx="5580000" cy="1872000"/>
          </a:xfrm>
          <a:prstGeom prst="roundRect">
            <a:avLst/>
          </a:prstGeom>
          <a:noFill/>
          <a:ln>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11" name="מלבן: פינות מעוגלות 10">
            <a:extLst>
              <a:ext uri="{FF2B5EF4-FFF2-40B4-BE49-F238E27FC236}">
                <a16:creationId xmlns:a16="http://schemas.microsoft.com/office/drawing/2014/main" id="{9101F874-E508-17C8-CB7B-BEB130E14C84}"/>
              </a:ext>
            </a:extLst>
          </p:cNvPr>
          <p:cNvSpPr/>
          <p:nvPr/>
        </p:nvSpPr>
        <p:spPr>
          <a:xfrm>
            <a:off x="296837" y="1178098"/>
            <a:ext cx="5580000" cy="1872000"/>
          </a:xfrm>
          <a:prstGeom prst="roundRect">
            <a:avLst/>
          </a:prstGeom>
          <a:noFill/>
          <a:ln>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14" name="מלבן: פינות מעוגלות 13">
            <a:extLst>
              <a:ext uri="{FF2B5EF4-FFF2-40B4-BE49-F238E27FC236}">
                <a16:creationId xmlns:a16="http://schemas.microsoft.com/office/drawing/2014/main" id="{2E5F379B-09BD-CFAC-D8E5-7AD31B32697C}"/>
              </a:ext>
            </a:extLst>
          </p:cNvPr>
          <p:cNvSpPr/>
          <p:nvPr/>
        </p:nvSpPr>
        <p:spPr>
          <a:xfrm>
            <a:off x="6189605" y="1178098"/>
            <a:ext cx="5580000" cy="1872000"/>
          </a:xfrm>
          <a:prstGeom prst="roundRect">
            <a:avLst/>
          </a:prstGeom>
          <a:noFill/>
          <a:ln>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25" name="תיבת טקסט 24">
            <a:extLst>
              <a:ext uri="{FF2B5EF4-FFF2-40B4-BE49-F238E27FC236}">
                <a16:creationId xmlns:a16="http://schemas.microsoft.com/office/drawing/2014/main" id="{F41E7C04-659B-1623-B977-106ED9B242C3}"/>
              </a:ext>
            </a:extLst>
          </p:cNvPr>
          <p:cNvSpPr txBox="1"/>
          <p:nvPr/>
        </p:nvSpPr>
        <p:spPr>
          <a:xfrm>
            <a:off x="359266" y="1144884"/>
            <a:ext cx="5400000" cy="288000"/>
          </a:xfrm>
          <a:prstGeom prst="rect">
            <a:avLst/>
          </a:prstGeom>
          <a:noFill/>
        </p:spPr>
        <p:txBody>
          <a:bodyPr wrap="square">
            <a:spAutoFit/>
          </a:bodyPr>
          <a:lstStyle/>
          <a:p>
            <a:pPr algn="ctr" rtl="1" fontAlgn="ctr"/>
            <a:r>
              <a:rPr lang="he-IL" sz="1200" b="1" dirty="0">
                <a:latin typeface="Segoe UI" panose="020B0502040204020203" pitchFamily="34" charset="0"/>
                <a:cs typeface="Segoe UI" panose="020B0502040204020203" pitchFamily="34" charset="0"/>
              </a:rPr>
              <a:t>שנת קבלת הדוח</a:t>
            </a:r>
            <a:endParaRPr lang="he-IL" sz="1200" b="1" u="none" strike="noStrike" dirty="0">
              <a:effectLst/>
              <a:latin typeface="Segoe UI" panose="020B0502040204020203" pitchFamily="34" charset="0"/>
              <a:cs typeface="Segoe UI" panose="020B0502040204020203" pitchFamily="34" charset="0"/>
            </a:endParaRPr>
          </a:p>
        </p:txBody>
      </p:sp>
      <p:sp>
        <p:nvSpPr>
          <p:cNvPr id="31" name="תיבת טקסט 30">
            <a:extLst>
              <a:ext uri="{FF2B5EF4-FFF2-40B4-BE49-F238E27FC236}">
                <a16:creationId xmlns:a16="http://schemas.microsoft.com/office/drawing/2014/main" id="{507808AC-E111-2B88-ACCA-A3948F7020E2}"/>
              </a:ext>
            </a:extLst>
          </p:cNvPr>
          <p:cNvSpPr txBox="1"/>
          <p:nvPr/>
        </p:nvSpPr>
        <p:spPr>
          <a:xfrm>
            <a:off x="6249079" y="1144884"/>
            <a:ext cx="5400000" cy="288000"/>
          </a:xfrm>
          <a:prstGeom prst="rect">
            <a:avLst/>
          </a:prstGeom>
          <a:noFill/>
        </p:spPr>
        <p:txBody>
          <a:bodyPr wrap="square">
            <a:spAutoFit/>
          </a:bodyPr>
          <a:lstStyle/>
          <a:p>
            <a:pPr algn="ctr" rtl="1" fontAlgn="ctr"/>
            <a:r>
              <a:rPr lang="he-IL" sz="1200" b="1" dirty="0">
                <a:latin typeface="Segoe UI" panose="020B0502040204020203" pitchFamily="34" charset="0"/>
                <a:cs typeface="Segoe UI" panose="020B0502040204020203" pitchFamily="34" charset="0"/>
              </a:rPr>
              <a:t>מקור הדוח</a:t>
            </a:r>
            <a:endParaRPr lang="he-IL" sz="1200" b="1" u="none" strike="noStrike" dirty="0">
              <a:effectLst/>
              <a:latin typeface="Segoe UI" panose="020B0502040204020203" pitchFamily="34" charset="0"/>
              <a:cs typeface="Segoe UI" panose="020B0502040204020203" pitchFamily="34" charset="0"/>
            </a:endParaRPr>
          </a:p>
        </p:txBody>
      </p:sp>
      <p:sp>
        <p:nvSpPr>
          <p:cNvPr id="32" name="תיבת טקסט 31">
            <a:extLst>
              <a:ext uri="{FF2B5EF4-FFF2-40B4-BE49-F238E27FC236}">
                <a16:creationId xmlns:a16="http://schemas.microsoft.com/office/drawing/2014/main" id="{446772ED-43C8-20D8-F6A1-A9C7AC5D6780}"/>
              </a:ext>
            </a:extLst>
          </p:cNvPr>
          <p:cNvSpPr txBox="1"/>
          <p:nvPr/>
        </p:nvSpPr>
        <p:spPr>
          <a:xfrm>
            <a:off x="359263" y="3197803"/>
            <a:ext cx="5400000" cy="288000"/>
          </a:xfrm>
          <a:prstGeom prst="rect">
            <a:avLst/>
          </a:prstGeom>
          <a:noFill/>
        </p:spPr>
        <p:txBody>
          <a:bodyPr wrap="square">
            <a:spAutoFit/>
          </a:bodyPr>
          <a:lstStyle/>
          <a:p>
            <a:pPr algn="ctr" rtl="1" fontAlgn="ctr"/>
            <a:r>
              <a:rPr lang="he-IL" sz="1200" b="1" dirty="0">
                <a:latin typeface="Segoe UI" panose="020B0502040204020203" pitchFamily="34" charset="0"/>
                <a:cs typeface="Segoe UI" panose="020B0502040204020203" pitchFamily="34" charset="0"/>
              </a:rPr>
              <a:t>מגדר</a:t>
            </a:r>
            <a:endParaRPr lang="he-IL" sz="1200" b="1" u="none" strike="noStrike" dirty="0">
              <a:effectLst/>
              <a:latin typeface="Segoe UI" panose="020B0502040204020203" pitchFamily="34" charset="0"/>
              <a:cs typeface="Segoe UI" panose="020B0502040204020203" pitchFamily="34" charset="0"/>
            </a:endParaRPr>
          </a:p>
        </p:txBody>
      </p:sp>
      <p:sp>
        <p:nvSpPr>
          <p:cNvPr id="34" name="תיבת טקסט 33">
            <a:extLst>
              <a:ext uri="{FF2B5EF4-FFF2-40B4-BE49-F238E27FC236}">
                <a16:creationId xmlns:a16="http://schemas.microsoft.com/office/drawing/2014/main" id="{9B94DACD-637B-55B4-AA74-3117E5136A4A}"/>
              </a:ext>
            </a:extLst>
          </p:cNvPr>
          <p:cNvSpPr txBox="1"/>
          <p:nvPr/>
        </p:nvSpPr>
        <p:spPr>
          <a:xfrm>
            <a:off x="6249076" y="3197803"/>
            <a:ext cx="5400000" cy="288000"/>
          </a:xfrm>
          <a:prstGeom prst="rect">
            <a:avLst/>
          </a:prstGeom>
          <a:noFill/>
        </p:spPr>
        <p:txBody>
          <a:bodyPr wrap="square">
            <a:spAutoFit/>
          </a:bodyPr>
          <a:lstStyle/>
          <a:p>
            <a:pPr algn="ctr" rtl="1" fontAlgn="ctr"/>
            <a:r>
              <a:rPr lang="he-IL" sz="1200" b="1" dirty="0">
                <a:latin typeface="Segoe UI" panose="020B0502040204020203" pitchFamily="34" charset="0"/>
                <a:cs typeface="Segoe UI" panose="020B0502040204020203" pitchFamily="34" charset="0"/>
              </a:rPr>
              <a:t>גיל</a:t>
            </a:r>
            <a:endParaRPr lang="he-IL" sz="1200" b="1" u="none" strike="noStrike" dirty="0">
              <a:effectLst/>
              <a:latin typeface="Segoe UI" panose="020B0502040204020203" pitchFamily="34" charset="0"/>
              <a:cs typeface="Segoe UI" panose="020B0502040204020203" pitchFamily="34" charset="0"/>
            </a:endParaRPr>
          </a:p>
        </p:txBody>
      </p:sp>
      <p:graphicFrame>
        <p:nvGraphicFramePr>
          <p:cNvPr id="36" name="Chart 3">
            <a:extLst>
              <a:ext uri="{FF2B5EF4-FFF2-40B4-BE49-F238E27FC236}">
                <a16:creationId xmlns:a16="http://schemas.microsoft.com/office/drawing/2014/main" id="{758AC591-1FDC-CDB3-2215-5600D88DCBEC}"/>
              </a:ext>
            </a:extLst>
          </p:cNvPr>
          <p:cNvGraphicFramePr/>
          <p:nvPr>
            <p:extLst>
              <p:ext uri="{D42A27DB-BD31-4B8C-83A1-F6EECF244321}">
                <p14:modId xmlns:p14="http://schemas.microsoft.com/office/powerpoint/2010/main" val="356461670"/>
              </p:ext>
            </p:extLst>
          </p:nvPr>
        </p:nvGraphicFramePr>
        <p:xfrm>
          <a:off x="500556" y="3299453"/>
          <a:ext cx="5400000" cy="18000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37" name="Chart 3">
            <a:extLst>
              <a:ext uri="{FF2B5EF4-FFF2-40B4-BE49-F238E27FC236}">
                <a16:creationId xmlns:a16="http://schemas.microsoft.com/office/drawing/2014/main" id="{79ACF07C-89FD-D93C-8690-F02A5337D30A}"/>
              </a:ext>
            </a:extLst>
          </p:cNvPr>
          <p:cNvGraphicFramePr/>
          <p:nvPr>
            <p:extLst>
              <p:ext uri="{D42A27DB-BD31-4B8C-83A1-F6EECF244321}">
                <p14:modId xmlns:p14="http://schemas.microsoft.com/office/powerpoint/2010/main" val="2801266117"/>
              </p:ext>
            </p:extLst>
          </p:nvPr>
        </p:nvGraphicFramePr>
        <p:xfrm>
          <a:off x="500556" y="1273126"/>
          <a:ext cx="5400000" cy="180000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38" name="Chart 3">
            <a:extLst>
              <a:ext uri="{FF2B5EF4-FFF2-40B4-BE49-F238E27FC236}">
                <a16:creationId xmlns:a16="http://schemas.microsoft.com/office/drawing/2014/main" id="{34AE0D8B-38AE-D882-C37D-F2CC9424C71A}"/>
              </a:ext>
            </a:extLst>
          </p:cNvPr>
          <p:cNvGraphicFramePr/>
          <p:nvPr>
            <p:extLst>
              <p:ext uri="{D42A27DB-BD31-4B8C-83A1-F6EECF244321}">
                <p14:modId xmlns:p14="http://schemas.microsoft.com/office/powerpoint/2010/main" val="2929588459"/>
              </p:ext>
            </p:extLst>
          </p:nvPr>
        </p:nvGraphicFramePr>
        <p:xfrm>
          <a:off x="6224267" y="1273126"/>
          <a:ext cx="5545338" cy="1800000"/>
        </p:xfrm>
        <a:graphic>
          <a:graphicData uri="http://schemas.openxmlformats.org/drawingml/2006/chart">
            <c:chart xmlns:c="http://schemas.openxmlformats.org/drawingml/2006/chart" xmlns:r="http://schemas.openxmlformats.org/officeDocument/2006/relationships" r:id="rId6"/>
          </a:graphicData>
        </a:graphic>
      </p:graphicFrame>
      <p:sp>
        <p:nvSpPr>
          <p:cNvPr id="39" name="תיבת טקסט 38">
            <a:extLst>
              <a:ext uri="{FF2B5EF4-FFF2-40B4-BE49-F238E27FC236}">
                <a16:creationId xmlns:a16="http://schemas.microsoft.com/office/drawing/2014/main" id="{9E85FBFF-43F3-425C-D55A-DC76D54E99B8}"/>
              </a:ext>
            </a:extLst>
          </p:cNvPr>
          <p:cNvSpPr txBox="1"/>
          <p:nvPr/>
        </p:nvSpPr>
        <p:spPr>
          <a:xfrm>
            <a:off x="11174439" y="1476473"/>
            <a:ext cx="690416" cy="1615827"/>
          </a:xfrm>
          <a:prstGeom prst="rect">
            <a:avLst/>
          </a:prstGeom>
          <a:noFill/>
        </p:spPr>
        <p:txBody>
          <a:bodyPr wrap="square">
            <a:spAutoFit/>
          </a:bodyPr>
          <a:lstStyle/>
          <a:p>
            <a:pPr rtl="1" fontAlgn="ctr"/>
            <a:r>
              <a:rPr lang="he-IL" sz="1100" dirty="0">
                <a:latin typeface="Segoe UI" panose="020B0502040204020203" pitchFamily="34" charset="0"/>
                <a:cs typeface="Segoe UI" panose="020B0502040204020203" pitchFamily="34" charset="0"/>
              </a:rPr>
              <a:t>אחר</a:t>
            </a:r>
            <a:br>
              <a:rPr lang="en-US" sz="1100" dirty="0">
                <a:latin typeface="Segoe UI" panose="020B0502040204020203" pitchFamily="34" charset="0"/>
                <a:cs typeface="Segoe UI" panose="020B0502040204020203" pitchFamily="34" charset="0"/>
              </a:rPr>
            </a:br>
            <a:r>
              <a:rPr lang="he-IL" sz="1000" dirty="0">
                <a:latin typeface="Segoe UI" panose="020B0502040204020203" pitchFamily="34" charset="0"/>
                <a:cs typeface="Segoe UI" panose="020B0502040204020203" pitchFamily="34" charset="0"/>
              </a:rPr>
              <a:t>(דואר, </a:t>
            </a:r>
          </a:p>
          <a:p>
            <a:pPr rtl="1" fontAlgn="ctr"/>
            <a:r>
              <a:rPr lang="he-IL" sz="1000" dirty="0">
                <a:latin typeface="Segoe UI" panose="020B0502040204020203" pitchFamily="34" charset="0"/>
                <a:cs typeface="Segoe UI" panose="020B0502040204020203" pitchFamily="34" charset="0"/>
              </a:rPr>
              <a:t>מכוון,</a:t>
            </a:r>
            <a:br>
              <a:rPr lang="en-US" sz="1000" dirty="0">
                <a:latin typeface="Segoe UI" panose="020B0502040204020203" pitchFamily="34" charset="0"/>
                <a:cs typeface="Segoe UI" panose="020B0502040204020203" pitchFamily="34" charset="0"/>
              </a:rPr>
            </a:br>
            <a:r>
              <a:rPr lang="he-IL" sz="1000" dirty="0">
                <a:latin typeface="Segoe UI" panose="020B0502040204020203" pitchFamily="34" charset="0"/>
                <a:cs typeface="Segoe UI" panose="020B0502040204020203" pitchFamily="34" charset="0"/>
              </a:rPr>
              <a:t>הדבקה לרכב)</a:t>
            </a:r>
          </a:p>
          <a:p>
            <a:pPr rtl="1" fontAlgn="ctr"/>
            <a:endParaRPr lang="he-IL" sz="1100" u="none" strike="noStrike" dirty="0">
              <a:effectLst/>
              <a:latin typeface="Segoe UI" panose="020B0502040204020203" pitchFamily="34" charset="0"/>
              <a:cs typeface="Segoe UI" panose="020B0502040204020203" pitchFamily="34" charset="0"/>
            </a:endParaRPr>
          </a:p>
          <a:p>
            <a:pPr rtl="1" fontAlgn="ctr"/>
            <a:r>
              <a:rPr lang="he-IL" sz="1100" dirty="0">
                <a:latin typeface="Segoe UI" panose="020B0502040204020203" pitchFamily="34" charset="0"/>
                <a:cs typeface="Segoe UI" panose="020B0502040204020203" pitchFamily="34" charset="0"/>
              </a:rPr>
              <a:t>פיזית משוטר בשטח</a:t>
            </a:r>
            <a:endParaRPr lang="he-IL" sz="1100" u="none" strike="noStrike" dirty="0">
              <a:effectLst/>
              <a:latin typeface="Segoe UI" panose="020B0502040204020203" pitchFamily="34" charset="0"/>
              <a:cs typeface="Segoe UI" panose="020B0502040204020203" pitchFamily="34" charset="0"/>
            </a:endParaRPr>
          </a:p>
        </p:txBody>
      </p:sp>
      <p:cxnSp>
        <p:nvCxnSpPr>
          <p:cNvPr id="3" name="מחבר ישר 2">
            <a:extLst>
              <a:ext uri="{FF2B5EF4-FFF2-40B4-BE49-F238E27FC236}">
                <a16:creationId xmlns:a16="http://schemas.microsoft.com/office/drawing/2014/main" id="{502F7B11-8914-BB86-BF87-3A914BE72524}"/>
              </a:ext>
            </a:extLst>
          </p:cNvPr>
          <p:cNvCxnSpPr>
            <a:cxnSpLocks/>
          </p:cNvCxnSpPr>
          <p:nvPr/>
        </p:nvCxnSpPr>
        <p:spPr>
          <a:xfrm>
            <a:off x="2953722" y="1413148"/>
            <a:ext cx="0" cy="1512000"/>
          </a:xfrm>
          <a:prstGeom prst="line">
            <a:avLst/>
          </a:prstGeom>
          <a:ln>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10" name="מחבר ישר 9">
            <a:extLst>
              <a:ext uri="{FF2B5EF4-FFF2-40B4-BE49-F238E27FC236}">
                <a16:creationId xmlns:a16="http://schemas.microsoft.com/office/drawing/2014/main" id="{59D6FDC5-BD17-11CE-ED5C-4A7E10A8566E}"/>
              </a:ext>
            </a:extLst>
          </p:cNvPr>
          <p:cNvCxnSpPr>
            <a:cxnSpLocks/>
          </p:cNvCxnSpPr>
          <p:nvPr/>
        </p:nvCxnSpPr>
        <p:spPr>
          <a:xfrm>
            <a:off x="2953722" y="3541572"/>
            <a:ext cx="0" cy="1440000"/>
          </a:xfrm>
          <a:prstGeom prst="line">
            <a:avLst/>
          </a:prstGeom>
          <a:ln>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12" name="מחבר ישר 11">
            <a:extLst>
              <a:ext uri="{FF2B5EF4-FFF2-40B4-BE49-F238E27FC236}">
                <a16:creationId xmlns:a16="http://schemas.microsoft.com/office/drawing/2014/main" id="{F8388A97-E307-1CF6-D613-885FE2B2F34E}"/>
              </a:ext>
            </a:extLst>
          </p:cNvPr>
          <p:cNvCxnSpPr>
            <a:cxnSpLocks/>
          </p:cNvCxnSpPr>
          <p:nvPr/>
        </p:nvCxnSpPr>
        <p:spPr>
          <a:xfrm>
            <a:off x="8709063" y="1431075"/>
            <a:ext cx="0" cy="1512000"/>
          </a:xfrm>
          <a:prstGeom prst="line">
            <a:avLst/>
          </a:prstGeom>
          <a:ln>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13" name="מחבר ישר 12">
            <a:extLst>
              <a:ext uri="{FF2B5EF4-FFF2-40B4-BE49-F238E27FC236}">
                <a16:creationId xmlns:a16="http://schemas.microsoft.com/office/drawing/2014/main" id="{EC4DB873-3A95-29AE-904C-7C732D86F2CF}"/>
              </a:ext>
            </a:extLst>
          </p:cNvPr>
          <p:cNvCxnSpPr>
            <a:cxnSpLocks/>
          </p:cNvCxnSpPr>
          <p:nvPr/>
        </p:nvCxnSpPr>
        <p:spPr>
          <a:xfrm>
            <a:off x="8709063" y="3559499"/>
            <a:ext cx="0" cy="1440000"/>
          </a:xfrm>
          <a:prstGeom prst="line">
            <a:avLst/>
          </a:prstGeom>
          <a:ln>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68201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
                                            <p:txEl>
                                              <p:pRg st="1" end="1"/>
                                            </p:txEl>
                                          </p:spTgt>
                                        </p:tgtEl>
                                        <p:attrNameLst>
                                          <p:attrName>style.visibility</p:attrName>
                                        </p:attrNameLst>
                                      </p:cBhvr>
                                      <p:to>
                                        <p:strVal val="visible"/>
                                      </p:to>
                                    </p:set>
                                    <p:animEffect transition="in" filter="fade">
                                      <p:cBhvr>
                                        <p:cTn id="7" dur="500"/>
                                        <p:tgtEl>
                                          <p:spTgt spid="2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uiExpand="1" build="p"/>
    </p:bldLst>
  </p:timing>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3406E-923C-6D99-9E90-1946FFC56459}"/>
            </a:ext>
          </a:extLst>
        </p:cNvPr>
        <p:cNvGrpSpPr/>
        <p:nvPr/>
      </p:nvGrpSpPr>
      <p:grpSpPr>
        <a:xfrm>
          <a:off x="0" y="0"/>
          <a:ext cx="0" cy="0"/>
          <a:chOff x="0" y="0"/>
          <a:chExt cx="0" cy="0"/>
        </a:xfrm>
      </p:grpSpPr>
      <p:graphicFrame>
        <p:nvGraphicFramePr>
          <p:cNvPr id="5" name="אובייקט 3">
            <a:extLst>
              <a:ext uri="{FF2B5EF4-FFF2-40B4-BE49-F238E27FC236}">
                <a16:creationId xmlns:a16="http://schemas.microsoft.com/office/drawing/2014/main" id="{42A26616-EA2D-26F7-E02F-D80DF86B5A3B}"/>
              </a:ext>
            </a:extLst>
          </p:cNvPr>
          <p:cNvGraphicFramePr>
            <a:graphicFrameLocks noChangeAspect="1"/>
          </p:cNvGraphicFramePr>
          <p:nvPr>
            <p:extLst>
              <p:ext uri="{D42A27DB-BD31-4B8C-83A1-F6EECF244321}">
                <p14:modId xmlns:p14="http://schemas.microsoft.com/office/powerpoint/2010/main" val="567151726"/>
              </p:ext>
            </p:extLst>
          </p:nvPr>
        </p:nvGraphicFramePr>
        <p:xfrm>
          <a:off x="547858" y="1426029"/>
          <a:ext cx="11304190" cy="3199952"/>
        </p:xfrm>
        <a:graphic>
          <a:graphicData uri="http://schemas.openxmlformats.org/drawingml/2006/chart">
            <c:chart xmlns:c="http://schemas.openxmlformats.org/drawingml/2006/chart" xmlns:r="http://schemas.openxmlformats.org/officeDocument/2006/relationships" r:id="rId3"/>
          </a:graphicData>
        </a:graphic>
      </p:graphicFrame>
      <p:sp>
        <p:nvSpPr>
          <p:cNvPr id="15" name="Slide Number Placeholder 1">
            <a:extLst>
              <a:ext uri="{FF2B5EF4-FFF2-40B4-BE49-F238E27FC236}">
                <a16:creationId xmlns:a16="http://schemas.microsoft.com/office/drawing/2014/main" id="{F0F9F51D-6BDE-BFA7-743F-7D0BBA21B8A8}"/>
              </a:ext>
            </a:extLst>
          </p:cNvPr>
          <p:cNvSpPr txBox="1">
            <a:spLocks/>
          </p:cNvSpPr>
          <p:nvPr/>
        </p:nvSpPr>
        <p:spPr>
          <a:xfrm>
            <a:off x="11541989" y="6473956"/>
            <a:ext cx="540000" cy="360000"/>
          </a:xfrm>
          <a:prstGeom prst="rect">
            <a:avLst/>
          </a:prstGeom>
          <a:noFill/>
          <a:ln w="12700" cap="flat" cmpd="sng" algn="ctr">
            <a:noFill/>
            <a:prstDash val="solid"/>
            <a:miter lim="800000"/>
          </a:ln>
          <a:effectLst/>
        </p:spPr>
        <p:txBody>
          <a:bodyPr rot="0" spcFirstLastPara="0" vertOverflow="overflow" horzOverflow="overflow" vert="horz" wrap="square" lIns="91440" tIns="45720" rIns="91440" bIns="45720" numCol="1" spcCol="0" rtlCol="1" fromWordArt="0" anchor="ctr" anchorCtr="0" forceAA="0" compatLnSpc="1">
            <a:prstTxWarp prst="textNoShape">
              <a:avLst/>
            </a:prstTxWarp>
            <a:noAutofit/>
          </a:bodyPr>
          <a:lstStyle>
            <a:defPPr>
              <a:defRPr lang="he-IL"/>
            </a:defPPr>
            <a:lvl1pPr marL="0" algn="l" defTabSz="914400" rtl="0" eaLnBrk="1" latinLnBrk="0" hangingPunct="1">
              <a:defRPr lang="he-IL" sz="1100" kern="1200" smtClean="0">
                <a:solidFill>
                  <a:schemeClr val="bg1">
                    <a:lumMod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r" rtl="1">
              <a:defRPr/>
            </a:pPr>
            <a:fld id="{7A91BF3F-E284-4570-AC28-CDAE2F1A1EA1}" type="slidenum">
              <a:rPr lang="he-IL" smtClean="0">
                <a:solidFill>
                  <a:prstClr val="white">
                    <a:lumMod val="75000"/>
                  </a:prstClr>
                </a:solidFill>
              </a:rPr>
              <a:pPr algn="r" rtl="1">
                <a:defRPr/>
              </a:pPr>
              <a:t>6</a:t>
            </a:fld>
            <a:endParaRPr lang="he-IL" dirty="0">
              <a:solidFill>
                <a:prstClr val="white">
                  <a:lumMod val="75000"/>
                </a:prstClr>
              </a:solidFill>
            </a:endParaRPr>
          </a:p>
        </p:txBody>
      </p:sp>
      <p:cxnSp>
        <p:nvCxnSpPr>
          <p:cNvPr id="2" name="Straight Connector 6">
            <a:extLst>
              <a:ext uri="{FF2B5EF4-FFF2-40B4-BE49-F238E27FC236}">
                <a16:creationId xmlns:a16="http://schemas.microsoft.com/office/drawing/2014/main" id="{63D9D2F7-8269-A404-8CD3-F8BC5A2D0740}"/>
              </a:ext>
            </a:extLst>
          </p:cNvPr>
          <p:cNvCxnSpPr>
            <a:cxnSpLocks/>
          </p:cNvCxnSpPr>
          <p:nvPr/>
        </p:nvCxnSpPr>
        <p:spPr>
          <a:xfrm rot="16200000" flipV="1">
            <a:off x="6096000" y="-501549"/>
            <a:ext cx="0" cy="10800000"/>
          </a:xfrm>
          <a:prstGeom prst="line">
            <a:avLst/>
          </a:prstGeom>
          <a:ln w="25400" cap="rnd">
            <a:solidFill>
              <a:schemeClr val="bg1">
                <a:lumMod val="85000"/>
              </a:schemeClr>
            </a:solidFill>
            <a:round/>
          </a:ln>
        </p:spPr>
        <p:style>
          <a:lnRef idx="1">
            <a:schemeClr val="accent1"/>
          </a:lnRef>
          <a:fillRef idx="0">
            <a:schemeClr val="accent1"/>
          </a:fillRef>
          <a:effectRef idx="0">
            <a:schemeClr val="accent1"/>
          </a:effectRef>
          <a:fontRef idx="minor">
            <a:schemeClr val="tx1"/>
          </a:fontRef>
        </p:style>
      </p:cxnSp>
      <p:sp>
        <p:nvSpPr>
          <p:cNvPr id="3" name="Rectangle 6">
            <a:extLst>
              <a:ext uri="{FF2B5EF4-FFF2-40B4-BE49-F238E27FC236}">
                <a16:creationId xmlns:a16="http://schemas.microsoft.com/office/drawing/2014/main" id="{E3FAF5DB-34EA-2321-F410-FB73663D6C93}"/>
              </a:ext>
            </a:extLst>
          </p:cNvPr>
          <p:cNvSpPr/>
          <p:nvPr/>
        </p:nvSpPr>
        <p:spPr>
          <a:xfrm>
            <a:off x="799953" y="5198017"/>
            <a:ext cx="10800000" cy="888480"/>
          </a:xfrm>
          <a:prstGeom prst="rect">
            <a:avLst/>
          </a:prstGeom>
        </p:spPr>
        <p:txBody>
          <a:bodyPr wrap="square" anchor="ctr">
            <a:noAutofit/>
          </a:bodyPr>
          <a:lstStyle/>
          <a:p>
            <a:pPr algn="ctr" rtl="1">
              <a:lnSpc>
                <a:spcPct val="150000"/>
              </a:lnSpc>
              <a:spcAft>
                <a:spcPts val="800"/>
              </a:spcAft>
              <a:buNone/>
            </a:pPr>
            <a:r>
              <a:rPr lang="he-IL" sz="1600" kern="100" dirty="0">
                <a:effectLst/>
                <a:latin typeface="Segoe UI" panose="020B0502040204020203" pitchFamily="34" charset="0"/>
                <a:ea typeface="Calibri" panose="020F0502020204030204" pitchFamily="34" charset="0"/>
                <a:cs typeface="Segoe UI" panose="020B0502040204020203" pitchFamily="34" charset="0"/>
              </a:rPr>
              <a:t>עיקר הדוחות האחרונים התקבלו בשנתיים האחרונות </a:t>
            </a:r>
            <a:r>
              <a:rPr lang="he-IL" sz="1600" b="1" kern="100" dirty="0">
                <a:effectLst/>
                <a:latin typeface="Segoe UI" panose="020B0502040204020203" pitchFamily="34" charset="0"/>
                <a:ea typeface="Calibri" panose="020F0502020204030204" pitchFamily="34" charset="0"/>
                <a:cs typeface="Segoe UI" panose="020B0502040204020203" pitchFamily="34" charset="0"/>
              </a:rPr>
              <a:t>-&gt; הבסיס המחקרי נשען ברובו על חוויה יחסית טרייה</a:t>
            </a:r>
            <a:r>
              <a:rPr lang="en-US" sz="1600" b="1" kern="100" dirty="0">
                <a:effectLst/>
                <a:latin typeface="Segoe UI" panose="020B0502040204020203" pitchFamily="34" charset="0"/>
                <a:ea typeface="Calibri" panose="020F0502020204030204" pitchFamily="34" charset="0"/>
                <a:cs typeface="Segoe UI" panose="020B0502040204020203" pitchFamily="34" charset="0"/>
              </a:rPr>
              <a:t>.</a:t>
            </a:r>
            <a:endParaRPr lang="he-IL" sz="1600" b="1" kern="100" dirty="0">
              <a:effectLst/>
              <a:latin typeface="Segoe UI" panose="020B0502040204020203" pitchFamily="34" charset="0"/>
              <a:ea typeface="Calibri" panose="020F0502020204030204" pitchFamily="34" charset="0"/>
              <a:cs typeface="Segoe UI" panose="020B0502040204020203" pitchFamily="34" charset="0"/>
            </a:endParaRPr>
          </a:p>
          <a:p>
            <a:pPr algn="ctr" rtl="1">
              <a:lnSpc>
                <a:spcPct val="150000"/>
              </a:lnSpc>
              <a:spcAft>
                <a:spcPts val="800"/>
              </a:spcAft>
              <a:buNone/>
            </a:pPr>
            <a:r>
              <a:rPr lang="en-US" sz="1600" b="1" kern="100" dirty="0">
                <a:effectLst/>
                <a:latin typeface="Segoe UI" panose="020B0502040204020203" pitchFamily="34" charset="0"/>
                <a:ea typeface="Calibri" panose="020F0502020204030204" pitchFamily="34" charset="0"/>
                <a:cs typeface="Segoe UI" panose="020B0502040204020203" pitchFamily="34" charset="0"/>
              </a:rPr>
              <a:t> </a:t>
            </a:r>
            <a:r>
              <a:rPr lang="he-IL" sz="1600" b="1" kern="100" dirty="0">
                <a:solidFill>
                  <a:srgbClr val="1D1C64"/>
                </a:solidFill>
                <a:effectLst/>
                <a:latin typeface="Segoe UI" panose="020B0502040204020203" pitchFamily="34" charset="0"/>
                <a:ea typeface="Calibri" panose="020F0502020204030204" pitchFamily="34" charset="0"/>
                <a:cs typeface="Segoe UI" panose="020B0502040204020203" pitchFamily="34" charset="0"/>
              </a:rPr>
              <a:t>לאחר הרפורמה מומלץ להגדיר </a:t>
            </a:r>
            <a:r>
              <a:rPr lang="he-IL" sz="1600" b="1" kern="100" dirty="0">
                <a:solidFill>
                  <a:srgbClr val="1D1C64"/>
                </a:solidFill>
                <a:latin typeface="Segoe UI" panose="020B0502040204020203" pitchFamily="34" charset="0"/>
                <a:ea typeface="Calibri" panose="020F0502020204030204" pitchFamily="34" charset="0"/>
                <a:cs typeface="Segoe UI" panose="020B0502040204020203" pitchFamily="34" charset="0"/>
              </a:rPr>
              <a:t>של </a:t>
            </a:r>
            <a:r>
              <a:rPr lang="en-US" sz="1600" b="1" kern="100" dirty="0">
                <a:solidFill>
                  <a:srgbClr val="1D1C64"/>
                </a:solidFill>
                <a:latin typeface="Segoe UI" panose="020B0502040204020203" pitchFamily="34" charset="0"/>
                <a:ea typeface="Calibri" panose="020F0502020204030204" pitchFamily="34" charset="0"/>
                <a:cs typeface="Segoe UI" panose="020B0502040204020203" pitchFamily="34" charset="0"/>
              </a:rPr>
              <a:t>KPI</a:t>
            </a:r>
            <a:r>
              <a:rPr lang="he-IL" sz="1600" b="1" kern="100" dirty="0">
                <a:solidFill>
                  <a:srgbClr val="1D1C64"/>
                </a:solidFill>
                <a:latin typeface="Segoe UI" panose="020B0502040204020203" pitchFamily="34" charset="0"/>
                <a:ea typeface="Calibri" panose="020F0502020204030204" pitchFamily="34" charset="0"/>
                <a:cs typeface="Segoe UI" panose="020B0502040204020203" pitchFamily="34" charset="0"/>
              </a:rPr>
              <a:t> של </a:t>
            </a:r>
            <a:r>
              <a:rPr lang="he-IL" sz="1600" b="1" kern="100" dirty="0">
                <a:solidFill>
                  <a:srgbClr val="1D1C64"/>
                </a:solidFill>
                <a:effectLst/>
                <a:latin typeface="Segoe UI" panose="020B0502040204020203" pitchFamily="34" charset="0"/>
                <a:ea typeface="Calibri" panose="020F0502020204030204" pitchFamily="34" charset="0"/>
                <a:cs typeface="Segoe UI" panose="020B0502040204020203" pitchFamily="34" charset="0"/>
              </a:rPr>
              <a:t>"ערבות שירות" לגבי מועד דיון בקרב השוקלים להישפט</a:t>
            </a:r>
            <a:br>
              <a:rPr lang="en-US" sz="1600" b="1" kern="100" dirty="0">
                <a:solidFill>
                  <a:srgbClr val="1D1C64"/>
                </a:solidFill>
                <a:effectLst/>
                <a:latin typeface="Segoe UI" panose="020B0502040204020203" pitchFamily="34" charset="0"/>
                <a:ea typeface="Calibri" panose="020F0502020204030204" pitchFamily="34" charset="0"/>
                <a:cs typeface="Segoe UI" panose="020B0502040204020203" pitchFamily="34" charset="0"/>
              </a:rPr>
            </a:br>
            <a:r>
              <a:rPr lang="he-IL" sz="1600" b="1" kern="100" dirty="0">
                <a:solidFill>
                  <a:srgbClr val="1D1C64"/>
                </a:solidFill>
                <a:effectLst/>
                <a:latin typeface="Segoe UI" panose="020B0502040204020203" pitchFamily="34" charset="0"/>
                <a:ea typeface="Calibri" panose="020F0502020204030204" pitchFamily="34" charset="0"/>
                <a:cs typeface="Segoe UI" panose="020B0502040204020203" pitchFamily="34" charset="0"/>
              </a:rPr>
              <a:t>כדי למנוע את "החמצת" חלון הפעולה.</a:t>
            </a:r>
            <a:endParaRPr lang="en-US" sz="1600" kern="100" dirty="0">
              <a:solidFill>
                <a:srgbClr val="1D1C64"/>
              </a:solidFill>
              <a:effectLst/>
              <a:latin typeface="Segoe UI" panose="020B0502040204020203" pitchFamily="34" charset="0"/>
              <a:ea typeface="Calibri" panose="020F0502020204030204" pitchFamily="34" charset="0"/>
              <a:cs typeface="Segoe UI" panose="020B0502040204020203" pitchFamily="34" charset="0"/>
            </a:endParaRPr>
          </a:p>
        </p:txBody>
      </p:sp>
      <p:cxnSp>
        <p:nvCxnSpPr>
          <p:cNvPr id="9" name="מחבר ישר 8">
            <a:extLst>
              <a:ext uri="{FF2B5EF4-FFF2-40B4-BE49-F238E27FC236}">
                <a16:creationId xmlns:a16="http://schemas.microsoft.com/office/drawing/2014/main" id="{D8559FE0-11B7-5A80-153A-128F59E90C37}"/>
              </a:ext>
            </a:extLst>
          </p:cNvPr>
          <p:cNvCxnSpPr>
            <a:cxnSpLocks/>
          </p:cNvCxnSpPr>
          <p:nvPr/>
        </p:nvCxnSpPr>
        <p:spPr>
          <a:xfrm>
            <a:off x="6109298" y="1025981"/>
            <a:ext cx="0" cy="3600000"/>
          </a:xfrm>
          <a:prstGeom prst="line">
            <a:avLst/>
          </a:prstGeom>
          <a:ln>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12" name="תיבת טקסט 11">
            <a:extLst>
              <a:ext uri="{FF2B5EF4-FFF2-40B4-BE49-F238E27FC236}">
                <a16:creationId xmlns:a16="http://schemas.microsoft.com/office/drawing/2014/main" id="{CC65F0F2-6A28-752E-0B02-5F092634E6F3}"/>
              </a:ext>
            </a:extLst>
          </p:cNvPr>
          <p:cNvSpPr txBox="1"/>
          <p:nvPr/>
        </p:nvSpPr>
        <p:spPr>
          <a:xfrm>
            <a:off x="2247667" y="1151513"/>
            <a:ext cx="2520000" cy="307777"/>
          </a:xfrm>
          <a:prstGeom prst="rect">
            <a:avLst/>
          </a:prstGeom>
          <a:noFill/>
        </p:spPr>
        <p:txBody>
          <a:bodyPr wrap="square">
            <a:spAutoFit/>
          </a:bodyPr>
          <a:lstStyle/>
          <a:p>
            <a:pPr algn="ctr" rtl="1" fontAlgn="ctr"/>
            <a:r>
              <a:rPr lang="he-IL" sz="1400" b="1" u="none" strike="noStrike" dirty="0">
                <a:effectLst/>
                <a:latin typeface="Segoe UI" panose="020B0502040204020203" pitchFamily="34" charset="0"/>
                <a:cs typeface="Segoe UI" panose="020B0502040204020203" pitchFamily="34" charset="0"/>
              </a:rPr>
              <a:t>לא ביקשו להישפט</a:t>
            </a:r>
          </a:p>
        </p:txBody>
      </p:sp>
      <p:sp>
        <p:nvSpPr>
          <p:cNvPr id="13" name="תיבת טקסט 12">
            <a:extLst>
              <a:ext uri="{FF2B5EF4-FFF2-40B4-BE49-F238E27FC236}">
                <a16:creationId xmlns:a16="http://schemas.microsoft.com/office/drawing/2014/main" id="{4AB77533-C5B6-8811-F6B1-D53EDF940C3B}"/>
              </a:ext>
            </a:extLst>
          </p:cNvPr>
          <p:cNvSpPr txBox="1"/>
          <p:nvPr/>
        </p:nvSpPr>
        <p:spPr>
          <a:xfrm>
            <a:off x="7426473" y="1110353"/>
            <a:ext cx="2520000" cy="307777"/>
          </a:xfrm>
          <a:prstGeom prst="rect">
            <a:avLst/>
          </a:prstGeom>
          <a:noFill/>
        </p:spPr>
        <p:txBody>
          <a:bodyPr wrap="square">
            <a:spAutoFit/>
          </a:bodyPr>
          <a:lstStyle/>
          <a:p>
            <a:pPr algn="ctr" rtl="1" fontAlgn="b"/>
            <a:r>
              <a:rPr lang="he-IL" sz="1400" b="1" u="none" strike="noStrike" dirty="0">
                <a:effectLst/>
                <a:latin typeface="Segoe UI" panose="020B0502040204020203" pitchFamily="34" charset="0"/>
                <a:cs typeface="Segoe UI" panose="020B0502040204020203" pitchFamily="34" charset="0"/>
              </a:rPr>
              <a:t>ביקשו להישפט</a:t>
            </a:r>
            <a:endParaRPr lang="he-IL" sz="1400" b="1" i="0" u="none" strike="noStrike" dirty="0">
              <a:solidFill>
                <a:srgbClr val="000000"/>
              </a:solidFill>
              <a:effectLst/>
              <a:latin typeface="Segoe UI" panose="020B0502040204020203" pitchFamily="34" charset="0"/>
              <a:cs typeface="Segoe UI" panose="020B0502040204020203" pitchFamily="34" charset="0"/>
            </a:endParaRPr>
          </a:p>
        </p:txBody>
      </p:sp>
      <p:sp>
        <p:nvSpPr>
          <p:cNvPr id="4" name="Rectangle 3">
            <a:extLst>
              <a:ext uri="{FF2B5EF4-FFF2-40B4-BE49-F238E27FC236}">
                <a16:creationId xmlns:a16="http://schemas.microsoft.com/office/drawing/2014/main" id="{63203A8B-F8A5-67E0-4936-B9FD469EA29D}"/>
              </a:ext>
            </a:extLst>
          </p:cNvPr>
          <p:cNvSpPr/>
          <p:nvPr/>
        </p:nvSpPr>
        <p:spPr>
          <a:xfrm>
            <a:off x="1320802" y="191076"/>
            <a:ext cx="10614278" cy="5075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t"/>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0" cap="none" spc="0" normalizeH="0" baseline="0" noProof="0" dirty="0">
                <a:ln>
                  <a:noFill/>
                </a:ln>
                <a:solidFill>
                  <a:srgbClr val="104E88"/>
                </a:solidFill>
                <a:effectLst/>
                <a:uLnTx/>
                <a:uFillTx/>
                <a:latin typeface="Segoe UI" panose="020B0502040204020203" pitchFamily="34" charset="0"/>
                <a:cs typeface="Segoe UI" panose="020B0502040204020203" pitchFamily="34" charset="0"/>
                <a:sym typeface="Arial"/>
              </a:rPr>
              <a:t>מועד קבלת דוח התעבורה האחרון</a:t>
            </a:r>
          </a:p>
        </p:txBody>
      </p:sp>
      <p:sp>
        <p:nvSpPr>
          <p:cNvPr id="6" name="Rectangle 28">
            <a:extLst>
              <a:ext uri="{FF2B5EF4-FFF2-40B4-BE49-F238E27FC236}">
                <a16:creationId xmlns:a16="http://schemas.microsoft.com/office/drawing/2014/main" id="{069C1880-3877-8AD2-0E00-146198FAFF38}"/>
              </a:ext>
            </a:extLst>
          </p:cNvPr>
          <p:cNvSpPr/>
          <p:nvPr/>
        </p:nvSpPr>
        <p:spPr>
          <a:xfrm>
            <a:off x="1320802" y="6473956"/>
            <a:ext cx="10531248" cy="360000"/>
          </a:xfrm>
          <a:prstGeom prst="rect">
            <a:avLst/>
          </a:prstGeom>
          <a:noFill/>
          <a:ln>
            <a:noFill/>
          </a:ln>
        </p:spPr>
        <p:txBody>
          <a:bodyPr rot="0" spcFirstLastPara="0" vertOverflow="overflow" horzOverflow="overflow" vert="horz" wrap="square" lIns="91440" tIns="45720" rIns="91440" bIns="45720" numCol="1" spcCol="0" rtlCol="1" fromWordArt="0" anchor="ctr" anchorCtr="0" forceAA="0" compatLnSpc="1">
            <a:prstTxWarp prst="textNoShape">
              <a:avLst/>
            </a:prstTxWarp>
            <a:noAutofit/>
          </a:bodyPr>
          <a:lstStyle/>
          <a:p>
            <a:pPr lvl="0" algn="r" rtl="1">
              <a:defRPr/>
            </a:pPr>
            <a:r>
              <a:rPr lang="he-IL" sz="1000" dirty="0">
                <a:solidFill>
                  <a:prstClr val="white">
                    <a:lumMod val="65000"/>
                  </a:prstClr>
                </a:solidFill>
                <a:latin typeface="Segoe UI" panose="020B0502040204020203" pitchFamily="34" charset="0"/>
                <a:cs typeface="Segoe UI" panose="020B0502040204020203" pitchFamily="34" charset="0"/>
              </a:rPr>
              <a:t>"ככל שזכור לך, מתי קיבלת את דו"ח התעבורה שלך?"</a:t>
            </a:r>
          </a:p>
        </p:txBody>
      </p:sp>
      <p:sp>
        <p:nvSpPr>
          <p:cNvPr id="7" name="Rectangle: Rounded Corners 54">
            <a:hlinkClick r:id="" action="ppaction://noaction"/>
            <a:extLst>
              <a:ext uri="{FF2B5EF4-FFF2-40B4-BE49-F238E27FC236}">
                <a16:creationId xmlns:a16="http://schemas.microsoft.com/office/drawing/2014/main" id="{E1517B51-47CF-EE06-8FEC-3F0B7BFB9AFA}"/>
              </a:ext>
            </a:extLst>
          </p:cNvPr>
          <p:cNvSpPr/>
          <p:nvPr/>
        </p:nvSpPr>
        <p:spPr>
          <a:xfrm>
            <a:off x="1418590" y="6568993"/>
            <a:ext cx="900000" cy="144000"/>
          </a:xfrm>
          <a:prstGeom prst="roundRect">
            <a:avLst>
              <a:gd name="adj" fmla="val 50000"/>
            </a:avLst>
          </a:prstGeom>
          <a:solidFill>
            <a:schemeClr val="bg1"/>
          </a:solidFill>
          <a:ln w="12700">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r" defTabSz="914400" rtl="1" eaLnBrk="1" latinLnBrk="0" hangingPunct="1">
              <a:defRPr sz="1800" kern="1200">
                <a:solidFill>
                  <a:schemeClr val="lt1"/>
                </a:solidFill>
                <a:latin typeface="+mn-lt"/>
                <a:ea typeface="+mn-ea"/>
                <a:cs typeface="+mn-cs"/>
              </a:defRPr>
            </a:lvl1pPr>
            <a:lvl2pPr marL="457200" algn="r" defTabSz="914400" rtl="1" eaLnBrk="1" latinLnBrk="0" hangingPunct="1">
              <a:defRPr sz="1800" kern="1200">
                <a:solidFill>
                  <a:schemeClr val="lt1"/>
                </a:solidFill>
                <a:latin typeface="+mn-lt"/>
                <a:ea typeface="+mn-ea"/>
                <a:cs typeface="+mn-cs"/>
              </a:defRPr>
            </a:lvl2pPr>
            <a:lvl3pPr marL="914400" algn="r" defTabSz="914400" rtl="1" eaLnBrk="1" latinLnBrk="0" hangingPunct="1">
              <a:defRPr sz="1800" kern="1200">
                <a:solidFill>
                  <a:schemeClr val="lt1"/>
                </a:solidFill>
                <a:latin typeface="+mn-lt"/>
                <a:ea typeface="+mn-ea"/>
                <a:cs typeface="+mn-cs"/>
              </a:defRPr>
            </a:lvl3pPr>
            <a:lvl4pPr marL="1371600" algn="r" defTabSz="914400" rtl="1" eaLnBrk="1" latinLnBrk="0" hangingPunct="1">
              <a:defRPr sz="1800" kern="1200">
                <a:solidFill>
                  <a:schemeClr val="lt1"/>
                </a:solidFill>
                <a:latin typeface="+mn-lt"/>
                <a:ea typeface="+mn-ea"/>
                <a:cs typeface="+mn-cs"/>
              </a:defRPr>
            </a:lvl4pPr>
            <a:lvl5pPr marL="1828800" algn="r" defTabSz="914400" rtl="1" eaLnBrk="1" latinLnBrk="0" hangingPunct="1">
              <a:defRPr sz="1800" kern="1200">
                <a:solidFill>
                  <a:schemeClr val="lt1"/>
                </a:solidFill>
                <a:latin typeface="+mn-lt"/>
                <a:ea typeface="+mn-ea"/>
                <a:cs typeface="+mn-cs"/>
              </a:defRPr>
            </a:lvl5pPr>
            <a:lvl6pPr marL="2286000" algn="r" defTabSz="914400" rtl="1" eaLnBrk="1" latinLnBrk="0" hangingPunct="1">
              <a:defRPr sz="1800" kern="1200">
                <a:solidFill>
                  <a:schemeClr val="lt1"/>
                </a:solidFill>
                <a:latin typeface="+mn-lt"/>
                <a:ea typeface="+mn-ea"/>
                <a:cs typeface="+mn-cs"/>
              </a:defRPr>
            </a:lvl6pPr>
            <a:lvl7pPr marL="2743200" algn="r" defTabSz="914400" rtl="1" eaLnBrk="1" latinLnBrk="0" hangingPunct="1">
              <a:defRPr sz="1800" kern="1200">
                <a:solidFill>
                  <a:schemeClr val="lt1"/>
                </a:solidFill>
                <a:latin typeface="+mn-lt"/>
                <a:ea typeface="+mn-ea"/>
                <a:cs typeface="+mn-cs"/>
              </a:defRPr>
            </a:lvl7pPr>
            <a:lvl8pPr marL="3200400" algn="r" defTabSz="914400" rtl="1" eaLnBrk="1" latinLnBrk="0" hangingPunct="1">
              <a:defRPr sz="1800" kern="1200">
                <a:solidFill>
                  <a:schemeClr val="lt1"/>
                </a:solidFill>
                <a:latin typeface="+mn-lt"/>
                <a:ea typeface="+mn-ea"/>
                <a:cs typeface="+mn-cs"/>
              </a:defRPr>
            </a:lvl8pPr>
            <a:lvl9pPr marL="3657600" algn="r" defTabSz="914400" rtl="1" eaLnBrk="1" latinLnBrk="0" hangingPunct="1">
              <a:defRPr sz="1800" kern="1200">
                <a:solidFill>
                  <a:schemeClr val="lt1"/>
                </a:solidFill>
                <a:latin typeface="+mn-lt"/>
                <a:ea typeface="+mn-ea"/>
                <a:cs typeface="+mn-cs"/>
              </a:defRPr>
            </a:lvl9pPr>
          </a:lstStyle>
          <a:p>
            <a:pPr marL="0" marR="0" lvl="0" indent="0" algn="ctr" defTabSz="914400" rtl="1" eaLnBrk="1" fontAlgn="base" latinLnBrk="0" hangingPunct="1">
              <a:lnSpc>
                <a:spcPct val="100000"/>
              </a:lnSpc>
              <a:spcBef>
                <a:spcPct val="0"/>
              </a:spcBef>
              <a:spcAft>
                <a:spcPct val="0"/>
              </a:spcAft>
              <a:buClrTx/>
              <a:buSzTx/>
              <a:buFontTx/>
              <a:buNone/>
              <a:tabLst/>
              <a:defRPr/>
            </a:pPr>
            <a:r>
              <a:rPr kumimoji="0" lang="he-IL" sz="1100" b="0" i="0" u="none" strike="noStrike" kern="1200" cap="none" spc="0" normalizeH="0" baseline="0" noProof="0" dirty="0">
                <a:ln>
                  <a:noFill/>
                </a:ln>
                <a:solidFill>
                  <a:schemeClr val="bg1">
                    <a:lumMod val="65000"/>
                  </a:schemeClr>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סגמנטציה</a:t>
            </a:r>
            <a:endParaRPr kumimoji="0" lang="en-IL" sz="1100" b="0" i="0" u="none" strike="noStrike" kern="1200" cap="none" spc="0" normalizeH="0" baseline="0" noProof="0" dirty="0">
              <a:ln>
                <a:noFill/>
              </a:ln>
              <a:solidFill>
                <a:schemeClr val="bg1">
                  <a:lumMod val="65000"/>
                </a:schemeClr>
              </a:solidFill>
              <a:effectLst/>
              <a:uLnTx/>
              <a:uFillTx/>
              <a:latin typeface="Segoe UI" panose="020B0502040204020203" pitchFamily="34" charset="0"/>
              <a:ea typeface="+mn-ea"/>
              <a:cs typeface="Segoe UI" panose="020B0502040204020203" pitchFamily="34" charset="0"/>
            </a:endParaRPr>
          </a:p>
        </p:txBody>
      </p:sp>
    </p:spTree>
    <p:extLst>
      <p:ext uri="{BB962C8B-B14F-4D97-AF65-F5344CB8AC3E}">
        <p14:creationId xmlns:p14="http://schemas.microsoft.com/office/powerpoint/2010/main" val="38778736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6034CFF-24AA-6605-E3DC-96F4D9F6ADCB}"/>
            </a:ext>
          </a:extLst>
        </p:cNvPr>
        <p:cNvGrpSpPr/>
        <p:nvPr/>
      </p:nvGrpSpPr>
      <p:grpSpPr>
        <a:xfrm>
          <a:off x="0" y="0"/>
          <a:ext cx="0" cy="0"/>
          <a:chOff x="0" y="0"/>
          <a:chExt cx="0" cy="0"/>
        </a:xfrm>
      </p:grpSpPr>
      <p:graphicFrame>
        <p:nvGraphicFramePr>
          <p:cNvPr id="5" name="אובייקט 3">
            <a:extLst>
              <a:ext uri="{FF2B5EF4-FFF2-40B4-BE49-F238E27FC236}">
                <a16:creationId xmlns:a16="http://schemas.microsoft.com/office/drawing/2014/main" id="{C023D49A-5427-B0DE-86C2-9C36BCFBEEE5}"/>
              </a:ext>
            </a:extLst>
          </p:cNvPr>
          <p:cNvGraphicFramePr>
            <a:graphicFrameLocks noChangeAspect="1"/>
          </p:cNvGraphicFramePr>
          <p:nvPr>
            <p:extLst>
              <p:ext uri="{D42A27DB-BD31-4B8C-83A1-F6EECF244321}">
                <p14:modId xmlns:p14="http://schemas.microsoft.com/office/powerpoint/2010/main" val="1941050064"/>
              </p:ext>
            </p:extLst>
          </p:nvPr>
        </p:nvGraphicFramePr>
        <p:xfrm>
          <a:off x="551456" y="5525747"/>
          <a:ext cx="8373469" cy="1080000"/>
        </p:xfrm>
        <a:graphic>
          <a:graphicData uri="http://schemas.openxmlformats.org/drawingml/2006/chart">
            <c:chart xmlns:c="http://schemas.openxmlformats.org/drawingml/2006/chart" xmlns:r="http://schemas.openxmlformats.org/officeDocument/2006/relationships" r:id="rId3"/>
          </a:graphicData>
        </a:graphic>
      </p:graphicFrame>
      <p:sp>
        <p:nvSpPr>
          <p:cNvPr id="15" name="Slide Number Placeholder 1">
            <a:extLst>
              <a:ext uri="{FF2B5EF4-FFF2-40B4-BE49-F238E27FC236}">
                <a16:creationId xmlns:a16="http://schemas.microsoft.com/office/drawing/2014/main" id="{DC6779F8-744D-7E73-5D77-733310457231}"/>
              </a:ext>
            </a:extLst>
          </p:cNvPr>
          <p:cNvSpPr txBox="1">
            <a:spLocks/>
          </p:cNvSpPr>
          <p:nvPr/>
        </p:nvSpPr>
        <p:spPr>
          <a:xfrm>
            <a:off x="11541989" y="6473956"/>
            <a:ext cx="540000" cy="360000"/>
          </a:xfrm>
          <a:prstGeom prst="rect">
            <a:avLst/>
          </a:prstGeom>
          <a:noFill/>
          <a:ln w="12700" cap="flat" cmpd="sng" algn="ctr">
            <a:noFill/>
            <a:prstDash val="solid"/>
            <a:miter lim="800000"/>
          </a:ln>
          <a:effectLst/>
        </p:spPr>
        <p:txBody>
          <a:bodyPr rot="0" spcFirstLastPara="0" vertOverflow="overflow" horzOverflow="overflow" vert="horz" wrap="square" lIns="91440" tIns="45720" rIns="91440" bIns="45720" numCol="1" spcCol="0" rtlCol="1" fromWordArt="0" anchor="ctr" anchorCtr="0" forceAA="0" compatLnSpc="1">
            <a:prstTxWarp prst="textNoShape">
              <a:avLst/>
            </a:prstTxWarp>
            <a:noAutofit/>
          </a:bodyPr>
          <a:lstStyle>
            <a:defPPr>
              <a:defRPr lang="he-IL"/>
            </a:defPPr>
            <a:lvl1pPr marL="0" algn="l" defTabSz="914400" rtl="0" eaLnBrk="1" latinLnBrk="0" hangingPunct="1">
              <a:defRPr lang="he-IL" sz="1100" kern="1200" smtClean="0">
                <a:solidFill>
                  <a:schemeClr val="bg1">
                    <a:lumMod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r" rtl="1">
              <a:defRPr/>
            </a:pPr>
            <a:fld id="{7A91BF3F-E284-4570-AC28-CDAE2F1A1EA1}" type="slidenum">
              <a:rPr lang="he-IL" smtClean="0">
                <a:solidFill>
                  <a:prstClr val="white">
                    <a:lumMod val="75000"/>
                  </a:prstClr>
                </a:solidFill>
              </a:rPr>
              <a:pPr algn="r" rtl="1">
                <a:defRPr/>
              </a:pPr>
              <a:t>7</a:t>
            </a:fld>
            <a:endParaRPr lang="he-IL" dirty="0">
              <a:solidFill>
                <a:prstClr val="white">
                  <a:lumMod val="75000"/>
                </a:prstClr>
              </a:solidFill>
            </a:endParaRPr>
          </a:p>
        </p:txBody>
      </p:sp>
      <p:sp>
        <p:nvSpPr>
          <p:cNvPr id="4" name="Rectangle 3">
            <a:extLst>
              <a:ext uri="{FF2B5EF4-FFF2-40B4-BE49-F238E27FC236}">
                <a16:creationId xmlns:a16="http://schemas.microsoft.com/office/drawing/2014/main" id="{28ACF3DB-E49D-0B4A-0333-815C695FA8C5}"/>
              </a:ext>
            </a:extLst>
          </p:cNvPr>
          <p:cNvSpPr/>
          <p:nvPr/>
        </p:nvSpPr>
        <p:spPr>
          <a:xfrm>
            <a:off x="1320802" y="191076"/>
            <a:ext cx="10614278" cy="5075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t"/>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0" cap="none" spc="0" normalizeH="0" baseline="0" noProof="0" dirty="0">
                <a:ln>
                  <a:noFill/>
                </a:ln>
                <a:solidFill>
                  <a:srgbClr val="104E88"/>
                </a:solidFill>
                <a:effectLst/>
                <a:uLnTx/>
                <a:uFillTx/>
                <a:latin typeface="Segoe UI" panose="020B0502040204020203" pitchFamily="34" charset="0"/>
                <a:cs typeface="Segoe UI" panose="020B0502040204020203" pitchFamily="34" charset="0"/>
                <a:sym typeface="Arial"/>
              </a:rPr>
              <a:t>מועד קבלת דוח התעבורה האחרון </a:t>
            </a:r>
            <a:r>
              <a:rPr kumimoji="0" lang="he-IL" i="0" u="none" strike="noStrike" kern="0" cap="none" spc="0" normalizeH="0" baseline="0" noProof="0" dirty="0">
                <a:ln>
                  <a:noFill/>
                </a:ln>
                <a:solidFill>
                  <a:srgbClr val="104E88"/>
                </a:solidFill>
                <a:effectLst/>
                <a:uLnTx/>
                <a:uFillTx/>
                <a:latin typeface="Segoe UI" panose="020B0502040204020203" pitchFamily="34" charset="0"/>
                <a:cs typeface="Segoe UI" panose="020B0502040204020203" pitchFamily="34" charset="0"/>
                <a:sym typeface="Arial"/>
              </a:rPr>
              <a:t>| סגמנטציה</a:t>
            </a:r>
            <a:endParaRPr kumimoji="0" lang="he-IL" sz="2800" i="0" u="none" strike="noStrike" kern="0" cap="none" spc="0" normalizeH="0" baseline="0" noProof="0" dirty="0">
              <a:ln>
                <a:noFill/>
              </a:ln>
              <a:solidFill>
                <a:srgbClr val="104E88"/>
              </a:solidFill>
              <a:effectLst/>
              <a:uLnTx/>
              <a:uFillTx/>
              <a:latin typeface="Segoe UI" panose="020B0502040204020203" pitchFamily="34" charset="0"/>
              <a:cs typeface="Segoe UI" panose="020B0502040204020203" pitchFamily="34" charset="0"/>
              <a:sym typeface="Arial"/>
            </a:endParaRPr>
          </a:p>
        </p:txBody>
      </p:sp>
      <p:sp>
        <p:nvSpPr>
          <p:cNvPr id="6" name="Rectangle 28">
            <a:extLst>
              <a:ext uri="{FF2B5EF4-FFF2-40B4-BE49-F238E27FC236}">
                <a16:creationId xmlns:a16="http://schemas.microsoft.com/office/drawing/2014/main" id="{5D966742-C057-5FB5-6C94-79406C5455C6}"/>
              </a:ext>
            </a:extLst>
          </p:cNvPr>
          <p:cNvSpPr/>
          <p:nvPr/>
        </p:nvSpPr>
        <p:spPr>
          <a:xfrm>
            <a:off x="1320802" y="6473956"/>
            <a:ext cx="10531248" cy="360000"/>
          </a:xfrm>
          <a:prstGeom prst="rect">
            <a:avLst/>
          </a:prstGeom>
          <a:noFill/>
          <a:ln>
            <a:noFill/>
          </a:ln>
        </p:spPr>
        <p:txBody>
          <a:bodyPr rot="0" spcFirstLastPara="0" vertOverflow="overflow" horzOverflow="overflow" vert="horz" wrap="square" lIns="91440" tIns="45720" rIns="91440" bIns="45720" numCol="1" spcCol="0" rtlCol="1" fromWordArt="0" anchor="ctr" anchorCtr="0" forceAA="0" compatLnSpc="1">
            <a:prstTxWarp prst="textNoShape">
              <a:avLst/>
            </a:prstTxWarp>
            <a:noAutofit/>
          </a:bodyPr>
          <a:lstStyle/>
          <a:p>
            <a:pPr lvl="0" algn="r" rtl="1">
              <a:defRPr/>
            </a:pPr>
            <a:r>
              <a:rPr lang="he-IL" sz="1000" dirty="0">
                <a:solidFill>
                  <a:prstClr val="white">
                    <a:lumMod val="65000"/>
                  </a:prstClr>
                </a:solidFill>
                <a:latin typeface="Segoe UI" panose="020B0502040204020203" pitchFamily="34" charset="0"/>
                <a:cs typeface="Segoe UI" panose="020B0502040204020203" pitchFamily="34" charset="0"/>
              </a:rPr>
              <a:t>"ככל שזכור לך, מתי קיבלת את דו"ח התעבורה שלך?"</a:t>
            </a:r>
          </a:p>
        </p:txBody>
      </p:sp>
      <p:pic>
        <p:nvPicPr>
          <p:cNvPr id="11" name="תמונה 10">
            <a:extLst>
              <a:ext uri="{FF2B5EF4-FFF2-40B4-BE49-F238E27FC236}">
                <a16:creationId xmlns:a16="http://schemas.microsoft.com/office/drawing/2014/main" id="{EB842306-E8BE-580D-A244-DD8F005CD693}"/>
              </a:ext>
            </a:extLst>
          </p:cNvPr>
          <p:cNvPicPr>
            <a:picLocks noChangeAspect="1"/>
          </p:cNvPicPr>
          <p:nvPr/>
        </p:nvPicPr>
        <p:blipFill>
          <a:blip r:embed="rId4"/>
          <a:stretch>
            <a:fillRect/>
          </a:stretch>
        </p:blipFill>
        <p:spPr>
          <a:xfrm>
            <a:off x="6145236" y="6635072"/>
            <a:ext cx="2629128" cy="160034"/>
          </a:xfrm>
          <a:prstGeom prst="rect">
            <a:avLst/>
          </a:prstGeom>
        </p:spPr>
      </p:pic>
      <p:graphicFrame>
        <p:nvGraphicFramePr>
          <p:cNvPr id="18" name="אובייקט 3">
            <a:extLst>
              <a:ext uri="{FF2B5EF4-FFF2-40B4-BE49-F238E27FC236}">
                <a16:creationId xmlns:a16="http://schemas.microsoft.com/office/drawing/2014/main" id="{7A098988-4D0F-094E-8C41-689C0FDFBB0B}"/>
              </a:ext>
            </a:extLst>
          </p:cNvPr>
          <p:cNvGraphicFramePr>
            <a:graphicFrameLocks noChangeAspect="1"/>
          </p:cNvGraphicFramePr>
          <p:nvPr>
            <p:extLst>
              <p:ext uri="{D42A27DB-BD31-4B8C-83A1-F6EECF244321}">
                <p14:modId xmlns:p14="http://schemas.microsoft.com/office/powerpoint/2010/main" val="2793820325"/>
              </p:ext>
            </p:extLst>
          </p:nvPr>
        </p:nvGraphicFramePr>
        <p:xfrm>
          <a:off x="551456" y="3499690"/>
          <a:ext cx="8373469" cy="108000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0" name="אובייקט 3">
            <a:extLst>
              <a:ext uri="{FF2B5EF4-FFF2-40B4-BE49-F238E27FC236}">
                <a16:creationId xmlns:a16="http://schemas.microsoft.com/office/drawing/2014/main" id="{A410F875-5F9F-CBB9-FAE3-180CC9300061}"/>
              </a:ext>
            </a:extLst>
          </p:cNvPr>
          <p:cNvGraphicFramePr>
            <a:graphicFrameLocks noChangeAspect="1"/>
          </p:cNvGraphicFramePr>
          <p:nvPr>
            <p:extLst>
              <p:ext uri="{D42A27DB-BD31-4B8C-83A1-F6EECF244321}">
                <p14:modId xmlns:p14="http://schemas.microsoft.com/office/powerpoint/2010/main" val="3677623729"/>
              </p:ext>
            </p:extLst>
          </p:nvPr>
        </p:nvGraphicFramePr>
        <p:xfrm>
          <a:off x="551456" y="4495524"/>
          <a:ext cx="8373469" cy="1080000"/>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21" name="אובייקט 3">
            <a:extLst>
              <a:ext uri="{FF2B5EF4-FFF2-40B4-BE49-F238E27FC236}">
                <a16:creationId xmlns:a16="http://schemas.microsoft.com/office/drawing/2014/main" id="{15DC43B9-C88A-403F-ED12-888AC644148B}"/>
              </a:ext>
            </a:extLst>
          </p:cNvPr>
          <p:cNvGraphicFramePr>
            <a:graphicFrameLocks noChangeAspect="1"/>
          </p:cNvGraphicFramePr>
          <p:nvPr>
            <p:extLst>
              <p:ext uri="{D42A27DB-BD31-4B8C-83A1-F6EECF244321}">
                <p14:modId xmlns:p14="http://schemas.microsoft.com/office/powerpoint/2010/main" val="1397841069"/>
              </p:ext>
            </p:extLst>
          </p:nvPr>
        </p:nvGraphicFramePr>
        <p:xfrm>
          <a:off x="551456" y="2451940"/>
          <a:ext cx="8373469" cy="1080000"/>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22" name="אובייקט 3">
            <a:extLst>
              <a:ext uri="{FF2B5EF4-FFF2-40B4-BE49-F238E27FC236}">
                <a16:creationId xmlns:a16="http://schemas.microsoft.com/office/drawing/2014/main" id="{B981BC06-24CF-3501-50EB-F7A9693746B0}"/>
              </a:ext>
            </a:extLst>
          </p:cNvPr>
          <p:cNvGraphicFramePr>
            <a:graphicFrameLocks noChangeAspect="1"/>
          </p:cNvGraphicFramePr>
          <p:nvPr>
            <p:extLst>
              <p:ext uri="{D42A27DB-BD31-4B8C-83A1-F6EECF244321}">
                <p14:modId xmlns:p14="http://schemas.microsoft.com/office/powerpoint/2010/main" val="3191445910"/>
              </p:ext>
            </p:extLst>
          </p:nvPr>
        </p:nvGraphicFramePr>
        <p:xfrm>
          <a:off x="551456" y="1451815"/>
          <a:ext cx="8373469" cy="1080000"/>
        </p:xfrm>
        <a:graphic>
          <a:graphicData uri="http://schemas.openxmlformats.org/drawingml/2006/chart">
            <c:chart xmlns:c="http://schemas.openxmlformats.org/drawingml/2006/chart" xmlns:r="http://schemas.openxmlformats.org/officeDocument/2006/relationships" r:id="rId8"/>
          </a:graphicData>
        </a:graphic>
      </p:graphicFrame>
      <p:sp>
        <p:nvSpPr>
          <p:cNvPr id="24" name="תיבת טקסט 23">
            <a:extLst>
              <a:ext uri="{FF2B5EF4-FFF2-40B4-BE49-F238E27FC236}">
                <a16:creationId xmlns:a16="http://schemas.microsoft.com/office/drawing/2014/main" id="{D67AC0AD-FFFC-1BAD-F241-D83071EC7FA1}"/>
              </a:ext>
            </a:extLst>
          </p:cNvPr>
          <p:cNvSpPr txBox="1"/>
          <p:nvPr/>
        </p:nvSpPr>
        <p:spPr>
          <a:xfrm>
            <a:off x="1462535" y="860646"/>
            <a:ext cx="2520000" cy="307777"/>
          </a:xfrm>
          <a:prstGeom prst="rect">
            <a:avLst/>
          </a:prstGeom>
          <a:noFill/>
        </p:spPr>
        <p:txBody>
          <a:bodyPr wrap="square" anchor="ctr">
            <a:spAutoFit/>
          </a:bodyPr>
          <a:lstStyle/>
          <a:p>
            <a:pPr algn="ctr" rtl="1" fontAlgn="ctr"/>
            <a:r>
              <a:rPr lang="he-IL" sz="1400" b="1" u="none" strike="noStrike" dirty="0">
                <a:effectLst/>
                <a:latin typeface="Segoe UI" panose="020B0502040204020203" pitchFamily="34" charset="0"/>
                <a:cs typeface="Segoe UI" panose="020B0502040204020203" pitchFamily="34" charset="0"/>
              </a:rPr>
              <a:t>לא ביקשו להישפט</a:t>
            </a:r>
          </a:p>
        </p:txBody>
      </p:sp>
      <p:sp>
        <p:nvSpPr>
          <p:cNvPr id="25" name="תיבת טקסט 24">
            <a:extLst>
              <a:ext uri="{FF2B5EF4-FFF2-40B4-BE49-F238E27FC236}">
                <a16:creationId xmlns:a16="http://schemas.microsoft.com/office/drawing/2014/main" id="{B72E49EC-0283-DF33-A67C-82B39F6AF15B}"/>
              </a:ext>
            </a:extLst>
          </p:cNvPr>
          <p:cNvSpPr txBox="1"/>
          <p:nvPr/>
        </p:nvSpPr>
        <p:spPr>
          <a:xfrm>
            <a:off x="5472488" y="819486"/>
            <a:ext cx="2520000" cy="307777"/>
          </a:xfrm>
          <a:prstGeom prst="rect">
            <a:avLst/>
          </a:prstGeom>
          <a:noFill/>
        </p:spPr>
        <p:txBody>
          <a:bodyPr wrap="square" anchor="ctr">
            <a:spAutoFit/>
          </a:bodyPr>
          <a:lstStyle/>
          <a:p>
            <a:pPr algn="ctr" rtl="1" fontAlgn="b"/>
            <a:r>
              <a:rPr lang="he-IL" sz="1400" b="1" u="none" strike="noStrike" dirty="0">
                <a:effectLst/>
                <a:latin typeface="Segoe UI" panose="020B0502040204020203" pitchFamily="34" charset="0"/>
                <a:cs typeface="Segoe UI" panose="020B0502040204020203" pitchFamily="34" charset="0"/>
              </a:rPr>
              <a:t>ביקשו להישפט</a:t>
            </a:r>
            <a:endParaRPr lang="he-IL" sz="1400" b="1" i="0" u="none" strike="noStrike" dirty="0">
              <a:solidFill>
                <a:srgbClr val="000000"/>
              </a:solidFill>
              <a:effectLst/>
              <a:latin typeface="Segoe UI" panose="020B0502040204020203" pitchFamily="34" charset="0"/>
              <a:cs typeface="Segoe UI" panose="020B0502040204020203" pitchFamily="34" charset="0"/>
            </a:endParaRPr>
          </a:p>
        </p:txBody>
      </p:sp>
      <p:cxnSp>
        <p:nvCxnSpPr>
          <p:cNvPr id="26" name="מחבר ישר 25">
            <a:extLst>
              <a:ext uri="{FF2B5EF4-FFF2-40B4-BE49-F238E27FC236}">
                <a16:creationId xmlns:a16="http://schemas.microsoft.com/office/drawing/2014/main" id="{A66C6A9A-077E-1416-5B32-13D1E497AF45}"/>
              </a:ext>
            </a:extLst>
          </p:cNvPr>
          <p:cNvCxnSpPr>
            <a:cxnSpLocks/>
          </p:cNvCxnSpPr>
          <p:nvPr/>
        </p:nvCxnSpPr>
        <p:spPr>
          <a:xfrm>
            <a:off x="4757308" y="803403"/>
            <a:ext cx="0" cy="5760000"/>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27" name="מחבר ישר 26">
            <a:extLst>
              <a:ext uri="{FF2B5EF4-FFF2-40B4-BE49-F238E27FC236}">
                <a16:creationId xmlns:a16="http://schemas.microsoft.com/office/drawing/2014/main" id="{8FFE5D13-8436-06FF-0A3D-908CCCD9C4D2}"/>
              </a:ext>
            </a:extLst>
          </p:cNvPr>
          <p:cNvCxnSpPr>
            <a:cxnSpLocks/>
          </p:cNvCxnSpPr>
          <p:nvPr/>
        </p:nvCxnSpPr>
        <p:spPr>
          <a:xfrm>
            <a:off x="2709433" y="1156524"/>
            <a:ext cx="0" cy="5400000"/>
          </a:xfrm>
          <a:prstGeom prst="line">
            <a:avLst/>
          </a:prstGeom>
          <a:ln>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28" name="מחבר ישר 27">
            <a:extLst>
              <a:ext uri="{FF2B5EF4-FFF2-40B4-BE49-F238E27FC236}">
                <a16:creationId xmlns:a16="http://schemas.microsoft.com/office/drawing/2014/main" id="{2B59C856-3E28-9397-C31F-2CB853909046}"/>
              </a:ext>
            </a:extLst>
          </p:cNvPr>
          <p:cNvCxnSpPr>
            <a:cxnSpLocks/>
          </p:cNvCxnSpPr>
          <p:nvPr/>
        </p:nvCxnSpPr>
        <p:spPr>
          <a:xfrm>
            <a:off x="6786133" y="1156524"/>
            <a:ext cx="0" cy="5400000"/>
          </a:xfrm>
          <a:prstGeom prst="line">
            <a:avLst/>
          </a:prstGeom>
          <a:ln>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29" name="תיבת טקסט 28">
            <a:extLst>
              <a:ext uri="{FF2B5EF4-FFF2-40B4-BE49-F238E27FC236}">
                <a16:creationId xmlns:a16="http://schemas.microsoft.com/office/drawing/2014/main" id="{E4817807-895B-3D34-4137-91FC9BEFE89D}"/>
              </a:ext>
            </a:extLst>
          </p:cNvPr>
          <p:cNvSpPr txBox="1"/>
          <p:nvPr/>
        </p:nvSpPr>
        <p:spPr>
          <a:xfrm>
            <a:off x="1091060" y="1204219"/>
            <a:ext cx="1080000" cy="276999"/>
          </a:xfrm>
          <a:prstGeom prst="rect">
            <a:avLst/>
          </a:prstGeom>
          <a:noFill/>
        </p:spPr>
        <p:txBody>
          <a:bodyPr wrap="square" anchor="ctr">
            <a:spAutoFit/>
          </a:bodyPr>
          <a:lstStyle/>
          <a:p>
            <a:pPr algn="ctr" rtl="1" fontAlgn="ctr"/>
            <a:r>
              <a:rPr lang="he-IL" sz="1200" u="none" strike="noStrike" dirty="0">
                <a:effectLst/>
                <a:latin typeface="Segoe UI" panose="020B0502040204020203" pitchFamily="34" charset="0"/>
                <a:cs typeface="Segoe UI" panose="020B0502040204020203" pitchFamily="34" charset="0"/>
              </a:rPr>
              <a:t>מגזר יהודי</a:t>
            </a:r>
          </a:p>
        </p:txBody>
      </p:sp>
      <p:sp>
        <p:nvSpPr>
          <p:cNvPr id="30" name="תיבת טקסט 29">
            <a:extLst>
              <a:ext uri="{FF2B5EF4-FFF2-40B4-BE49-F238E27FC236}">
                <a16:creationId xmlns:a16="http://schemas.microsoft.com/office/drawing/2014/main" id="{7D851012-BD77-50D1-7959-6DD792E84BA5}"/>
              </a:ext>
            </a:extLst>
          </p:cNvPr>
          <p:cNvSpPr txBox="1"/>
          <p:nvPr/>
        </p:nvSpPr>
        <p:spPr>
          <a:xfrm>
            <a:off x="3061375" y="1204219"/>
            <a:ext cx="1080000" cy="276999"/>
          </a:xfrm>
          <a:prstGeom prst="rect">
            <a:avLst/>
          </a:prstGeom>
          <a:noFill/>
        </p:spPr>
        <p:txBody>
          <a:bodyPr wrap="square" anchor="ctr">
            <a:spAutoFit/>
          </a:bodyPr>
          <a:lstStyle/>
          <a:p>
            <a:pPr algn="ctr" rtl="1" fontAlgn="ctr"/>
            <a:r>
              <a:rPr lang="he-IL" sz="1200" u="none" strike="noStrike" dirty="0">
                <a:effectLst/>
                <a:latin typeface="Segoe UI" panose="020B0502040204020203" pitchFamily="34" charset="0"/>
                <a:cs typeface="Segoe UI" panose="020B0502040204020203" pitchFamily="34" charset="0"/>
              </a:rPr>
              <a:t>מגזר ערבי</a:t>
            </a:r>
          </a:p>
        </p:txBody>
      </p:sp>
      <p:sp>
        <p:nvSpPr>
          <p:cNvPr id="31" name="תיבת טקסט 30">
            <a:extLst>
              <a:ext uri="{FF2B5EF4-FFF2-40B4-BE49-F238E27FC236}">
                <a16:creationId xmlns:a16="http://schemas.microsoft.com/office/drawing/2014/main" id="{C835D704-F952-0C56-07FC-949976BE0BB2}"/>
              </a:ext>
            </a:extLst>
          </p:cNvPr>
          <p:cNvSpPr txBox="1"/>
          <p:nvPr/>
        </p:nvSpPr>
        <p:spPr>
          <a:xfrm>
            <a:off x="5247042" y="1204219"/>
            <a:ext cx="1080000" cy="276999"/>
          </a:xfrm>
          <a:prstGeom prst="rect">
            <a:avLst/>
          </a:prstGeom>
          <a:noFill/>
        </p:spPr>
        <p:txBody>
          <a:bodyPr wrap="square" anchor="ctr">
            <a:spAutoFit/>
          </a:bodyPr>
          <a:lstStyle/>
          <a:p>
            <a:pPr algn="ctr" rtl="1" fontAlgn="ctr"/>
            <a:r>
              <a:rPr lang="he-IL" sz="1200" u="none" strike="noStrike" dirty="0">
                <a:effectLst/>
                <a:latin typeface="Segoe UI" panose="020B0502040204020203" pitchFamily="34" charset="0"/>
                <a:cs typeface="Segoe UI" panose="020B0502040204020203" pitchFamily="34" charset="0"/>
              </a:rPr>
              <a:t>מגזר יהודי</a:t>
            </a:r>
          </a:p>
        </p:txBody>
      </p:sp>
      <p:sp>
        <p:nvSpPr>
          <p:cNvPr id="32" name="תיבת טקסט 31">
            <a:extLst>
              <a:ext uri="{FF2B5EF4-FFF2-40B4-BE49-F238E27FC236}">
                <a16:creationId xmlns:a16="http://schemas.microsoft.com/office/drawing/2014/main" id="{C99A7FEE-0165-5CCC-4C7E-6BD1E11E4CDA}"/>
              </a:ext>
            </a:extLst>
          </p:cNvPr>
          <p:cNvSpPr txBox="1"/>
          <p:nvPr/>
        </p:nvSpPr>
        <p:spPr>
          <a:xfrm>
            <a:off x="7217357" y="1204219"/>
            <a:ext cx="1080000" cy="276999"/>
          </a:xfrm>
          <a:prstGeom prst="rect">
            <a:avLst/>
          </a:prstGeom>
          <a:noFill/>
        </p:spPr>
        <p:txBody>
          <a:bodyPr wrap="square" anchor="ctr">
            <a:spAutoFit/>
          </a:bodyPr>
          <a:lstStyle/>
          <a:p>
            <a:pPr algn="ctr" rtl="1" fontAlgn="ctr"/>
            <a:r>
              <a:rPr lang="he-IL" sz="1200" u="none" strike="noStrike" dirty="0">
                <a:effectLst/>
                <a:latin typeface="Segoe UI" panose="020B0502040204020203" pitchFamily="34" charset="0"/>
                <a:cs typeface="Segoe UI" panose="020B0502040204020203" pitchFamily="34" charset="0"/>
              </a:rPr>
              <a:t>מגזר ערבי</a:t>
            </a:r>
          </a:p>
        </p:txBody>
      </p:sp>
      <p:cxnSp>
        <p:nvCxnSpPr>
          <p:cNvPr id="33" name="Straight Connector 6">
            <a:extLst>
              <a:ext uri="{FF2B5EF4-FFF2-40B4-BE49-F238E27FC236}">
                <a16:creationId xmlns:a16="http://schemas.microsoft.com/office/drawing/2014/main" id="{AF4F6CAC-C51D-F9F4-C357-005B914B4D30}"/>
              </a:ext>
            </a:extLst>
          </p:cNvPr>
          <p:cNvCxnSpPr>
            <a:cxnSpLocks/>
          </p:cNvCxnSpPr>
          <p:nvPr/>
        </p:nvCxnSpPr>
        <p:spPr>
          <a:xfrm>
            <a:off x="8889068" y="806856"/>
            <a:ext cx="0" cy="5760000"/>
          </a:xfrm>
          <a:prstGeom prst="line">
            <a:avLst/>
          </a:prstGeom>
          <a:ln w="25400" cap="rnd">
            <a:solidFill>
              <a:schemeClr val="bg1">
                <a:lumMod val="85000"/>
              </a:schemeClr>
            </a:solidFill>
            <a:round/>
          </a:ln>
        </p:spPr>
        <p:style>
          <a:lnRef idx="1">
            <a:schemeClr val="accent1"/>
          </a:lnRef>
          <a:fillRef idx="0">
            <a:schemeClr val="accent1"/>
          </a:fillRef>
          <a:effectRef idx="0">
            <a:schemeClr val="accent1"/>
          </a:effectRef>
          <a:fontRef idx="minor">
            <a:schemeClr val="tx1"/>
          </a:fontRef>
        </p:style>
      </p:cxnSp>
      <p:sp>
        <p:nvSpPr>
          <p:cNvPr id="34" name="Rectangle 6">
            <a:extLst>
              <a:ext uri="{FF2B5EF4-FFF2-40B4-BE49-F238E27FC236}">
                <a16:creationId xmlns:a16="http://schemas.microsoft.com/office/drawing/2014/main" id="{23C89B64-49A7-8CDF-9DD4-945B7F585294}"/>
              </a:ext>
            </a:extLst>
          </p:cNvPr>
          <p:cNvSpPr/>
          <p:nvPr/>
        </p:nvSpPr>
        <p:spPr>
          <a:xfrm>
            <a:off x="8924926" y="950259"/>
            <a:ext cx="3157064" cy="5868130"/>
          </a:xfrm>
          <a:prstGeom prst="rect">
            <a:avLst/>
          </a:prstGeom>
        </p:spPr>
        <p:txBody>
          <a:bodyPr wrap="square" anchor="ctr">
            <a:noAutofit/>
          </a:bodyPr>
          <a:lstStyle/>
          <a:p>
            <a:pPr algn="ctr" rtl="1">
              <a:lnSpc>
                <a:spcPct val="150000"/>
              </a:lnSpc>
            </a:pPr>
            <a:r>
              <a:rPr lang="he-IL" sz="1600" dirty="0">
                <a:latin typeface="Segoe UI" panose="020B0502040204020203" pitchFamily="34" charset="0"/>
                <a:cs typeface="Segoe UI" panose="020B0502040204020203" pitchFamily="34" charset="0"/>
              </a:rPr>
              <a:t>גם כאן שונות בין קבוצות וקהלים שונים שלא מתחלק באופן אחיד.</a:t>
            </a:r>
          </a:p>
          <a:p>
            <a:pPr algn="ctr" rtl="1">
              <a:lnSpc>
                <a:spcPct val="150000"/>
              </a:lnSpc>
            </a:pPr>
            <a:r>
              <a:rPr lang="he-IL" sz="1600" dirty="0">
                <a:latin typeface="Segoe UI" panose="020B0502040204020203" pitchFamily="34" charset="0"/>
                <a:cs typeface="Segoe UI" panose="020B0502040204020203" pitchFamily="34" charset="0"/>
              </a:rPr>
              <a:t>ספציפית, יותר מקרים עדכניים בקרב מקבלי 2+ דוחות, מקבלי דוח לא פיזית משוטר, לא שילמו קנס </a:t>
            </a:r>
            <a:r>
              <a:rPr lang="he-IL" sz="1200" dirty="0">
                <a:latin typeface="Segoe UI" panose="020B0502040204020203" pitchFamily="34" charset="0"/>
                <a:cs typeface="Segoe UI" panose="020B0502040204020203" pitchFamily="34" charset="0"/>
              </a:rPr>
              <a:t>(לא ביקשו להישפט)</a:t>
            </a:r>
            <a:r>
              <a:rPr lang="he-IL" sz="1600" dirty="0">
                <a:latin typeface="Segoe UI" panose="020B0502040204020203" pitchFamily="34" charset="0"/>
                <a:cs typeface="Segoe UI" panose="020B0502040204020203" pitchFamily="34" charset="0"/>
              </a:rPr>
              <a:t>, לא התקיים דיון </a:t>
            </a:r>
            <a:r>
              <a:rPr lang="he-IL" sz="1200" dirty="0">
                <a:latin typeface="Segoe UI" panose="020B0502040204020203" pitchFamily="34" charset="0"/>
                <a:cs typeface="Segoe UI" panose="020B0502040204020203" pitchFamily="34" charset="0"/>
              </a:rPr>
              <a:t>(ביקשו להישפט) </a:t>
            </a:r>
            <a:r>
              <a:rPr lang="he-IL" sz="1600" dirty="0">
                <a:latin typeface="Segoe UI" panose="020B0502040204020203" pitchFamily="34" charset="0"/>
                <a:cs typeface="Segoe UI" panose="020B0502040204020203" pitchFamily="34" charset="0"/>
              </a:rPr>
              <a:t>ויורד עם העלייה בגיל המרואיין במגזר היהודי </a:t>
            </a:r>
            <a:r>
              <a:rPr lang="he-IL" sz="1200" dirty="0">
                <a:latin typeface="Segoe UI" panose="020B0502040204020203" pitchFamily="34" charset="0"/>
                <a:cs typeface="Segoe UI" panose="020B0502040204020203" pitchFamily="34" charset="0"/>
              </a:rPr>
              <a:t>(בשני הקהלים)</a:t>
            </a:r>
            <a:endParaRPr lang="en-US" sz="1200" dirty="0">
              <a:latin typeface="Segoe UI" panose="020B0502040204020203" pitchFamily="34" charset="0"/>
              <a:cs typeface="Segoe UI" panose="020B0502040204020203" pitchFamily="34" charset="0"/>
            </a:endParaRPr>
          </a:p>
          <a:p>
            <a:pPr algn="ctr" rtl="1">
              <a:lnSpc>
                <a:spcPct val="150000"/>
              </a:lnSpc>
            </a:pPr>
            <a:r>
              <a:rPr lang="he-IL" sz="1600" b="1" dirty="0">
                <a:solidFill>
                  <a:srgbClr val="1D1C64"/>
                </a:solidFill>
                <a:latin typeface="Segoe UI" panose="020B0502040204020203" pitchFamily="34" charset="0"/>
                <a:cs typeface="Segoe UI" panose="020B0502040204020203" pitchFamily="34" charset="0"/>
              </a:rPr>
              <a:t> </a:t>
            </a:r>
            <a:endParaRPr lang="en-US" sz="1600" dirty="0">
              <a:solidFill>
                <a:srgbClr val="1D1C64"/>
              </a:solidFill>
              <a:latin typeface="Segoe UI" panose="020B0502040204020203" pitchFamily="34" charset="0"/>
              <a:cs typeface="Segoe UI" panose="020B0502040204020203" pitchFamily="34" charset="0"/>
            </a:endParaRPr>
          </a:p>
        </p:txBody>
      </p:sp>
      <p:sp>
        <p:nvSpPr>
          <p:cNvPr id="2" name="Rectangle: Rounded Corners 54">
            <a:hlinkClick r:id="" action="ppaction://noaction"/>
            <a:extLst>
              <a:ext uri="{FF2B5EF4-FFF2-40B4-BE49-F238E27FC236}">
                <a16:creationId xmlns:a16="http://schemas.microsoft.com/office/drawing/2014/main" id="{A0F143D9-9A54-0871-90C1-0D5876F0E015}"/>
              </a:ext>
            </a:extLst>
          </p:cNvPr>
          <p:cNvSpPr/>
          <p:nvPr/>
        </p:nvSpPr>
        <p:spPr>
          <a:xfrm>
            <a:off x="190863" y="6651106"/>
            <a:ext cx="900000" cy="144000"/>
          </a:xfrm>
          <a:prstGeom prst="roundRect">
            <a:avLst>
              <a:gd name="adj" fmla="val 50000"/>
            </a:avLst>
          </a:prstGeom>
          <a:solidFill>
            <a:schemeClr val="bg1"/>
          </a:solidFill>
          <a:ln w="12700">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r" defTabSz="914400" rtl="1" eaLnBrk="1" latinLnBrk="0" hangingPunct="1">
              <a:defRPr sz="1800" kern="1200">
                <a:solidFill>
                  <a:schemeClr val="lt1"/>
                </a:solidFill>
                <a:latin typeface="+mn-lt"/>
                <a:ea typeface="+mn-ea"/>
                <a:cs typeface="+mn-cs"/>
              </a:defRPr>
            </a:lvl1pPr>
            <a:lvl2pPr marL="457200" algn="r" defTabSz="914400" rtl="1" eaLnBrk="1" latinLnBrk="0" hangingPunct="1">
              <a:defRPr sz="1800" kern="1200">
                <a:solidFill>
                  <a:schemeClr val="lt1"/>
                </a:solidFill>
                <a:latin typeface="+mn-lt"/>
                <a:ea typeface="+mn-ea"/>
                <a:cs typeface="+mn-cs"/>
              </a:defRPr>
            </a:lvl2pPr>
            <a:lvl3pPr marL="914400" algn="r" defTabSz="914400" rtl="1" eaLnBrk="1" latinLnBrk="0" hangingPunct="1">
              <a:defRPr sz="1800" kern="1200">
                <a:solidFill>
                  <a:schemeClr val="lt1"/>
                </a:solidFill>
                <a:latin typeface="+mn-lt"/>
                <a:ea typeface="+mn-ea"/>
                <a:cs typeface="+mn-cs"/>
              </a:defRPr>
            </a:lvl3pPr>
            <a:lvl4pPr marL="1371600" algn="r" defTabSz="914400" rtl="1" eaLnBrk="1" latinLnBrk="0" hangingPunct="1">
              <a:defRPr sz="1800" kern="1200">
                <a:solidFill>
                  <a:schemeClr val="lt1"/>
                </a:solidFill>
                <a:latin typeface="+mn-lt"/>
                <a:ea typeface="+mn-ea"/>
                <a:cs typeface="+mn-cs"/>
              </a:defRPr>
            </a:lvl4pPr>
            <a:lvl5pPr marL="1828800" algn="r" defTabSz="914400" rtl="1" eaLnBrk="1" latinLnBrk="0" hangingPunct="1">
              <a:defRPr sz="1800" kern="1200">
                <a:solidFill>
                  <a:schemeClr val="lt1"/>
                </a:solidFill>
                <a:latin typeface="+mn-lt"/>
                <a:ea typeface="+mn-ea"/>
                <a:cs typeface="+mn-cs"/>
              </a:defRPr>
            </a:lvl5pPr>
            <a:lvl6pPr marL="2286000" algn="r" defTabSz="914400" rtl="1" eaLnBrk="1" latinLnBrk="0" hangingPunct="1">
              <a:defRPr sz="1800" kern="1200">
                <a:solidFill>
                  <a:schemeClr val="lt1"/>
                </a:solidFill>
                <a:latin typeface="+mn-lt"/>
                <a:ea typeface="+mn-ea"/>
                <a:cs typeface="+mn-cs"/>
              </a:defRPr>
            </a:lvl6pPr>
            <a:lvl7pPr marL="2743200" algn="r" defTabSz="914400" rtl="1" eaLnBrk="1" latinLnBrk="0" hangingPunct="1">
              <a:defRPr sz="1800" kern="1200">
                <a:solidFill>
                  <a:schemeClr val="lt1"/>
                </a:solidFill>
                <a:latin typeface="+mn-lt"/>
                <a:ea typeface="+mn-ea"/>
                <a:cs typeface="+mn-cs"/>
              </a:defRPr>
            </a:lvl7pPr>
            <a:lvl8pPr marL="3200400" algn="r" defTabSz="914400" rtl="1" eaLnBrk="1" latinLnBrk="0" hangingPunct="1">
              <a:defRPr sz="1800" kern="1200">
                <a:solidFill>
                  <a:schemeClr val="lt1"/>
                </a:solidFill>
                <a:latin typeface="+mn-lt"/>
                <a:ea typeface="+mn-ea"/>
                <a:cs typeface="+mn-cs"/>
              </a:defRPr>
            </a:lvl8pPr>
            <a:lvl9pPr marL="3657600" algn="r" defTabSz="914400" rtl="1" eaLnBrk="1" latinLnBrk="0" hangingPunct="1">
              <a:defRPr sz="1800" kern="1200">
                <a:solidFill>
                  <a:schemeClr val="lt1"/>
                </a:solidFill>
                <a:latin typeface="+mn-lt"/>
                <a:ea typeface="+mn-ea"/>
                <a:cs typeface="+mn-cs"/>
              </a:defRPr>
            </a:lvl9pPr>
          </a:lstStyle>
          <a:p>
            <a:pPr marL="0" marR="0" lvl="0" indent="0" algn="ctr" defTabSz="914400" rtl="1" eaLnBrk="1" fontAlgn="base" latinLnBrk="0" hangingPunct="1">
              <a:lnSpc>
                <a:spcPct val="100000"/>
              </a:lnSpc>
              <a:spcBef>
                <a:spcPct val="0"/>
              </a:spcBef>
              <a:spcAft>
                <a:spcPct val="0"/>
              </a:spcAft>
              <a:buClrTx/>
              <a:buSzTx/>
              <a:buFontTx/>
              <a:buNone/>
              <a:tabLst/>
              <a:defRPr/>
            </a:pPr>
            <a:r>
              <a:rPr kumimoji="0" lang="he-IL" sz="1100" b="0" i="0" u="none" strike="noStrike" kern="1200" cap="none" spc="0" normalizeH="0" baseline="0" noProof="0" dirty="0">
                <a:ln>
                  <a:noFill/>
                </a:ln>
                <a:solidFill>
                  <a:schemeClr val="bg1">
                    <a:lumMod val="65000"/>
                  </a:schemeClr>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&lt;--- חזור</a:t>
            </a:r>
            <a:endParaRPr kumimoji="0" lang="en-IL" sz="1100" b="0" i="0" u="none" strike="noStrike" kern="1200" cap="none" spc="0" normalizeH="0" baseline="0" noProof="0" dirty="0">
              <a:ln>
                <a:noFill/>
              </a:ln>
              <a:solidFill>
                <a:schemeClr val="bg1">
                  <a:lumMod val="65000"/>
                </a:schemeClr>
              </a:solidFill>
              <a:effectLst/>
              <a:uLnTx/>
              <a:uFillTx/>
              <a:latin typeface="Segoe UI" panose="020B0502040204020203" pitchFamily="34" charset="0"/>
              <a:ea typeface="+mn-ea"/>
              <a:cs typeface="Segoe UI" panose="020B0502040204020203" pitchFamily="34" charset="0"/>
            </a:endParaRPr>
          </a:p>
        </p:txBody>
      </p:sp>
      <p:sp>
        <p:nvSpPr>
          <p:cNvPr id="3" name="תיבת טקסט 2">
            <a:extLst>
              <a:ext uri="{FF2B5EF4-FFF2-40B4-BE49-F238E27FC236}">
                <a16:creationId xmlns:a16="http://schemas.microsoft.com/office/drawing/2014/main" id="{094D51E4-BD10-F9E1-41B2-2990B108527D}"/>
              </a:ext>
            </a:extLst>
          </p:cNvPr>
          <p:cNvSpPr txBox="1"/>
          <p:nvPr/>
        </p:nvSpPr>
        <p:spPr>
          <a:xfrm>
            <a:off x="-18375" y="5860159"/>
            <a:ext cx="936000" cy="261610"/>
          </a:xfrm>
          <a:prstGeom prst="rect">
            <a:avLst/>
          </a:prstGeom>
          <a:noFill/>
        </p:spPr>
        <p:txBody>
          <a:bodyPr wrap="square" anchor="ctr">
            <a:spAutoFit/>
          </a:bodyPr>
          <a:lstStyle/>
          <a:p>
            <a:pPr algn="ctr" rtl="1" fontAlgn="ctr"/>
            <a:r>
              <a:rPr lang="he-IL" sz="1100" b="1" u="none" strike="noStrike" dirty="0">
                <a:effectLst/>
                <a:latin typeface="Segoe UI" panose="020B0502040204020203" pitchFamily="34" charset="0"/>
                <a:cs typeface="Segoe UI" panose="020B0502040204020203" pitchFamily="34" charset="0"/>
              </a:rPr>
              <a:t>גיל</a:t>
            </a:r>
          </a:p>
        </p:txBody>
      </p:sp>
      <p:sp>
        <p:nvSpPr>
          <p:cNvPr id="7" name="תיבת טקסט 6">
            <a:extLst>
              <a:ext uri="{FF2B5EF4-FFF2-40B4-BE49-F238E27FC236}">
                <a16:creationId xmlns:a16="http://schemas.microsoft.com/office/drawing/2014/main" id="{FFEAE9D6-320D-5572-DD47-B8EB72AB0BD1}"/>
              </a:ext>
            </a:extLst>
          </p:cNvPr>
          <p:cNvSpPr txBox="1"/>
          <p:nvPr/>
        </p:nvSpPr>
        <p:spPr>
          <a:xfrm>
            <a:off x="-18375" y="4746537"/>
            <a:ext cx="936000" cy="261610"/>
          </a:xfrm>
          <a:prstGeom prst="rect">
            <a:avLst/>
          </a:prstGeom>
          <a:noFill/>
        </p:spPr>
        <p:txBody>
          <a:bodyPr wrap="square" anchor="ctr">
            <a:spAutoFit/>
          </a:bodyPr>
          <a:lstStyle/>
          <a:p>
            <a:pPr algn="ctr" rtl="1" fontAlgn="ctr"/>
            <a:r>
              <a:rPr lang="he-IL" sz="1100" b="1" u="none" strike="noStrike" dirty="0">
                <a:effectLst/>
                <a:latin typeface="Segoe UI" panose="020B0502040204020203" pitchFamily="34" charset="0"/>
                <a:cs typeface="Segoe UI" panose="020B0502040204020203" pitchFamily="34" charset="0"/>
              </a:rPr>
              <a:t>מגדר</a:t>
            </a:r>
          </a:p>
        </p:txBody>
      </p:sp>
      <p:sp>
        <p:nvSpPr>
          <p:cNvPr id="8" name="תיבת טקסט 7">
            <a:extLst>
              <a:ext uri="{FF2B5EF4-FFF2-40B4-BE49-F238E27FC236}">
                <a16:creationId xmlns:a16="http://schemas.microsoft.com/office/drawing/2014/main" id="{4A8602A2-1618-984B-6675-54B5560C52EA}"/>
              </a:ext>
            </a:extLst>
          </p:cNvPr>
          <p:cNvSpPr txBox="1"/>
          <p:nvPr/>
        </p:nvSpPr>
        <p:spPr>
          <a:xfrm>
            <a:off x="-18375" y="3751424"/>
            <a:ext cx="936000" cy="430887"/>
          </a:xfrm>
          <a:prstGeom prst="rect">
            <a:avLst/>
          </a:prstGeom>
          <a:noFill/>
        </p:spPr>
        <p:txBody>
          <a:bodyPr wrap="square" anchor="ctr">
            <a:spAutoFit/>
          </a:bodyPr>
          <a:lstStyle/>
          <a:p>
            <a:pPr algn="ctr" rtl="1" fontAlgn="ctr"/>
            <a:r>
              <a:rPr lang="he-IL" sz="1100" b="1" u="none" strike="noStrike" dirty="0">
                <a:effectLst/>
                <a:latin typeface="Segoe UI" panose="020B0502040204020203" pitchFamily="34" charset="0"/>
                <a:cs typeface="Segoe UI" panose="020B0502040204020203" pitchFamily="34" charset="0"/>
              </a:rPr>
              <a:t>כמות</a:t>
            </a:r>
            <a:br>
              <a:rPr lang="en-US" sz="1100" b="1" u="none" strike="noStrike">
                <a:effectLst/>
                <a:latin typeface="Segoe UI" panose="020B0502040204020203" pitchFamily="34" charset="0"/>
                <a:cs typeface="Segoe UI" panose="020B0502040204020203" pitchFamily="34" charset="0"/>
              </a:rPr>
            </a:br>
            <a:r>
              <a:rPr lang="he-IL" sz="1100" b="1" u="none" strike="noStrike">
                <a:effectLst/>
                <a:latin typeface="Segoe UI" panose="020B0502040204020203" pitchFamily="34" charset="0"/>
                <a:cs typeface="Segoe UI" panose="020B0502040204020203" pitchFamily="34" charset="0"/>
              </a:rPr>
              <a:t>דוחות</a:t>
            </a:r>
            <a:endParaRPr lang="he-IL" sz="1100" b="1" u="none" strike="noStrike" dirty="0">
              <a:effectLst/>
              <a:latin typeface="Segoe UI" panose="020B0502040204020203" pitchFamily="34" charset="0"/>
              <a:cs typeface="Segoe UI" panose="020B0502040204020203" pitchFamily="34" charset="0"/>
            </a:endParaRPr>
          </a:p>
        </p:txBody>
      </p:sp>
      <p:sp>
        <p:nvSpPr>
          <p:cNvPr id="9" name="תיבת טקסט 8">
            <a:extLst>
              <a:ext uri="{FF2B5EF4-FFF2-40B4-BE49-F238E27FC236}">
                <a16:creationId xmlns:a16="http://schemas.microsoft.com/office/drawing/2014/main" id="{1804C0C0-57C7-BED4-EAE5-AF40F479815F}"/>
              </a:ext>
            </a:extLst>
          </p:cNvPr>
          <p:cNvSpPr txBox="1"/>
          <p:nvPr/>
        </p:nvSpPr>
        <p:spPr>
          <a:xfrm>
            <a:off x="-18375" y="2585336"/>
            <a:ext cx="936000" cy="600164"/>
          </a:xfrm>
          <a:prstGeom prst="rect">
            <a:avLst/>
          </a:prstGeom>
          <a:noFill/>
        </p:spPr>
        <p:txBody>
          <a:bodyPr wrap="square" anchor="ctr">
            <a:spAutoFit/>
          </a:bodyPr>
          <a:lstStyle/>
          <a:p>
            <a:pPr algn="ctr" rtl="1" fontAlgn="ctr"/>
            <a:r>
              <a:rPr lang="he-IL" sz="1100" b="1" u="none" strike="noStrike" dirty="0">
                <a:effectLst/>
                <a:latin typeface="Segoe UI" panose="020B0502040204020203" pitchFamily="34" charset="0"/>
                <a:cs typeface="Segoe UI" panose="020B0502040204020203" pitchFamily="34" charset="0"/>
              </a:rPr>
              <a:t>אופן </a:t>
            </a:r>
            <a:br>
              <a:rPr lang="en-US" sz="1100" b="1" u="none" strike="noStrike" dirty="0">
                <a:effectLst/>
                <a:latin typeface="Segoe UI" panose="020B0502040204020203" pitchFamily="34" charset="0"/>
                <a:cs typeface="Segoe UI" panose="020B0502040204020203" pitchFamily="34" charset="0"/>
              </a:rPr>
            </a:br>
            <a:r>
              <a:rPr lang="he-IL" sz="1100" b="1" u="none" strike="noStrike" dirty="0">
                <a:effectLst/>
                <a:latin typeface="Segoe UI" panose="020B0502040204020203" pitchFamily="34" charset="0"/>
                <a:cs typeface="Segoe UI" panose="020B0502040204020203" pitchFamily="34" charset="0"/>
              </a:rPr>
              <a:t>קבלת</a:t>
            </a:r>
            <a:br>
              <a:rPr lang="en-US" sz="1100" b="1" u="none" strike="noStrike">
                <a:effectLst/>
                <a:latin typeface="Segoe UI" panose="020B0502040204020203" pitchFamily="34" charset="0"/>
                <a:cs typeface="Segoe UI" panose="020B0502040204020203" pitchFamily="34" charset="0"/>
              </a:rPr>
            </a:br>
            <a:r>
              <a:rPr lang="he-IL" sz="1100" b="1" u="none" strike="noStrike">
                <a:effectLst/>
                <a:latin typeface="Segoe UI" panose="020B0502040204020203" pitchFamily="34" charset="0"/>
                <a:cs typeface="Segoe UI" panose="020B0502040204020203" pitchFamily="34" charset="0"/>
              </a:rPr>
              <a:t>הדוח</a:t>
            </a:r>
            <a:endParaRPr lang="he-IL" sz="1100" b="1" u="none" strike="noStrike" dirty="0">
              <a:effectLst/>
              <a:latin typeface="Segoe UI" panose="020B0502040204020203" pitchFamily="34" charset="0"/>
              <a:cs typeface="Segoe UI" panose="020B0502040204020203" pitchFamily="34" charset="0"/>
            </a:endParaRPr>
          </a:p>
        </p:txBody>
      </p:sp>
      <p:sp>
        <p:nvSpPr>
          <p:cNvPr id="10" name="תיבת טקסט 9">
            <a:extLst>
              <a:ext uri="{FF2B5EF4-FFF2-40B4-BE49-F238E27FC236}">
                <a16:creationId xmlns:a16="http://schemas.microsoft.com/office/drawing/2014/main" id="{038D8C04-4AB2-9379-B147-7CA26F72A061}"/>
              </a:ext>
            </a:extLst>
          </p:cNvPr>
          <p:cNvSpPr txBox="1"/>
          <p:nvPr/>
        </p:nvSpPr>
        <p:spPr>
          <a:xfrm>
            <a:off x="-54235" y="1341603"/>
            <a:ext cx="936000" cy="1015663"/>
          </a:xfrm>
          <a:prstGeom prst="rect">
            <a:avLst/>
          </a:prstGeom>
          <a:noFill/>
        </p:spPr>
        <p:txBody>
          <a:bodyPr wrap="square" anchor="ctr">
            <a:spAutoFit/>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he-IL" sz="1100" b="1" u="none" strike="noStrike" dirty="0">
                <a:effectLst/>
                <a:latin typeface="Segoe UI" panose="020B0502040204020203" pitchFamily="34" charset="0"/>
                <a:cs typeface="Segoe UI" panose="020B0502040204020203" pitchFamily="34" charset="0"/>
              </a:rPr>
              <a:t>תשלום קנס</a:t>
            </a:r>
            <a:br>
              <a:rPr lang="en-US" sz="1100" b="1" u="none" strike="noStrike">
                <a:effectLst/>
                <a:latin typeface="Segoe UI" panose="020B0502040204020203" pitchFamily="34" charset="0"/>
                <a:cs typeface="Segoe UI" panose="020B0502040204020203" pitchFamily="34" charset="0"/>
              </a:rPr>
            </a:br>
            <a:r>
              <a:rPr lang="he-IL" sz="900" b="1" u="none" strike="noStrike">
                <a:effectLst/>
                <a:latin typeface="Segoe UI" panose="020B0502040204020203" pitchFamily="34" charset="0"/>
                <a:cs typeface="Segoe UI" panose="020B0502040204020203" pitchFamily="34" charset="0"/>
              </a:rPr>
              <a:t> </a:t>
            </a:r>
            <a:r>
              <a:rPr lang="he-IL" sz="900" u="none" strike="noStrike">
                <a:effectLst/>
                <a:latin typeface="Segoe UI" panose="020B0502040204020203" pitchFamily="34" charset="0"/>
                <a:cs typeface="Segoe UI" panose="020B0502040204020203" pitchFamily="34" charset="0"/>
              </a:rPr>
              <a:t>(לא ביקשו להישפט)</a:t>
            </a:r>
            <a:br>
              <a:rPr lang="en-US" sz="1000" u="none" strike="noStrike">
                <a:effectLst/>
                <a:latin typeface="Segoe UI" panose="020B0502040204020203" pitchFamily="34" charset="0"/>
                <a:cs typeface="Segoe UI" panose="020B0502040204020203" pitchFamily="34" charset="0"/>
              </a:rPr>
            </a:br>
            <a:r>
              <a:rPr kumimoji="0" lang="he-IL" sz="1100" b="1"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דיון בפועל </a:t>
            </a:r>
            <a:r>
              <a:rPr kumimoji="0" lang="he-IL" sz="9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(ביקשו להישפט)</a:t>
            </a:r>
            <a:endParaRPr lang="he-IL" sz="1100" u="none" strike="noStrike" dirty="0">
              <a:effectLst/>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40685074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4">
                                            <p:txEl>
                                              <p:pRg st="1" end="1"/>
                                            </p:txEl>
                                          </p:spTgt>
                                        </p:tgtEl>
                                        <p:attrNameLst>
                                          <p:attrName>style.visibility</p:attrName>
                                        </p:attrNameLst>
                                      </p:cBhvr>
                                      <p:to>
                                        <p:strVal val="visible"/>
                                      </p:to>
                                    </p:set>
                                    <p:animEffect transition="in" filter="fade">
                                      <p:cBhvr>
                                        <p:cTn id="7" dur="500"/>
                                        <p:tgtEl>
                                          <p:spTgt spid="3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uiExpand="1" build="p"/>
    </p:bldLst>
  </p:timing>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31778A-4713-5B4C-2F92-B9F7B195377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1CE4BF1-74B6-65FC-300C-C88AA849E5DF}"/>
              </a:ext>
            </a:extLst>
          </p:cNvPr>
          <p:cNvSpPr>
            <a:spLocks noGrp="1"/>
          </p:cNvSpPr>
          <p:nvPr>
            <p:ph type="sldNum" sz="quarter" idx="4"/>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7A91BF3F-E284-4570-AC28-CDAE2F1A1EA1}" type="slidenum">
              <a:rPr kumimoji="0" lang="he-IL" sz="1100" b="0" i="0" u="none" strike="noStrike" kern="1200" cap="none" spc="0" normalizeH="0" baseline="0" noProof="0" smtClean="0">
                <a:ln>
                  <a:noFill/>
                </a:ln>
                <a:solidFill>
                  <a:prstClr val="white">
                    <a:lumMod val="75000"/>
                  </a:prstClr>
                </a:solidFill>
                <a:effectLst/>
                <a:uLnTx/>
                <a:uFillTx/>
                <a:latin typeface="Segoe UI" panose="020B0502040204020203" pitchFamily="34" charset="0"/>
                <a:ea typeface="+mn-ea"/>
                <a:cs typeface="Segoe UI" panose="020B0502040204020203"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8</a:t>
            </a:fld>
            <a:endParaRPr kumimoji="0" lang="he-IL" sz="1100" b="0" i="0" u="none" strike="noStrike" kern="1200" cap="none" spc="0" normalizeH="0" baseline="0" noProof="0" dirty="0">
              <a:ln>
                <a:noFill/>
              </a:ln>
              <a:solidFill>
                <a:prstClr val="white">
                  <a:lumMod val="75000"/>
                </a:prstClr>
              </a:solidFill>
              <a:effectLst/>
              <a:uLnTx/>
              <a:uFillTx/>
              <a:latin typeface="Segoe UI" panose="020B0502040204020203" pitchFamily="34" charset="0"/>
              <a:ea typeface="+mn-ea"/>
              <a:cs typeface="Segoe UI" panose="020B0502040204020203" pitchFamily="34" charset="0"/>
            </a:endParaRPr>
          </a:p>
        </p:txBody>
      </p:sp>
      <p:sp>
        <p:nvSpPr>
          <p:cNvPr id="17" name="Rectangle 28">
            <a:extLst>
              <a:ext uri="{FF2B5EF4-FFF2-40B4-BE49-F238E27FC236}">
                <a16:creationId xmlns:a16="http://schemas.microsoft.com/office/drawing/2014/main" id="{C03117CE-25CB-2B27-3F49-FED430B7053F}"/>
              </a:ext>
            </a:extLst>
          </p:cNvPr>
          <p:cNvSpPr/>
          <p:nvPr/>
        </p:nvSpPr>
        <p:spPr>
          <a:xfrm>
            <a:off x="2796634" y="6473005"/>
            <a:ext cx="9000000" cy="360000"/>
          </a:xfrm>
          <a:prstGeom prst="rect">
            <a:avLst/>
          </a:prstGeom>
          <a:noFill/>
          <a:ln>
            <a:noFill/>
          </a:ln>
        </p:spPr>
        <p:txBody>
          <a:bodyPr rot="0" spcFirstLastPara="0" vertOverflow="overflow" horzOverflow="overflow" vert="horz" wrap="square" lIns="91440" tIns="45720" rIns="91440" bIns="45720" numCol="1" spcCol="0" rtlCol="1" fromWordArt="0" anchor="ctr" anchorCtr="0" forceAA="0" compatLnSpc="1">
            <a:prstTxWarp prst="textNoShape">
              <a:avLst/>
            </a:prstTxWarp>
            <a:noAutofit/>
          </a:bodyPr>
          <a:lstStyle/>
          <a:p>
            <a:pPr lvl="0" algn="r" rtl="1">
              <a:defRPr/>
            </a:pPr>
            <a:r>
              <a:rPr lang="he-IL" sz="1000" dirty="0">
                <a:solidFill>
                  <a:prstClr val="white">
                    <a:lumMod val="65000"/>
                  </a:prstClr>
                </a:solidFill>
                <a:latin typeface="Segoe UI" panose="020B0502040204020203" pitchFamily="34" charset="0"/>
                <a:cs typeface="Segoe UI" panose="020B0502040204020203" pitchFamily="34" charset="0"/>
              </a:rPr>
              <a:t>"איזה סוג דו"ח תעבורה קיבלת?"</a:t>
            </a:r>
          </a:p>
        </p:txBody>
      </p:sp>
      <p:sp>
        <p:nvSpPr>
          <p:cNvPr id="7" name="Rectangle 3">
            <a:extLst>
              <a:ext uri="{FF2B5EF4-FFF2-40B4-BE49-F238E27FC236}">
                <a16:creationId xmlns:a16="http://schemas.microsoft.com/office/drawing/2014/main" id="{7A6074C1-34B4-3742-D5E9-400DE962EF5D}"/>
              </a:ext>
            </a:extLst>
          </p:cNvPr>
          <p:cNvSpPr/>
          <p:nvPr/>
        </p:nvSpPr>
        <p:spPr>
          <a:xfrm>
            <a:off x="1320802" y="191076"/>
            <a:ext cx="10614278" cy="5075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t"/>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0" cap="none" spc="0" normalizeH="0" baseline="0" noProof="0" dirty="0">
                <a:ln>
                  <a:noFill/>
                </a:ln>
                <a:solidFill>
                  <a:srgbClr val="104E88"/>
                </a:solidFill>
                <a:effectLst/>
                <a:uLnTx/>
                <a:uFillTx/>
                <a:latin typeface="Segoe UI" panose="020B0502040204020203" pitchFamily="34" charset="0"/>
                <a:cs typeface="Segoe UI" panose="020B0502040204020203" pitchFamily="34" charset="0"/>
                <a:sym typeface="Arial"/>
              </a:rPr>
              <a:t>סוג הדוח</a:t>
            </a:r>
          </a:p>
        </p:txBody>
      </p:sp>
      <p:sp>
        <p:nvSpPr>
          <p:cNvPr id="3" name="Rectangle 6">
            <a:extLst>
              <a:ext uri="{FF2B5EF4-FFF2-40B4-BE49-F238E27FC236}">
                <a16:creationId xmlns:a16="http://schemas.microsoft.com/office/drawing/2014/main" id="{86DF2418-44A6-49F8-396E-74B706972055}"/>
              </a:ext>
            </a:extLst>
          </p:cNvPr>
          <p:cNvSpPr/>
          <p:nvPr/>
        </p:nvSpPr>
        <p:spPr>
          <a:xfrm>
            <a:off x="13298" y="4895825"/>
            <a:ext cx="12192000" cy="1440000"/>
          </a:xfrm>
          <a:prstGeom prst="rect">
            <a:avLst/>
          </a:prstGeom>
        </p:spPr>
        <p:txBody>
          <a:bodyPr wrap="square" anchor="ctr">
            <a:noAutofit/>
          </a:bodyPr>
          <a:lstStyle/>
          <a:p>
            <a:pPr algn="ctr" rtl="1">
              <a:lnSpc>
                <a:spcPct val="150000"/>
              </a:lnSpc>
            </a:pPr>
            <a:r>
              <a:rPr lang="he-IL" sz="1400" b="1" dirty="0">
                <a:latin typeface="Segoe UI" panose="020B0502040204020203" pitchFamily="34" charset="0"/>
                <a:cs typeface="Segoe UI" panose="020B0502040204020203" pitchFamily="34" charset="0"/>
              </a:rPr>
              <a:t>"רוחבית" </a:t>
            </a:r>
            <a:r>
              <a:rPr lang="he-IL" sz="1400" dirty="0">
                <a:latin typeface="Segoe UI" panose="020B0502040204020203" pitchFamily="34" charset="0"/>
                <a:cs typeface="Segoe UI" panose="020B0502040204020203" pitchFamily="34" charset="0"/>
              </a:rPr>
              <a:t>סוגי הדוחות הנפוצים ביותר הם בגין מהירות ושימוש בטלפון, ואחריהם נסיעה בנתיב תחבורה ציבורית. ובין הקהלים השונים...</a:t>
            </a:r>
          </a:p>
          <a:p>
            <a:pPr algn="ctr" rtl="1">
              <a:lnSpc>
                <a:spcPct val="150000"/>
              </a:lnSpc>
            </a:pPr>
            <a:r>
              <a:rPr lang="he-IL" sz="1400" b="1" dirty="0">
                <a:latin typeface="Segoe UI" panose="020B0502040204020203" pitchFamily="34" charset="0"/>
                <a:cs typeface="Segoe UI" panose="020B0502040204020203" pitchFamily="34" charset="0"/>
              </a:rPr>
              <a:t>לא ביקשו להישפט </a:t>
            </a:r>
            <a:r>
              <a:rPr lang="he-IL" sz="1400" dirty="0">
                <a:latin typeface="Segoe UI" panose="020B0502040204020203" pitchFamily="34" charset="0"/>
                <a:cs typeface="Segoe UI" panose="020B0502040204020203" pitchFamily="34" charset="0"/>
              </a:rPr>
              <a:t>עם יותר דוחות נסיעה בנתיב </a:t>
            </a:r>
            <a:r>
              <a:rPr lang="he-IL" sz="1400" dirty="0" err="1">
                <a:latin typeface="Segoe UI" panose="020B0502040204020203" pitchFamily="34" charset="0"/>
                <a:cs typeface="Segoe UI" panose="020B0502040204020203" pitchFamily="34" charset="0"/>
              </a:rPr>
              <a:t>תחב"צ</a:t>
            </a:r>
            <a:r>
              <a:rPr lang="he-IL" sz="1400" dirty="0">
                <a:latin typeface="Segoe UI" panose="020B0502040204020203" pitchFamily="34" charset="0"/>
                <a:cs typeface="Segoe UI" panose="020B0502040204020203" pitchFamily="34" charset="0"/>
              </a:rPr>
              <a:t> ומהירות | </a:t>
            </a:r>
            <a:r>
              <a:rPr lang="he-IL" sz="1400" b="1" dirty="0">
                <a:latin typeface="Segoe UI" panose="020B0502040204020203" pitchFamily="34" charset="0"/>
                <a:cs typeface="Segoe UI" panose="020B0502040204020203" pitchFamily="34" charset="0"/>
              </a:rPr>
              <a:t>המבקשים להישפט </a:t>
            </a:r>
            <a:r>
              <a:rPr lang="he-IL" sz="1400" dirty="0">
                <a:latin typeface="Segoe UI" panose="020B0502040204020203" pitchFamily="34" charset="0"/>
                <a:cs typeface="Segoe UI" panose="020B0502040204020203" pitchFamily="34" charset="0"/>
              </a:rPr>
              <a:t>עם יותר דוחות שימוש בטלפון ואור אדום.</a:t>
            </a:r>
            <a:br>
              <a:rPr lang="en-US" sz="1400" dirty="0">
                <a:latin typeface="Segoe UI" panose="020B0502040204020203" pitchFamily="34" charset="0"/>
                <a:cs typeface="Segoe UI" panose="020B0502040204020203" pitchFamily="34" charset="0"/>
              </a:rPr>
            </a:br>
            <a:r>
              <a:rPr lang="he-IL" sz="1400" b="1" dirty="0">
                <a:latin typeface="Segoe UI" panose="020B0502040204020203" pitchFamily="34" charset="0"/>
                <a:cs typeface="Segoe UI" panose="020B0502040204020203" pitchFamily="34" charset="0"/>
              </a:rPr>
              <a:t>ב</a:t>
            </a:r>
            <a:r>
              <a:rPr lang="he-IL" sz="1400" b="1" dirty="0">
                <a:solidFill>
                  <a:prstClr val="black"/>
                </a:solidFill>
                <a:latin typeface="Segoe UI" panose="020B0502040204020203" pitchFamily="34" charset="0"/>
                <a:cs typeface="Segoe UI" panose="020B0502040204020203" pitchFamily="34" charset="0"/>
              </a:rPr>
              <a:t>מגזר היהודי </a:t>
            </a:r>
            <a:r>
              <a:rPr lang="he-IL" sz="1400" dirty="0">
                <a:solidFill>
                  <a:prstClr val="black"/>
                </a:solidFill>
                <a:latin typeface="Segoe UI" panose="020B0502040204020203" pitchFamily="34" charset="0"/>
                <a:cs typeface="Segoe UI" panose="020B0502040204020203" pitchFamily="34" charset="0"/>
              </a:rPr>
              <a:t>הרבה יותר דוחות נסיעה בנתיב </a:t>
            </a:r>
            <a:r>
              <a:rPr lang="he-IL" sz="1400" dirty="0" err="1">
                <a:solidFill>
                  <a:prstClr val="black"/>
                </a:solidFill>
                <a:latin typeface="Segoe UI" panose="020B0502040204020203" pitchFamily="34" charset="0"/>
                <a:cs typeface="Segoe UI" panose="020B0502040204020203" pitchFamily="34" charset="0"/>
              </a:rPr>
              <a:t>תחב"צ</a:t>
            </a:r>
            <a:r>
              <a:rPr lang="he-IL" sz="1400" dirty="0">
                <a:solidFill>
                  <a:prstClr val="black"/>
                </a:solidFill>
                <a:latin typeface="Segoe UI" panose="020B0502040204020203" pitchFamily="34" charset="0"/>
                <a:cs typeface="Segoe UI" panose="020B0502040204020203" pitchFamily="34" charset="0"/>
              </a:rPr>
              <a:t> וקצת יותר מהירות | </a:t>
            </a:r>
            <a:r>
              <a:rPr lang="he-IL" sz="1400" b="1" dirty="0">
                <a:solidFill>
                  <a:prstClr val="black"/>
                </a:solidFill>
                <a:latin typeface="Segoe UI" panose="020B0502040204020203" pitchFamily="34" charset="0"/>
                <a:cs typeface="Segoe UI" panose="020B0502040204020203" pitchFamily="34" charset="0"/>
              </a:rPr>
              <a:t>ובמגזר הערבי </a:t>
            </a:r>
            <a:r>
              <a:rPr lang="he-IL" sz="1400" dirty="0">
                <a:solidFill>
                  <a:prstClr val="black"/>
                </a:solidFill>
                <a:latin typeface="Segoe UI" panose="020B0502040204020203" pitchFamily="34" charset="0"/>
                <a:cs typeface="Segoe UI" panose="020B0502040204020203" pitchFamily="34" charset="0"/>
              </a:rPr>
              <a:t>יותר דוחות שימוש בטלפון, חגורת בטיחות, אור אדום ונסיעה בשוליים. </a:t>
            </a:r>
          </a:p>
          <a:p>
            <a:pPr algn="ctr" rtl="1">
              <a:lnSpc>
                <a:spcPct val="150000"/>
              </a:lnSpc>
            </a:pPr>
            <a:r>
              <a:rPr lang="he-IL" sz="1400" b="1" dirty="0">
                <a:solidFill>
                  <a:srgbClr val="1D1C64"/>
                </a:solidFill>
                <a:latin typeface="Segoe UI" panose="020B0502040204020203" pitchFamily="34" charset="0"/>
                <a:cs typeface="Segoe UI" panose="020B0502040204020203" pitchFamily="34" charset="0"/>
              </a:rPr>
              <a:t>מומלץ לשקול לתת עדיפות ולהציג באתר קודם את המידע, החלופות הרלוונטיות ודוגמאות מותאמות לסוגי העבירות השכיחים בפועל</a:t>
            </a:r>
            <a:r>
              <a:rPr lang="en-US" sz="1400" b="1" dirty="0">
                <a:solidFill>
                  <a:srgbClr val="1D1C64"/>
                </a:solidFill>
                <a:latin typeface="Segoe UI" panose="020B0502040204020203" pitchFamily="34" charset="0"/>
                <a:cs typeface="Segoe UI" panose="020B0502040204020203" pitchFamily="34" charset="0"/>
              </a:rPr>
              <a:t> - </a:t>
            </a:r>
            <a:r>
              <a:rPr lang="he-IL" sz="1400" b="1" dirty="0">
                <a:solidFill>
                  <a:srgbClr val="1D1C64"/>
                </a:solidFill>
                <a:latin typeface="Segoe UI" panose="020B0502040204020203" pitchFamily="34" charset="0"/>
                <a:cs typeface="Segoe UI" panose="020B0502040204020203" pitchFamily="34" charset="0"/>
              </a:rPr>
              <a:t>בעיקר מהירות, שימוש בטלפון </a:t>
            </a:r>
            <a:r>
              <a:rPr lang="he-IL" sz="1400" b="1" dirty="0" err="1">
                <a:solidFill>
                  <a:srgbClr val="1D1C64"/>
                </a:solidFill>
                <a:latin typeface="Segoe UI" panose="020B0502040204020203" pitchFamily="34" charset="0"/>
                <a:cs typeface="Segoe UI" panose="020B0502040204020203" pitchFamily="34" charset="0"/>
              </a:rPr>
              <a:t>ונת"צ</a:t>
            </a:r>
            <a:r>
              <a:rPr lang="he-IL" sz="1400" b="1" dirty="0">
                <a:solidFill>
                  <a:srgbClr val="1D1C64"/>
                </a:solidFill>
                <a:latin typeface="Segoe UI" panose="020B0502040204020203" pitchFamily="34" charset="0"/>
                <a:cs typeface="Segoe UI" panose="020B0502040204020203" pitchFamily="34" charset="0"/>
              </a:rPr>
              <a:t> + בניית מסלולי בירור מותאמי-עבירה בבית הדין הדיגיטלי. כגון, נסיעה בנתיב  </a:t>
            </a:r>
            <a:r>
              <a:rPr lang="he-IL" sz="1400" b="1" dirty="0" err="1">
                <a:solidFill>
                  <a:srgbClr val="1D1C64"/>
                </a:solidFill>
                <a:latin typeface="Segoe UI" panose="020B0502040204020203" pitchFamily="34" charset="0"/>
                <a:cs typeface="Segoe UI" panose="020B0502040204020203" pitchFamily="34" charset="0"/>
              </a:rPr>
              <a:t>תחב"צ</a:t>
            </a:r>
            <a:r>
              <a:rPr lang="he-IL" sz="1400" b="1" dirty="0">
                <a:solidFill>
                  <a:srgbClr val="1D1C64"/>
                </a:solidFill>
                <a:latin typeface="Segoe UI" panose="020B0502040204020203" pitchFamily="34" charset="0"/>
                <a:cs typeface="Segoe UI" panose="020B0502040204020203" pitchFamily="34" charset="0"/>
              </a:rPr>
              <a:t> </a:t>
            </a:r>
            <a:r>
              <a:rPr lang="he-IL" sz="1200" dirty="0">
                <a:solidFill>
                  <a:srgbClr val="1D1C64"/>
                </a:solidFill>
                <a:latin typeface="Segoe UI" panose="020B0502040204020203" pitchFamily="34" charset="0"/>
                <a:cs typeface="Segoe UI" panose="020B0502040204020203" pitchFamily="34" charset="0"/>
              </a:rPr>
              <a:t> (מצולמת, ברורה) </a:t>
            </a:r>
            <a:r>
              <a:rPr lang="he-IL" sz="1400" b="1" dirty="0">
                <a:solidFill>
                  <a:srgbClr val="1D1C64"/>
                </a:solidFill>
                <a:latin typeface="Segoe UI" panose="020B0502040204020203" pitchFamily="34" charset="0"/>
                <a:cs typeface="Segoe UI" panose="020B0502040204020203" pitchFamily="34" charset="0"/>
              </a:rPr>
              <a:t>מצריכה</a:t>
            </a:r>
            <a:br>
              <a:rPr lang="en-US" sz="1400" b="1">
                <a:solidFill>
                  <a:srgbClr val="1D1C64"/>
                </a:solidFill>
                <a:latin typeface="Segoe UI" panose="020B0502040204020203" pitchFamily="34" charset="0"/>
                <a:cs typeface="Segoe UI" panose="020B0502040204020203" pitchFamily="34" charset="0"/>
              </a:rPr>
            </a:br>
            <a:r>
              <a:rPr lang="he-IL" sz="1400" b="1">
                <a:solidFill>
                  <a:srgbClr val="1D1C64"/>
                </a:solidFill>
                <a:latin typeface="Segoe UI" panose="020B0502040204020203" pitchFamily="34" charset="0"/>
                <a:cs typeface="Segoe UI" panose="020B0502040204020203" pitchFamily="34" charset="0"/>
              </a:rPr>
              <a:t>הסבר </a:t>
            </a:r>
            <a:r>
              <a:rPr lang="he-IL" sz="1400" b="1" dirty="0">
                <a:solidFill>
                  <a:srgbClr val="1D1C64"/>
                </a:solidFill>
                <a:latin typeface="Segoe UI" panose="020B0502040204020203" pitchFamily="34" charset="0"/>
                <a:cs typeface="Segoe UI" panose="020B0502040204020203" pitchFamily="34" charset="0"/>
              </a:rPr>
              <a:t>על הגינות ההכרעה, ועבירת שימוש בטלפון </a:t>
            </a:r>
            <a:r>
              <a:rPr lang="he-IL" sz="1100" dirty="0">
                <a:solidFill>
                  <a:srgbClr val="1D1C64"/>
                </a:solidFill>
                <a:latin typeface="Segoe UI" panose="020B0502040204020203" pitchFamily="34" charset="0"/>
                <a:cs typeface="Segoe UI" panose="020B0502040204020203" pitchFamily="34" charset="0"/>
              </a:rPr>
              <a:t>(ספקות לגיטימיות) </a:t>
            </a:r>
            <a:r>
              <a:rPr lang="he-IL" sz="1400" b="1" dirty="0">
                <a:solidFill>
                  <a:srgbClr val="1D1C64"/>
                </a:solidFill>
                <a:latin typeface="Segoe UI" panose="020B0502040204020203" pitchFamily="34" charset="0"/>
                <a:cs typeface="Segoe UI" panose="020B0502040204020203" pitchFamily="34" charset="0"/>
              </a:rPr>
              <a:t>מצריכה מנגנון ביקורת ראיות פשוט וכו'</a:t>
            </a:r>
            <a:endParaRPr lang="en-US" sz="1400" dirty="0">
              <a:solidFill>
                <a:srgbClr val="1D1C64"/>
              </a:solidFill>
              <a:latin typeface="Segoe UI" panose="020B0502040204020203" pitchFamily="34" charset="0"/>
              <a:cs typeface="Segoe UI" panose="020B0502040204020203" pitchFamily="34" charset="0"/>
            </a:endParaRPr>
          </a:p>
        </p:txBody>
      </p:sp>
      <p:graphicFrame>
        <p:nvGraphicFramePr>
          <p:cNvPr id="4" name="אובייקט 3">
            <a:extLst>
              <a:ext uri="{FF2B5EF4-FFF2-40B4-BE49-F238E27FC236}">
                <a16:creationId xmlns:a16="http://schemas.microsoft.com/office/drawing/2014/main" id="{1597BAC3-1CBE-2AE1-0722-329F703B9BF2}"/>
              </a:ext>
            </a:extLst>
          </p:cNvPr>
          <p:cNvGraphicFramePr>
            <a:graphicFrameLocks noChangeAspect="1"/>
          </p:cNvGraphicFramePr>
          <p:nvPr>
            <p:extLst>
              <p:ext uri="{D42A27DB-BD31-4B8C-83A1-F6EECF244321}">
                <p14:modId xmlns:p14="http://schemas.microsoft.com/office/powerpoint/2010/main" val="1486916053"/>
              </p:ext>
            </p:extLst>
          </p:nvPr>
        </p:nvGraphicFramePr>
        <p:xfrm>
          <a:off x="161058" y="1246068"/>
          <a:ext cx="3844883" cy="3492431"/>
        </p:xfrm>
        <a:graphic>
          <a:graphicData uri="http://schemas.openxmlformats.org/drawingml/2006/chart">
            <c:chart xmlns:c="http://schemas.openxmlformats.org/drawingml/2006/chart" xmlns:r="http://schemas.openxmlformats.org/officeDocument/2006/relationships" r:id="rId2"/>
          </a:graphicData>
        </a:graphic>
      </p:graphicFrame>
      <p:cxnSp>
        <p:nvCxnSpPr>
          <p:cNvPr id="5" name="מחבר ישר 4">
            <a:extLst>
              <a:ext uri="{FF2B5EF4-FFF2-40B4-BE49-F238E27FC236}">
                <a16:creationId xmlns:a16="http://schemas.microsoft.com/office/drawing/2014/main" id="{CD68ED69-A41D-6F4A-6699-355707D87746}"/>
              </a:ext>
            </a:extLst>
          </p:cNvPr>
          <p:cNvCxnSpPr>
            <a:cxnSpLocks/>
          </p:cNvCxnSpPr>
          <p:nvPr/>
        </p:nvCxnSpPr>
        <p:spPr>
          <a:xfrm>
            <a:off x="6109298" y="797377"/>
            <a:ext cx="0" cy="3879395"/>
          </a:xfrm>
          <a:prstGeom prst="line">
            <a:avLst/>
          </a:prstGeom>
          <a:ln>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8" name="תיבת טקסט 7">
            <a:extLst>
              <a:ext uri="{FF2B5EF4-FFF2-40B4-BE49-F238E27FC236}">
                <a16:creationId xmlns:a16="http://schemas.microsoft.com/office/drawing/2014/main" id="{D81D446E-124E-9718-6CFB-589871421CB8}"/>
              </a:ext>
            </a:extLst>
          </p:cNvPr>
          <p:cNvSpPr txBox="1"/>
          <p:nvPr/>
        </p:nvSpPr>
        <p:spPr>
          <a:xfrm>
            <a:off x="2138810" y="922909"/>
            <a:ext cx="2520000" cy="307777"/>
          </a:xfrm>
          <a:prstGeom prst="rect">
            <a:avLst/>
          </a:prstGeom>
          <a:noFill/>
        </p:spPr>
        <p:txBody>
          <a:bodyPr wrap="square">
            <a:spAutoFit/>
          </a:bodyPr>
          <a:lstStyle/>
          <a:p>
            <a:pPr algn="ctr" rtl="1" fontAlgn="ctr"/>
            <a:r>
              <a:rPr lang="he-IL" sz="1400" b="1" u="none" strike="noStrike" dirty="0">
                <a:effectLst/>
                <a:latin typeface="Segoe UI" panose="020B0502040204020203" pitchFamily="34" charset="0"/>
                <a:cs typeface="Segoe UI" panose="020B0502040204020203" pitchFamily="34" charset="0"/>
              </a:rPr>
              <a:t>לא ביקשו להישפט</a:t>
            </a:r>
          </a:p>
        </p:txBody>
      </p:sp>
      <p:sp>
        <p:nvSpPr>
          <p:cNvPr id="9" name="תיבת טקסט 8">
            <a:extLst>
              <a:ext uri="{FF2B5EF4-FFF2-40B4-BE49-F238E27FC236}">
                <a16:creationId xmlns:a16="http://schemas.microsoft.com/office/drawing/2014/main" id="{3378706E-A40D-8AA0-5794-42A8F3B59416}"/>
              </a:ext>
            </a:extLst>
          </p:cNvPr>
          <p:cNvSpPr txBox="1"/>
          <p:nvPr/>
        </p:nvSpPr>
        <p:spPr>
          <a:xfrm>
            <a:off x="7872788" y="881749"/>
            <a:ext cx="2520000" cy="307777"/>
          </a:xfrm>
          <a:prstGeom prst="rect">
            <a:avLst/>
          </a:prstGeom>
          <a:noFill/>
        </p:spPr>
        <p:txBody>
          <a:bodyPr wrap="square">
            <a:spAutoFit/>
          </a:bodyPr>
          <a:lstStyle/>
          <a:p>
            <a:pPr algn="ctr" rtl="1" fontAlgn="b"/>
            <a:r>
              <a:rPr lang="he-IL" sz="1400" b="1" u="none" strike="noStrike" dirty="0">
                <a:effectLst/>
                <a:latin typeface="Segoe UI" panose="020B0502040204020203" pitchFamily="34" charset="0"/>
                <a:cs typeface="Segoe UI" panose="020B0502040204020203" pitchFamily="34" charset="0"/>
              </a:rPr>
              <a:t>ביקשו להישפט</a:t>
            </a:r>
            <a:endParaRPr lang="he-IL" sz="1400" b="1" i="0" u="none" strike="noStrike" dirty="0">
              <a:solidFill>
                <a:srgbClr val="000000"/>
              </a:solidFill>
              <a:effectLst/>
              <a:latin typeface="Segoe UI" panose="020B0502040204020203" pitchFamily="34" charset="0"/>
              <a:cs typeface="Segoe UI" panose="020B0502040204020203" pitchFamily="34" charset="0"/>
            </a:endParaRPr>
          </a:p>
        </p:txBody>
      </p:sp>
      <p:graphicFrame>
        <p:nvGraphicFramePr>
          <p:cNvPr id="15" name="אובייקט 3">
            <a:extLst>
              <a:ext uri="{FF2B5EF4-FFF2-40B4-BE49-F238E27FC236}">
                <a16:creationId xmlns:a16="http://schemas.microsoft.com/office/drawing/2014/main" id="{2C3424B9-C089-D080-31BE-74A03DE16241}"/>
              </a:ext>
            </a:extLst>
          </p:cNvPr>
          <p:cNvGraphicFramePr>
            <a:graphicFrameLocks noChangeAspect="1"/>
          </p:cNvGraphicFramePr>
          <p:nvPr>
            <p:extLst>
              <p:ext uri="{D42A27DB-BD31-4B8C-83A1-F6EECF244321}">
                <p14:modId xmlns:p14="http://schemas.microsoft.com/office/powerpoint/2010/main" val="3356535763"/>
              </p:ext>
            </p:extLst>
          </p:nvPr>
        </p:nvGraphicFramePr>
        <p:xfrm>
          <a:off x="3350573" y="1246068"/>
          <a:ext cx="3844883" cy="3492431"/>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6" name="אובייקט 3">
            <a:extLst>
              <a:ext uri="{FF2B5EF4-FFF2-40B4-BE49-F238E27FC236}">
                <a16:creationId xmlns:a16="http://schemas.microsoft.com/office/drawing/2014/main" id="{F02D058F-186B-A7F0-1B43-6BDBE6534539}"/>
              </a:ext>
            </a:extLst>
          </p:cNvPr>
          <p:cNvGraphicFramePr>
            <a:graphicFrameLocks noChangeAspect="1"/>
          </p:cNvGraphicFramePr>
          <p:nvPr>
            <p:extLst>
              <p:ext uri="{D42A27DB-BD31-4B8C-83A1-F6EECF244321}">
                <p14:modId xmlns:p14="http://schemas.microsoft.com/office/powerpoint/2010/main" val="140425907"/>
              </p:ext>
            </p:extLst>
          </p:nvPr>
        </p:nvGraphicFramePr>
        <p:xfrm>
          <a:off x="6149571" y="1246068"/>
          <a:ext cx="3844883" cy="3492431"/>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8" name="אובייקט 3">
            <a:extLst>
              <a:ext uri="{FF2B5EF4-FFF2-40B4-BE49-F238E27FC236}">
                <a16:creationId xmlns:a16="http://schemas.microsoft.com/office/drawing/2014/main" id="{D2B19647-722C-EFD0-848F-971636666084}"/>
              </a:ext>
            </a:extLst>
          </p:cNvPr>
          <p:cNvGraphicFramePr>
            <a:graphicFrameLocks noChangeAspect="1"/>
          </p:cNvGraphicFramePr>
          <p:nvPr>
            <p:extLst>
              <p:ext uri="{D42A27DB-BD31-4B8C-83A1-F6EECF244321}">
                <p14:modId xmlns:p14="http://schemas.microsoft.com/office/powerpoint/2010/main" val="2958885413"/>
              </p:ext>
            </p:extLst>
          </p:nvPr>
        </p:nvGraphicFramePr>
        <p:xfrm>
          <a:off x="9197572" y="1246068"/>
          <a:ext cx="3844883" cy="3492431"/>
        </p:xfrm>
        <a:graphic>
          <a:graphicData uri="http://schemas.openxmlformats.org/drawingml/2006/chart">
            <c:chart xmlns:c="http://schemas.openxmlformats.org/drawingml/2006/chart" xmlns:r="http://schemas.openxmlformats.org/officeDocument/2006/relationships" r:id="rId5"/>
          </a:graphicData>
        </a:graphic>
      </p:graphicFrame>
      <p:sp>
        <p:nvSpPr>
          <p:cNvPr id="19" name="תיבת טקסט 18">
            <a:extLst>
              <a:ext uri="{FF2B5EF4-FFF2-40B4-BE49-F238E27FC236}">
                <a16:creationId xmlns:a16="http://schemas.microsoft.com/office/drawing/2014/main" id="{65977C4B-FD8C-91AE-78C8-C364EC020FE8}"/>
              </a:ext>
            </a:extLst>
          </p:cNvPr>
          <p:cNvSpPr txBox="1"/>
          <p:nvPr/>
        </p:nvSpPr>
        <p:spPr>
          <a:xfrm>
            <a:off x="1170437" y="1196983"/>
            <a:ext cx="1440000" cy="288000"/>
          </a:xfrm>
          <a:prstGeom prst="rect">
            <a:avLst/>
          </a:prstGeom>
          <a:noFill/>
        </p:spPr>
        <p:txBody>
          <a:bodyPr wrap="square">
            <a:spAutoFit/>
          </a:bodyPr>
          <a:lstStyle/>
          <a:p>
            <a:pPr rtl="1" fontAlgn="ctr"/>
            <a:r>
              <a:rPr lang="he-IL" sz="1200" b="1" u="none" strike="noStrike" dirty="0">
                <a:effectLst/>
                <a:latin typeface="Segoe UI" panose="020B0502040204020203" pitchFamily="34" charset="0"/>
                <a:cs typeface="Segoe UI" panose="020B0502040204020203" pitchFamily="34" charset="0"/>
              </a:rPr>
              <a:t>מגזר יהודי</a:t>
            </a:r>
          </a:p>
        </p:txBody>
      </p:sp>
      <p:sp>
        <p:nvSpPr>
          <p:cNvPr id="20" name="תיבת טקסט 19">
            <a:extLst>
              <a:ext uri="{FF2B5EF4-FFF2-40B4-BE49-F238E27FC236}">
                <a16:creationId xmlns:a16="http://schemas.microsoft.com/office/drawing/2014/main" id="{65694F90-BD8E-916B-1CD1-BDE091F75589}"/>
              </a:ext>
            </a:extLst>
          </p:cNvPr>
          <p:cNvSpPr txBox="1"/>
          <p:nvPr/>
        </p:nvSpPr>
        <p:spPr>
          <a:xfrm>
            <a:off x="4388240" y="1196983"/>
            <a:ext cx="1440000" cy="288000"/>
          </a:xfrm>
          <a:prstGeom prst="rect">
            <a:avLst/>
          </a:prstGeom>
          <a:noFill/>
        </p:spPr>
        <p:txBody>
          <a:bodyPr wrap="square">
            <a:spAutoFit/>
          </a:bodyPr>
          <a:lstStyle/>
          <a:p>
            <a:pPr rtl="1" fontAlgn="ctr"/>
            <a:r>
              <a:rPr lang="he-IL" sz="1200" b="1" u="none" strike="noStrike" dirty="0">
                <a:effectLst/>
                <a:latin typeface="Segoe UI" panose="020B0502040204020203" pitchFamily="34" charset="0"/>
                <a:cs typeface="Segoe UI" panose="020B0502040204020203" pitchFamily="34" charset="0"/>
              </a:rPr>
              <a:t>מגזר ערבי</a:t>
            </a:r>
          </a:p>
        </p:txBody>
      </p:sp>
      <p:sp>
        <p:nvSpPr>
          <p:cNvPr id="21" name="תיבת טקסט 20">
            <a:extLst>
              <a:ext uri="{FF2B5EF4-FFF2-40B4-BE49-F238E27FC236}">
                <a16:creationId xmlns:a16="http://schemas.microsoft.com/office/drawing/2014/main" id="{A9F6460D-6407-9DA9-2B61-1B122D15AC72}"/>
              </a:ext>
            </a:extLst>
          </p:cNvPr>
          <p:cNvSpPr txBox="1"/>
          <p:nvPr/>
        </p:nvSpPr>
        <p:spPr>
          <a:xfrm>
            <a:off x="7138831" y="1196983"/>
            <a:ext cx="1440000" cy="288000"/>
          </a:xfrm>
          <a:prstGeom prst="rect">
            <a:avLst/>
          </a:prstGeom>
          <a:noFill/>
        </p:spPr>
        <p:txBody>
          <a:bodyPr wrap="square">
            <a:spAutoFit/>
          </a:bodyPr>
          <a:lstStyle/>
          <a:p>
            <a:pPr rtl="1" fontAlgn="ctr"/>
            <a:r>
              <a:rPr lang="he-IL" sz="1200" b="1" u="none" strike="noStrike" dirty="0">
                <a:effectLst/>
                <a:latin typeface="Segoe UI" panose="020B0502040204020203" pitchFamily="34" charset="0"/>
                <a:cs typeface="Segoe UI" panose="020B0502040204020203" pitchFamily="34" charset="0"/>
              </a:rPr>
              <a:t>מגזר יהודי</a:t>
            </a:r>
          </a:p>
        </p:txBody>
      </p:sp>
      <p:sp>
        <p:nvSpPr>
          <p:cNvPr id="22" name="תיבת טקסט 21">
            <a:extLst>
              <a:ext uri="{FF2B5EF4-FFF2-40B4-BE49-F238E27FC236}">
                <a16:creationId xmlns:a16="http://schemas.microsoft.com/office/drawing/2014/main" id="{2A87D2EF-3CC9-F9E9-9A6D-087CFB33CBD8}"/>
              </a:ext>
            </a:extLst>
          </p:cNvPr>
          <p:cNvSpPr txBox="1"/>
          <p:nvPr/>
        </p:nvSpPr>
        <p:spPr>
          <a:xfrm>
            <a:off x="10258661" y="1196983"/>
            <a:ext cx="1440000" cy="288000"/>
          </a:xfrm>
          <a:prstGeom prst="rect">
            <a:avLst/>
          </a:prstGeom>
          <a:noFill/>
        </p:spPr>
        <p:txBody>
          <a:bodyPr wrap="square">
            <a:spAutoFit/>
          </a:bodyPr>
          <a:lstStyle/>
          <a:p>
            <a:pPr rtl="1" fontAlgn="ctr"/>
            <a:r>
              <a:rPr lang="he-IL" sz="1200" b="1" u="none" strike="noStrike" dirty="0">
                <a:effectLst/>
                <a:latin typeface="Segoe UI" panose="020B0502040204020203" pitchFamily="34" charset="0"/>
                <a:cs typeface="Segoe UI" panose="020B0502040204020203" pitchFamily="34" charset="0"/>
              </a:rPr>
              <a:t>מגזר ערבי</a:t>
            </a:r>
          </a:p>
        </p:txBody>
      </p:sp>
      <p:sp>
        <p:nvSpPr>
          <p:cNvPr id="6" name="Rectangle: Rounded Corners 54">
            <a:hlinkClick r:id="" action="ppaction://noaction"/>
            <a:extLst>
              <a:ext uri="{FF2B5EF4-FFF2-40B4-BE49-F238E27FC236}">
                <a16:creationId xmlns:a16="http://schemas.microsoft.com/office/drawing/2014/main" id="{54E1C9D4-E428-8AAB-8F96-19066C4C6686}"/>
              </a:ext>
            </a:extLst>
          </p:cNvPr>
          <p:cNvSpPr/>
          <p:nvPr/>
        </p:nvSpPr>
        <p:spPr>
          <a:xfrm>
            <a:off x="1418590" y="6631748"/>
            <a:ext cx="720000" cy="144000"/>
          </a:xfrm>
          <a:prstGeom prst="roundRect">
            <a:avLst>
              <a:gd name="adj" fmla="val 50000"/>
            </a:avLst>
          </a:prstGeom>
          <a:solidFill>
            <a:schemeClr val="bg1"/>
          </a:solidFill>
          <a:ln w="12700">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r" defTabSz="914400" rtl="1" eaLnBrk="1" latinLnBrk="0" hangingPunct="1">
              <a:defRPr sz="1800" kern="1200">
                <a:solidFill>
                  <a:schemeClr val="lt1"/>
                </a:solidFill>
                <a:latin typeface="+mn-lt"/>
                <a:ea typeface="+mn-ea"/>
                <a:cs typeface="+mn-cs"/>
              </a:defRPr>
            </a:lvl1pPr>
            <a:lvl2pPr marL="457200" algn="r" defTabSz="914400" rtl="1" eaLnBrk="1" latinLnBrk="0" hangingPunct="1">
              <a:defRPr sz="1800" kern="1200">
                <a:solidFill>
                  <a:schemeClr val="lt1"/>
                </a:solidFill>
                <a:latin typeface="+mn-lt"/>
                <a:ea typeface="+mn-ea"/>
                <a:cs typeface="+mn-cs"/>
              </a:defRPr>
            </a:lvl2pPr>
            <a:lvl3pPr marL="914400" algn="r" defTabSz="914400" rtl="1" eaLnBrk="1" latinLnBrk="0" hangingPunct="1">
              <a:defRPr sz="1800" kern="1200">
                <a:solidFill>
                  <a:schemeClr val="lt1"/>
                </a:solidFill>
                <a:latin typeface="+mn-lt"/>
                <a:ea typeface="+mn-ea"/>
                <a:cs typeface="+mn-cs"/>
              </a:defRPr>
            </a:lvl3pPr>
            <a:lvl4pPr marL="1371600" algn="r" defTabSz="914400" rtl="1" eaLnBrk="1" latinLnBrk="0" hangingPunct="1">
              <a:defRPr sz="1800" kern="1200">
                <a:solidFill>
                  <a:schemeClr val="lt1"/>
                </a:solidFill>
                <a:latin typeface="+mn-lt"/>
                <a:ea typeface="+mn-ea"/>
                <a:cs typeface="+mn-cs"/>
              </a:defRPr>
            </a:lvl4pPr>
            <a:lvl5pPr marL="1828800" algn="r" defTabSz="914400" rtl="1" eaLnBrk="1" latinLnBrk="0" hangingPunct="1">
              <a:defRPr sz="1800" kern="1200">
                <a:solidFill>
                  <a:schemeClr val="lt1"/>
                </a:solidFill>
                <a:latin typeface="+mn-lt"/>
                <a:ea typeface="+mn-ea"/>
                <a:cs typeface="+mn-cs"/>
              </a:defRPr>
            </a:lvl5pPr>
            <a:lvl6pPr marL="2286000" algn="r" defTabSz="914400" rtl="1" eaLnBrk="1" latinLnBrk="0" hangingPunct="1">
              <a:defRPr sz="1800" kern="1200">
                <a:solidFill>
                  <a:schemeClr val="lt1"/>
                </a:solidFill>
                <a:latin typeface="+mn-lt"/>
                <a:ea typeface="+mn-ea"/>
                <a:cs typeface="+mn-cs"/>
              </a:defRPr>
            </a:lvl6pPr>
            <a:lvl7pPr marL="2743200" algn="r" defTabSz="914400" rtl="1" eaLnBrk="1" latinLnBrk="0" hangingPunct="1">
              <a:defRPr sz="1800" kern="1200">
                <a:solidFill>
                  <a:schemeClr val="lt1"/>
                </a:solidFill>
                <a:latin typeface="+mn-lt"/>
                <a:ea typeface="+mn-ea"/>
                <a:cs typeface="+mn-cs"/>
              </a:defRPr>
            </a:lvl7pPr>
            <a:lvl8pPr marL="3200400" algn="r" defTabSz="914400" rtl="1" eaLnBrk="1" latinLnBrk="0" hangingPunct="1">
              <a:defRPr sz="1800" kern="1200">
                <a:solidFill>
                  <a:schemeClr val="lt1"/>
                </a:solidFill>
                <a:latin typeface="+mn-lt"/>
                <a:ea typeface="+mn-ea"/>
                <a:cs typeface="+mn-cs"/>
              </a:defRPr>
            </a:lvl8pPr>
            <a:lvl9pPr marL="3657600" algn="r" defTabSz="914400" rtl="1" eaLnBrk="1" latinLnBrk="0" hangingPunct="1">
              <a:defRPr sz="1800" kern="1200">
                <a:solidFill>
                  <a:schemeClr val="lt1"/>
                </a:solidFill>
                <a:latin typeface="+mn-lt"/>
                <a:ea typeface="+mn-ea"/>
                <a:cs typeface="+mn-cs"/>
              </a:defRPr>
            </a:lvl9pPr>
          </a:lstStyle>
          <a:p>
            <a:pPr marL="0" marR="0" lvl="0" indent="0" algn="ctr" defTabSz="914400" rtl="1" eaLnBrk="1" fontAlgn="base" latinLnBrk="0" hangingPunct="1">
              <a:lnSpc>
                <a:spcPct val="100000"/>
              </a:lnSpc>
              <a:spcBef>
                <a:spcPct val="0"/>
              </a:spcBef>
              <a:spcAft>
                <a:spcPct val="0"/>
              </a:spcAft>
              <a:buClrTx/>
              <a:buSzTx/>
              <a:buFontTx/>
              <a:buNone/>
              <a:tabLst/>
              <a:defRPr/>
            </a:pPr>
            <a:r>
              <a:rPr kumimoji="0" lang="he-IL" sz="1100" b="0" i="0" u="none" strike="noStrike" kern="1200" cap="none" spc="0" normalizeH="0" baseline="0" noProof="0" dirty="0">
                <a:ln>
                  <a:noFill/>
                </a:ln>
                <a:solidFill>
                  <a:schemeClr val="bg1">
                    <a:lumMod val="65000"/>
                  </a:schemeClr>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מגדר</a:t>
            </a:r>
            <a:endParaRPr kumimoji="0" lang="en-IL" sz="1100" b="0" i="0" u="none" strike="noStrike" kern="1200" cap="none" spc="0" normalizeH="0" baseline="0" noProof="0" dirty="0">
              <a:ln>
                <a:noFill/>
              </a:ln>
              <a:solidFill>
                <a:schemeClr val="bg1">
                  <a:lumMod val="65000"/>
                </a:schemeClr>
              </a:solidFill>
              <a:effectLst/>
              <a:uLnTx/>
              <a:uFillTx/>
              <a:latin typeface="Segoe UI" panose="020B0502040204020203" pitchFamily="34" charset="0"/>
              <a:ea typeface="+mn-ea"/>
              <a:cs typeface="Segoe UI" panose="020B0502040204020203" pitchFamily="34" charset="0"/>
            </a:endParaRPr>
          </a:p>
        </p:txBody>
      </p:sp>
      <p:sp>
        <p:nvSpPr>
          <p:cNvPr id="10" name="Rectangle: Rounded Corners 54">
            <a:hlinkClick r:id="" action="ppaction://noaction"/>
            <a:extLst>
              <a:ext uri="{FF2B5EF4-FFF2-40B4-BE49-F238E27FC236}">
                <a16:creationId xmlns:a16="http://schemas.microsoft.com/office/drawing/2014/main" id="{FAF29077-C2D4-7FD7-D931-52F9275ED173}"/>
              </a:ext>
            </a:extLst>
          </p:cNvPr>
          <p:cNvSpPr/>
          <p:nvPr/>
        </p:nvSpPr>
        <p:spPr>
          <a:xfrm>
            <a:off x="2195889" y="6631748"/>
            <a:ext cx="720000" cy="144000"/>
          </a:xfrm>
          <a:prstGeom prst="roundRect">
            <a:avLst>
              <a:gd name="adj" fmla="val 50000"/>
            </a:avLst>
          </a:prstGeom>
          <a:solidFill>
            <a:schemeClr val="bg1"/>
          </a:solidFill>
          <a:ln w="12700">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r" defTabSz="914400" rtl="1" eaLnBrk="1" latinLnBrk="0" hangingPunct="1">
              <a:defRPr sz="1800" kern="1200">
                <a:solidFill>
                  <a:schemeClr val="lt1"/>
                </a:solidFill>
                <a:latin typeface="+mn-lt"/>
                <a:ea typeface="+mn-ea"/>
                <a:cs typeface="+mn-cs"/>
              </a:defRPr>
            </a:lvl1pPr>
            <a:lvl2pPr marL="457200" algn="r" defTabSz="914400" rtl="1" eaLnBrk="1" latinLnBrk="0" hangingPunct="1">
              <a:defRPr sz="1800" kern="1200">
                <a:solidFill>
                  <a:schemeClr val="lt1"/>
                </a:solidFill>
                <a:latin typeface="+mn-lt"/>
                <a:ea typeface="+mn-ea"/>
                <a:cs typeface="+mn-cs"/>
              </a:defRPr>
            </a:lvl2pPr>
            <a:lvl3pPr marL="914400" algn="r" defTabSz="914400" rtl="1" eaLnBrk="1" latinLnBrk="0" hangingPunct="1">
              <a:defRPr sz="1800" kern="1200">
                <a:solidFill>
                  <a:schemeClr val="lt1"/>
                </a:solidFill>
                <a:latin typeface="+mn-lt"/>
                <a:ea typeface="+mn-ea"/>
                <a:cs typeface="+mn-cs"/>
              </a:defRPr>
            </a:lvl3pPr>
            <a:lvl4pPr marL="1371600" algn="r" defTabSz="914400" rtl="1" eaLnBrk="1" latinLnBrk="0" hangingPunct="1">
              <a:defRPr sz="1800" kern="1200">
                <a:solidFill>
                  <a:schemeClr val="lt1"/>
                </a:solidFill>
                <a:latin typeface="+mn-lt"/>
                <a:ea typeface="+mn-ea"/>
                <a:cs typeface="+mn-cs"/>
              </a:defRPr>
            </a:lvl4pPr>
            <a:lvl5pPr marL="1828800" algn="r" defTabSz="914400" rtl="1" eaLnBrk="1" latinLnBrk="0" hangingPunct="1">
              <a:defRPr sz="1800" kern="1200">
                <a:solidFill>
                  <a:schemeClr val="lt1"/>
                </a:solidFill>
                <a:latin typeface="+mn-lt"/>
                <a:ea typeface="+mn-ea"/>
                <a:cs typeface="+mn-cs"/>
              </a:defRPr>
            </a:lvl5pPr>
            <a:lvl6pPr marL="2286000" algn="r" defTabSz="914400" rtl="1" eaLnBrk="1" latinLnBrk="0" hangingPunct="1">
              <a:defRPr sz="1800" kern="1200">
                <a:solidFill>
                  <a:schemeClr val="lt1"/>
                </a:solidFill>
                <a:latin typeface="+mn-lt"/>
                <a:ea typeface="+mn-ea"/>
                <a:cs typeface="+mn-cs"/>
              </a:defRPr>
            </a:lvl6pPr>
            <a:lvl7pPr marL="2743200" algn="r" defTabSz="914400" rtl="1" eaLnBrk="1" latinLnBrk="0" hangingPunct="1">
              <a:defRPr sz="1800" kern="1200">
                <a:solidFill>
                  <a:schemeClr val="lt1"/>
                </a:solidFill>
                <a:latin typeface="+mn-lt"/>
                <a:ea typeface="+mn-ea"/>
                <a:cs typeface="+mn-cs"/>
              </a:defRPr>
            </a:lvl7pPr>
            <a:lvl8pPr marL="3200400" algn="r" defTabSz="914400" rtl="1" eaLnBrk="1" latinLnBrk="0" hangingPunct="1">
              <a:defRPr sz="1800" kern="1200">
                <a:solidFill>
                  <a:schemeClr val="lt1"/>
                </a:solidFill>
                <a:latin typeface="+mn-lt"/>
                <a:ea typeface="+mn-ea"/>
                <a:cs typeface="+mn-cs"/>
              </a:defRPr>
            </a:lvl8pPr>
            <a:lvl9pPr marL="3657600" algn="r" defTabSz="914400" rtl="1" eaLnBrk="1" latinLnBrk="0" hangingPunct="1">
              <a:defRPr sz="1800" kern="1200">
                <a:solidFill>
                  <a:schemeClr val="lt1"/>
                </a:solidFill>
                <a:latin typeface="+mn-lt"/>
                <a:ea typeface="+mn-ea"/>
                <a:cs typeface="+mn-cs"/>
              </a:defRPr>
            </a:lvl9pPr>
          </a:lstStyle>
          <a:p>
            <a:pPr marL="0" marR="0" lvl="0" indent="0" algn="ctr" defTabSz="914400" rtl="1" eaLnBrk="1" fontAlgn="base" latinLnBrk="0" hangingPunct="1">
              <a:lnSpc>
                <a:spcPct val="100000"/>
              </a:lnSpc>
              <a:spcBef>
                <a:spcPct val="0"/>
              </a:spcBef>
              <a:spcAft>
                <a:spcPct val="0"/>
              </a:spcAft>
              <a:buClrTx/>
              <a:buSzTx/>
              <a:buFontTx/>
              <a:buNone/>
              <a:tabLst/>
              <a:defRPr/>
            </a:pPr>
            <a:r>
              <a:rPr kumimoji="0" lang="he-IL" sz="1100" b="0" i="0" u="none" strike="noStrike" kern="1200" cap="none" spc="0" normalizeH="0" baseline="0" noProof="0" dirty="0">
                <a:ln>
                  <a:noFill/>
                </a:ln>
                <a:solidFill>
                  <a:schemeClr val="bg1">
                    <a:lumMod val="65000"/>
                  </a:schemeClr>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גיל</a:t>
            </a:r>
            <a:endParaRPr kumimoji="0" lang="en-IL" sz="1100" b="0" i="0" u="none" strike="noStrike" kern="1200" cap="none" spc="0" normalizeH="0" baseline="0" noProof="0" dirty="0">
              <a:ln>
                <a:noFill/>
              </a:ln>
              <a:solidFill>
                <a:schemeClr val="bg1">
                  <a:lumMod val="65000"/>
                </a:schemeClr>
              </a:solidFill>
              <a:effectLst/>
              <a:uLnTx/>
              <a:uFillTx/>
              <a:latin typeface="Segoe UI" panose="020B0502040204020203" pitchFamily="34" charset="0"/>
              <a:ea typeface="+mn-ea"/>
              <a:cs typeface="Segoe UI" panose="020B0502040204020203" pitchFamily="34" charset="0"/>
            </a:endParaRPr>
          </a:p>
        </p:txBody>
      </p:sp>
      <p:sp>
        <p:nvSpPr>
          <p:cNvPr id="11" name="Rectangle: Rounded Corners 54">
            <a:hlinkClick r:id="" action="ppaction://noaction"/>
            <a:extLst>
              <a:ext uri="{FF2B5EF4-FFF2-40B4-BE49-F238E27FC236}">
                <a16:creationId xmlns:a16="http://schemas.microsoft.com/office/drawing/2014/main" id="{74A18E4E-4705-71B7-426C-B22A9DF3254F}"/>
              </a:ext>
            </a:extLst>
          </p:cNvPr>
          <p:cNvSpPr/>
          <p:nvPr/>
        </p:nvSpPr>
        <p:spPr>
          <a:xfrm>
            <a:off x="2973188" y="6640710"/>
            <a:ext cx="936000" cy="144000"/>
          </a:xfrm>
          <a:prstGeom prst="roundRect">
            <a:avLst>
              <a:gd name="adj" fmla="val 50000"/>
            </a:avLst>
          </a:prstGeom>
          <a:solidFill>
            <a:schemeClr val="bg1"/>
          </a:solidFill>
          <a:ln w="12700">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r" defTabSz="914400" rtl="1" eaLnBrk="1" latinLnBrk="0" hangingPunct="1">
              <a:defRPr sz="1800" kern="1200">
                <a:solidFill>
                  <a:schemeClr val="lt1"/>
                </a:solidFill>
                <a:latin typeface="+mn-lt"/>
                <a:ea typeface="+mn-ea"/>
                <a:cs typeface="+mn-cs"/>
              </a:defRPr>
            </a:lvl1pPr>
            <a:lvl2pPr marL="457200" algn="r" defTabSz="914400" rtl="1" eaLnBrk="1" latinLnBrk="0" hangingPunct="1">
              <a:defRPr sz="1800" kern="1200">
                <a:solidFill>
                  <a:schemeClr val="lt1"/>
                </a:solidFill>
                <a:latin typeface="+mn-lt"/>
                <a:ea typeface="+mn-ea"/>
                <a:cs typeface="+mn-cs"/>
              </a:defRPr>
            </a:lvl2pPr>
            <a:lvl3pPr marL="914400" algn="r" defTabSz="914400" rtl="1" eaLnBrk="1" latinLnBrk="0" hangingPunct="1">
              <a:defRPr sz="1800" kern="1200">
                <a:solidFill>
                  <a:schemeClr val="lt1"/>
                </a:solidFill>
                <a:latin typeface="+mn-lt"/>
                <a:ea typeface="+mn-ea"/>
                <a:cs typeface="+mn-cs"/>
              </a:defRPr>
            </a:lvl3pPr>
            <a:lvl4pPr marL="1371600" algn="r" defTabSz="914400" rtl="1" eaLnBrk="1" latinLnBrk="0" hangingPunct="1">
              <a:defRPr sz="1800" kern="1200">
                <a:solidFill>
                  <a:schemeClr val="lt1"/>
                </a:solidFill>
                <a:latin typeface="+mn-lt"/>
                <a:ea typeface="+mn-ea"/>
                <a:cs typeface="+mn-cs"/>
              </a:defRPr>
            </a:lvl4pPr>
            <a:lvl5pPr marL="1828800" algn="r" defTabSz="914400" rtl="1" eaLnBrk="1" latinLnBrk="0" hangingPunct="1">
              <a:defRPr sz="1800" kern="1200">
                <a:solidFill>
                  <a:schemeClr val="lt1"/>
                </a:solidFill>
                <a:latin typeface="+mn-lt"/>
                <a:ea typeface="+mn-ea"/>
                <a:cs typeface="+mn-cs"/>
              </a:defRPr>
            </a:lvl5pPr>
            <a:lvl6pPr marL="2286000" algn="r" defTabSz="914400" rtl="1" eaLnBrk="1" latinLnBrk="0" hangingPunct="1">
              <a:defRPr sz="1800" kern="1200">
                <a:solidFill>
                  <a:schemeClr val="lt1"/>
                </a:solidFill>
                <a:latin typeface="+mn-lt"/>
                <a:ea typeface="+mn-ea"/>
                <a:cs typeface="+mn-cs"/>
              </a:defRPr>
            </a:lvl6pPr>
            <a:lvl7pPr marL="2743200" algn="r" defTabSz="914400" rtl="1" eaLnBrk="1" latinLnBrk="0" hangingPunct="1">
              <a:defRPr sz="1800" kern="1200">
                <a:solidFill>
                  <a:schemeClr val="lt1"/>
                </a:solidFill>
                <a:latin typeface="+mn-lt"/>
                <a:ea typeface="+mn-ea"/>
                <a:cs typeface="+mn-cs"/>
              </a:defRPr>
            </a:lvl7pPr>
            <a:lvl8pPr marL="3200400" algn="r" defTabSz="914400" rtl="1" eaLnBrk="1" latinLnBrk="0" hangingPunct="1">
              <a:defRPr sz="1800" kern="1200">
                <a:solidFill>
                  <a:schemeClr val="lt1"/>
                </a:solidFill>
                <a:latin typeface="+mn-lt"/>
                <a:ea typeface="+mn-ea"/>
                <a:cs typeface="+mn-cs"/>
              </a:defRPr>
            </a:lvl8pPr>
            <a:lvl9pPr marL="3657600" algn="r" defTabSz="914400" rtl="1" eaLnBrk="1" latinLnBrk="0" hangingPunct="1">
              <a:defRPr sz="1800" kern="1200">
                <a:solidFill>
                  <a:schemeClr val="lt1"/>
                </a:solidFill>
                <a:latin typeface="+mn-lt"/>
                <a:ea typeface="+mn-ea"/>
                <a:cs typeface="+mn-cs"/>
              </a:defRPr>
            </a:lvl9pPr>
          </a:lstStyle>
          <a:p>
            <a:pPr marL="0" marR="0" lvl="0" indent="0" algn="ctr" defTabSz="914400" rtl="1" eaLnBrk="1" fontAlgn="base" latinLnBrk="0" hangingPunct="1">
              <a:lnSpc>
                <a:spcPct val="100000"/>
              </a:lnSpc>
              <a:spcBef>
                <a:spcPct val="0"/>
              </a:spcBef>
              <a:spcAft>
                <a:spcPct val="0"/>
              </a:spcAft>
              <a:buClrTx/>
              <a:buSzTx/>
              <a:buFontTx/>
              <a:buNone/>
              <a:tabLst/>
              <a:defRPr/>
            </a:pPr>
            <a:r>
              <a:rPr kumimoji="0" lang="he-IL" sz="1100" b="0" i="0" u="none" strike="noStrike" kern="1200" cap="none" spc="0" normalizeH="0" baseline="0" noProof="0" dirty="0">
                <a:ln>
                  <a:noFill/>
                </a:ln>
                <a:solidFill>
                  <a:schemeClr val="bg1">
                    <a:lumMod val="65000"/>
                  </a:schemeClr>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כמות דוחות</a:t>
            </a:r>
            <a:endParaRPr kumimoji="0" lang="en-IL" sz="1100" b="0" i="0" u="none" strike="noStrike" kern="1200" cap="none" spc="0" normalizeH="0" baseline="0" noProof="0" dirty="0">
              <a:ln>
                <a:noFill/>
              </a:ln>
              <a:solidFill>
                <a:schemeClr val="bg1">
                  <a:lumMod val="65000"/>
                </a:schemeClr>
              </a:solidFill>
              <a:effectLst/>
              <a:uLnTx/>
              <a:uFillTx/>
              <a:latin typeface="Segoe UI" panose="020B0502040204020203" pitchFamily="34" charset="0"/>
              <a:ea typeface="+mn-ea"/>
              <a:cs typeface="Segoe UI" panose="020B0502040204020203" pitchFamily="34" charset="0"/>
            </a:endParaRPr>
          </a:p>
        </p:txBody>
      </p:sp>
      <p:sp>
        <p:nvSpPr>
          <p:cNvPr id="12" name="Rectangle: Rounded Corners 54">
            <a:hlinkClick r:id="" action="ppaction://noaction"/>
            <a:extLst>
              <a:ext uri="{FF2B5EF4-FFF2-40B4-BE49-F238E27FC236}">
                <a16:creationId xmlns:a16="http://schemas.microsoft.com/office/drawing/2014/main" id="{294A77A6-8E4A-9127-FF60-326843DE0456}"/>
              </a:ext>
            </a:extLst>
          </p:cNvPr>
          <p:cNvSpPr/>
          <p:nvPr/>
        </p:nvSpPr>
        <p:spPr>
          <a:xfrm>
            <a:off x="3966487" y="6640710"/>
            <a:ext cx="900000" cy="144000"/>
          </a:xfrm>
          <a:prstGeom prst="roundRect">
            <a:avLst>
              <a:gd name="adj" fmla="val 50000"/>
            </a:avLst>
          </a:prstGeom>
          <a:solidFill>
            <a:schemeClr val="bg1"/>
          </a:solidFill>
          <a:ln w="12700">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r" defTabSz="914400" rtl="1" eaLnBrk="1" latinLnBrk="0" hangingPunct="1">
              <a:defRPr sz="1800" kern="1200">
                <a:solidFill>
                  <a:schemeClr val="lt1"/>
                </a:solidFill>
                <a:latin typeface="+mn-lt"/>
                <a:ea typeface="+mn-ea"/>
                <a:cs typeface="+mn-cs"/>
              </a:defRPr>
            </a:lvl1pPr>
            <a:lvl2pPr marL="457200" algn="r" defTabSz="914400" rtl="1" eaLnBrk="1" latinLnBrk="0" hangingPunct="1">
              <a:defRPr sz="1800" kern="1200">
                <a:solidFill>
                  <a:schemeClr val="lt1"/>
                </a:solidFill>
                <a:latin typeface="+mn-lt"/>
                <a:ea typeface="+mn-ea"/>
                <a:cs typeface="+mn-cs"/>
              </a:defRPr>
            </a:lvl2pPr>
            <a:lvl3pPr marL="914400" algn="r" defTabSz="914400" rtl="1" eaLnBrk="1" latinLnBrk="0" hangingPunct="1">
              <a:defRPr sz="1800" kern="1200">
                <a:solidFill>
                  <a:schemeClr val="lt1"/>
                </a:solidFill>
                <a:latin typeface="+mn-lt"/>
                <a:ea typeface="+mn-ea"/>
                <a:cs typeface="+mn-cs"/>
              </a:defRPr>
            </a:lvl3pPr>
            <a:lvl4pPr marL="1371600" algn="r" defTabSz="914400" rtl="1" eaLnBrk="1" latinLnBrk="0" hangingPunct="1">
              <a:defRPr sz="1800" kern="1200">
                <a:solidFill>
                  <a:schemeClr val="lt1"/>
                </a:solidFill>
                <a:latin typeface="+mn-lt"/>
                <a:ea typeface="+mn-ea"/>
                <a:cs typeface="+mn-cs"/>
              </a:defRPr>
            </a:lvl4pPr>
            <a:lvl5pPr marL="1828800" algn="r" defTabSz="914400" rtl="1" eaLnBrk="1" latinLnBrk="0" hangingPunct="1">
              <a:defRPr sz="1800" kern="1200">
                <a:solidFill>
                  <a:schemeClr val="lt1"/>
                </a:solidFill>
                <a:latin typeface="+mn-lt"/>
                <a:ea typeface="+mn-ea"/>
                <a:cs typeface="+mn-cs"/>
              </a:defRPr>
            </a:lvl5pPr>
            <a:lvl6pPr marL="2286000" algn="r" defTabSz="914400" rtl="1" eaLnBrk="1" latinLnBrk="0" hangingPunct="1">
              <a:defRPr sz="1800" kern="1200">
                <a:solidFill>
                  <a:schemeClr val="lt1"/>
                </a:solidFill>
                <a:latin typeface="+mn-lt"/>
                <a:ea typeface="+mn-ea"/>
                <a:cs typeface="+mn-cs"/>
              </a:defRPr>
            </a:lvl6pPr>
            <a:lvl7pPr marL="2743200" algn="r" defTabSz="914400" rtl="1" eaLnBrk="1" latinLnBrk="0" hangingPunct="1">
              <a:defRPr sz="1800" kern="1200">
                <a:solidFill>
                  <a:schemeClr val="lt1"/>
                </a:solidFill>
                <a:latin typeface="+mn-lt"/>
                <a:ea typeface="+mn-ea"/>
                <a:cs typeface="+mn-cs"/>
              </a:defRPr>
            </a:lvl7pPr>
            <a:lvl8pPr marL="3200400" algn="r" defTabSz="914400" rtl="1" eaLnBrk="1" latinLnBrk="0" hangingPunct="1">
              <a:defRPr sz="1800" kern="1200">
                <a:solidFill>
                  <a:schemeClr val="lt1"/>
                </a:solidFill>
                <a:latin typeface="+mn-lt"/>
                <a:ea typeface="+mn-ea"/>
                <a:cs typeface="+mn-cs"/>
              </a:defRPr>
            </a:lvl8pPr>
            <a:lvl9pPr marL="3657600" algn="r" defTabSz="914400" rtl="1" eaLnBrk="1" latinLnBrk="0" hangingPunct="1">
              <a:defRPr sz="1800" kern="1200">
                <a:solidFill>
                  <a:schemeClr val="lt1"/>
                </a:solidFill>
                <a:latin typeface="+mn-lt"/>
                <a:ea typeface="+mn-ea"/>
                <a:cs typeface="+mn-cs"/>
              </a:defRPr>
            </a:lvl9pPr>
          </a:lstStyle>
          <a:p>
            <a:pPr marL="0" marR="0" lvl="0" indent="0" algn="ctr" defTabSz="914400" rtl="1" eaLnBrk="1" fontAlgn="base" latinLnBrk="0" hangingPunct="1">
              <a:lnSpc>
                <a:spcPct val="100000"/>
              </a:lnSpc>
              <a:spcBef>
                <a:spcPct val="0"/>
              </a:spcBef>
              <a:spcAft>
                <a:spcPct val="0"/>
              </a:spcAft>
              <a:buClrTx/>
              <a:buSzTx/>
              <a:buFontTx/>
              <a:buNone/>
              <a:tabLst/>
              <a:defRPr/>
            </a:pPr>
            <a:r>
              <a:rPr kumimoji="0" lang="he-IL" sz="1100" b="0" i="0" u="none" strike="noStrike" kern="1200" cap="none" spc="0" normalizeH="0" baseline="0" noProof="0" dirty="0">
                <a:ln>
                  <a:noFill/>
                </a:ln>
                <a:solidFill>
                  <a:schemeClr val="bg1">
                    <a:lumMod val="65000"/>
                  </a:schemeClr>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מועד קבלה</a:t>
            </a:r>
            <a:endParaRPr kumimoji="0" lang="en-IL" sz="1100" b="0" i="0" u="none" strike="noStrike" kern="1200" cap="none" spc="0" normalizeH="0" baseline="0" noProof="0" dirty="0">
              <a:ln>
                <a:noFill/>
              </a:ln>
              <a:solidFill>
                <a:schemeClr val="bg1">
                  <a:lumMod val="65000"/>
                </a:schemeClr>
              </a:solidFill>
              <a:effectLst/>
              <a:uLnTx/>
              <a:uFillTx/>
              <a:latin typeface="Segoe UI" panose="020B0502040204020203" pitchFamily="34" charset="0"/>
              <a:ea typeface="+mn-ea"/>
              <a:cs typeface="Segoe UI" panose="020B0502040204020203" pitchFamily="34" charset="0"/>
            </a:endParaRPr>
          </a:p>
        </p:txBody>
      </p:sp>
      <p:sp>
        <p:nvSpPr>
          <p:cNvPr id="13" name="Rectangle: Rounded Corners 54">
            <a:hlinkClick r:id="" action="ppaction://noaction"/>
            <a:extLst>
              <a:ext uri="{FF2B5EF4-FFF2-40B4-BE49-F238E27FC236}">
                <a16:creationId xmlns:a16="http://schemas.microsoft.com/office/drawing/2014/main" id="{6A2B2F5F-A442-CA3F-2074-426F3EB9CEA2}"/>
              </a:ext>
            </a:extLst>
          </p:cNvPr>
          <p:cNvSpPr/>
          <p:nvPr/>
        </p:nvSpPr>
        <p:spPr>
          <a:xfrm>
            <a:off x="4923787" y="6649674"/>
            <a:ext cx="900000" cy="144000"/>
          </a:xfrm>
          <a:prstGeom prst="roundRect">
            <a:avLst>
              <a:gd name="adj" fmla="val 50000"/>
            </a:avLst>
          </a:prstGeom>
          <a:solidFill>
            <a:schemeClr val="bg1"/>
          </a:solidFill>
          <a:ln w="12700">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r" defTabSz="914400" rtl="1" eaLnBrk="1" latinLnBrk="0" hangingPunct="1">
              <a:defRPr sz="1800" kern="1200">
                <a:solidFill>
                  <a:schemeClr val="lt1"/>
                </a:solidFill>
                <a:latin typeface="+mn-lt"/>
                <a:ea typeface="+mn-ea"/>
                <a:cs typeface="+mn-cs"/>
              </a:defRPr>
            </a:lvl1pPr>
            <a:lvl2pPr marL="457200" algn="r" defTabSz="914400" rtl="1" eaLnBrk="1" latinLnBrk="0" hangingPunct="1">
              <a:defRPr sz="1800" kern="1200">
                <a:solidFill>
                  <a:schemeClr val="lt1"/>
                </a:solidFill>
                <a:latin typeface="+mn-lt"/>
                <a:ea typeface="+mn-ea"/>
                <a:cs typeface="+mn-cs"/>
              </a:defRPr>
            </a:lvl2pPr>
            <a:lvl3pPr marL="914400" algn="r" defTabSz="914400" rtl="1" eaLnBrk="1" latinLnBrk="0" hangingPunct="1">
              <a:defRPr sz="1800" kern="1200">
                <a:solidFill>
                  <a:schemeClr val="lt1"/>
                </a:solidFill>
                <a:latin typeface="+mn-lt"/>
                <a:ea typeface="+mn-ea"/>
                <a:cs typeface="+mn-cs"/>
              </a:defRPr>
            </a:lvl3pPr>
            <a:lvl4pPr marL="1371600" algn="r" defTabSz="914400" rtl="1" eaLnBrk="1" latinLnBrk="0" hangingPunct="1">
              <a:defRPr sz="1800" kern="1200">
                <a:solidFill>
                  <a:schemeClr val="lt1"/>
                </a:solidFill>
                <a:latin typeface="+mn-lt"/>
                <a:ea typeface="+mn-ea"/>
                <a:cs typeface="+mn-cs"/>
              </a:defRPr>
            </a:lvl4pPr>
            <a:lvl5pPr marL="1828800" algn="r" defTabSz="914400" rtl="1" eaLnBrk="1" latinLnBrk="0" hangingPunct="1">
              <a:defRPr sz="1800" kern="1200">
                <a:solidFill>
                  <a:schemeClr val="lt1"/>
                </a:solidFill>
                <a:latin typeface="+mn-lt"/>
                <a:ea typeface="+mn-ea"/>
                <a:cs typeface="+mn-cs"/>
              </a:defRPr>
            </a:lvl5pPr>
            <a:lvl6pPr marL="2286000" algn="r" defTabSz="914400" rtl="1" eaLnBrk="1" latinLnBrk="0" hangingPunct="1">
              <a:defRPr sz="1800" kern="1200">
                <a:solidFill>
                  <a:schemeClr val="lt1"/>
                </a:solidFill>
                <a:latin typeface="+mn-lt"/>
                <a:ea typeface="+mn-ea"/>
                <a:cs typeface="+mn-cs"/>
              </a:defRPr>
            </a:lvl6pPr>
            <a:lvl7pPr marL="2743200" algn="r" defTabSz="914400" rtl="1" eaLnBrk="1" latinLnBrk="0" hangingPunct="1">
              <a:defRPr sz="1800" kern="1200">
                <a:solidFill>
                  <a:schemeClr val="lt1"/>
                </a:solidFill>
                <a:latin typeface="+mn-lt"/>
                <a:ea typeface="+mn-ea"/>
                <a:cs typeface="+mn-cs"/>
              </a:defRPr>
            </a:lvl7pPr>
            <a:lvl8pPr marL="3200400" algn="r" defTabSz="914400" rtl="1" eaLnBrk="1" latinLnBrk="0" hangingPunct="1">
              <a:defRPr sz="1800" kern="1200">
                <a:solidFill>
                  <a:schemeClr val="lt1"/>
                </a:solidFill>
                <a:latin typeface="+mn-lt"/>
                <a:ea typeface="+mn-ea"/>
                <a:cs typeface="+mn-cs"/>
              </a:defRPr>
            </a:lvl8pPr>
            <a:lvl9pPr marL="3657600" algn="r" defTabSz="914400" rtl="1" eaLnBrk="1" latinLnBrk="0" hangingPunct="1">
              <a:defRPr sz="1800" kern="1200">
                <a:solidFill>
                  <a:schemeClr val="lt1"/>
                </a:solidFill>
                <a:latin typeface="+mn-lt"/>
                <a:ea typeface="+mn-ea"/>
                <a:cs typeface="+mn-cs"/>
              </a:defRPr>
            </a:lvl9pPr>
          </a:lstStyle>
          <a:p>
            <a:pPr marL="0" marR="0" lvl="0" indent="0" algn="ctr" defTabSz="914400" rtl="1" eaLnBrk="1" fontAlgn="base" latinLnBrk="0" hangingPunct="1">
              <a:lnSpc>
                <a:spcPct val="100000"/>
              </a:lnSpc>
              <a:spcBef>
                <a:spcPct val="0"/>
              </a:spcBef>
              <a:spcAft>
                <a:spcPct val="0"/>
              </a:spcAft>
              <a:buClrTx/>
              <a:buSzTx/>
              <a:buFontTx/>
              <a:buNone/>
              <a:tabLst/>
              <a:defRPr/>
            </a:pPr>
            <a:r>
              <a:rPr kumimoji="0" lang="he-IL" sz="1100" b="0" i="0" u="none" strike="noStrike" kern="1200" cap="none" spc="0" normalizeH="0" baseline="0" noProof="0" dirty="0">
                <a:ln>
                  <a:noFill/>
                </a:ln>
                <a:solidFill>
                  <a:schemeClr val="bg1">
                    <a:lumMod val="65000"/>
                  </a:schemeClr>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אופן קבלה</a:t>
            </a:r>
            <a:endParaRPr kumimoji="0" lang="en-IL" sz="1100" b="0" i="0" u="none" strike="noStrike" kern="1200" cap="none" spc="0" normalizeH="0" baseline="0" noProof="0" dirty="0">
              <a:ln>
                <a:noFill/>
              </a:ln>
              <a:solidFill>
                <a:schemeClr val="bg1">
                  <a:lumMod val="65000"/>
                </a:schemeClr>
              </a:solidFill>
              <a:effectLst/>
              <a:uLnTx/>
              <a:uFillTx/>
              <a:latin typeface="Segoe UI" panose="020B0502040204020203" pitchFamily="34" charset="0"/>
              <a:ea typeface="+mn-ea"/>
              <a:cs typeface="Segoe UI" panose="020B0502040204020203" pitchFamily="34" charset="0"/>
            </a:endParaRPr>
          </a:p>
        </p:txBody>
      </p:sp>
      <p:cxnSp>
        <p:nvCxnSpPr>
          <p:cNvPr id="14" name="Straight Connector 6">
            <a:extLst>
              <a:ext uri="{FF2B5EF4-FFF2-40B4-BE49-F238E27FC236}">
                <a16:creationId xmlns:a16="http://schemas.microsoft.com/office/drawing/2014/main" id="{F9D394C4-60BF-83F8-76F8-47D3F980F460}"/>
              </a:ext>
            </a:extLst>
          </p:cNvPr>
          <p:cNvCxnSpPr>
            <a:cxnSpLocks/>
          </p:cNvCxnSpPr>
          <p:nvPr/>
        </p:nvCxnSpPr>
        <p:spPr>
          <a:xfrm rot="16200000" flipV="1">
            <a:off x="6096000" y="-671880"/>
            <a:ext cx="0" cy="10800000"/>
          </a:xfrm>
          <a:prstGeom prst="line">
            <a:avLst/>
          </a:prstGeom>
          <a:ln w="25400" cap="rnd">
            <a:solidFill>
              <a:schemeClr val="bg1">
                <a:lumMod val="85000"/>
              </a:schemeClr>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20763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61A3B09-E5F0-6426-414B-D59F4DB2FAD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557B818-2E52-CE90-3FD0-22B71076D4BC}"/>
              </a:ext>
            </a:extLst>
          </p:cNvPr>
          <p:cNvSpPr>
            <a:spLocks noGrp="1"/>
          </p:cNvSpPr>
          <p:nvPr>
            <p:ph type="sldNum" sz="quarter" idx="4"/>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7A91BF3F-E284-4570-AC28-CDAE2F1A1EA1}" type="slidenum">
              <a:rPr kumimoji="0" lang="he-IL" sz="1100" b="0" i="0" u="none" strike="noStrike" kern="1200" cap="none" spc="0" normalizeH="0" baseline="0" noProof="0" smtClean="0">
                <a:ln>
                  <a:noFill/>
                </a:ln>
                <a:solidFill>
                  <a:prstClr val="white">
                    <a:lumMod val="75000"/>
                  </a:prstClr>
                </a:solidFill>
                <a:effectLst/>
                <a:uLnTx/>
                <a:uFillTx/>
                <a:latin typeface="Segoe UI" panose="020B0502040204020203" pitchFamily="34" charset="0"/>
                <a:ea typeface="+mn-ea"/>
                <a:cs typeface="Segoe UI" panose="020B0502040204020203"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9</a:t>
            </a:fld>
            <a:endParaRPr kumimoji="0" lang="he-IL" sz="1100" b="0" i="0" u="none" strike="noStrike" kern="1200" cap="none" spc="0" normalizeH="0" baseline="0" noProof="0" dirty="0">
              <a:ln>
                <a:noFill/>
              </a:ln>
              <a:solidFill>
                <a:prstClr val="white">
                  <a:lumMod val="75000"/>
                </a:prstClr>
              </a:solidFill>
              <a:effectLst/>
              <a:uLnTx/>
              <a:uFillTx/>
              <a:latin typeface="Segoe UI" panose="020B0502040204020203" pitchFamily="34" charset="0"/>
              <a:ea typeface="+mn-ea"/>
              <a:cs typeface="Segoe UI" panose="020B0502040204020203" pitchFamily="34" charset="0"/>
            </a:endParaRPr>
          </a:p>
        </p:txBody>
      </p:sp>
      <p:sp>
        <p:nvSpPr>
          <p:cNvPr id="17" name="Rectangle 28">
            <a:extLst>
              <a:ext uri="{FF2B5EF4-FFF2-40B4-BE49-F238E27FC236}">
                <a16:creationId xmlns:a16="http://schemas.microsoft.com/office/drawing/2014/main" id="{DF7689EF-2725-A5B9-22D4-E6B9D026ACFF}"/>
              </a:ext>
            </a:extLst>
          </p:cNvPr>
          <p:cNvSpPr/>
          <p:nvPr/>
        </p:nvSpPr>
        <p:spPr>
          <a:xfrm>
            <a:off x="7872788" y="6473004"/>
            <a:ext cx="3923846" cy="384995"/>
          </a:xfrm>
          <a:prstGeom prst="rect">
            <a:avLst/>
          </a:prstGeom>
          <a:noFill/>
          <a:ln>
            <a:noFill/>
          </a:ln>
        </p:spPr>
        <p:txBody>
          <a:bodyPr rot="0" spcFirstLastPara="0" vertOverflow="overflow" horzOverflow="overflow" vert="horz" wrap="square" lIns="91440" tIns="45720" rIns="91440" bIns="45720" numCol="1" spcCol="0" rtlCol="1" fromWordArt="0" anchor="ctr" anchorCtr="0" forceAA="0" compatLnSpc="1">
            <a:prstTxWarp prst="textNoShape">
              <a:avLst/>
            </a:prstTxWarp>
            <a:noAutofit/>
          </a:bodyPr>
          <a:lstStyle/>
          <a:p>
            <a:pPr lvl="0" algn="r" rtl="1">
              <a:defRPr/>
            </a:pPr>
            <a:r>
              <a:rPr lang="he-IL" sz="1000" dirty="0">
                <a:solidFill>
                  <a:prstClr val="white">
                    <a:lumMod val="65000"/>
                  </a:prstClr>
                </a:solidFill>
                <a:latin typeface="Segoe UI" panose="020B0502040204020203" pitchFamily="34" charset="0"/>
                <a:cs typeface="Segoe UI" panose="020B0502040204020203" pitchFamily="34" charset="0"/>
              </a:rPr>
              <a:t>"איזה סוג דו"ח תעבורה קיבלת?"</a:t>
            </a:r>
          </a:p>
        </p:txBody>
      </p:sp>
      <p:sp>
        <p:nvSpPr>
          <p:cNvPr id="7" name="Rectangle 3">
            <a:extLst>
              <a:ext uri="{FF2B5EF4-FFF2-40B4-BE49-F238E27FC236}">
                <a16:creationId xmlns:a16="http://schemas.microsoft.com/office/drawing/2014/main" id="{2BDE7202-E518-83E2-1BD9-A986F8341327}"/>
              </a:ext>
            </a:extLst>
          </p:cNvPr>
          <p:cNvSpPr/>
          <p:nvPr/>
        </p:nvSpPr>
        <p:spPr>
          <a:xfrm>
            <a:off x="1320802" y="191076"/>
            <a:ext cx="10614278" cy="5075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t"/>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0" cap="none" spc="0" normalizeH="0" baseline="0" noProof="0" dirty="0">
                <a:ln>
                  <a:noFill/>
                </a:ln>
                <a:solidFill>
                  <a:srgbClr val="104E88"/>
                </a:solidFill>
                <a:effectLst/>
                <a:uLnTx/>
                <a:uFillTx/>
                <a:latin typeface="Segoe UI" panose="020B0502040204020203" pitchFamily="34" charset="0"/>
                <a:cs typeface="Segoe UI" panose="020B0502040204020203" pitchFamily="34" charset="0"/>
                <a:sym typeface="Arial"/>
              </a:rPr>
              <a:t>סוג הדוח </a:t>
            </a:r>
            <a:r>
              <a:rPr kumimoji="0" lang="he-IL" b="0" i="0" u="none" strike="noStrike" kern="0" cap="none" spc="0" normalizeH="0" baseline="0" noProof="0" dirty="0">
                <a:ln>
                  <a:noFill/>
                </a:ln>
                <a:solidFill>
                  <a:srgbClr val="104E88"/>
                </a:solidFill>
                <a:effectLst/>
                <a:uLnTx/>
                <a:uFillTx/>
                <a:latin typeface="Segoe UI" panose="020B0502040204020203" pitchFamily="34" charset="0"/>
                <a:cs typeface="Segoe UI" panose="020B0502040204020203" pitchFamily="34" charset="0"/>
                <a:sym typeface="Arial"/>
              </a:rPr>
              <a:t>| לפי מגדר</a:t>
            </a:r>
            <a:endParaRPr kumimoji="0" lang="he-IL" sz="2800" b="0" i="0" u="none" strike="noStrike" kern="0" cap="none" spc="0" normalizeH="0" baseline="0" noProof="0" dirty="0">
              <a:ln>
                <a:noFill/>
              </a:ln>
              <a:solidFill>
                <a:srgbClr val="104E88"/>
              </a:solidFill>
              <a:effectLst/>
              <a:uLnTx/>
              <a:uFillTx/>
              <a:latin typeface="Segoe UI" panose="020B0502040204020203" pitchFamily="34" charset="0"/>
              <a:cs typeface="Segoe UI" panose="020B0502040204020203" pitchFamily="34" charset="0"/>
              <a:sym typeface="Arial"/>
            </a:endParaRPr>
          </a:p>
        </p:txBody>
      </p:sp>
      <p:sp>
        <p:nvSpPr>
          <p:cNvPr id="3" name="Rectangle 6">
            <a:extLst>
              <a:ext uri="{FF2B5EF4-FFF2-40B4-BE49-F238E27FC236}">
                <a16:creationId xmlns:a16="http://schemas.microsoft.com/office/drawing/2014/main" id="{2FCDA6D4-71D8-F07B-5E9B-01277BFAD643}"/>
              </a:ext>
            </a:extLst>
          </p:cNvPr>
          <p:cNvSpPr/>
          <p:nvPr/>
        </p:nvSpPr>
        <p:spPr>
          <a:xfrm>
            <a:off x="457200" y="4995552"/>
            <a:ext cx="11201399" cy="1440000"/>
          </a:xfrm>
          <a:prstGeom prst="rect">
            <a:avLst/>
          </a:prstGeom>
        </p:spPr>
        <p:txBody>
          <a:bodyPr wrap="square" anchor="ctr">
            <a:noAutofit/>
          </a:bodyPr>
          <a:lstStyle/>
          <a:p>
            <a:pPr algn="ctr" rtl="1">
              <a:lnSpc>
                <a:spcPct val="150000"/>
              </a:lnSpc>
            </a:pPr>
            <a:r>
              <a:rPr lang="he-IL" sz="1600" dirty="0">
                <a:latin typeface="Segoe UI" panose="020B0502040204020203" pitchFamily="34" charset="0"/>
                <a:cs typeface="Segoe UI" panose="020B0502040204020203" pitchFamily="34" charset="0"/>
              </a:rPr>
              <a:t>קיימים הבדלי תמהיל דוחות ספציפיים בין הקבוצות:  </a:t>
            </a:r>
          </a:p>
          <a:p>
            <a:pPr algn="ctr" rtl="1">
              <a:lnSpc>
                <a:spcPct val="150000"/>
              </a:lnSpc>
            </a:pPr>
            <a:r>
              <a:rPr lang="he-IL" sz="1600" b="1" dirty="0">
                <a:latin typeface="Segoe UI" panose="020B0502040204020203" pitchFamily="34" charset="0"/>
                <a:cs typeface="Segoe UI" panose="020B0502040204020203" pitchFamily="34" charset="0"/>
              </a:rPr>
              <a:t>גברים:</a:t>
            </a:r>
            <a:r>
              <a:rPr lang="he-IL" sz="1600" dirty="0">
                <a:latin typeface="Segoe UI" panose="020B0502040204020203" pitchFamily="34" charset="0"/>
                <a:cs typeface="Segoe UI" panose="020B0502040204020203" pitchFamily="34" charset="0"/>
              </a:rPr>
              <a:t> יותר שימוש בטלפון, אי ציות לתמרור ומהירות במגזר היהודי</a:t>
            </a:r>
          </a:p>
          <a:p>
            <a:pPr algn="ctr" rtl="1">
              <a:lnSpc>
                <a:spcPct val="150000"/>
              </a:lnSpc>
            </a:pPr>
            <a:r>
              <a:rPr lang="he-IL" sz="1600" b="1" dirty="0">
                <a:latin typeface="Segoe UI" panose="020B0502040204020203" pitchFamily="34" charset="0"/>
                <a:cs typeface="Segoe UI" panose="020B0502040204020203" pitchFamily="34" charset="0"/>
              </a:rPr>
              <a:t>נשים:</a:t>
            </a:r>
            <a:r>
              <a:rPr lang="he-IL" sz="1600" dirty="0">
                <a:latin typeface="Segoe UI" panose="020B0502040204020203" pitchFamily="34" charset="0"/>
                <a:cs typeface="Segoe UI" panose="020B0502040204020203" pitchFamily="34" charset="0"/>
              </a:rPr>
              <a:t> יותר נסיעה בנתיב </a:t>
            </a:r>
            <a:r>
              <a:rPr lang="he-IL" sz="1600" dirty="0" err="1">
                <a:latin typeface="Segoe UI" panose="020B0502040204020203" pitchFamily="34" charset="0"/>
                <a:cs typeface="Segoe UI" panose="020B0502040204020203" pitchFamily="34" charset="0"/>
              </a:rPr>
              <a:t>תחב"צ</a:t>
            </a:r>
            <a:r>
              <a:rPr lang="he-IL" sz="1600" dirty="0">
                <a:latin typeface="Segoe UI" panose="020B0502040204020203" pitchFamily="34" charset="0"/>
                <a:cs typeface="Segoe UI" panose="020B0502040204020203" pitchFamily="34" charset="0"/>
              </a:rPr>
              <a:t>, נסיעה בשוליים, אור אדום בקרב המבקשות להישפט, ומהירות במגזר הערבי</a:t>
            </a:r>
          </a:p>
        </p:txBody>
      </p:sp>
      <p:cxnSp>
        <p:nvCxnSpPr>
          <p:cNvPr id="5" name="מחבר ישר 4">
            <a:extLst>
              <a:ext uri="{FF2B5EF4-FFF2-40B4-BE49-F238E27FC236}">
                <a16:creationId xmlns:a16="http://schemas.microsoft.com/office/drawing/2014/main" id="{D1109F43-D506-ED42-AD38-A28BD80B1984}"/>
              </a:ext>
            </a:extLst>
          </p:cNvPr>
          <p:cNvCxnSpPr>
            <a:cxnSpLocks/>
          </p:cNvCxnSpPr>
          <p:nvPr/>
        </p:nvCxnSpPr>
        <p:spPr>
          <a:xfrm>
            <a:off x="6252733" y="994599"/>
            <a:ext cx="0" cy="3960000"/>
          </a:xfrm>
          <a:prstGeom prst="line">
            <a:avLst/>
          </a:prstGeom>
          <a:ln>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8" name="תיבת טקסט 7">
            <a:extLst>
              <a:ext uri="{FF2B5EF4-FFF2-40B4-BE49-F238E27FC236}">
                <a16:creationId xmlns:a16="http://schemas.microsoft.com/office/drawing/2014/main" id="{ACE1D278-C577-3330-6033-CCCE1F0AA6AC}"/>
              </a:ext>
            </a:extLst>
          </p:cNvPr>
          <p:cNvSpPr txBox="1"/>
          <p:nvPr/>
        </p:nvSpPr>
        <p:spPr>
          <a:xfrm>
            <a:off x="2344998" y="922909"/>
            <a:ext cx="2520000" cy="307777"/>
          </a:xfrm>
          <a:prstGeom prst="rect">
            <a:avLst/>
          </a:prstGeom>
          <a:noFill/>
        </p:spPr>
        <p:txBody>
          <a:bodyPr wrap="square">
            <a:spAutoFit/>
          </a:bodyPr>
          <a:lstStyle/>
          <a:p>
            <a:pPr algn="ctr" rtl="1" fontAlgn="ctr"/>
            <a:r>
              <a:rPr lang="he-IL" sz="1400" b="1" u="none" strike="noStrike" dirty="0">
                <a:effectLst/>
                <a:latin typeface="Segoe UI" panose="020B0502040204020203" pitchFamily="34" charset="0"/>
                <a:cs typeface="Segoe UI" panose="020B0502040204020203" pitchFamily="34" charset="0"/>
              </a:rPr>
              <a:t>לא ביקשו להישפט</a:t>
            </a:r>
          </a:p>
        </p:txBody>
      </p:sp>
      <p:sp>
        <p:nvSpPr>
          <p:cNvPr id="9" name="תיבת טקסט 8">
            <a:extLst>
              <a:ext uri="{FF2B5EF4-FFF2-40B4-BE49-F238E27FC236}">
                <a16:creationId xmlns:a16="http://schemas.microsoft.com/office/drawing/2014/main" id="{E613E8EF-2F04-4B9D-7F14-3E0CDA789421}"/>
              </a:ext>
            </a:extLst>
          </p:cNvPr>
          <p:cNvSpPr txBox="1"/>
          <p:nvPr/>
        </p:nvSpPr>
        <p:spPr>
          <a:xfrm>
            <a:off x="7872788" y="881749"/>
            <a:ext cx="2520000" cy="307777"/>
          </a:xfrm>
          <a:prstGeom prst="rect">
            <a:avLst/>
          </a:prstGeom>
          <a:noFill/>
        </p:spPr>
        <p:txBody>
          <a:bodyPr wrap="square">
            <a:spAutoFit/>
          </a:bodyPr>
          <a:lstStyle/>
          <a:p>
            <a:pPr algn="ctr" rtl="1" fontAlgn="b"/>
            <a:r>
              <a:rPr lang="he-IL" sz="1400" b="1" u="none" strike="noStrike" dirty="0">
                <a:effectLst/>
                <a:latin typeface="Segoe UI" panose="020B0502040204020203" pitchFamily="34" charset="0"/>
                <a:cs typeface="Segoe UI" panose="020B0502040204020203" pitchFamily="34" charset="0"/>
              </a:rPr>
              <a:t>ביקשו להישפט</a:t>
            </a:r>
            <a:endParaRPr lang="he-IL" sz="1400" b="1" i="0" u="none" strike="noStrike" dirty="0">
              <a:solidFill>
                <a:srgbClr val="000000"/>
              </a:solidFill>
              <a:effectLst/>
              <a:latin typeface="Segoe UI" panose="020B0502040204020203" pitchFamily="34" charset="0"/>
              <a:cs typeface="Segoe UI" panose="020B0502040204020203" pitchFamily="34" charset="0"/>
            </a:endParaRPr>
          </a:p>
        </p:txBody>
      </p:sp>
      <p:sp>
        <p:nvSpPr>
          <p:cNvPr id="19" name="תיבת טקסט 18">
            <a:extLst>
              <a:ext uri="{FF2B5EF4-FFF2-40B4-BE49-F238E27FC236}">
                <a16:creationId xmlns:a16="http://schemas.microsoft.com/office/drawing/2014/main" id="{1D1311FE-A653-44A6-E612-17E73DF28860}"/>
              </a:ext>
            </a:extLst>
          </p:cNvPr>
          <p:cNvSpPr txBox="1"/>
          <p:nvPr/>
        </p:nvSpPr>
        <p:spPr>
          <a:xfrm>
            <a:off x="1412484" y="1456962"/>
            <a:ext cx="1440000" cy="288000"/>
          </a:xfrm>
          <a:prstGeom prst="rect">
            <a:avLst/>
          </a:prstGeom>
          <a:noFill/>
        </p:spPr>
        <p:txBody>
          <a:bodyPr wrap="square">
            <a:spAutoFit/>
          </a:bodyPr>
          <a:lstStyle/>
          <a:p>
            <a:pPr algn="l" rtl="1" fontAlgn="ctr"/>
            <a:r>
              <a:rPr lang="he-IL" sz="1200" b="1" u="none" strike="noStrike" dirty="0">
                <a:effectLst/>
                <a:latin typeface="Segoe UI" panose="020B0502040204020203" pitchFamily="34" charset="0"/>
                <a:cs typeface="Segoe UI" panose="020B0502040204020203" pitchFamily="34" charset="0"/>
              </a:rPr>
              <a:t>מגזר יהודי</a:t>
            </a:r>
          </a:p>
        </p:txBody>
      </p:sp>
      <p:sp>
        <p:nvSpPr>
          <p:cNvPr id="20" name="תיבת טקסט 19">
            <a:extLst>
              <a:ext uri="{FF2B5EF4-FFF2-40B4-BE49-F238E27FC236}">
                <a16:creationId xmlns:a16="http://schemas.microsoft.com/office/drawing/2014/main" id="{C2AFDB0B-AB69-EB90-1AEB-4AF4B0A616C5}"/>
              </a:ext>
            </a:extLst>
          </p:cNvPr>
          <p:cNvSpPr txBox="1"/>
          <p:nvPr/>
        </p:nvSpPr>
        <p:spPr>
          <a:xfrm>
            <a:off x="4208946" y="1456962"/>
            <a:ext cx="1440000" cy="288000"/>
          </a:xfrm>
          <a:prstGeom prst="rect">
            <a:avLst/>
          </a:prstGeom>
          <a:noFill/>
        </p:spPr>
        <p:txBody>
          <a:bodyPr wrap="square">
            <a:spAutoFit/>
          </a:bodyPr>
          <a:lstStyle/>
          <a:p>
            <a:pPr algn="l" rtl="1" fontAlgn="ctr"/>
            <a:r>
              <a:rPr lang="he-IL" sz="1200" b="1" u="none" strike="noStrike" dirty="0">
                <a:effectLst/>
                <a:latin typeface="Segoe UI" panose="020B0502040204020203" pitchFamily="34" charset="0"/>
                <a:cs typeface="Segoe UI" panose="020B0502040204020203" pitchFamily="34" charset="0"/>
              </a:rPr>
              <a:t>מגזר ערבי</a:t>
            </a:r>
          </a:p>
        </p:txBody>
      </p:sp>
      <p:sp>
        <p:nvSpPr>
          <p:cNvPr id="21" name="תיבת טקסט 20">
            <a:extLst>
              <a:ext uri="{FF2B5EF4-FFF2-40B4-BE49-F238E27FC236}">
                <a16:creationId xmlns:a16="http://schemas.microsoft.com/office/drawing/2014/main" id="{F242CB01-83D9-F8E5-7F9A-3D9CD3A9768A}"/>
              </a:ext>
            </a:extLst>
          </p:cNvPr>
          <p:cNvSpPr txBox="1"/>
          <p:nvPr/>
        </p:nvSpPr>
        <p:spPr>
          <a:xfrm>
            <a:off x="7049184" y="1456962"/>
            <a:ext cx="1440000" cy="288000"/>
          </a:xfrm>
          <a:prstGeom prst="rect">
            <a:avLst/>
          </a:prstGeom>
          <a:noFill/>
        </p:spPr>
        <p:txBody>
          <a:bodyPr wrap="square">
            <a:spAutoFit/>
          </a:bodyPr>
          <a:lstStyle/>
          <a:p>
            <a:pPr algn="l" rtl="1" fontAlgn="ctr"/>
            <a:r>
              <a:rPr lang="he-IL" sz="1200" b="1" u="none" strike="noStrike" dirty="0">
                <a:effectLst/>
                <a:latin typeface="Segoe UI" panose="020B0502040204020203" pitchFamily="34" charset="0"/>
                <a:cs typeface="Segoe UI" panose="020B0502040204020203" pitchFamily="34" charset="0"/>
              </a:rPr>
              <a:t>מגזר יהודי</a:t>
            </a:r>
          </a:p>
        </p:txBody>
      </p:sp>
      <p:sp>
        <p:nvSpPr>
          <p:cNvPr id="22" name="תיבת טקסט 21">
            <a:extLst>
              <a:ext uri="{FF2B5EF4-FFF2-40B4-BE49-F238E27FC236}">
                <a16:creationId xmlns:a16="http://schemas.microsoft.com/office/drawing/2014/main" id="{C510C371-EC80-586B-B6C4-7AC9E44D0547}"/>
              </a:ext>
            </a:extLst>
          </p:cNvPr>
          <p:cNvSpPr txBox="1"/>
          <p:nvPr/>
        </p:nvSpPr>
        <p:spPr>
          <a:xfrm>
            <a:off x="9774566" y="1456962"/>
            <a:ext cx="1440000" cy="288000"/>
          </a:xfrm>
          <a:prstGeom prst="rect">
            <a:avLst/>
          </a:prstGeom>
          <a:noFill/>
        </p:spPr>
        <p:txBody>
          <a:bodyPr wrap="square">
            <a:spAutoFit/>
          </a:bodyPr>
          <a:lstStyle/>
          <a:p>
            <a:pPr algn="l" rtl="1" fontAlgn="ctr"/>
            <a:r>
              <a:rPr lang="he-IL" sz="1200" b="1" u="none" strike="noStrike" dirty="0">
                <a:effectLst/>
                <a:latin typeface="Segoe UI" panose="020B0502040204020203" pitchFamily="34" charset="0"/>
                <a:cs typeface="Segoe UI" panose="020B0502040204020203" pitchFamily="34" charset="0"/>
              </a:rPr>
              <a:t>מגזר ערבי</a:t>
            </a:r>
          </a:p>
        </p:txBody>
      </p:sp>
      <p:graphicFrame>
        <p:nvGraphicFramePr>
          <p:cNvPr id="6" name="Chart 3">
            <a:extLst>
              <a:ext uri="{FF2B5EF4-FFF2-40B4-BE49-F238E27FC236}">
                <a16:creationId xmlns:a16="http://schemas.microsoft.com/office/drawing/2014/main" id="{199608D8-56C9-BAC8-7EAB-5044FBF790E4}"/>
              </a:ext>
            </a:extLst>
          </p:cNvPr>
          <p:cNvGraphicFramePr/>
          <p:nvPr>
            <p:extLst>
              <p:ext uri="{D42A27DB-BD31-4B8C-83A1-F6EECF244321}">
                <p14:modId xmlns:p14="http://schemas.microsoft.com/office/powerpoint/2010/main" val="2194950650"/>
              </p:ext>
            </p:extLst>
          </p:nvPr>
        </p:nvGraphicFramePr>
        <p:xfrm>
          <a:off x="699158" y="1569259"/>
          <a:ext cx="3058122" cy="3420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טבלה 9">
            <a:extLst>
              <a:ext uri="{FF2B5EF4-FFF2-40B4-BE49-F238E27FC236}">
                <a16:creationId xmlns:a16="http://schemas.microsoft.com/office/drawing/2014/main" id="{9860F65D-EB44-EA42-028F-B73290C8D882}"/>
              </a:ext>
            </a:extLst>
          </p:cNvPr>
          <p:cNvGraphicFramePr>
            <a:graphicFrameLocks noGrp="1"/>
          </p:cNvGraphicFramePr>
          <p:nvPr>
            <p:extLst>
              <p:ext uri="{D42A27DB-BD31-4B8C-83A1-F6EECF244321}">
                <p14:modId xmlns:p14="http://schemas.microsoft.com/office/powerpoint/2010/main" val="2796080447"/>
              </p:ext>
            </p:extLst>
          </p:nvPr>
        </p:nvGraphicFramePr>
        <p:xfrm>
          <a:off x="86335" y="1698177"/>
          <a:ext cx="1296000" cy="3240000"/>
        </p:xfrm>
        <a:graphic>
          <a:graphicData uri="http://schemas.openxmlformats.org/drawingml/2006/table">
            <a:tbl>
              <a:tblPr rtl="1" firstRow="1" bandRow="1">
                <a:tableStyleId>{2D5ABB26-0587-4C30-8999-92F81FD0307C}</a:tableStyleId>
              </a:tblPr>
              <a:tblGrid>
                <a:gridCol w="1296000">
                  <a:extLst>
                    <a:ext uri="{9D8B030D-6E8A-4147-A177-3AD203B41FA5}">
                      <a16:colId xmlns:a16="http://schemas.microsoft.com/office/drawing/2014/main" val="581933871"/>
                    </a:ext>
                  </a:extLst>
                </a:gridCol>
              </a:tblGrid>
              <a:tr h="405000">
                <a:tc>
                  <a:txBody>
                    <a:bodyPr/>
                    <a:lstStyle/>
                    <a:p>
                      <a:pPr algn="r" rtl="1" fontAlgn="b">
                        <a:buNone/>
                      </a:pPr>
                      <a:r>
                        <a:rPr lang="he-IL" sz="1100" b="0" i="0" u="none" strike="noStrike">
                          <a:solidFill>
                            <a:srgbClr val="000000"/>
                          </a:solidFill>
                          <a:effectLst/>
                          <a:latin typeface="Segoe UI" panose="020B0502040204020203" pitchFamily="34" charset="0"/>
                          <a:cs typeface="Segoe UI" panose="020B0502040204020203" pitchFamily="34" charset="0"/>
                        </a:rPr>
                        <a:t>מהירות</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28002872"/>
                  </a:ext>
                </a:extLst>
              </a:tr>
              <a:tr h="405000">
                <a:tc>
                  <a:txBody>
                    <a:bodyPr/>
                    <a:lstStyle/>
                    <a:p>
                      <a:pPr algn="r" rtl="1" fontAlgn="b">
                        <a:buNone/>
                      </a:pPr>
                      <a:r>
                        <a:rPr lang="he-IL" sz="1100" b="0" i="0" u="none" strike="noStrike">
                          <a:solidFill>
                            <a:srgbClr val="000000"/>
                          </a:solidFill>
                          <a:effectLst/>
                          <a:latin typeface="Segoe UI" panose="020B0502040204020203" pitchFamily="34" charset="0"/>
                          <a:cs typeface="Segoe UI" panose="020B0502040204020203" pitchFamily="34" charset="0"/>
                        </a:rPr>
                        <a:t>שימוש בטלפון</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54857623"/>
                  </a:ext>
                </a:extLst>
              </a:tr>
              <a:tr h="405000">
                <a:tc>
                  <a:txBody>
                    <a:bodyPr/>
                    <a:lstStyle/>
                    <a:p>
                      <a:pPr algn="r" rtl="1" fontAlgn="b">
                        <a:buNone/>
                      </a:pPr>
                      <a:r>
                        <a:rPr lang="he-IL" sz="1100" b="0" i="0" u="none" strike="noStrike" dirty="0">
                          <a:solidFill>
                            <a:srgbClr val="000000"/>
                          </a:solidFill>
                          <a:effectLst/>
                          <a:latin typeface="Segoe UI" panose="020B0502040204020203" pitchFamily="34" charset="0"/>
                          <a:cs typeface="Segoe UI" panose="020B0502040204020203" pitchFamily="34" charset="0"/>
                        </a:rPr>
                        <a:t>נסיעה בנתיב </a:t>
                      </a:r>
                      <a:r>
                        <a:rPr lang="he-IL" sz="1100" b="0" i="0" u="none" strike="noStrike" dirty="0" err="1">
                          <a:solidFill>
                            <a:srgbClr val="000000"/>
                          </a:solidFill>
                          <a:effectLst/>
                          <a:latin typeface="Segoe UI" panose="020B0502040204020203" pitchFamily="34" charset="0"/>
                          <a:cs typeface="Segoe UI" panose="020B0502040204020203" pitchFamily="34" charset="0"/>
                        </a:rPr>
                        <a:t>תחב"צ</a:t>
                      </a:r>
                      <a:endParaRPr lang="he-IL" sz="1100" b="0" i="0" u="none" strike="noStrike" dirty="0">
                        <a:solidFill>
                          <a:srgbClr val="000000"/>
                        </a:solidFill>
                        <a:effectLst/>
                        <a:latin typeface="Segoe UI" panose="020B0502040204020203" pitchFamily="34" charset="0"/>
                        <a:cs typeface="Segoe UI" panose="020B0502040204020203"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90531178"/>
                  </a:ext>
                </a:extLst>
              </a:tr>
              <a:tr h="405000">
                <a:tc>
                  <a:txBody>
                    <a:bodyPr/>
                    <a:lstStyle/>
                    <a:p>
                      <a:pPr algn="r" rtl="1" fontAlgn="b">
                        <a:buNone/>
                      </a:pPr>
                      <a:r>
                        <a:rPr lang="he-IL" sz="1100" b="0" i="0" u="none" strike="noStrike">
                          <a:solidFill>
                            <a:srgbClr val="000000"/>
                          </a:solidFill>
                          <a:effectLst/>
                          <a:latin typeface="Segoe UI" panose="020B0502040204020203" pitchFamily="34" charset="0"/>
                          <a:cs typeface="Segoe UI" panose="020B0502040204020203" pitchFamily="34" charset="0"/>
                        </a:rPr>
                        <a:t>אי ציות לתמרור</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88033099"/>
                  </a:ext>
                </a:extLst>
              </a:tr>
              <a:tr h="405000">
                <a:tc>
                  <a:txBody>
                    <a:bodyPr/>
                    <a:lstStyle/>
                    <a:p>
                      <a:pPr algn="r" rtl="1" fontAlgn="b">
                        <a:buNone/>
                      </a:pPr>
                      <a:r>
                        <a:rPr lang="he-IL" sz="1100" b="0" i="0" u="none" strike="noStrike">
                          <a:solidFill>
                            <a:srgbClr val="000000"/>
                          </a:solidFill>
                          <a:effectLst/>
                          <a:latin typeface="Segoe UI" panose="020B0502040204020203" pitchFamily="34" charset="0"/>
                          <a:cs typeface="Segoe UI" panose="020B0502040204020203" pitchFamily="34" charset="0"/>
                        </a:rPr>
                        <a:t>חגורת בטיחות</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24836368"/>
                  </a:ext>
                </a:extLst>
              </a:tr>
              <a:tr h="405000">
                <a:tc>
                  <a:txBody>
                    <a:bodyPr/>
                    <a:lstStyle/>
                    <a:p>
                      <a:pPr algn="r" rtl="1" fontAlgn="b">
                        <a:buNone/>
                      </a:pPr>
                      <a:r>
                        <a:rPr lang="he-IL" sz="1100" b="0" i="0" u="none" strike="noStrike">
                          <a:solidFill>
                            <a:srgbClr val="000000"/>
                          </a:solidFill>
                          <a:effectLst/>
                          <a:latin typeface="Segoe UI" panose="020B0502040204020203" pitchFamily="34" charset="0"/>
                          <a:cs typeface="Segoe UI" panose="020B0502040204020203" pitchFamily="34" charset="0"/>
                        </a:rPr>
                        <a:t>אור אדום</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07590062"/>
                  </a:ext>
                </a:extLst>
              </a:tr>
              <a:tr h="405000">
                <a:tc>
                  <a:txBody>
                    <a:bodyPr/>
                    <a:lstStyle/>
                    <a:p>
                      <a:pPr algn="r" rtl="1" fontAlgn="b">
                        <a:buNone/>
                      </a:pPr>
                      <a:r>
                        <a:rPr lang="he-IL" sz="1100" b="0" i="0" u="none" strike="noStrike" dirty="0">
                          <a:solidFill>
                            <a:srgbClr val="000000"/>
                          </a:solidFill>
                          <a:effectLst/>
                          <a:latin typeface="Segoe UI" panose="020B0502040204020203" pitchFamily="34" charset="0"/>
                          <a:cs typeface="Segoe UI" panose="020B0502040204020203" pitchFamily="34" charset="0"/>
                        </a:rPr>
                        <a:t>נסיעה בשוליים</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69517065"/>
                  </a:ext>
                </a:extLst>
              </a:tr>
              <a:tr h="405000">
                <a:tc>
                  <a:txBody>
                    <a:bodyPr/>
                    <a:lstStyle/>
                    <a:p>
                      <a:pPr algn="r" rtl="1" fontAlgn="b">
                        <a:buNone/>
                      </a:pPr>
                      <a:r>
                        <a:rPr lang="he-IL" sz="1100" b="0" i="0" u="none" strike="noStrike" dirty="0">
                          <a:solidFill>
                            <a:srgbClr val="000000"/>
                          </a:solidFill>
                          <a:effectLst/>
                          <a:latin typeface="Segoe UI" panose="020B0502040204020203" pitchFamily="34" charset="0"/>
                          <a:cs typeface="Segoe UI" panose="020B0502040204020203" pitchFamily="34" charset="0"/>
                        </a:rPr>
                        <a:t>שינויים ברכב</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66328170"/>
                  </a:ext>
                </a:extLst>
              </a:tr>
            </a:tbl>
          </a:graphicData>
        </a:graphic>
      </p:graphicFrame>
      <p:graphicFrame>
        <p:nvGraphicFramePr>
          <p:cNvPr id="4" name="Chart 3">
            <a:extLst>
              <a:ext uri="{FF2B5EF4-FFF2-40B4-BE49-F238E27FC236}">
                <a16:creationId xmlns:a16="http://schemas.microsoft.com/office/drawing/2014/main" id="{D27FF493-700F-9B56-46F5-D8016DD54E48}"/>
              </a:ext>
            </a:extLst>
          </p:cNvPr>
          <p:cNvGraphicFramePr/>
          <p:nvPr>
            <p:extLst>
              <p:ext uri="{D42A27DB-BD31-4B8C-83A1-F6EECF244321}">
                <p14:modId xmlns:p14="http://schemas.microsoft.com/office/powerpoint/2010/main" val="665099192"/>
              </p:ext>
            </p:extLst>
          </p:nvPr>
        </p:nvGraphicFramePr>
        <p:xfrm>
          <a:off x="3517668" y="1569259"/>
          <a:ext cx="3058122" cy="3420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Chart 3">
            <a:extLst>
              <a:ext uri="{FF2B5EF4-FFF2-40B4-BE49-F238E27FC236}">
                <a16:creationId xmlns:a16="http://schemas.microsoft.com/office/drawing/2014/main" id="{9336FB39-6870-3B41-9F3A-93A5F744E8F3}"/>
              </a:ext>
            </a:extLst>
          </p:cNvPr>
          <p:cNvGraphicFramePr/>
          <p:nvPr>
            <p:extLst>
              <p:ext uri="{D42A27DB-BD31-4B8C-83A1-F6EECF244321}">
                <p14:modId xmlns:p14="http://schemas.microsoft.com/office/powerpoint/2010/main" val="677363524"/>
              </p:ext>
            </p:extLst>
          </p:nvPr>
        </p:nvGraphicFramePr>
        <p:xfrm>
          <a:off x="6336178" y="1569259"/>
          <a:ext cx="3058122" cy="34200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2" name="Chart 3">
            <a:extLst>
              <a:ext uri="{FF2B5EF4-FFF2-40B4-BE49-F238E27FC236}">
                <a16:creationId xmlns:a16="http://schemas.microsoft.com/office/drawing/2014/main" id="{8005369C-E3D3-C5EA-95DD-42A01718FF7C}"/>
              </a:ext>
            </a:extLst>
          </p:cNvPr>
          <p:cNvGraphicFramePr/>
          <p:nvPr>
            <p:extLst>
              <p:ext uri="{D42A27DB-BD31-4B8C-83A1-F6EECF244321}">
                <p14:modId xmlns:p14="http://schemas.microsoft.com/office/powerpoint/2010/main" val="1067165291"/>
              </p:ext>
            </p:extLst>
          </p:nvPr>
        </p:nvGraphicFramePr>
        <p:xfrm>
          <a:off x="9154687" y="1569259"/>
          <a:ext cx="3058122" cy="3420000"/>
        </p:xfrm>
        <a:graphic>
          <a:graphicData uri="http://schemas.openxmlformats.org/drawingml/2006/chart">
            <c:chart xmlns:c="http://schemas.openxmlformats.org/drawingml/2006/chart" xmlns:r="http://schemas.openxmlformats.org/officeDocument/2006/relationships" r:id="rId5"/>
          </a:graphicData>
        </a:graphic>
      </p:graphicFrame>
      <p:cxnSp>
        <p:nvCxnSpPr>
          <p:cNvPr id="13" name="Straight Connector 22">
            <a:extLst>
              <a:ext uri="{FF2B5EF4-FFF2-40B4-BE49-F238E27FC236}">
                <a16:creationId xmlns:a16="http://schemas.microsoft.com/office/drawing/2014/main" id="{F0C4EBA3-77FD-5946-98FF-F9B4EA9EC1FD}"/>
              </a:ext>
            </a:extLst>
          </p:cNvPr>
          <p:cNvCxnSpPr>
            <a:cxnSpLocks/>
          </p:cNvCxnSpPr>
          <p:nvPr/>
        </p:nvCxnSpPr>
        <p:spPr>
          <a:xfrm rot="5400000">
            <a:off x="6091368" y="-3862387"/>
            <a:ext cx="0" cy="1188000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22">
            <a:extLst>
              <a:ext uri="{FF2B5EF4-FFF2-40B4-BE49-F238E27FC236}">
                <a16:creationId xmlns:a16="http://schemas.microsoft.com/office/drawing/2014/main" id="{B8B2E6F0-946D-4B5F-D1E2-7848E138ED0B}"/>
              </a:ext>
            </a:extLst>
          </p:cNvPr>
          <p:cNvCxnSpPr>
            <a:cxnSpLocks/>
          </p:cNvCxnSpPr>
          <p:nvPr/>
        </p:nvCxnSpPr>
        <p:spPr>
          <a:xfrm rot="5400000">
            <a:off x="6091368" y="-3450012"/>
            <a:ext cx="0" cy="1188000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22">
            <a:extLst>
              <a:ext uri="{FF2B5EF4-FFF2-40B4-BE49-F238E27FC236}">
                <a16:creationId xmlns:a16="http://schemas.microsoft.com/office/drawing/2014/main" id="{FED67771-6CD5-22EC-2BF0-507073623830}"/>
              </a:ext>
            </a:extLst>
          </p:cNvPr>
          <p:cNvCxnSpPr>
            <a:cxnSpLocks/>
          </p:cNvCxnSpPr>
          <p:nvPr/>
        </p:nvCxnSpPr>
        <p:spPr>
          <a:xfrm rot="5400000">
            <a:off x="6091368" y="-3046601"/>
            <a:ext cx="0" cy="1188000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22">
            <a:extLst>
              <a:ext uri="{FF2B5EF4-FFF2-40B4-BE49-F238E27FC236}">
                <a16:creationId xmlns:a16="http://schemas.microsoft.com/office/drawing/2014/main" id="{9D586529-2166-F96D-63E2-42527FAD061A}"/>
              </a:ext>
            </a:extLst>
          </p:cNvPr>
          <p:cNvCxnSpPr>
            <a:cxnSpLocks/>
          </p:cNvCxnSpPr>
          <p:nvPr/>
        </p:nvCxnSpPr>
        <p:spPr>
          <a:xfrm rot="5400000">
            <a:off x="6091368" y="-2652154"/>
            <a:ext cx="0" cy="1188000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22">
            <a:extLst>
              <a:ext uri="{FF2B5EF4-FFF2-40B4-BE49-F238E27FC236}">
                <a16:creationId xmlns:a16="http://schemas.microsoft.com/office/drawing/2014/main" id="{65B01F1F-167E-D48A-FB57-1F7DB0FA96F2}"/>
              </a:ext>
            </a:extLst>
          </p:cNvPr>
          <p:cNvCxnSpPr>
            <a:cxnSpLocks/>
          </p:cNvCxnSpPr>
          <p:nvPr/>
        </p:nvCxnSpPr>
        <p:spPr>
          <a:xfrm rot="5400000">
            <a:off x="6091368" y="-2221846"/>
            <a:ext cx="0" cy="1188000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4ED527A-73FE-C642-29F6-805710503E4F}"/>
              </a:ext>
            </a:extLst>
          </p:cNvPr>
          <p:cNvCxnSpPr>
            <a:cxnSpLocks/>
          </p:cNvCxnSpPr>
          <p:nvPr/>
        </p:nvCxnSpPr>
        <p:spPr>
          <a:xfrm rot="5400000">
            <a:off x="6091368" y="-1809469"/>
            <a:ext cx="0" cy="1188000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2">
            <a:extLst>
              <a:ext uri="{FF2B5EF4-FFF2-40B4-BE49-F238E27FC236}">
                <a16:creationId xmlns:a16="http://schemas.microsoft.com/office/drawing/2014/main" id="{255601D6-8597-8A10-7054-51A1A3424A4C}"/>
              </a:ext>
            </a:extLst>
          </p:cNvPr>
          <p:cNvCxnSpPr>
            <a:cxnSpLocks/>
          </p:cNvCxnSpPr>
          <p:nvPr/>
        </p:nvCxnSpPr>
        <p:spPr>
          <a:xfrm rot="5400000">
            <a:off x="6091368" y="-1406058"/>
            <a:ext cx="0" cy="1188000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5" name="Rectangle: Rounded Corners 54">
            <a:hlinkClick r:id="" action="ppaction://noaction"/>
            <a:extLst>
              <a:ext uri="{FF2B5EF4-FFF2-40B4-BE49-F238E27FC236}">
                <a16:creationId xmlns:a16="http://schemas.microsoft.com/office/drawing/2014/main" id="{F0E0DA69-E48F-209B-17EC-0913E9FC1DB8}"/>
              </a:ext>
            </a:extLst>
          </p:cNvPr>
          <p:cNvSpPr/>
          <p:nvPr/>
        </p:nvSpPr>
        <p:spPr>
          <a:xfrm>
            <a:off x="1418590" y="6631748"/>
            <a:ext cx="720000" cy="144000"/>
          </a:xfrm>
          <a:prstGeom prst="roundRect">
            <a:avLst>
              <a:gd name="adj" fmla="val 50000"/>
            </a:avLst>
          </a:prstGeom>
          <a:solidFill>
            <a:schemeClr val="bg1"/>
          </a:solidFill>
          <a:ln w="12700">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r" defTabSz="914400" rtl="1" eaLnBrk="1" latinLnBrk="0" hangingPunct="1">
              <a:defRPr sz="1800" kern="1200">
                <a:solidFill>
                  <a:schemeClr val="lt1"/>
                </a:solidFill>
                <a:latin typeface="+mn-lt"/>
                <a:ea typeface="+mn-ea"/>
                <a:cs typeface="+mn-cs"/>
              </a:defRPr>
            </a:lvl1pPr>
            <a:lvl2pPr marL="457200" algn="r" defTabSz="914400" rtl="1" eaLnBrk="1" latinLnBrk="0" hangingPunct="1">
              <a:defRPr sz="1800" kern="1200">
                <a:solidFill>
                  <a:schemeClr val="lt1"/>
                </a:solidFill>
                <a:latin typeface="+mn-lt"/>
                <a:ea typeface="+mn-ea"/>
                <a:cs typeface="+mn-cs"/>
              </a:defRPr>
            </a:lvl2pPr>
            <a:lvl3pPr marL="914400" algn="r" defTabSz="914400" rtl="1" eaLnBrk="1" latinLnBrk="0" hangingPunct="1">
              <a:defRPr sz="1800" kern="1200">
                <a:solidFill>
                  <a:schemeClr val="lt1"/>
                </a:solidFill>
                <a:latin typeface="+mn-lt"/>
                <a:ea typeface="+mn-ea"/>
                <a:cs typeface="+mn-cs"/>
              </a:defRPr>
            </a:lvl3pPr>
            <a:lvl4pPr marL="1371600" algn="r" defTabSz="914400" rtl="1" eaLnBrk="1" latinLnBrk="0" hangingPunct="1">
              <a:defRPr sz="1800" kern="1200">
                <a:solidFill>
                  <a:schemeClr val="lt1"/>
                </a:solidFill>
                <a:latin typeface="+mn-lt"/>
                <a:ea typeface="+mn-ea"/>
                <a:cs typeface="+mn-cs"/>
              </a:defRPr>
            </a:lvl4pPr>
            <a:lvl5pPr marL="1828800" algn="r" defTabSz="914400" rtl="1" eaLnBrk="1" latinLnBrk="0" hangingPunct="1">
              <a:defRPr sz="1800" kern="1200">
                <a:solidFill>
                  <a:schemeClr val="lt1"/>
                </a:solidFill>
                <a:latin typeface="+mn-lt"/>
                <a:ea typeface="+mn-ea"/>
                <a:cs typeface="+mn-cs"/>
              </a:defRPr>
            </a:lvl5pPr>
            <a:lvl6pPr marL="2286000" algn="r" defTabSz="914400" rtl="1" eaLnBrk="1" latinLnBrk="0" hangingPunct="1">
              <a:defRPr sz="1800" kern="1200">
                <a:solidFill>
                  <a:schemeClr val="lt1"/>
                </a:solidFill>
                <a:latin typeface="+mn-lt"/>
                <a:ea typeface="+mn-ea"/>
                <a:cs typeface="+mn-cs"/>
              </a:defRPr>
            </a:lvl6pPr>
            <a:lvl7pPr marL="2743200" algn="r" defTabSz="914400" rtl="1" eaLnBrk="1" latinLnBrk="0" hangingPunct="1">
              <a:defRPr sz="1800" kern="1200">
                <a:solidFill>
                  <a:schemeClr val="lt1"/>
                </a:solidFill>
                <a:latin typeface="+mn-lt"/>
                <a:ea typeface="+mn-ea"/>
                <a:cs typeface="+mn-cs"/>
              </a:defRPr>
            </a:lvl7pPr>
            <a:lvl8pPr marL="3200400" algn="r" defTabSz="914400" rtl="1" eaLnBrk="1" latinLnBrk="0" hangingPunct="1">
              <a:defRPr sz="1800" kern="1200">
                <a:solidFill>
                  <a:schemeClr val="lt1"/>
                </a:solidFill>
                <a:latin typeface="+mn-lt"/>
                <a:ea typeface="+mn-ea"/>
                <a:cs typeface="+mn-cs"/>
              </a:defRPr>
            </a:lvl8pPr>
            <a:lvl9pPr marL="3657600" algn="r" defTabSz="914400" rtl="1" eaLnBrk="1" latinLnBrk="0" hangingPunct="1">
              <a:defRPr sz="1800" kern="1200">
                <a:solidFill>
                  <a:schemeClr val="lt1"/>
                </a:solidFill>
                <a:latin typeface="+mn-lt"/>
                <a:ea typeface="+mn-ea"/>
                <a:cs typeface="+mn-cs"/>
              </a:defRPr>
            </a:lvl9pPr>
          </a:lstStyle>
          <a:p>
            <a:pPr marL="0" marR="0" lvl="0" indent="0" algn="ctr" defTabSz="914400" rtl="1" eaLnBrk="1" fontAlgn="base" latinLnBrk="0" hangingPunct="1">
              <a:lnSpc>
                <a:spcPct val="100000"/>
              </a:lnSpc>
              <a:spcBef>
                <a:spcPct val="0"/>
              </a:spcBef>
              <a:spcAft>
                <a:spcPct val="0"/>
              </a:spcAft>
              <a:buClrTx/>
              <a:buSzTx/>
              <a:buFontTx/>
              <a:buNone/>
              <a:tabLst/>
              <a:defRPr/>
            </a:pPr>
            <a:r>
              <a:rPr kumimoji="0" lang="he-IL" sz="1100" b="0" i="0" u="none" strike="noStrike" kern="1200" cap="none" spc="0" normalizeH="0" baseline="0" noProof="0" dirty="0">
                <a:ln>
                  <a:noFill/>
                </a:ln>
                <a:solidFill>
                  <a:schemeClr val="bg1">
                    <a:lumMod val="65000"/>
                  </a:schemeClr>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מגדר</a:t>
            </a:r>
            <a:endParaRPr kumimoji="0" lang="en-IL" sz="1100" b="0" i="0" u="none" strike="noStrike" kern="1200" cap="none" spc="0" normalizeH="0" baseline="0" noProof="0" dirty="0">
              <a:ln>
                <a:noFill/>
              </a:ln>
              <a:solidFill>
                <a:schemeClr val="bg1">
                  <a:lumMod val="65000"/>
                </a:schemeClr>
              </a:solidFill>
              <a:effectLst/>
              <a:uLnTx/>
              <a:uFillTx/>
              <a:latin typeface="Segoe UI" panose="020B0502040204020203" pitchFamily="34" charset="0"/>
              <a:ea typeface="+mn-ea"/>
              <a:cs typeface="Segoe UI" panose="020B0502040204020203" pitchFamily="34" charset="0"/>
            </a:endParaRPr>
          </a:p>
        </p:txBody>
      </p:sp>
      <p:sp>
        <p:nvSpPr>
          <p:cNvPr id="26" name="Rectangle: Rounded Corners 54">
            <a:hlinkClick r:id="" action="ppaction://noaction"/>
            <a:extLst>
              <a:ext uri="{FF2B5EF4-FFF2-40B4-BE49-F238E27FC236}">
                <a16:creationId xmlns:a16="http://schemas.microsoft.com/office/drawing/2014/main" id="{B37789A7-737E-3A74-F82E-F1537013162A}"/>
              </a:ext>
            </a:extLst>
          </p:cNvPr>
          <p:cNvSpPr/>
          <p:nvPr/>
        </p:nvSpPr>
        <p:spPr>
          <a:xfrm>
            <a:off x="2195889" y="6631748"/>
            <a:ext cx="720000" cy="144000"/>
          </a:xfrm>
          <a:prstGeom prst="roundRect">
            <a:avLst>
              <a:gd name="adj" fmla="val 50000"/>
            </a:avLst>
          </a:prstGeom>
          <a:solidFill>
            <a:schemeClr val="bg1"/>
          </a:solidFill>
          <a:ln w="12700">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r" defTabSz="914400" rtl="1" eaLnBrk="1" latinLnBrk="0" hangingPunct="1">
              <a:defRPr sz="1800" kern="1200">
                <a:solidFill>
                  <a:schemeClr val="lt1"/>
                </a:solidFill>
                <a:latin typeface="+mn-lt"/>
                <a:ea typeface="+mn-ea"/>
                <a:cs typeface="+mn-cs"/>
              </a:defRPr>
            </a:lvl1pPr>
            <a:lvl2pPr marL="457200" algn="r" defTabSz="914400" rtl="1" eaLnBrk="1" latinLnBrk="0" hangingPunct="1">
              <a:defRPr sz="1800" kern="1200">
                <a:solidFill>
                  <a:schemeClr val="lt1"/>
                </a:solidFill>
                <a:latin typeface="+mn-lt"/>
                <a:ea typeface="+mn-ea"/>
                <a:cs typeface="+mn-cs"/>
              </a:defRPr>
            </a:lvl2pPr>
            <a:lvl3pPr marL="914400" algn="r" defTabSz="914400" rtl="1" eaLnBrk="1" latinLnBrk="0" hangingPunct="1">
              <a:defRPr sz="1800" kern="1200">
                <a:solidFill>
                  <a:schemeClr val="lt1"/>
                </a:solidFill>
                <a:latin typeface="+mn-lt"/>
                <a:ea typeface="+mn-ea"/>
                <a:cs typeface="+mn-cs"/>
              </a:defRPr>
            </a:lvl3pPr>
            <a:lvl4pPr marL="1371600" algn="r" defTabSz="914400" rtl="1" eaLnBrk="1" latinLnBrk="0" hangingPunct="1">
              <a:defRPr sz="1800" kern="1200">
                <a:solidFill>
                  <a:schemeClr val="lt1"/>
                </a:solidFill>
                <a:latin typeface="+mn-lt"/>
                <a:ea typeface="+mn-ea"/>
                <a:cs typeface="+mn-cs"/>
              </a:defRPr>
            </a:lvl4pPr>
            <a:lvl5pPr marL="1828800" algn="r" defTabSz="914400" rtl="1" eaLnBrk="1" latinLnBrk="0" hangingPunct="1">
              <a:defRPr sz="1800" kern="1200">
                <a:solidFill>
                  <a:schemeClr val="lt1"/>
                </a:solidFill>
                <a:latin typeface="+mn-lt"/>
                <a:ea typeface="+mn-ea"/>
                <a:cs typeface="+mn-cs"/>
              </a:defRPr>
            </a:lvl5pPr>
            <a:lvl6pPr marL="2286000" algn="r" defTabSz="914400" rtl="1" eaLnBrk="1" latinLnBrk="0" hangingPunct="1">
              <a:defRPr sz="1800" kern="1200">
                <a:solidFill>
                  <a:schemeClr val="lt1"/>
                </a:solidFill>
                <a:latin typeface="+mn-lt"/>
                <a:ea typeface="+mn-ea"/>
                <a:cs typeface="+mn-cs"/>
              </a:defRPr>
            </a:lvl6pPr>
            <a:lvl7pPr marL="2743200" algn="r" defTabSz="914400" rtl="1" eaLnBrk="1" latinLnBrk="0" hangingPunct="1">
              <a:defRPr sz="1800" kern="1200">
                <a:solidFill>
                  <a:schemeClr val="lt1"/>
                </a:solidFill>
                <a:latin typeface="+mn-lt"/>
                <a:ea typeface="+mn-ea"/>
                <a:cs typeface="+mn-cs"/>
              </a:defRPr>
            </a:lvl7pPr>
            <a:lvl8pPr marL="3200400" algn="r" defTabSz="914400" rtl="1" eaLnBrk="1" latinLnBrk="0" hangingPunct="1">
              <a:defRPr sz="1800" kern="1200">
                <a:solidFill>
                  <a:schemeClr val="lt1"/>
                </a:solidFill>
                <a:latin typeface="+mn-lt"/>
                <a:ea typeface="+mn-ea"/>
                <a:cs typeface="+mn-cs"/>
              </a:defRPr>
            </a:lvl8pPr>
            <a:lvl9pPr marL="3657600" algn="r" defTabSz="914400" rtl="1" eaLnBrk="1" latinLnBrk="0" hangingPunct="1">
              <a:defRPr sz="1800" kern="1200">
                <a:solidFill>
                  <a:schemeClr val="lt1"/>
                </a:solidFill>
                <a:latin typeface="+mn-lt"/>
                <a:ea typeface="+mn-ea"/>
                <a:cs typeface="+mn-cs"/>
              </a:defRPr>
            </a:lvl9pPr>
          </a:lstStyle>
          <a:p>
            <a:pPr marL="0" marR="0" lvl="0" indent="0" algn="ctr" defTabSz="914400" rtl="1" eaLnBrk="1" fontAlgn="base" latinLnBrk="0" hangingPunct="1">
              <a:lnSpc>
                <a:spcPct val="100000"/>
              </a:lnSpc>
              <a:spcBef>
                <a:spcPct val="0"/>
              </a:spcBef>
              <a:spcAft>
                <a:spcPct val="0"/>
              </a:spcAft>
              <a:buClrTx/>
              <a:buSzTx/>
              <a:buFontTx/>
              <a:buNone/>
              <a:tabLst/>
              <a:defRPr/>
            </a:pPr>
            <a:r>
              <a:rPr kumimoji="0" lang="he-IL" sz="1100" b="0" i="0" u="none" strike="noStrike" kern="1200" cap="none" spc="0" normalizeH="0" baseline="0" noProof="0" dirty="0">
                <a:ln>
                  <a:noFill/>
                </a:ln>
                <a:solidFill>
                  <a:schemeClr val="bg1">
                    <a:lumMod val="65000"/>
                  </a:schemeClr>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גיל</a:t>
            </a:r>
            <a:endParaRPr kumimoji="0" lang="en-IL" sz="1100" b="0" i="0" u="none" strike="noStrike" kern="1200" cap="none" spc="0" normalizeH="0" baseline="0" noProof="0" dirty="0">
              <a:ln>
                <a:noFill/>
              </a:ln>
              <a:solidFill>
                <a:schemeClr val="bg1">
                  <a:lumMod val="65000"/>
                </a:schemeClr>
              </a:solidFill>
              <a:effectLst/>
              <a:uLnTx/>
              <a:uFillTx/>
              <a:latin typeface="Segoe UI" panose="020B0502040204020203" pitchFamily="34" charset="0"/>
              <a:ea typeface="+mn-ea"/>
              <a:cs typeface="Segoe UI" panose="020B0502040204020203" pitchFamily="34" charset="0"/>
            </a:endParaRPr>
          </a:p>
        </p:txBody>
      </p:sp>
      <p:sp>
        <p:nvSpPr>
          <p:cNvPr id="27" name="Rectangle: Rounded Corners 54">
            <a:hlinkClick r:id="" action="ppaction://noaction"/>
            <a:extLst>
              <a:ext uri="{FF2B5EF4-FFF2-40B4-BE49-F238E27FC236}">
                <a16:creationId xmlns:a16="http://schemas.microsoft.com/office/drawing/2014/main" id="{AD8ACA8A-1228-0835-99BF-9D36E70EA5CF}"/>
              </a:ext>
            </a:extLst>
          </p:cNvPr>
          <p:cNvSpPr/>
          <p:nvPr/>
        </p:nvSpPr>
        <p:spPr>
          <a:xfrm>
            <a:off x="2973188" y="6640710"/>
            <a:ext cx="936000" cy="144000"/>
          </a:xfrm>
          <a:prstGeom prst="roundRect">
            <a:avLst>
              <a:gd name="adj" fmla="val 50000"/>
            </a:avLst>
          </a:prstGeom>
          <a:solidFill>
            <a:schemeClr val="bg1"/>
          </a:solidFill>
          <a:ln w="12700">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r" defTabSz="914400" rtl="1" eaLnBrk="1" latinLnBrk="0" hangingPunct="1">
              <a:defRPr sz="1800" kern="1200">
                <a:solidFill>
                  <a:schemeClr val="lt1"/>
                </a:solidFill>
                <a:latin typeface="+mn-lt"/>
                <a:ea typeface="+mn-ea"/>
                <a:cs typeface="+mn-cs"/>
              </a:defRPr>
            </a:lvl1pPr>
            <a:lvl2pPr marL="457200" algn="r" defTabSz="914400" rtl="1" eaLnBrk="1" latinLnBrk="0" hangingPunct="1">
              <a:defRPr sz="1800" kern="1200">
                <a:solidFill>
                  <a:schemeClr val="lt1"/>
                </a:solidFill>
                <a:latin typeface="+mn-lt"/>
                <a:ea typeface="+mn-ea"/>
                <a:cs typeface="+mn-cs"/>
              </a:defRPr>
            </a:lvl2pPr>
            <a:lvl3pPr marL="914400" algn="r" defTabSz="914400" rtl="1" eaLnBrk="1" latinLnBrk="0" hangingPunct="1">
              <a:defRPr sz="1800" kern="1200">
                <a:solidFill>
                  <a:schemeClr val="lt1"/>
                </a:solidFill>
                <a:latin typeface="+mn-lt"/>
                <a:ea typeface="+mn-ea"/>
                <a:cs typeface="+mn-cs"/>
              </a:defRPr>
            </a:lvl3pPr>
            <a:lvl4pPr marL="1371600" algn="r" defTabSz="914400" rtl="1" eaLnBrk="1" latinLnBrk="0" hangingPunct="1">
              <a:defRPr sz="1800" kern="1200">
                <a:solidFill>
                  <a:schemeClr val="lt1"/>
                </a:solidFill>
                <a:latin typeface="+mn-lt"/>
                <a:ea typeface="+mn-ea"/>
                <a:cs typeface="+mn-cs"/>
              </a:defRPr>
            </a:lvl4pPr>
            <a:lvl5pPr marL="1828800" algn="r" defTabSz="914400" rtl="1" eaLnBrk="1" latinLnBrk="0" hangingPunct="1">
              <a:defRPr sz="1800" kern="1200">
                <a:solidFill>
                  <a:schemeClr val="lt1"/>
                </a:solidFill>
                <a:latin typeface="+mn-lt"/>
                <a:ea typeface="+mn-ea"/>
                <a:cs typeface="+mn-cs"/>
              </a:defRPr>
            </a:lvl5pPr>
            <a:lvl6pPr marL="2286000" algn="r" defTabSz="914400" rtl="1" eaLnBrk="1" latinLnBrk="0" hangingPunct="1">
              <a:defRPr sz="1800" kern="1200">
                <a:solidFill>
                  <a:schemeClr val="lt1"/>
                </a:solidFill>
                <a:latin typeface="+mn-lt"/>
                <a:ea typeface="+mn-ea"/>
                <a:cs typeface="+mn-cs"/>
              </a:defRPr>
            </a:lvl6pPr>
            <a:lvl7pPr marL="2743200" algn="r" defTabSz="914400" rtl="1" eaLnBrk="1" latinLnBrk="0" hangingPunct="1">
              <a:defRPr sz="1800" kern="1200">
                <a:solidFill>
                  <a:schemeClr val="lt1"/>
                </a:solidFill>
                <a:latin typeface="+mn-lt"/>
                <a:ea typeface="+mn-ea"/>
                <a:cs typeface="+mn-cs"/>
              </a:defRPr>
            </a:lvl7pPr>
            <a:lvl8pPr marL="3200400" algn="r" defTabSz="914400" rtl="1" eaLnBrk="1" latinLnBrk="0" hangingPunct="1">
              <a:defRPr sz="1800" kern="1200">
                <a:solidFill>
                  <a:schemeClr val="lt1"/>
                </a:solidFill>
                <a:latin typeface="+mn-lt"/>
                <a:ea typeface="+mn-ea"/>
                <a:cs typeface="+mn-cs"/>
              </a:defRPr>
            </a:lvl8pPr>
            <a:lvl9pPr marL="3657600" algn="r" defTabSz="914400" rtl="1" eaLnBrk="1" latinLnBrk="0" hangingPunct="1">
              <a:defRPr sz="1800" kern="1200">
                <a:solidFill>
                  <a:schemeClr val="lt1"/>
                </a:solidFill>
                <a:latin typeface="+mn-lt"/>
                <a:ea typeface="+mn-ea"/>
                <a:cs typeface="+mn-cs"/>
              </a:defRPr>
            </a:lvl9pPr>
          </a:lstStyle>
          <a:p>
            <a:pPr marL="0" marR="0" lvl="0" indent="0" algn="ctr" defTabSz="914400" rtl="1" eaLnBrk="1" fontAlgn="base" latinLnBrk="0" hangingPunct="1">
              <a:lnSpc>
                <a:spcPct val="100000"/>
              </a:lnSpc>
              <a:spcBef>
                <a:spcPct val="0"/>
              </a:spcBef>
              <a:spcAft>
                <a:spcPct val="0"/>
              </a:spcAft>
              <a:buClrTx/>
              <a:buSzTx/>
              <a:buFontTx/>
              <a:buNone/>
              <a:tabLst/>
              <a:defRPr/>
            </a:pPr>
            <a:r>
              <a:rPr kumimoji="0" lang="he-IL" sz="1100" b="0" i="0" u="none" strike="noStrike" kern="1200" cap="none" spc="0" normalizeH="0" baseline="0" noProof="0" dirty="0">
                <a:ln>
                  <a:noFill/>
                </a:ln>
                <a:solidFill>
                  <a:schemeClr val="bg1">
                    <a:lumMod val="65000"/>
                  </a:schemeClr>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כמות דוחות</a:t>
            </a:r>
            <a:endParaRPr kumimoji="0" lang="en-IL" sz="1100" b="0" i="0" u="none" strike="noStrike" kern="1200" cap="none" spc="0" normalizeH="0" baseline="0" noProof="0" dirty="0">
              <a:ln>
                <a:noFill/>
              </a:ln>
              <a:solidFill>
                <a:schemeClr val="bg1">
                  <a:lumMod val="65000"/>
                </a:schemeClr>
              </a:solidFill>
              <a:effectLst/>
              <a:uLnTx/>
              <a:uFillTx/>
              <a:latin typeface="Segoe UI" panose="020B0502040204020203" pitchFamily="34" charset="0"/>
              <a:ea typeface="+mn-ea"/>
              <a:cs typeface="Segoe UI" panose="020B0502040204020203" pitchFamily="34" charset="0"/>
            </a:endParaRPr>
          </a:p>
        </p:txBody>
      </p:sp>
      <p:sp>
        <p:nvSpPr>
          <p:cNvPr id="28" name="Rectangle: Rounded Corners 54">
            <a:hlinkClick r:id="" action="ppaction://noaction"/>
            <a:extLst>
              <a:ext uri="{FF2B5EF4-FFF2-40B4-BE49-F238E27FC236}">
                <a16:creationId xmlns:a16="http://schemas.microsoft.com/office/drawing/2014/main" id="{5CAC8F08-155C-397D-40DE-1320571C7012}"/>
              </a:ext>
            </a:extLst>
          </p:cNvPr>
          <p:cNvSpPr/>
          <p:nvPr/>
        </p:nvSpPr>
        <p:spPr>
          <a:xfrm>
            <a:off x="3966487" y="6640710"/>
            <a:ext cx="900000" cy="144000"/>
          </a:xfrm>
          <a:prstGeom prst="roundRect">
            <a:avLst>
              <a:gd name="adj" fmla="val 50000"/>
            </a:avLst>
          </a:prstGeom>
          <a:solidFill>
            <a:schemeClr val="bg1"/>
          </a:solidFill>
          <a:ln w="12700">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r" defTabSz="914400" rtl="1" eaLnBrk="1" latinLnBrk="0" hangingPunct="1">
              <a:defRPr sz="1800" kern="1200">
                <a:solidFill>
                  <a:schemeClr val="lt1"/>
                </a:solidFill>
                <a:latin typeface="+mn-lt"/>
                <a:ea typeface="+mn-ea"/>
                <a:cs typeface="+mn-cs"/>
              </a:defRPr>
            </a:lvl1pPr>
            <a:lvl2pPr marL="457200" algn="r" defTabSz="914400" rtl="1" eaLnBrk="1" latinLnBrk="0" hangingPunct="1">
              <a:defRPr sz="1800" kern="1200">
                <a:solidFill>
                  <a:schemeClr val="lt1"/>
                </a:solidFill>
                <a:latin typeface="+mn-lt"/>
                <a:ea typeface="+mn-ea"/>
                <a:cs typeface="+mn-cs"/>
              </a:defRPr>
            </a:lvl2pPr>
            <a:lvl3pPr marL="914400" algn="r" defTabSz="914400" rtl="1" eaLnBrk="1" latinLnBrk="0" hangingPunct="1">
              <a:defRPr sz="1800" kern="1200">
                <a:solidFill>
                  <a:schemeClr val="lt1"/>
                </a:solidFill>
                <a:latin typeface="+mn-lt"/>
                <a:ea typeface="+mn-ea"/>
                <a:cs typeface="+mn-cs"/>
              </a:defRPr>
            </a:lvl3pPr>
            <a:lvl4pPr marL="1371600" algn="r" defTabSz="914400" rtl="1" eaLnBrk="1" latinLnBrk="0" hangingPunct="1">
              <a:defRPr sz="1800" kern="1200">
                <a:solidFill>
                  <a:schemeClr val="lt1"/>
                </a:solidFill>
                <a:latin typeface="+mn-lt"/>
                <a:ea typeface="+mn-ea"/>
                <a:cs typeface="+mn-cs"/>
              </a:defRPr>
            </a:lvl4pPr>
            <a:lvl5pPr marL="1828800" algn="r" defTabSz="914400" rtl="1" eaLnBrk="1" latinLnBrk="0" hangingPunct="1">
              <a:defRPr sz="1800" kern="1200">
                <a:solidFill>
                  <a:schemeClr val="lt1"/>
                </a:solidFill>
                <a:latin typeface="+mn-lt"/>
                <a:ea typeface="+mn-ea"/>
                <a:cs typeface="+mn-cs"/>
              </a:defRPr>
            </a:lvl5pPr>
            <a:lvl6pPr marL="2286000" algn="r" defTabSz="914400" rtl="1" eaLnBrk="1" latinLnBrk="0" hangingPunct="1">
              <a:defRPr sz="1800" kern="1200">
                <a:solidFill>
                  <a:schemeClr val="lt1"/>
                </a:solidFill>
                <a:latin typeface="+mn-lt"/>
                <a:ea typeface="+mn-ea"/>
                <a:cs typeface="+mn-cs"/>
              </a:defRPr>
            </a:lvl6pPr>
            <a:lvl7pPr marL="2743200" algn="r" defTabSz="914400" rtl="1" eaLnBrk="1" latinLnBrk="0" hangingPunct="1">
              <a:defRPr sz="1800" kern="1200">
                <a:solidFill>
                  <a:schemeClr val="lt1"/>
                </a:solidFill>
                <a:latin typeface="+mn-lt"/>
                <a:ea typeface="+mn-ea"/>
                <a:cs typeface="+mn-cs"/>
              </a:defRPr>
            </a:lvl7pPr>
            <a:lvl8pPr marL="3200400" algn="r" defTabSz="914400" rtl="1" eaLnBrk="1" latinLnBrk="0" hangingPunct="1">
              <a:defRPr sz="1800" kern="1200">
                <a:solidFill>
                  <a:schemeClr val="lt1"/>
                </a:solidFill>
                <a:latin typeface="+mn-lt"/>
                <a:ea typeface="+mn-ea"/>
                <a:cs typeface="+mn-cs"/>
              </a:defRPr>
            </a:lvl8pPr>
            <a:lvl9pPr marL="3657600" algn="r" defTabSz="914400" rtl="1" eaLnBrk="1" latinLnBrk="0" hangingPunct="1">
              <a:defRPr sz="1800" kern="1200">
                <a:solidFill>
                  <a:schemeClr val="lt1"/>
                </a:solidFill>
                <a:latin typeface="+mn-lt"/>
                <a:ea typeface="+mn-ea"/>
                <a:cs typeface="+mn-cs"/>
              </a:defRPr>
            </a:lvl9pPr>
          </a:lstStyle>
          <a:p>
            <a:pPr marL="0" marR="0" lvl="0" indent="0" algn="ctr" defTabSz="914400" rtl="1" eaLnBrk="1" fontAlgn="base" latinLnBrk="0" hangingPunct="1">
              <a:lnSpc>
                <a:spcPct val="100000"/>
              </a:lnSpc>
              <a:spcBef>
                <a:spcPct val="0"/>
              </a:spcBef>
              <a:spcAft>
                <a:spcPct val="0"/>
              </a:spcAft>
              <a:buClrTx/>
              <a:buSzTx/>
              <a:buFontTx/>
              <a:buNone/>
              <a:tabLst/>
              <a:defRPr/>
            </a:pPr>
            <a:r>
              <a:rPr kumimoji="0" lang="he-IL" sz="1100" b="0" i="0" u="none" strike="noStrike" kern="1200" cap="none" spc="0" normalizeH="0" baseline="0" noProof="0" dirty="0">
                <a:ln>
                  <a:noFill/>
                </a:ln>
                <a:solidFill>
                  <a:schemeClr val="bg1">
                    <a:lumMod val="65000"/>
                  </a:schemeClr>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מועד קבלה</a:t>
            </a:r>
            <a:endParaRPr kumimoji="0" lang="en-IL" sz="1100" b="0" i="0" u="none" strike="noStrike" kern="1200" cap="none" spc="0" normalizeH="0" baseline="0" noProof="0" dirty="0">
              <a:ln>
                <a:noFill/>
              </a:ln>
              <a:solidFill>
                <a:schemeClr val="bg1">
                  <a:lumMod val="65000"/>
                </a:schemeClr>
              </a:solidFill>
              <a:effectLst/>
              <a:uLnTx/>
              <a:uFillTx/>
              <a:latin typeface="Segoe UI" panose="020B0502040204020203" pitchFamily="34" charset="0"/>
              <a:ea typeface="+mn-ea"/>
              <a:cs typeface="Segoe UI" panose="020B0502040204020203" pitchFamily="34" charset="0"/>
            </a:endParaRPr>
          </a:p>
        </p:txBody>
      </p:sp>
      <p:sp>
        <p:nvSpPr>
          <p:cNvPr id="29" name="Rectangle: Rounded Corners 54">
            <a:hlinkClick r:id="" action="ppaction://noaction"/>
            <a:extLst>
              <a:ext uri="{FF2B5EF4-FFF2-40B4-BE49-F238E27FC236}">
                <a16:creationId xmlns:a16="http://schemas.microsoft.com/office/drawing/2014/main" id="{BF1863AD-46C5-0624-B9A6-19EBBCB05873}"/>
              </a:ext>
            </a:extLst>
          </p:cNvPr>
          <p:cNvSpPr/>
          <p:nvPr/>
        </p:nvSpPr>
        <p:spPr>
          <a:xfrm>
            <a:off x="4923787" y="6649674"/>
            <a:ext cx="900000" cy="144000"/>
          </a:xfrm>
          <a:prstGeom prst="roundRect">
            <a:avLst>
              <a:gd name="adj" fmla="val 50000"/>
            </a:avLst>
          </a:prstGeom>
          <a:solidFill>
            <a:schemeClr val="bg1"/>
          </a:solidFill>
          <a:ln w="12700">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r" defTabSz="914400" rtl="1" eaLnBrk="1" latinLnBrk="0" hangingPunct="1">
              <a:defRPr sz="1800" kern="1200">
                <a:solidFill>
                  <a:schemeClr val="lt1"/>
                </a:solidFill>
                <a:latin typeface="+mn-lt"/>
                <a:ea typeface="+mn-ea"/>
                <a:cs typeface="+mn-cs"/>
              </a:defRPr>
            </a:lvl1pPr>
            <a:lvl2pPr marL="457200" algn="r" defTabSz="914400" rtl="1" eaLnBrk="1" latinLnBrk="0" hangingPunct="1">
              <a:defRPr sz="1800" kern="1200">
                <a:solidFill>
                  <a:schemeClr val="lt1"/>
                </a:solidFill>
                <a:latin typeface="+mn-lt"/>
                <a:ea typeface="+mn-ea"/>
                <a:cs typeface="+mn-cs"/>
              </a:defRPr>
            </a:lvl2pPr>
            <a:lvl3pPr marL="914400" algn="r" defTabSz="914400" rtl="1" eaLnBrk="1" latinLnBrk="0" hangingPunct="1">
              <a:defRPr sz="1800" kern="1200">
                <a:solidFill>
                  <a:schemeClr val="lt1"/>
                </a:solidFill>
                <a:latin typeface="+mn-lt"/>
                <a:ea typeface="+mn-ea"/>
                <a:cs typeface="+mn-cs"/>
              </a:defRPr>
            </a:lvl3pPr>
            <a:lvl4pPr marL="1371600" algn="r" defTabSz="914400" rtl="1" eaLnBrk="1" latinLnBrk="0" hangingPunct="1">
              <a:defRPr sz="1800" kern="1200">
                <a:solidFill>
                  <a:schemeClr val="lt1"/>
                </a:solidFill>
                <a:latin typeface="+mn-lt"/>
                <a:ea typeface="+mn-ea"/>
                <a:cs typeface="+mn-cs"/>
              </a:defRPr>
            </a:lvl4pPr>
            <a:lvl5pPr marL="1828800" algn="r" defTabSz="914400" rtl="1" eaLnBrk="1" latinLnBrk="0" hangingPunct="1">
              <a:defRPr sz="1800" kern="1200">
                <a:solidFill>
                  <a:schemeClr val="lt1"/>
                </a:solidFill>
                <a:latin typeface="+mn-lt"/>
                <a:ea typeface="+mn-ea"/>
                <a:cs typeface="+mn-cs"/>
              </a:defRPr>
            </a:lvl5pPr>
            <a:lvl6pPr marL="2286000" algn="r" defTabSz="914400" rtl="1" eaLnBrk="1" latinLnBrk="0" hangingPunct="1">
              <a:defRPr sz="1800" kern="1200">
                <a:solidFill>
                  <a:schemeClr val="lt1"/>
                </a:solidFill>
                <a:latin typeface="+mn-lt"/>
                <a:ea typeface="+mn-ea"/>
                <a:cs typeface="+mn-cs"/>
              </a:defRPr>
            </a:lvl6pPr>
            <a:lvl7pPr marL="2743200" algn="r" defTabSz="914400" rtl="1" eaLnBrk="1" latinLnBrk="0" hangingPunct="1">
              <a:defRPr sz="1800" kern="1200">
                <a:solidFill>
                  <a:schemeClr val="lt1"/>
                </a:solidFill>
                <a:latin typeface="+mn-lt"/>
                <a:ea typeface="+mn-ea"/>
                <a:cs typeface="+mn-cs"/>
              </a:defRPr>
            </a:lvl7pPr>
            <a:lvl8pPr marL="3200400" algn="r" defTabSz="914400" rtl="1" eaLnBrk="1" latinLnBrk="0" hangingPunct="1">
              <a:defRPr sz="1800" kern="1200">
                <a:solidFill>
                  <a:schemeClr val="lt1"/>
                </a:solidFill>
                <a:latin typeface="+mn-lt"/>
                <a:ea typeface="+mn-ea"/>
                <a:cs typeface="+mn-cs"/>
              </a:defRPr>
            </a:lvl8pPr>
            <a:lvl9pPr marL="3657600" algn="r" defTabSz="914400" rtl="1" eaLnBrk="1" latinLnBrk="0" hangingPunct="1">
              <a:defRPr sz="1800" kern="1200">
                <a:solidFill>
                  <a:schemeClr val="lt1"/>
                </a:solidFill>
                <a:latin typeface="+mn-lt"/>
                <a:ea typeface="+mn-ea"/>
                <a:cs typeface="+mn-cs"/>
              </a:defRPr>
            </a:lvl9pPr>
          </a:lstStyle>
          <a:p>
            <a:pPr marL="0" marR="0" lvl="0" indent="0" algn="ctr" defTabSz="914400" rtl="1" eaLnBrk="1" fontAlgn="base" latinLnBrk="0" hangingPunct="1">
              <a:lnSpc>
                <a:spcPct val="100000"/>
              </a:lnSpc>
              <a:spcBef>
                <a:spcPct val="0"/>
              </a:spcBef>
              <a:spcAft>
                <a:spcPct val="0"/>
              </a:spcAft>
              <a:buClrTx/>
              <a:buSzTx/>
              <a:buFontTx/>
              <a:buNone/>
              <a:tabLst/>
              <a:defRPr/>
            </a:pPr>
            <a:r>
              <a:rPr kumimoji="0" lang="he-IL" sz="1100" b="0" i="0" u="none" strike="noStrike" kern="1200" cap="none" spc="0" normalizeH="0" baseline="0" noProof="0" dirty="0">
                <a:ln>
                  <a:noFill/>
                </a:ln>
                <a:solidFill>
                  <a:schemeClr val="bg1">
                    <a:lumMod val="65000"/>
                  </a:schemeClr>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אופן קבלה</a:t>
            </a:r>
            <a:endParaRPr kumimoji="0" lang="en-IL" sz="1100" b="0" i="0" u="none" strike="noStrike" kern="1200" cap="none" spc="0" normalizeH="0" baseline="0" noProof="0" dirty="0">
              <a:ln>
                <a:noFill/>
              </a:ln>
              <a:solidFill>
                <a:schemeClr val="bg1">
                  <a:lumMod val="65000"/>
                </a:schemeClr>
              </a:solidFill>
              <a:effectLst/>
              <a:uLnTx/>
              <a:uFillTx/>
              <a:latin typeface="Segoe UI" panose="020B0502040204020203" pitchFamily="34" charset="0"/>
              <a:ea typeface="+mn-ea"/>
              <a:cs typeface="Segoe UI" panose="020B0502040204020203" pitchFamily="34" charset="0"/>
            </a:endParaRPr>
          </a:p>
        </p:txBody>
      </p:sp>
      <p:sp>
        <p:nvSpPr>
          <p:cNvPr id="31" name="Rectangle: Rounded Corners 54">
            <a:hlinkClick r:id="" action="ppaction://noaction"/>
            <a:extLst>
              <a:ext uri="{FF2B5EF4-FFF2-40B4-BE49-F238E27FC236}">
                <a16:creationId xmlns:a16="http://schemas.microsoft.com/office/drawing/2014/main" id="{B4680161-3E01-E339-47FD-B5FAB575D5EC}"/>
              </a:ext>
            </a:extLst>
          </p:cNvPr>
          <p:cNvSpPr/>
          <p:nvPr/>
        </p:nvSpPr>
        <p:spPr>
          <a:xfrm>
            <a:off x="5891980" y="6649674"/>
            <a:ext cx="1080000" cy="144000"/>
          </a:xfrm>
          <a:prstGeom prst="roundRect">
            <a:avLst>
              <a:gd name="adj" fmla="val 50000"/>
            </a:avLst>
          </a:prstGeom>
          <a:solidFill>
            <a:schemeClr val="bg1">
              <a:lumMod val="95000"/>
            </a:schemeClr>
          </a:solidFill>
          <a:ln w="12700">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r" defTabSz="914400" rtl="1" eaLnBrk="1" latinLnBrk="0" hangingPunct="1">
              <a:defRPr sz="1800" kern="1200">
                <a:solidFill>
                  <a:schemeClr val="lt1"/>
                </a:solidFill>
                <a:latin typeface="+mn-lt"/>
                <a:ea typeface="+mn-ea"/>
                <a:cs typeface="+mn-cs"/>
              </a:defRPr>
            </a:lvl1pPr>
            <a:lvl2pPr marL="457200" algn="r" defTabSz="914400" rtl="1" eaLnBrk="1" latinLnBrk="0" hangingPunct="1">
              <a:defRPr sz="1800" kern="1200">
                <a:solidFill>
                  <a:schemeClr val="lt1"/>
                </a:solidFill>
                <a:latin typeface="+mn-lt"/>
                <a:ea typeface="+mn-ea"/>
                <a:cs typeface="+mn-cs"/>
              </a:defRPr>
            </a:lvl2pPr>
            <a:lvl3pPr marL="914400" algn="r" defTabSz="914400" rtl="1" eaLnBrk="1" latinLnBrk="0" hangingPunct="1">
              <a:defRPr sz="1800" kern="1200">
                <a:solidFill>
                  <a:schemeClr val="lt1"/>
                </a:solidFill>
                <a:latin typeface="+mn-lt"/>
                <a:ea typeface="+mn-ea"/>
                <a:cs typeface="+mn-cs"/>
              </a:defRPr>
            </a:lvl3pPr>
            <a:lvl4pPr marL="1371600" algn="r" defTabSz="914400" rtl="1" eaLnBrk="1" latinLnBrk="0" hangingPunct="1">
              <a:defRPr sz="1800" kern="1200">
                <a:solidFill>
                  <a:schemeClr val="lt1"/>
                </a:solidFill>
                <a:latin typeface="+mn-lt"/>
                <a:ea typeface="+mn-ea"/>
                <a:cs typeface="+mn-cs"/>
              </a:defRPr>
            </a:lvl4pPr>
            <a:lvl5pPr marL="1828800" algn="r" defTabSz="914400" rtl="1" eaLnBrk="1" latinLnBrk="0" hangingPunct="1">
              <a:defRPr sz="1800" kern="1200">
                <a:solidFill>
                  <a:schemeClr val="lt1"/>
                </a:solidFill>
                <a:latin typeface="+mn-lt"/>
                <a:ea typeface="+mn-ea"/>
                <a:cs typeface="+mn-cs"/>
              </a:defRPr>
            </a:lvl5pPr>
            <a:lvl6pPr marL="2286000" algn="r" defTabSz="914400" rtl="1" eaLnBrk="1" latinLnBrk="0" hangingPunct="1">
              <a:defRPr sz="1800" kern="1200">
                <a:solidFill>
                  <a:schemeClr val="lt1"/>
                </a:solidFill>
                <a:latin typeface="+mn-lt"/>
                <a:ea typeface="+mn-ea"/>
                <a:cs typeface="+mn-cs"/>
              </a:defRPr>
            </a:lvl6pPr>
            <a:lvl7pPr marL="2743200" algn="r" defTabSz="914400" rtl="1" eaLnBrk="1" latinLnBrk="0" hangingPunct="1">
              <a:defRPr sz="1800" kern="1200">
                <a:solidFill>
                  <a:schemeClr val="lt1"/>
                </a:solidFill>
                <a:latin typeface="+mn-lt"/>
                <a:ea typeface="+mn-ea"/>
                <a:cs typeface="+mn-cs"/>
              </a:defRPr>
            </a:lvl7pPr>
            <a:lvl8pPr marL="3200400" algn="r" defTabSz="914400" rtl="1" eaLnBrk="1" latinLnBrk="0" hangingPunct="1">
              <a:defRPr sz="1800" kern="1200">
                <a:solidFill>
                  <a:schemeClr val="lt1"/>
                </a:solidFill>
                <a:latin typeface="+mn-lt"/>
                <a:ea typeface="+mn-ea"/>
                <a:cs typeface="+mn-cs"/>
              </a:defRPr>
            </a:lvl8pPr>
            <a:lvl9pPr marL="3657600" algn="r" defTabSz="914400" rtl="1" eaLnBrk="1" latinLnBrk="0" hangingPunct="1">
              <a:defRPr sz="1800" kern="1200">
                <a:solidFill>
                  <a:schemeClr val="lt1"/>
                </a:solidFill>
                <a:latin typeface="+mn-lt"/>
                <a:ea typeface="+mn-ea"/>
                <a:cs typeface="+mn-cs"/>
              </a:defRPr>
            </a:lvl9pPr>
          </a:lstStyle>
          <a:p>
            <a:pPr marL="0" marR="0" lvl="0" indent="0" algn="ctr" defTabSz="914400" rtl="1" eaLnBrk="1" fontAlgn="base" latinLnBrk="0" hangingPunct="1">
              <a:lnSpc>
                <a:spcPct val="100000"/>
              </a:lnSpc>
              <a:spcBef>
                <a:spcPct val="0"/>
              </a:spcBef>
              <a:spcAft>
                <a:spcPct val="0"/>
              </a:spcAft>
              <a:buClrTx/>
              <a:buSzTx/>
              <a:buFontTx/>
              <a:buNone/>
              <a:tabLst/>
              <a:defRPr/>
            </a:pPr>
            <a:r>
              <a:rPr kumimoji="0" lang="he-IL" sz="1100" b="1" i="0" u="none" strike="noStrike" kern="1200" cap="none" spc="0" normalizeH="0" baseline="0" noProof="0" dirty="0">
                <a:ln>
                  <a:noFill/>
                </a:ln>
                <a:solidFill>
                  <a:srgbClr val="002060"/>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&lt;-- סוג הדוח</a:t>
            </a:r>
            <a:endParaRPr kumimoji="0" lang="en-IL" sz="1100" b="1" i="0" u="none" strike="noStrike" kern="1200" cap="none" spc="0" normalizeH="0" baseline="0" noProof="0" dirty="0">
              <a:ln>
                <a:noFill/>
              </a:ln>
              <a:solidFill>
                <a:srgbClr val="002060"/>
              </a:solidFill>
              <a:effectLst/>
              <a:uLnTx/>
              <a:uFillTx/>
              <a:latin typeface="Segoe UI" panose="020B0502040204020203" pitchFamily="34" charset="0"/>
              <a:ea typeface="+mn-ea"/>
              <a:cs typeface="Segoe UI" panose="020B0502040204020203" pitchFamily="34" charset="0"/>
            </a:endParaRPr>
          </a:p>
        </p:txBody>
      </p:sp>
      <p:cxnSp>
        <p:nvCxnSpPr>
          <p:cNvPr id="30" name="Straight Connector 6">
            <a:extLst>
              <a:ext uri="{FF2B5EF4-FFF2-40B4-BE49-F238E27FC236}">
                <a16:creationId xmlns:a16="http://schemas.microsoft.com/office/drawing/2014/main" id="{08C06D0B-A93F-443E-CB0E-6A6C92EB15FA}"/>
              </a:ext>
            </a:extLst>
          </p:cNvPr>
          <p:cNvCxnSpPr>
            <a:cxnSpLocks/>
          </p:cNvCxnSpPr>
          <p:nvPr/>
        </p:nvCxnSpPr>
        <p:spPr>
          <a:xfrm rot="16200000" flipV="1">
            <a:off x="6096000" y="-367079"/>
            <a:ext cx="0" cy="10800000"/>
          </a:xfrm>
          <a:prstGeom prst="line">
            <a:avLst/>
          </a:prstGeom>
          <a:ln w="25400" cap="rnd">
            <a:solidFill>
              <a:schemeClr val="bg1">
                <a:lumMod val="85000"/>
              </a:schemeClr>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9770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B20E6BE-4D6C-529E-5F4A-779EF9FD5FD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FF868F6-A11C-3F1C-50B7-6136244ECEFF}"/>
              </a:ext>
            </a:extLst>
          </p:cNvPr>
          <p:cNvSpPr>
            <a:spLocks noGrp="1"/>
          </p:cNvSpPr>
          <p:nvPr>
            <p:ph type="sldNum" sz="quarter" idx="4"/>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7A91BF3F-E284-4570-AC28-CDAE2F1A1EA1}" type="slidenum">
              <a:rPr kumimoji="0" lang="he-IL" sz="1100" b="0" i="0" u="none" strike="noStrike" kern="1200" cap="none" spc="0" normalizeH="0" baseline="0" noProof="0" smtClean="0">
                <a:ln>
                  <a:noFill/>
                </a:ln>
                <a:solidFill>
                  <a:prstClr val="white">
                    <a:lumMod val="75000"/>
                  </a:prstClr>
                </a:solidFill>
                <a:effectLst/>
                <a:uLnTx/>
                <a:uFillTx/>
                <a:latin typeface="Segoe UI" panose="020B0502040204020203" pitchFamily="34" charset="0"/>
                <a:ea typeface="+mn-ea"/>
                <a:cs typeface="Segoe UI" panose="020B0502040204020203"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10</a:t>
            </a:fld>
            <a:endParaRPr kumimoji="0" lang="he-IL" sz="1100" b="0" i="0" u="none" strike="noStrike" kern="1200" cap="none" spc="0" normalizeH="0" baseline="0" noProof="0" dirty="0">
              <a:ln>
                <a:noFill/>
              </a:ln>
              <a:solidFill>
                <a:prstClr val="white">
                  <a:lumMod val="75000"/>
                </a:prstClr>
              </a:solidFill>
              <a:effectLst/>
              <a:uLnTx/>
              <a:uFillTx/>
              <a:latin typeface="Segoe UI" panose="020B0502040204020203" pitchFamily="34" charset="0"/>
              <a:ea typeface="+mn-ea"/>
              <a:cs typeface="Segoe UI" panose="020B0502040204020203" pitchFamily="34" charset="0"/>
            </a:endParaRPr>
          </a:p>
        </p:txBody>
      </p:sp>
      <p:sp>
        <p:nvSpPr>
          <p:cNvPr id="17" name="Rectangle 28">
            <a:extLst>
              <a:ext uri="{FF2B5EF4-FFF2-40B4-BE49-F238E27FC236}">
                <a16:creationId xmlns:a16="http://schemas.microsoft.com/office/drawing/2014/main" id="{47668377-CE45-EE1C-3E56-E19964CB97F7}"/>
              </a:ext>
            </a:extLst>
          </p:cNvPr>
          <p:cNvSpPr/>
          <p:nvPr/>
        </p:nvSpPr>
        <p:spPr>
          <a:xfrm>
            <a:off x="6406504" y="6455075"/>
            <a:ext cx="5390129" cy="360000"/>
          </a:xfrm>
          <a:prstGeom prst="rect">
            <a:avLst/>
          </a:prstGeom>
          <a:noFill/>
          <a:ln>
            <a:noFill/>
          </a:ln>
        </p:spPr>
        <p:txBody>
          <a:bodyPr rot="0" spcFirstLastPara="0" vertOverflow="overflow" horzOverflow="overflow" vert="horz" wrap="square" lIns="91440" tIns="45720" rIns="91440" bIns="45720" numCol="1" spcCol="0" rtlCol="1" fromWordArt="0" anchor="ctr" anchorCtr="0" forceAA="0" compatLnSpc="1">
            <a:prstTxWarp prst="textNoShape">
              <a:avLst/>
            </a:prstTxWarp>
            <a:noAutofit/>
          </a:bodyPr>
          <a:lstStyle/>
          <a:p>
            <a:pPr lvl="0" algn="r" rtl="1">
              <a:defRPr/>
            </a:pPr>
            <a:r>
              <a:rPr lang="he-IL" sz="1000" b="1" dirty="0">
                <a:solidFill>
                  <a:prstClr val="white">
                    <a:lumMod val="65000"/>
                  </a:prstClr>
                </a:solidFill>
                <a:latin typeface="Segoe UI" panose="020B0502040204020203" pitchFamily="34" charset="0"/>
                <a:cs typeface="Segoe UI" panose="020B0502040204020203" pitchFamily="34" charset="0"/>
              </a:rPr>
              <a:t>* יש להתייחס לגילאי 18-29 ו-+50 במגזר הערבי כאינדיקציה בלבד בשל מספר משיבים נמוך</a:t>
            </a:r>
          </a:p>
          <a:p>
            <a:pPr lvl="0" algn="r" rtl="1">
              <a:defRPr/>
            </a:pPr>
            <a:r>
              <a:rPr lang="he-IL" sz="1000" dirty="0">
                <a:solidFill>
                  <a:prstClr val="white">
                    <a:lumMod val="65000"/>
                  </a:prstClr>
                </a:solidFill>
                <a:latin typeface="Segoe UI" panose="020B0502040204020203" pitchFamily="34" charset="0"/>
                <a:cs typeface="Segoe UI" panose="020B0502040204020203" pitchFamily="34" charset="0"/>
              </a:rPr>
              <a:t>"איזה סוג דו"ח תעבורה קיבלת?"</a:t>
            </a:r>
          </a:p>
        </p:txBody>
      </p:sp>
      <p:sp>
        <p:nvSpPr>
          <p:cNvPr id="7" name="Rectangle 3">
            <a:extLst>
              <a:ext uri="{FF2B5EF4-FFF2-40B4-BE49-F238E27FC236}">
                <a16:creationId xmlns:a16="http://schemas.microsoft.com/office/drawing/2014/main" id="{A227A058-0D28-6F1C-F6A1-0708AB5CFD46}"/>
              </a:ext>
            </a:extLst>
          </p:cNvPr>
          <p:cNvSpPr/>
          <p:nvPr/>
        </p:nvSpPr>
        <p:spPr>
          <a:xfrm>
            <a:off x="1320802" y="191076"/>
            <a:ext cx="10614278" cy="5075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t"/>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0" cap="none" spc="0" normalizeH="0" baseline="0" noProof="0" dirty="0">
                <a:ln>
                  <a:noFill/>
                </a:ln>
                <a:solidFill>
                  <a:srgbClr val="104E88"/>
                </a:solidFill>
                <a:effectLst/>
                <a:uLnTx/>
                <a:uFillTx/>
                <a:latin typeface="Segoe UI" panose="020B0502040204020203" pitchFamily="34" charset="0"/>
                <a:cs typeface="Segoe UI" panose="020B0502040204020203" pitchFamily="34" charset="0"/>
                <a:sym typeface="Arial"/>
              </a:rPr>
              <a:t>סוג הדוח </a:t>
            </a:r>
            <a:r>
              <a:rPr kumimoji="0" lang="he-IL" b="0" i="0" u="none" strike="noStrike" kern="0" cap="none" spc="0" normalizeH="0" baseline="0" noProof="0" dirty="0">
                <a:ln>
                  <a:noFill/>
                </a:ln>
                <a:solidFill>
                  <a:srgbClr val="104E88"/>
                </a:solidFill>
                <a:effectLst/>
                <a:uLnTx/>
                <a:uFillTx/>
                <a:latin typeface="Segoe UI" panose="020B0502040204020203" pitchFamily="34" charset="0"/>
                <a:cs typeface="Segoe UI" panose="020B0502040204020203" pitchFamily="34" charset="0"/>
                <a:sym typeface="Arial"/>
              </a:rPr>
              <a:t>| לפי גיל</a:t>
            </a:r>
            <a:endParaRPr kumimoji="0" lang="he-IL" sz="2800" b="0" i="0" u="none" strike="noStrike" kern="0" cap="none" spc="0" normalizeH="0" baseline="0" noProof="0" dirty="0">
              <a:ln>
                <a:noFill/>
              </a:ln>
              <a:solidFill>
                <a:srgbClr val="104E88"/>
              </a:solidFill>
              <a:effectLst/>
              <a:uLnTx/>
              <a:uFillTx/>
              <a:latin typeface="Segoe UI" panose="020B0502040204020203" pitchFamily="34" charset="0"/>
              <a:cs typeface="Segoe UI" panose="020B0502040204020203" pitchFamily="34" charset="0"/>
              <a:sym typeface="Arial"/>
            </a:endParaRPr>
          </a:p>
        </p:txBody>
      </p:sp>
      <p:cxnSp>
        <p:nvCxnSpPr>
          <p:cNvPr id="5" name="מחבר ישר 4">
            <a:extLst>
              <a:ext uri="{FF2B5EF4-FFF2-40B4-BE49-F238E27FC236}">
                <a16:creationId xmlns:a16="http://schemas.microsoft.com/office/drawing/2014/main" id="{8677E163-767C-D7A2-DA71-3652FFA932E1}"/>
              </a:ext>
            </a:extLst>
          </p:cNvPr>
          <p:cNvCxnSpPr>
            <a:cxnSpLocks/>
          </p:cNvCxnSpPr>
          <p:nvPr/>
        </p:nvCxnSpPr>
        <p:spPr>
          <a:xfrm>
            <a:off x="6252733" y="994599"/>
            <a:ext cx="0" cy="3960000"/>
          </a:xfrm>
          <a:prstGeom prst="line">
            <a:avLst/>
          </a:prstGeom>
          <a:ln>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8" name="תיבת טקסט 7">
            <a:extLst>
              <a:ext uri="{FF2B5EF4-FFF2-40B4-BE49-F238E27FC236}">
                <a16:creationId xmlns:a16="http://schemas.microsoft.com/office/drawing/2014/main" id="{8E224F30-2690-EEA0-4F48-95CAECFAD1B0}"/>
              </a:ext>
            </a:extLst>
          </p:cNvPr>
          <p:cNvSpPr txBox="1"/>
          <p:nvPr/>
        </p:nvSpPr>
        <p:spPr>
          <a:xfrm>
            <a:off x="2344998" y="922909"/>
            <a:ext cx="2520000" cy="307777"/>
          </a:xfrm>
          <a:prstGeom prst="rect">
            <a:avLst/>
          </a:prstGeom>
          <a:noFill/>
        </p:spPr>
        <p:txBody>
          <a:bodyPr wrap="square">
            <a:spAutoFit/>
          </a:bodyPr>
          <a:lstStyle/>
          <a:p>
            <a:pPr algn="ctr" rtl="1" fontAlgn="ctr"/>
            <a:r>
              <a:rPr lang="he-IL" sz="1400" b="1" u="none" strike="noStrike" dirty="0">
                <a:effectLst/>
                <a:latin typeface="Segoe UI" panose="020B0502040204020203" pitchFamily="34" charset="0"/>
                <a:cs typeface="Segoe UI" panose="020B0502040204020203" pitchFamily="34" charset="0"/>
              </a:rPr>
              <a:t>לא ביקשו להישפט</a:t>
            </a:r>
          </a:p>
        </p:txBody>
      </p:sp>
      <p:sp>
        <p:nvSpPr>
          <p:cNvPr id="9" name="תיבת טקסט 8">
            <a:extLst>
              <a:ext uri="{FF2B5EF4-FFF2-40B4-BE49-F238E27FC236}">
                <a16:creationId xmlns:a16="http://schemas.microsoft.com/office/drawing/2014/main" id="{81CC1C72-94B4-F9CF-BFEE-B6071F000D70}"/>
              </a:ext>
            </a:extLst>
          </p:cNvPr>
          <p:cNvSpPr txBox="1"/>
          <p:nvPr/>
        </p:nvSpPr>
        <p:spPr>
          <a:xfrm>
            <a:off x="7872788" y="881749"/>
            <a:ext cx="2520000" cy="307777"/>
          </a:xfrm>
          <a:prstGeom prst="rect">
            <a:avLst/>
          </a:prstGeom>
          <a:noFill/>
        </p:spPr>
        <p:txBody>
          <a:bodyPr wrap="square">
            <a:spAutoFit/>
          </a:bodyPr>
          <a:lstStyle/>
          <a:p>
            <a:pPr algn="ctr" rtl="1" fontAlgn="b"/>
            <a:r>
              <a:rPr lang="he-IL" sz="1400" b="1" u="none" strike="noStrike" dirty="0">
                <a:effectLst/>
                <a:latin typeface="Segoe UI" panose="020B0502040204020203" pitchFamily="34" charset="0"/>
                <a:cs typeface="Segoe UI" panose="020B0502040204020203" pitchFamily="34" charset="0"/>
              </a:rPr>
              <a:t>ביקשו להישפט</a:t>
            </a:r>
            <a:endParaRPr lang="he-IL" sz="1400" b="1" i="0" u="none" strike="noStrike" dirty="0">
              <a:solidFill>
                <a:srgbClr val="000000"/>
              </a:solidFill>
              <a:effectLst/>
              <a:latin typeface="Segoe UI" panose="020B0502040204020203" pitchFamily="34" charset="0"/>
              <a:cs typeface="Segoe UI" panose="020B0502040204020203" pitchFamily="34" charset="0"/>
            </a:endParaRPr>
          </a:p>
        </p:txBody>
      </p:sp>
      <p:sp>
        <p:nvSpPr>
          <p:cNvPr id="19" name="תיבת טקסט 18">
            <a:extLst>
              <a:ext uri="{FF2B5EF4-FFF2-40B4-BE49-F238E27FC236}">
                <a16:creationId xmlns:a16="http://schemas.microsoft.com/office/drawing/2014/main" id="{1FB78840-D781-51F4-5CB7-2ACC152FB6CC}"/>
              </a:ext>
            </a:extLst>
          </p:cNvPr>
          <p:cNvSpPr txBox="1"/>
          <p:nvPr/>
        </p:nvSpPr>
        <p:spPr>
          <a:xfrm>
            <a:off x="1412484" y="1456962"/>
            <a:ext cx="1440000" cy="288000"/>
          </a:xfrm>
          <a:prstGeom prst="rect">
            <a:avLst/>
          </a:prstGeom>
          <a:noFill/>
        </p:spPr>
        <p:txBody>
          <a:bodyPr wrap="square">
            <a:spAutoFit/>
          </a:bodyPr>
          <a:lstStyle/>
          <a:p>
            <a:pPr rtl="1" fontAlgn="ctr"/>
            <a:r>
              <a:rPr lang="he-IL" sz="1200" b="1" u="none" strike="noStrike" dirty="0">
                <a:effectLst/>
                <a:latin typeface="Segoe UI" panose="020B0502040204020203" pitchFamily="34" charset="0"/>
                <a:cs typeface="Segoe UI" panose="020B0502040204020203" pitchFamily="34" charset="0"/>
              </a:rPr>
              <a:t>מגזר יהודי</a:t>
            </a:r>
          </a:p>
        </p:txBody>
      </p:sp>
      <p:sp>
        <p:nvSpPr>
          <p:cNvPr id="20" name="תיבת טקסט 19">
            <a:extLst>
              <a:ext uri="{FF2B5EF4-FFF2-40B4-BE49-F238E27FC236}">
                <a16:creationId xmlns:a16="http://schemas.microsoft.com/office/drawing/2014/main" id="{CD261ABA-0B35-3C7A-1C77-43110D0226DD}"/>
              </a:ext>
            </a:extLst>
          </p:cNvPr>
          <p:cNvSpPr txBox="1"/>
          <p:nvPr/>
        </p:nvSpPr>
        <p:spPr>
          <a:xfrm>
            <a:off x="4208946" y="1456962"/>
            <a:ext cx="1440000" cy="288000"/>
          </a:xfrm>
          <a:prstGeom prst="rect">
            <a:avLst/>
          </a:prstGeom>
          <a:noFill/>
        </p:spPr>
        <p:txBody>
          <a:bodyPr wrap="square">
            <a:spAutoFit/>
          </a:bodyPr>
          <a:lstStyle/>
          <a:p>
            <a:pPr rtl="1" fontAlgn="ctr"/>
            <a:r>
              <a:rPr lang="he-IL" sz="1200" b="1" u="none" strike="noStrike" dirty="0">
                <a:effectLst/>
                <a:latin typeface="Segoe UI" panose="020B0502040204020203" pitchFamily="34" charset="0"/>
                <a:cs typeface="Segoe UI" panose="020B0502040204020203" pitchFamily="34" charset="0"/>
              </a:rPr>
              <a:t>מגזר ערבי</a:t>
            </a:r>
          </a:p>
        </p:txBody>
      </p:sp>
      <p:sp>
        <p:nvSpPr>
          <p:cNvPr id="21" name="תיבת טקסט 20">
            <a:extLst>
              <a:ext uri="{FF2B5EF4-FFF2-40B4-BE49-F238E27FC236}">
                <a16:creationId xmlns:a16="http://schemas.microsoft.com/office/drawing/2014/main" id="{2D319D5F-B2C1-FC77-115F-FE5016ACF99C}"/>
              </a:ext>
            </a:extLst>
          </p:cNvPr>
          <p:cNvSpPr txBox="1"/>
          <p:nvPr/>
        </p:nvSpPr>
        <p:spPr>
          <a:xfrm>
            <a:off x="7049184" y="1456962"/>
            <a:ext cx="1440000" cy="288000"/>
          </a:xfrm>
          <a:prstGeom prst="rect">
            <a:avLst/>
          </a:prstGeom>
          <a:noFill/>
        </p:spPr>
        <p:txBody>
          <a:bodyPr wrap="square">
            <a:spAutoFit/>
          </a:bodyPr>
          <a:lstStyle/>
          <a:p>
            <a:pPr rtl="1" fontAlgn="ctr"/>
            <a:r>
              <a:rPr lang="he-IL" sz="1200" b="1" u="none" strike="noStrike" dirty="0">
                <a:effectLst/>
                <a:latin typeface="Segoe UI" panose="020B0502040204020203" pitchFamily="34" charset="0"/>
                <a:cs typeface="Segoe UI" panose="020B0502040204020203" pitchFamily="34" charset="0"/>
              </a:rPr>
              <a:t>מגזר יהודי</a:t>
            </a:r>
          </a:p>
        </p:txBody>
      </p:sp>
      <p:sp>
        <p:nvSpPr>
          <p:cNvPr id="22" name="תיבת טקסט 21">
            <a:extLst>
              <a:ext uri="{FF2B5EF4-FFF2-40B4-BE49-F238E27FC236}">
                <a16:creationId xmlns:a16="http://schemas.microsoft.com/office/drawing/2014/main" id="{140B9B8D-4827-539F-BF20-EB64BB1C35DA}"/>
              </a:ext>
            </a:extLst>
          </p:cNvPr>
          <p:cNvSpPr txBox="1"/>
          <p:nvPr/>
        </p:nvSpPr>
        <p:spPr>
          <a:xfrm>
            <a:off x="9828355" y="1456962"/>
            <a:ext cx="1440000" cy="288000"/>
          </a:xfrm>
          <a:prstGeom prst="rect">
            <a:avLst/>
          </a:prstGeom>
          <a:noFill/>
        </p:spPr>
        <p:txBody>
          <a:bodyPr wrap="square">
            <a:spAutoFit/>
          </a:bodyPr>
          <a:lstStyle/>
          <a:p>
            <a:pPr rtl="1" fontAlgn="ctr"/>
            <a:r>
              <a:rPr lang="he-IL" sz="1200" b="1" u="none" strike="noStrike" dirty="0">
                <a:effectLst/>
                <a:latin typeface="Segoe UI" panose="020B0502040204020203" pitchFamily="34" charset="0"/>
                <a:cs typeface="Segoe UI" panose="020B0502040204020203" pitchFamily="34" charset="0"/>
              </a:rPr>
              <a:t>מגזר ערבי</a:t>
            </a:r>
          </a:p>
        </p:txBody>
      </p:sp>
      <p:graphicFrame>
        <p:nvGraphicFramePr>
          <p:cNvPr id="10" name="טבלה 9">
            <a:extLst>
              <a:ext uri="{FF2B5EF4-FFF2-40B4-BE49-F238E27FC236}">
                <a16:creationId xmlns:a16="http://schemas.microsoft.com/office/drawing/2014/main" id="{86384545-907A-0BB3-6ACA-78391F7AC54C}"/>
              </a:ext>
            </a:extLst>
          </p:cNvPr>
          <p:cNvGraphicFramePr>
            <a:graphicFrameLocks noGrp="1"/>
          </p:cNvGraphicFramePr>
          <p:nvPr/>
        </p:nvGraphicFramePr>
        <p:xfrm>
          <a:off x="86335" y="1698177"/>
          <a:ext cx="1296000" cy="3240000"/>
        </p:xfrm>
        <a:graphic>
          <a:graphicData uri="http://schemas.openxmlformats.org/drawingml/2006/table">
            <a:tbl>
              <a:tblPr rtl="1" firstRow="1" bandRow="1">
                <a:tableStyleId>{2D5ABB26-0587-4C30-8999-92F81FD0307C}</a:tableStyleId>
              </a:tblPr>
              <a:tblGrid>
                <a:gridCol w="1296000">
                  <a:extLst>
                    <a:ext uri="{9D8B030D-6E8A-4147-A177-3AD203B41FA5}">
                      <a16:colId xmlns:a16="http://schemas.microsoft.com/office/drawing/2014/main" val="581933871"/>
                    </a:ext>
                  </a:extLst>
                </a:gridCol>
              </a:tblGrid>
              <a:tr h="405000">
                <a:tc>
                  <a:txBody>
                    <a:bodyPr/>
                    <a:lstStyle/>
                    <a:p>
                      <a:pPr algn="r" rtl="1" fontAlgn="b">
                        <a:buNone/>
                      </a:pPr>
                      <a:r>
                        <a:rPr lang="he-IL" sz="1100" b="0" i="0" u="none" strike="noStrike">
                          <a:solidFill>
                            <a:srgbClr val="000000"/>
                          </a:solidFill>
                          <a:effectLst/>
                          <a:latin typeface="Segoe UI" panose="020B0502040204020203" pitchFamily="34" charset="0"/>
                          <a:cs typeface="Segoe UI" panose="020B0502040204020203" pitchFamily="34" charset="0"/>
                        </a:rPr>
                        <a:t>מהירות</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28002872"/>
                  </a:ext>
                </a:extLst>
              </a:tr>
              <a:tr h="405000">
                <a:tc>
                  <a:txBody>
                    <a:bodyPr/>
                    <a:lstStyle/>
                    <a:p>
                      <a:pPr algn="r" rtl="1" fontAlgn="b">
                        <a:buNone/>
                      </a:pPr>
                      <a:r>
                        <a:rPr lang="he-IL" sz="1100" b="0" i="0" u="none" strike="noStrike">
                          <a:solidFill>
                            <a:srgbClr val="000000"/>
                          </a:solidFill>
                          <a:effectLst/>
                          <a:latin typeface="Segoe UI" panose="020B0502040204020203" pitchFamily="34" charset="0"/>
                          <a:cs typeface="Segoe UI" panose="020B0502040204020203" pitchFamily="34" charset="0"/>
                        </a:rPr>
                        <a:t>שימוש בטלפון</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54857623"/>
                  </a:ext>
                </a:extLst>
              </a:tr>
              <a:tr h="405000">
                <a:tc>
                  <a:txBody>
                    <a:bodyPr/>
                    <a:lstStyle/>
                    <a:p>
                      <a:pPr algn="r" rtl="1" fontAlgn="b">
                        <a:buNone/>
                      </a:pPr>
                      <a:r>
                        <a:rPr lang="he-IL" sz="1100" b="0" i="0" u="none" strike="noStrike" dirty="0">
                          <a:solidFill>
                            <a:srgbClr val="000000"/>
                          </a:solidFill>
                          <a:effectLst/>
                          <a:latin typeface="Segoe UI" panose="020B0502040204020203" pitchFamily="34" charset="0"/>
                          <a:cs typeface="Segoe UI" panose="020B0502040204020203" pitchFamily="34" charset="0"/>
                        </a:rPr>
                        <a:t>נסיעה בנתיב </a:t>
                      </a:r>
                      <a:r>
                        <a:rPr lang="he-IL" sz="1100" b="0" i="0" u="none" strike="noStrike" dirty="0" err="1">
                          <a:solidFill>
                            <a:srgbClr val="000000"/>
                          </a:solidFill>
                          <a:effectLst/>
                          <a:latin typeface="Segoe UI" panose="020B0502040204020203" pitchFamily="34" charset="0"/>
                          <a:cs typeface="Segoe UI" panose="020B0502040204020203" pitchFamily="34" charset="0"/>
                        </a:rPr>
                        <a:t>תחב"צ</a:t>
                      </a:r>
                      <a:endParaRPr lang="he-IL" sz="1100" b="0" i="0" u="none" strike="noStrike" dirty="0">
                        <a:solidFill>
                          <a:srgbClr val="000000"/>
                        </a:solidFill>
                        <a:effectLst/>
                        <a:latin typeface="Segoe UI" panose="020B0502040204020203" pitchFamily="34" charset="0"/>
                        <a:cs typeface="Segoe UI" panose="020B0502040204020203"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90531178"/>
                  </a:ext>
                </a:extLst>
              </a:tr>
              <a:tr h="405000">
                <a:tc>
                  <a:txBody>
                    <a:bodyPr/>
                    <a:lstStyle/>
                    <a:p>
                      <a:pPr algn="r" rtl="1" fontAlgn="b">
                        <a:buNone/>
                      </a:pPr>
                      <a:r>
                        <a:rPr lang="he-IL" sz="1100" b="0" i="0" u="none" strike="noStrike">
                          <a:solidFill>
                            <a:srgbClr val="000000"/>
                          </a:solidFill>
                          <a:effectLst/>
                          <a:latin typeface="Segoe UI" panose="020B0502040204020203" pitchFamily="34" charset="0"/>
                          <a:cs typeface="Segoe UI" panose="020B0502040204020203" pitchFamily="34" charset="0"/>
                        </a:rPr>
                        <a:t>אי ציות לתמרור</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88033099"/>
                  </a:ext>
                </a:extLst>
              </a:tr>
              <a:tr h="405000">
                <a:tc>
                  <a:txBody>
                    <a:bodyPr/>
                    <a:lstStyle/>
                    <a:p>
                      <a:pPr algn="r" rtl="1" fontAlgn="b">
                        <a:buNone/>
                      </a:pPr>
                      <a:r>
                        <a:rPr lang="he-IL" sz="1100" b="0" i="0" u="none" strike="noStrike">
                          <a:solidFill>
                            <a:srgbClr val="000000"/>
                          </a:solidFill>
                          <a:effectLst/>
                          <a:latin typeface="Segoe UI" panose="020B0502040204020203" pitchFamily="34" charset="0"/>
                          <a:cs typeface="Segoe UI" panose="020B0502040204020203" pitchFamily="34" charset="0"/>
                        </a:rPr>
                        <a:t>חגורת בטיחות</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24836368"/>
                  </a:ext>
                </a:extLst>
              </a:tr>
              <a:tr h="405000">
                <a:tc>
                  <a:txBody>
                    <a:bodyPr/>
                    <a:lstStyle/>
                    <a:p>
                      <a:pPr algn="r" rtl="1" fontAlgn="b">
                        <a:buNone/>
                      </a:pPr>
                      <a:r>
                        <a:rPr lang="he-IL" sz="1100" b="0" i="0" u="none" strike="noStrike">
                          <a:solidFill>
                            <a:srgbClr val="000000"/>
                          </a:solidFill>
                          <a:effectLst/>
                          <a:latin typeface="Segoe UI" panose="020B0502040204020203" pitchFamily="34" charset="0"/>
                          <a:cs typeface="Segoe UI" panose="020B0502040204020203" pitchFamily="34" charset="0"/>
                        </a:rPr>
                        <a:t>אור אדום</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07590062"/>
                  </a:ext>
                </a:extLst>
              </a:tr>
              <a:tr h="405000">
                <a:tc>
                  <a:txBody>
                    <a:bodyPr/>
                    <a:lstStyle/>
                    <a:p>
                      <a:pPr algn="r" rtl="1" fontAlgn="b">
                        <a:buNone/>
                      </a:pPr>
                      <a:r>
                        <a:rPr lang="he-IL" sz="1100" b="0" i="0" u="none" strike="noStrike" dirty="0">
                          <a:solidFill>
                            <a:srgbClr val="000000"/>
                          </a:solidFill>
                          <a:effectLst/>
                          <a:latin typeface="Segoe UI" panose="020B0502040204020203" pitchFamily="34" charset="0"/>
                          <a:cs typeface="Segoe UI" panose="020B0502040204020203" pitchFamily="34" charset="0"/>
                        </a:rPr>
                        <a:t>נסיעה בשוליים</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69517065"/>
                  </a:ext>
                </a:extLst>
              </a:tr>
              <a:tr h="405000">
                <a:tc>
                  <a:txBody>
                    <a:bodyPr/>
                    <a:lstStyle/>
                    <a:p>
                      <a:pPr algn="r" rtl="1" fontAlgn="b">
                        <a:buNone/>
                      </a:pPr>
                      <a:r>
                        <a:rPr lang="he-IL" sz="1100" b="0" i="0" u="none" strike="noStrike" dirty="0">
                          <a:solidFill>
                            <a:srgbClr val="000000"/>
                          </a:solidFill>
                          <a:effectLst/>
                          <a:latin typeface="Segoe UI" panose="020B0502040204020203" pitchFamily="34" charset="0"/>
                          <a:cs typeface="Segoe UI" panose="020B0502040204020203" pitchFamily="34" charset="0"/>
                        </a:rPr>
                        <a:t>שינויים ברכב</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66328170"/>
                  </a:ext>
                </a:extLst>
              </a:tr>
            </a:tbl>
          </a:graphicData>
        </a:graphic>
      </p:graphicFrame>
      <p:graphicFrame>
        <p:nvGraphicFramePr>
          <p:cNvPr id="12" name="Chart 3">
            <a:extLst>
              <a:ext uri="{FF2B5EF4-FFF2-40B4-BE49-F238E27FC236}">
                <a16:creationId xmlns:a16="http://schemas.microsoft.com/office/drawing/2014/main" id="{FB930878-948C-E675-9851-9AABB559571B}"/>
              </a:ext>
            </a:extLst>
          </p:cNvPr>
          <p:cNvGraphicFramePr/>
          <p:nvPr>
            <p:extLst>
              <p:ext uri="{D42A27DB-BD31-4B8C-83A1-F6EECF244321}">
                <p14:modId xmlns:p14="http://schemas.microsoft.com/office/powerpoint/2010/main" val="1238671082"/>
              </p:ext>
            </p:extLst>
          </p:nvPr>
        </p:nvGraphicFramePr>
        <p:xfrm>
          <a:off x="9154687" y="1569259"/>
          <a:ext cx="3058122" cy="3420000"/>
        </p:xfrm>
        <a:graphic>
          <a:graphicData uri="http://schemas.openxmlformats.org/drawingml/2006/chart">
            <c:chart xmlns:c="http://schemas.openxmlformats.org/drawingml/2006/chart" xmlns:r="http://schemas.openxmlformats.org/officeDocument/2006/relationships" r:id="rId2"/>
          </a:graphicData>
        </a:graphic>
      </p:graphicFrame>
      <p:cxnSp>
        <p:nvCxnSpPr>
          <p:cNvPr id="13" name="Straight Connector 22">
            <a:extLst>
              <a:ext uri="{FF2B5EF4-FFF2-40B4-BE49-F238E27FC236}">
                <a16:creationId xmlns:a16="http://schemas.microsoft.com/office/drawing/2014/main" id="{EE6F1A59-0D9A-140C-9EA6-815074B15B89}"/>
              </a:ext>
            </a:extLst>
          </p:cNvPr>
          <p:cNvCxnSpPr>
            <a:cxnSpLocks/>
          </p:cNvCxnSpPr>
          <p:nvPr/>
        </p:nvCxnSpPr>
        <p:spPr>
          <a:xfrm rot="5400000">
            <a:off x="6091368" y="-3862387"/>
            <a:ext cx="0" cy="1188000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22">
            <a:extLst>
              <a:ext uri="{FF2B5EF4-FFF2-40B4-BE49-F238E27FC236}">
                <a16:creationId xmlns:a16="http://schemas.microsoft.com/office/drawing/2014/main" id="{D11457EE-30EF-36A1-4646-55CA19CF7487}"/>
              </a:ext>
            </a:extLst>
          </p:cNvPr>
          <p:cNvCxnSpPr>
            <a:cxnSpLocks/>
          </p:cNvCxnSpPr>
          <p:nvPr/>
        </p:nvCxnSpPr>
        <p:spPr>
          <a:xfrm rot="5400000">
            <a:off x="6091368" y="-3450012"/>
            <a:ext cx="0" cy="1188000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22">
            <a:extLst>
              <a:ext uri="{FF2B5EF4-FFF2-40B4-BE49-F238E27FC236}">
                <a16:creationId xmlns:a16="http://schemas.microsoft.com/office/drawing/2014/main" id="{F6F3A383-85AD-6361-8F48-5143E10827B2}"/>
              </a:ext>
            </a:extLst>
          </p:cNvPr>
          <p:cNvCxnSpPr>
            <a:cxnSpLocks/>
          </p:cNvCxnSpPr>
          <p:nvPr/>
        </p:nvCxnSpPr>
        <p:spPr>
          <a:xfrm rot="5400000">
            <a:off x="6091368" y="-3046601"/>
            <a:ext cx="0" cy="1188000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22">
            <a:extLst>
              <a:ext uri="{FF2B5EF4-FFF2-40B4-BE49-F238E27FC236}">
                <a16:creationId xmlns:a16="http://schemas.microsoft.com/office/drawing/2014/main" id="{B6D38212-15BD-E42B-5622-B38C5F5B37F0}"/>
              </a:ext>
            </a:extLst>
          </p:cNvPr>
          <p:cNvCxnSpPr>
            <a:cxnSpLocks/>
          </p:cNvCxnSpPr>
          <p:nvPr/>
        </p:nvCxnSpPr>
        <p:spPr>
          <a:xfrm rot="5400000">
            <a:off x="6091368" y="-2652154"/>
            <a:ext cx="0" cy="1188000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22">
            <a:extLst>
              <a:ext uri="{FF2B5EF4-FFF2-40B4-BE49-F238E27FC236}">
                <a16:creationId xmlns:a16="http://schemas.microsoft.com/office/drawing/2014/main" id="{454457E6-8D92-5AD1-345A-43591940307E}"/>
              </a:ext>
            </a:extLst>
          </p:cNvPr>
          <p:cNvCxnSpPr>
            <a:cxnSpLocks/>
          </p:cNvCxnSpPr>
          <p:nvPr/>
        </p:nvCxnSpPr>
        <p:spPr>
          <a:xfrm rot="5400000">
            <a:off x="6091368" y="-2221846"/>
            <a:ext cx="0" cy="1188000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E122C03-ED8A-907E-A82B-7D10A7018FF4}"/>
              </a:ext>
            </a:extLst>
          </p:cNvPr>
          <p:cNvCxnSpPr>
            <a:cxnSpLocks/>
          </p:cNvCxnSpPr>
          <p:nvPr/>
        </p:nvCxnSpPr>
        <p:spPr>
          <a:xfrm rot="5400000">
            <a:off x="6091368" y="-1809469"/>
            <a:ext cx="0" cy="1188000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2">
            <a:extLst>
              <a:ext uri="{FF2B5EF4-FFF2-40B4-BE49-F238E27FC236}">
                <a16:creationId xmlns:a16="http://schemas.microsoft.com/office/drawing/2014/main" id="{EDCB41E5-B7C5-BB3B-4682-911FA0B96852}"/>
              </a:ext>
            </a:extLst>
          </p:cNvPr>
          <p:cNvCxnSpPr>
            <a:cxnSpLocks/>
          </p:cNvCxnSpPr>
          <p:nvPr/>
        </p:nvCxnSpPr>
        <p:spPr>
          <a:xfrm rot="5400000">
            <a:off x="5641368" y="-956058"/>
            <a:ext cx="0" cy="1098000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25" name="Chart 3">
            <a:extLst>
              <a:ext uri="{FF2B5EF4-FFF2-40B4-BE49-F238E27FC236}">
                <a16:creationId xmlns:a16="http://schemas.microsoft.com/office/drawing/2014/main" id="{77E293FC-FF68-3959-7A52-F898F6902FB8}"/>
              </a:ext>
            </a:extLst>
          </p:cNvPr>
          <p:cNvGraphicFramePr/>
          <p:nvPr>
            <p:extLst>
              <p:ext uri="{D42A27DB-BD31-4B8C-83A1-F6EECF244321}">
                <p14:modId xmlns:p14="http://schemas.microsoft.com/office/powerpoint/2010/main" val="2087481545"/>
              </p:ext>
            </p:extLst>
          </p:nvPr>
        </p:nvGraphicFramePr>
        <p:xfrm>
          <a:off x="6406505" y="1569259"/>
          <a:ext cx="3058122" cy="3420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6" name="Chart 3">
            <a:extLst>
              <a:ext uri="{FF2B5EF4-FFF2-40B4-BE49-F238E27FC236}">
                <a16:creationId xmlns:a16="http://schemas.microsoft.com/office/drawing/2014/main" id="{DFB189BF-541E-523B-7538-ACE04BC708A8}"/>
              </a:ext>
            </a:extLst>
          </p:cNvPr>
          <p:cNvGraphicFramePr/>
          <p:nvPr>
            <p:extLst>
              <p:ext uri="{D42A27DB-BD31-4B8C-83A1-F6EECF244321}">
                <p14:modId xmlns:p14="http://schemas.microsoft.com/office/powerpoint/2010/main" val="3401959445"/>
              </p:ext>
            </p:extLst>
          </p:nvPr>
        </p:nvGraphicFramePr>
        <p:xfrm>
          <a:off x="3592837" y="1569259"/>
          <a:ext cx="3058122" cy="34200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7" name="Chart 3">
            <a:extLst>
              <a:ext uri="{FF2B5EF4-FFF2-40B4-BE49-F238E27FC236}">
                <a16:creationId xmlns:a16="http://schemas.microsoft.com/office/drawing/2014/main" id="{EC97EF53-B3D5-D1BF-9A8C-F411116E0766}"/>
              </a:ext>
            </a:extLst>
          </p:cNvPr>
          <p:cNvGraphicFramePr/>
          <p:nvPr>
            <p:extLst>
              <p:ext uri="{D42A27DB-BD31-4B8C-83A1-F6EECF244321}">
                <p14:modId xmlns:p14="http://schemas.microsoft.com/office/powerpoint/2010/main" val="92310062"/>
              </p:ext>
            </p:extLst>
          </p:nvPr>
        </p:nvGraphicFramePr>
        <p:xfrm>
          <a:off x="762002" y="1569259"/>
          <a:ext cx="3058122" cy="3420000"/>
        </p:xfrm>
        <a:graphic>
          <a:graphicData uri="http://schemas.openxmlformats.org/drawingml/2006/chart">
            <c:chart xmlns:c="http://schemas.openxmlformats.org/drawingml/2006/chart" xmlns:r="http://schemas.openxmlformats.org/officeDocument/2006/relationships" r:id="rId5"/>
          </a:graphicData>
        </a:graphic>
      </p:graphicFrame>
      <p:sp>
        <p:nvSpPr>
          <p:cNvPr id="4" name="Rectangle: Rounded Corners 54">
            <a:hlinkClick r:id="" action="ppaction://noaction"/>
            <a:extLst>
              <a:ext uri="{FF2B5EF4-FFF2-40B4-BE49-F238E27FC236}">
                <a16:creationId xmlns:a16="http://schemas.microsoft.com/office/drawing/2014/main" id="{1818FAAE-2D02-28DC-81E7-743E37270B1E}"/>
              </a:ext>
            </a:extLst>
          </p:cNvPr>
          <p:cNvSpPr/>
          <p:nvPr/>
        </p:nvSpPr>
        <p:spPr>
          <a:xfrm>
            <a:off x="1418590" y="6631748"/>
            <a:ext cx="720000" cy="144000"/>
          </a:xfrm>
          <a:prstGeom prst="roundRect">
            <a:avLst>
              <a:gd name="adj" fmla="val 50000"/>
            </a:avLst>
          </a:prstGeom>
          <a:solidFill>
            <a:schemeClr val="bg1"/>
          </a:solidFill>
          <a:ln w="12700">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r" defTabSz="914400" rtl="1" eaLnBrk="1" latinLnBrk="0" hangingPunct="1">
              <a:defRPr sz="1800" kern="1200">
                <a:solidFill>
                  <a:schemeClr val="lt1"/>
                </a:solidFill>
                <a:latin typeface="+mn-lt"/>
                <a:ea typeface="+mn-ea"/>
                <a:cs typeface="+mn-cs"/>
              </a:defRPr>
            </a:lvl1pPr>
            <a:lvl2pPr marL="457200" algn="r" defTabSz="914400" rtl="1" eaLnBrk="1" latinLnBrk="0" hangingPunct="1">
              <a:defRPr sz="1800" kern="1200">
                <a:solidFill>
                  <a:schemeClr val="lt1"/>
                </a:solidFill>
                <a:latin typeface="+mn-lt"/>
                <a:ea typeface="+mn-ea"/>
                <a:cs typeface="+mn-cs"/>
              </a:defRPr>
            </a:lvl2pPr>
            <a:lvl3pPr marL="914400" algn="r" defTabSz="914400" rtl="1" eaLnBrk="1" latinLnBrk="0" hangingPunct="1">
              <a:defRPr sz="1800" kern="1200">
                <a:solidFill>
                  <a:schemeClr val="lt1"/>
                </a:solidFill>
                <a:latin typeface="+mn-lt"/>
                <a:ea typeface="+mn-ea"/>
                <a:cs typeface="+mn-cs"/>
              </a:defRPr>
            </a:lvl3pPr>
            <a:lvl4pPr marL="1371600" algn="r" defTabSz="914400" rtl="1" eaLnBrk="1" latinLnBrk="0" hangingPunct="1">
              <a:defRPr sz="1800" kern="1200">
                <a:solidFill>
                  <a:schemeClr val="lt1"/>
                </a:solidFill>
                <a:latin typeface="+mn-lt"/>
                <a:ea typeface="+mn-ea"/>
                <a:cs typeface="+mn-cs"/>
              </a:defRPr>
            </a:lvl4pPr>
            <a:lvl5pPr marL="1828800" algn="r" defTabSz="914400" rtl="1" eaLnBrk="1" latinLnBrk="0" hangingPunct="1">
              <a:defRPr sz="1800" kern="1200">
                <a:solidFill>
                  <a:schemeClr val="lt1"/>
                </a:solidFill>
                <a:latin typeface="+mn-lt"/>
                <a:ea typeface="+mn-ea"/>
                <a:cs typeface="+mn-cs"/>
              </a:defRPr>
            </a:lvl5pPr>
            <a:lvl6pPr marL="2286000" algn="r" defTabSz="914400" rtl="1" eaLnBrk="1" latinLnBrk="0" hangingPunct="1">
              <a:defRPr sz="1800" kern="1200">
                <a:solidFill>
                  <a:schemeClr val="lt1"/>
                </a:solidFill>
                <a:latin typeface="+mn-lt"/>
                <a:ea typeface="+mn-ea"/>
                <a:cs typeface="+mn-cs"/>
              </a:defRPr>
            </a:lvl6pPr>
            <a:lvl7pPr marL="2743200" algn="r" defTabSz="914400" rtl="1" eaLnBrk="1" latinLnBrk="0" hangingPunct="1">
              <a:defRPr sz="1800" kern="1200">
                <a:solidFill>
                  <a:schemeClr val="lt1"/>
                </a:solidFill>
                <a:latin typeface="+mn-lt"/>
                <a:ea typeface="+mn-ea"/>
                <a:cs typeface="+mn-cs"/>
              </a:defRPr>
            </a:lvl7pPr>
            <a:lvl8pPr marL="3200400" algn="r" defTabSz="914400" rtl="1" eaLnBrk="1" latinLnBrk="0" hangingPunct="1">
              <a:defRPr sz="1800" kern="1200">
                <a:solidFill>
                  <a:schemeClr val="lt1"/>
                </a:solidFill>
                <a:latin typeface="+mn-lt"/>
                <a:ea typeface="+mn-ea"/>
                <a:cs typeface="+mn-cs"/>
              </a:defRPr>
            </a:lvl8pPr>
            <a:lvl9pPr marL="3657600" algn="r" defTabSz="914400" rtl="1" eaLnBrk="1" latinLnBrk="0" hangingPunct="1">
              <a:defRPr sz="1800" kern="1200">
                <a:solidFill>
                  <a:schemeClr val="lt1"/>
                </a:solidFill>
                <a:latin typeface="+mn-lt"/>
                <a:ea typeface="+mn-ea"/>
                <a:cs typeface="+mn-cs"/>
              </a:defRPr>
            </a:lvl9pPr>
          </a:lstStyle>
          <a:p>
            <a:pPr marL="0" marR="0" lvl="0" indent="0" algn="ctr" defTabSz="914400" rtl="1" eaLnBrk="1" fontAlgn="base" latinLnBrk="0" hangingPunct="1">
              <a:lnSpc>
                <a:spcPct val="100000"/>
              </a:lnSpc>
              <a:spcBef>
                <a:spcPct val="0"/>
              </a:spcBef>
              <a:spcAft>
                <a:spcPct val="0"/>
              </a:spcAft>
              <a:buClrTx/>
              <a:buSzTx/>
              <a:buFontTx/>
              <a:buNone/>
              <a:tabLst/>
              <a:defRPr/>
            </a:pPr>
            <a:r>
              <a:rPr kumimoji="0" lang="he-IL" sz="1100" b="0" i="0" u="none" strike="noStrike" kern="1200" cap="none" spc="0" normalizeH="0" baseline="0" noProof="0" dirty="0">
                <a:ln>
                  <a:noFill/>
                </a:ln>
                <a:solidFill>
                  <a:schemeClr val="bg1">
                    <a:lumMod val="65000"/>
                  </a:schemeClr>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מגדר</a:t>
            </a:r>
            <a:endParaRPr kumimoji="0" lang="en-IL" sz="1100" b="0" i="0" u="none" strike="noStrike" kern="1200" cap="none" spc="0" normalizeH="0" baseline="0" noProof="0" dirty="0">
              <a:ln>
                <a:noFill/>
              </a:ln>
              <a:solidFill>
                <a:schemeClr val="bg1">
                  <a:lumMod val="65000"/>
                </a:schemeClr>
              </a:solidFill>
              <a:effectLst/>
              <a:uLnTx/>
              <a:uFillTx/>
              <a:latin typeface="Segoe UI" panose="020B0502040204020203" pitchFamily="34" charset="0"/>
              <a:ea typeface="+mn-ea"/>
              <a:cs typeface="Segoe UI" panose="020B0502040204020203" pitchFamily="34" charset="0"/>
            </a:endParaRPr>
          </a:p>
        </p:txBody>
      </p:sp>
      <p:sp>
        <p:nvSpPr>
          <p:cNvPr id="6" name="Rectangle: Rounded Corners 54">
            <a:hlinkClick r:id="" action="ppaction://noaction"/>
            <a:extLst>
              <a:ext uri="{FF2B5EF4-FFF2-40B4-BE49-F238E27FC236}">
                <a16:creationId xmlns:a16="http://schemas.microsoft.com/office/drawing/2014/main" id="{D695C3ED-2BB4-75DA-0C04-80BB2DBE7F72}"/>
              </a:ext>
            </a:extLst>
          </p:cNvPr>
          <p:cNvSpPr/>
          <p:nvPr/>
        </p:nvSpPr>
        <p:spPr>
          <a:xfrm>
            <a:off x="2195889" y="6631748"/>
            <a:ext cx="720000" cy="144000"/>
          </a:xfrm>
          <a:prstGeom prst="roundRect">
            <a:avLst>
              <a:gd name="adj" fmla="val 50000"/>
            </a:avLst>
          </a:prstGeom>
          <a:solidFill>
            <a:schemeClr val="bg1">
              <a:lumMod val="95000"/>
            </a:schemeClr>
          </a:solidFill>
          <a:ln w="12700">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r" defTabSz="914400" rtl="1" eaLnBrk="1" latinLnBrk="0" hangingPunct="1">
              <a:defRPr sz="1800" kern="1200">
                <a:solidFill>
                  <a:schemeClr val="lt1"/>
                </a:solidFill>
                <a:latin typeface="+mn-lt"/>
                <a:ea typeface="+mn-ea"/>
                <a:cs typeface="+mn-cs"/>
              </a:defRPr>
            </a:lvl1pPr>
            <a:lvl2pPr marL="457200" algn="r" defTabSz="914400" rtl="1" eaLnBrk="1" latinLnBrk="0" hangingPunct="1">
              <a:defRPr sz="1800" kern="1200">
                <a:solidFill>
                  <a:schemeClr val="lt1"/>
                </a:solidFill>
                <a:latin typeface="+mn-lt"/>
                <a:ea typeface="+mn-ea"/>
                <a:cs typeface="+mn-cs"/>
              </a:defRPr>
            </a:lvl2pPr>
            <a:lvl3pPr marL="914400" algn="r" defTabSz="914400" rtl="1" eaLnBrk="1" latinLnBrk="0" hangingPunct="1">
              <a:defRPr sz="1800" kern="1200">
                <a:solidFill>
                  <a:schemeClr val="lt1"/>
                </a:solidFill>
                <a:latin typeface="+mn-lt"/>
                <a:ea typeface="+mn-ea"/>
                <a:cs typeface="+mn-cs"/>
              </a:defRPr>
            </a:lvl3pPr>
            <a:lvl4pPr marL="1371600" algn="r" defTabSz="914400" rtl="1" eaLnBrk="1" latinLnBrk="0" hangingPunct="1">
              <a:defRPr sz="1800" kern="1200">
                <a:solidFill>
                  <a:schemeClr val="lt1"/>
                </a:solidFill>
                <a:latin typeface="+mn-lt"/>
                <a:ea typeface="+mn-ea"/>
                <a:cs typeface="+mn-cs"/>
              </a:defRPr>
            </a:lvl4pPr>
            <a:lvl5pPr marL="1828800" algn="r" defTabSz="914400" rtl="1" eaLnBrk="1" latinLnBrk="0" hangingPunct="1">
              <a:defRPr sz="1800" kern="1200">
                <a:solidFill>
                  <a:schemeClr val="lt1"/>
                </a:solidFill>
                <a:latin typeface="+mn-lt"/>
                <a:ea typeface="+mn-ea"/>
                <a:cs typeface="+mn-cs"/>
              </a:defRPr>
            </a:lvl5pPr>
            <a:lvl6pPr marL="2286000" algn="r" defTabSz="914400" rtl="1" eaLnBrk="1" latinLnBrk="0" hangingPunct="1">
              <a:defRPr sz="1800" kern="1200">
                <a:solidFill>
                  <a:schemeClr val="lt1"/>
                </a:solidFill>
                <a:latin typeface="+mn-lt"/>
                <a:ea typeface="+mn-ea"/>
                <a:cs typeface="+mn-cs"/>
              </a:defRPr>
            </a:lvl6pPr>
            <a:lvl7pPr marL="2743200" algn="r" defTabSz="914400" rtl="1" eaLnBrk="1" latinLnBrk="0" hangingPunct="1">
              <a:defRPr sz="1800" kern="1200">
                <a:solidFill>
                  <a:schemeClr val="lt1"/>
                </a:solidFill>
                <a:latin typeface="+mn-lt"/>
                <a:ea typeface="+mn-ea"/>
                <a:cs typeface="+mn-cs"/>
              </a:defRPr>
            </a:lvl7pPr>
            <a:lvl8pPr marL="3200400" algn="r" defTabSz="914400" rtl="1" eaLnBrk="1" latinLnBrk="0" hangingPunct="1">
              <a:defRPr sz="1800" kern="1200">
                <a:solidFill>
                  <a:schemeClr val="lt1"/>
                </a:solidFill>
                <a:latin typeface="+mn-lt"/>
                <a:ea typeface="+mn-ea"/>
                <a:cs typeface="+mn-cs"/>
              </a:defRPr>
            </a:lvl8pPr>
            <a:lvl9pPr marL="3657600" algn="r" defTabSz="914400" rtl="1" eaLnBrk="1" latinLnBrk="0" hangingPunct="1">
              <a:defRPr sz="1800" kern="1200">
                <a:solidFill>
                  <a:schemeClr val="lt1"/>
                </a:solidFill>
                <a:latin typeface="+mn-lt"/>
                <a:ea typeface="+mn-ea"/>
                <a:cs typeface="+mn-cs"/>
              </a:defRPr>
            </a:lvl9pPr>
          </a:lstStyle>
          <a:p>
            <a:pPr marL="0" marR="0" lvl="0" indent="0" algn="ctr" defTabSz="914400" rtl="1" eaLnBrk="1" fontAlgn="base" latinLnBrk="0" hangingPunct="1">
              <a:lnSpc>
                <a:spcPct val="100000"/>
              </a:lnSpc>
              <a:spcBef>
                <a:spcPct val="0"/>
              </a:spcBef>
              <a:spcAft>
                <a:spcPct val="0"/>
              </a:spcAft>
              <a:buClrTx/>
              <a:buSzTx/>
              <a:buFontTx/>
              <a:buNone/>
              <a:tabLst/>
              <a:defRPr/>
            </a:pPr>
            <a:r>
              <a:rPr kumimoji="0" lang="he-IL" sz="1100" b="1" i="0" u="none" strike="noStrike" kern="1200" cap="none" spc="0" normalizeH="0" baseline="0" noProof="0" dirty="0">
                <a:ln>
                  <a:noFill/>
                </a:ln>
                <a:solidFill>
                  <a:schemeClr val="bg1">
                    <a:lumMod val="65000"/>
                  </a:schemeClr>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גיל</a:t>
            </a:r>
            <a:endParaRPr kumimoji="0" lang="en-IL" sz="1100" b="1" i="0" u="none" strike="noStrike" kern="1200" cap="none" spc="0" normalizeH="0" baseline="0" noProof="0" dirty="0">
              <a:ln>
                <a:noFill/>
              </a:ln>
              <a:solidFill>
                <a:schemeClr val="bg1">
                  <a:lumMod val="65000"/>
                </a:schemeClr>
              </a:solidFill>
              <a:effectLst/>
              <a:uLnTx/>
              <a:uFillTx/>
              <a:latin typeface="Segoe UI" panose="020B0502040204020203" pitchFamily="34" charset="0"/>
              <a:ea typeface="+mn-ea"/>
              <a:cs typeface="Segoe UI" panose="020B0502040204020203" pitchFamily="34" charset="0"/>
            </a:endParaRPr>
          </a:p>
        </p:txBody>
      </p:sp>
      <p:sp>
        <p:nvSpPr>
          <p:cNvPr id="11" name="Rectangle: Rounded Corners 54">
            <a:hlinkClick r:id="" action="ppaction://noaction"/>
            <a:extLst>
              <a:ext uri="{FF2B5EF4-FFF2-40B4-BE49-F238E27FC236}">
                <a16:creationId xmlns:a16="http://schemas.microsoft.com/office/drawing/2014/main" id="{B4661AF2-F926-ACBE-9FD9-C1A2D5A5423E}"/>
              </a:ext>
            </a:extLst>
          </p:cNvPr>
          <p:cNvSpPr/>
          <p:nvPr/>
        </p:nvSpPr>
        <p:spPr>
          <a:xfrm>
            <a:off x="2973188" y="6640710"/>
            <a:ext cx="936000" cy="144000"/>
          </a:xfrm>
          <a:prstGeom prst="roundRect">
            <a:avLst>
              <a:gd name="adj" fmla="val 50000"/>
            </a:avLst>
          </a:prstGeom>
          <a:solidFill>
            <a:schemeClr val="bg1"/>
          </a:solidFill>
          <a:ln w="12700">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r" defTabSz="914400" rtl="1" eaLnBrk="1" latinLnBrk="0" hangingPunct="1">
              <a:defRPr sz="1800" kern="1200">
                <a:solidFill>
                  <a:schemeClr val="lt1"/>
                </a:solidFill>
                <a:latin typeface="+mn-lt"/>
                <a:ea typeface="+mn-ea"/>
                <a:cs typeface="+mn-cs"/>
              </a:defRPr>
            </a:lvl1pPr>
            <a:lvl2pPr marL="457200" algn="r" defTabSz="914400" rtl="1" eaLnBrk="1" latinLnBrk="0" hangingPunct="1">
              <a:defRPr sz="1800" kern="1200">
                <a:solidFill>
                  <a:schemeClr val="lt1"/>
                </a:solidFill>
                <a:latin typeface="+mn-lt"/>
                <a:ea typeface="+mn-ea"/>
                <a:cs typeface="+mn-cs"/>
              </a:defRPr>
            </a:lvl2pPr>
            <a:lvl3pPr marL="914400" algn="r" defTabSz="914400" rtl="1" eaLnBrk="1" latinLnBrk="0" hangingPunct="1">
              <a:defRPr sz="1800" kern="1200">
                <a:solidFill>
                  <a:schemeClr val="lt1"/>
                </a:solidFill>
                <a:latin typeface="+mn-lt"/>
                <a:ea typeface="+mn-ea"/>
                <a:cs typeface="+mn-cs"/>
              </a:defRPr>
            </a:lvl3pPr>
            <a:lvl4pPr marL="1371600" algn="r" defTabSz="914400" rtl="1" eaLnBrk="1" latinLnBrk="0" hangingPunct="1">
              <a:defRPr sz="1800" kern="1200">
                <a:solidFill>
                  <a:schemeClr val="lt1"/>
                </a:solidFill>
                <a:latin typeface="+mn-lt"/>
                <a:ea typeface="+mn-ea"/>
                <a:cs typeface="+mn-cs"/>
              </a:defRPr>
            </a:lvl4pPr>
            <a:lvl5pPr marL="1828800" algn="r" defTabSz="914400" rtl="1" eaLnBrk="1" latinLnBrk="0" hangingPunct="1">
              <a:defRPr sz="1800" kern="1200">
                <a:solidFill>
                  <a:schemeClr val="lt1"/>
                </a:solidFill>
                <a:latin typeface="+mn-lt"/>
                <a:ea typeface="+mn-ea"/>
                <a:cs typeface="+mn-cs"/>
              </a:defRPr>
            </a:lvl5pPr>
            <a:lvl6pPr marL="2286000" algn="r" defTabSz="914400" rtl="1" eaLnBrk="1" latinLnBrk="0" hangingPunct="1">
              <a:defRPr sz="1800" kern="1200">
                <a:solidFill>
                  <a:schemeClr val="lt1"/>
                </a:solidFill>
                <a:latin typeface="+mn-lt"/>
                <a:ea typeface="+mn-ea"/>
                <a:cs typeface="+mn-cs"/>
              </a:defRPr>
            </a:lvl6pPr>
            <a:lvl7pPr marL="2743200" algn="r" defTabSz="914400" rtl="1" eaLnBrk="1" latinLnBrk="0" hangingPunct="1">
              <a:defRPr sz="1800" kern="1200">
                <a:solidFill>
                  <a:schemeClr val="lt1"/>
                </a:solidFill>
                <a:latin typeface="+mn-lt"/>
                <a:ea typeface="+mn-ea"/>
                <a:cs typeface="+mn-cs"/>
              </a:defRPr>
            </a:lvl7pPr>
            <a:lvl8pPr marL="3200400" algn="r" defTabSz="914400" rtl="1" eaLnBrk="1" latinLnBrk="0" hangingPunct="1">
              <a:defRPr sz="1800" kern="1200">
                <a:solidFill>
                  <a:schemeClr val="lt1"/>
                </a:solidFill>
                <a:latin typeface="+mn-lt"/>
                <a:ea typeface="+mn-ea"/>
                <a:cs typeface="+mn-cs"/>
              </a:defRPr>
            </a:lvl8pPr>
            <a:lvl9pPr marL="3657600" algn="r" defTabSz="914400" rtl="1" eaLnBrk="1" latinLnBrk="0" hangingPunct="1">
              <a:defRPr sz="1800" kern="1200">
                <a:solidFill>
                  <a:schemeClr val="lt1"/>
                </a:solidFill>
                <a:latin typeface="+mn-lt"/>
                <a:ea typeface="+mn-ea"/>
                <a:cs typeface="+mn-cs"/>
              </a:defRPr>
            </a:lvl9pPr>
          </a:lstStyle>
          <a:p>
            <a:pPr marL="0" marR="0" lvl="0" indent="0" algn="ctr" defTabSz="914400" rtl="1" eaLnBrk="1" fontAlgn="base" latinLnBrk="0" hangingPunct="1">
              <a:lnSpc>
                <a:spcPct val="100000"/>
              </a:lnSpc>
              <a:spcBef>
                <a:spcPct val="0"/>
              </a:spcBef>
              <a:spcAft>
                <a:spcPct val="0"/>
              </a:spcAft>
              <a:buClrTx/>
              <a:buSzTx/>
              <a:buFontTx/>
              <a:buNone/>
              <a:tabLst/>
              <a:defRPr/>
            </a:pPr>
            <a:r>
              <a:rPr kumimoji="0" lang="he-IL" sz="1100" b="0" i="0" u="none" strike="noStrike" kern="1200" cap="none" spc="0" normalizeH="0" baseline="0" noProof="0" dirty="0">
                <a:ln>
                  <a:noFill/>
                </a:ln>
                <a:solidFill>
                  <a:schemeClr val="bg1">
                    <a:lumMod val="65000"/>
                  </a:schemeClr>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כמות דוחות</a:t>
            </a:r>
            <a:endParaRPr kumimoji="0" lang="en-IL" sz="1100" b="0" i="0" u="none" strike="noStrike" kern="1200" cap="none" spc="0" normalizeH="0" baseline="0" noProof="0" dirty="0">
              <a:ln>
                <a:noFill/>
              </a:ln>
              <a:solidFill>
                <a:schemeClr val="bg1">
                  <a:lumMod val="65000"/>
                </a:schemeClr>
              </a:solidFill>
              <a:effectLst/>
              <a:uLnTx/>
              <a:uFillTx/>
              <a:latin typeface="Segoe UI" panose="020B0502040204020203" pitchFamily="34" charset="0"/>
              <a:ea typeface="+mn-ea"/>
              <a:cs typeface="Segoe UI" panose="020B0502040204020203" pitchFamily="34" charset="0"/>
            </a:endParaRPr>
          </a:p>
        </p:txBody>
      </p:sp>
      <p:sp>
        <p:nvSpPr>
          <p:cNvPr id="28" name="Rectangle: Rounded Corners 54">
            <a:hlinkClick r:id="" action="ppaction://noaction"/>
            <a:extLst>
              <a:ext uri="{FF2B5EF4-FFF2-40B4-BE49-F238E27FC236}">
                <a16:creationId xmlns:a16="http://schemas.microsoft.com/office/drawing/2014/main" id="{AFF3B0C0-BCE6-CC7D-FAAE-B59C4AC31329}"/>
              </a:ext>
            </a:extLst>
          </p:cNvPr>
          <p:cNvSpPr/>
          <p:nvPr/>
        </p:nvSpPr>
        <p:spPr>
          <a:xfrm>
            <a:off x="3966487" y="6640710"/>
            <a:ext cx="900000" cy="144000"/>
          </a:xfrm>
          <a:prstGeom prst="roundRect">
            <a:avLst>
              <a:gd name="adj" fmla="val 50000"/>
            </a:avLst>
          </a:prstGeom>
          <a:solidFill>
            <a:schemeClr val="bg1"/>
          </a:solidFill>
          <a:ln w="12700">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r" defTabSz="914400" rtl="1" eaLnBrk="1" latinLnBrk="0" hangingPunct="1">
              <a:defRPr sz="1800" kern="1200">
                <a:solidFill>
                  <a:schemeClr val="lt1"/>
                </a:solidFill>
                <a:latin typeface="+mn-lt"/>
                <a:ea typeface="+mn-ea"/>
                <a:cs typeface="+mn-cs"/>
              </a:defRPr>
            </a:lvl1pPr>
            <a:lvl2pPr marL="457200" algn="r" defTabSz="914400" rtl="1" eaLnBrk="1" latinLnBrk="0" hangingPunct="1">
              <a:defRPr sz="1800" kern="1200">
                <a:solidFill>
                  <a:schemeClr val="lt1"/>
                </a:solidFill>
                <a:latin typeface="+mn-lt"/>
                <a:ea typeface="+mn-ea"/>
                <a:cs typeface="+mn-cs"/>
              </a:defRPr>
            </a:lvl2pPr>
            <a:lvl3pPr marL="914400" algn="r" defTabSz="914400" rtl="1" eaLnBrk="1" latinLnBrk="0" hangingPunct="1">
              <a:defRPr sz="1800" kern="1200">
                <a:solidFill>
                  <a:schemeClr val="lt1"/>
                </a:solidFill>
                <a:latin typeface="+mn-lt"/>
                <a:ea typeface="+mn-ea"/>
                <a:cs typeface="+mn-cs"/>
              </a:defRPr>
            </a:lvl3pPr>
            <a:lvl4pPr marL="1371600" algn="r" defTabSz="914400" rtl="1" eaLnBrk="1" latinLnBrk="0" hangingPunct="1">
              <a:defRPr sz="1800" kern="1200">
                <a:solidFill>
                  <a:schemeClr val="lt1"/>
                </a:solidFill>
                <a:latin typeface="+mn-lt"/>
                <a:ea typeface="+mn-ea"/>
                <a:cs typeface="+mn-cs"/>
              </a:defRPr>
            </a:lvl4pPr>
            <a:lvl5pPr marL="1828800" algn="r" defTabSz="914400" rtl="1" eaLnBrk="1" latinLnBrk="0" hangingPunct="1">
              <a:defRPr sz="1800" kern="1200">
                <a:solidFill>
                  <a:schemeClr val="lt1"/>
                </a:solidFill>
                <a:latin typeface="+mn-lt"/>
                <a:ea typeface="+mn-ea"/>
                <a:cs typeface="+mn-cs"/>
              </a:defRPr>
            </a:lvl5pPr>
            <a:lvl6pPr marL="2286000" algn="r" defTabSz="914400" rtl="1" eaLnBrk="1" latinLnBrk="0" hangingPunct="1">
              <a:defRPr sz="1800" kern="1200">
                <a:solidFill>
                  <a:schemeClr val="lt1"/>
                </a:solidFill>
                <a:latin typeface="+mn-lt"/>
                <a:ea typeface="+mn-ea"/>
                <a:cs typeface="+mn-cs"/>
              </a:defRPr>
            </a:lvl6pPr>
            <a:lvl7pPr marL="2743200" algn="r" defTabSz="914400" rtl="1" eaLnBrk="1" latinLnBrk="0" hangingPunct="1">
              <a:defRPr sz="1800" kern="1200">
                <a:solidFill>
                  <a:schemeClr val="lt1"/>
                </a:solidFill>
                <a:latin typeface="+mn-lt"/>
                <a:ea typeface="+mn-ea"/>
                <a:cs typeface="+mn-cs"/>
              </a:defRPr>
            </a:lvl7pPr>
            <a:lvl8pPr marL="3200400" algn="r" defTabSz="914400" rtl="1" eaLnBrk="1" latinLnBrk="0" hangingPunct="1">
              <a:defRPr sz="1800" kern="1200">
                <a:solidFill>
                  <a:schemeClr val="lt1"/>
                </a:solidFill>
                <a:latin typeface="+mn-lt"/>
                <a:ea typeface="+mn-ea"/>
                <a:cs typeface="+mn-cs"/>
              </a:defRPr>
            </a:lvl8pPr>
            <a:lvl9pPr marL="3657600" algn="r" defTabSz="914400" rtl="1" eaLnBrk="1" latinLnBrk="0" hangingPunct="1">
              <a:defRPr sz="1800" kern="1200">
                <a:solidFill>
                  <a:schemeClr val="lt1"/>
                </a:solidFill>
                <a:latin typeface="+mn-lt"/>
                <a:ea typeface="+mn-ea"/>
                <a:cs typeface="+mn-cs"/>
              </a:defRPr>
            </a:lvl9pPr>
          </a:lstStyle>
          <a:p>
            <a:pPr marL="0" marR="0" lvl="0" indent="0" algn="ctr" defTabSz="914400" rtl="1" eaLnBrk="1" fontAlgn="base" latinLnBrk="0" hangingPunct="1">
              <a:lnSpc>
                <a:spcPct val="100000"/>
              </a:lnSpc>
              <a:spcBef>
                <a:spcPct val="0"/>
              </a:spcBef>
              <a:spcAft>
                <a:spcPct val="0"/>
              </a:spcAft>
              <a:buClrTx/>
              <a:buSzTx/>
              <a:buFontTx/>
              <a:buNone/>
              <a:tabLst/>
              <a:defRPr/>
            </a:pPr>
            <a:r>
              <a:rPr kumimoji="0" lang="he-IL" sz="1100" b="0" i="0" u="none" strike="noStrike" kern="1200" cap="none" spc="0" normalizeH="0" baseline="0" noProof="0" dirty="0">
                <a:ln>
                  <a:noFill/>
                </a:ln>
                <a:solidFill>
                  <a:schemeClr val="bg1">
                    <a:lumMod val="65000"/>
                  </a:schemeClr>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מועד קבלה</a:t>
            </a:r>
            <a:endParaRPr kumimoji="0" lang="en-IL" sz="1100" b="0" i="0" u="none" strike="noStrike" kern="1200" cap="none" spc="0" normalizeH="0" baseline="0" noProof="0" dirty="0">
              <a:ln>
                <a:noFill/>
              </a:ln>
              <a:solidFill>
                <a:schemeClr val="bg1">
                  <a:lumMod val="65000"/>
                </a:schemeClr>
              </a:solidFill>
              <a:effectLst/>
              <a:uLnTx/>
              <a:uFillTx/>
              <a:latin typeface="Segoe UI" panose="020B0502040204020203" pitchFamily="34" charset="0"/>
              <a:ea typeface="+mn-ea"/>
              <a:cs typeface="Segoe UI" panose="020B0502040204020203" pitchFamily="34" charset="0"/>
            </a:endParaRPr>
          </a:p>
        </p:txBody>
      </p:sp>
      <p:sp>
        <p:nvSpPr>
          <p:cNvPr id="29" name="Rectangle: Rounded Corners 54">
            <a:hlinkClick r:id="" action="ppaction://noaction"/>
            <a:extLst>
              <a:ext uri="{FF2B5EF4-FFF2-40B4-BE49-F238E27FC236}">
                <a16:creationId xmlns:a16="http://schemas.microsoft.com/office/drawing/2014/main" id="{B072E047-2C17-677A-A7A5-83E7BAE0047E}"/>
              </a:ext>
            </a:extLst>
          </p:cNvPr>
          <p:cNvSpPr/>
          <p:nvPr/>
        </p:nvSpPr>
        <p:spPr>
          <a:xfrm>
            <a:off x="4923787" y="6649674"/>
            <a:ext cx="900000" cy="144000"/>
          </a:xfrm>
          <a:prstGeom prst="roundRect">
            <a:avLst>
              <a:gd name="adj" fmla="val 50000"/>
            </a:avLst>
          </a:prstGeom>
          <a:solidFill>
            <a:schemeClr val="bg1"/>
          </a:solidFill>
          <a:ln w="12700">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r" defTabSz="914400" rtl="1" eaLnBrk="1" latinLnBrk="0" hangingPunct="1">
              <a:defRPr sz="1800" kern="1200">
                <a:solidFill>
                  <a:schemeClr val="lt1"/>
                </a:solidFill>
                <a:latin typeface="+mn-lt"/>
                <a:ea typeface="+mn-ea"/>
                <a:cs typeface="+mn-cs"/>
              </a:defRPr>
            </a:lvl1pPr>
            <a:lvl2pPr marL="457200" algn="r" defTabSz="914400" rtl="1" eaLnBrk="1" latinLnBrk="0" hangingPunct="1">
              <a:defRPr sz="1800" kern="1200">
                <a:solidFill>
                  <a:schemeClr val="lt1"/>
                </a:solidFill>
                <a:latin typeface="+mn-lt"/>
                <a:ea typeface="+mn-ea"/>
                <a:cs typeface="+mn-cs"/>
              </a:defRPr>
            </a:lvl2pPr>
            <a:lvl3pPr marL="914400" algn="r" defTabSz="914400" rtl="1" eaLnBrk="1" latinLnBrk="0" hangingPunct="1">
              <a:defRPr sz="1800" kern="1200">
                <a:solidFill>
                  <a:schemeClr val="lt1"/>
                </a:solidFill>
                <a:latin typeface="+mn-lt"/>
                <a:ea typeface="+mn-ea"/>
                <a:cs typeface="+mn-cs"/>
              </a:defRPr>
            </a:lvl3pPr>
            <a:lvl4pPr marL="1371600" algn="r" defTabSz="914400" rtl="1" eaLnBrk="1" latinLnBrk="0" hangingPunct="1">
              <a:defRPr sz="1800" kern="1200">
                <a:solidFill>
                  <a:schemeClr val="lt1"/>
                </a:solidFill>
                <a:latin typeface="+mn-lt"/>
                <a:ea typeface="+mn-ea"/>
                <a:cs typeface="+mn-cs"/>
              </a:defRPr>
            </a:lvl4pPr>
            <a:lvl5pPr marL="1828800" algn="r" defTabSz="914400" rtl="1" eaLnBrk="1" latinLnBrk="0" hangingPunct="1">
              <a:defRPr sz="1800" kern="1200">
                <a:solidFill>
                  <a:schemeClr val="lt1"/>
                </a:solidFill>
                <a:latin typeface="+mn-lt"/>
                <a:ea typeface="+mn-ea"/>
                <a:cs typeface="+mn-cs"/>
              </a:defRPr>
            </a:lvl5pPr>
            <a:lvl6pPr marL="2286000" algn="r" defTabSz="914400" rtl="1" eaLnBrk="1" latinLnBrk="0" hangingPunct="1">
              <a:defRPr sz="1800" kern="1200">
                <a:solidFill>
                  <a:schemeClr val="lt1"/>
                </a:solidFill>
                <a:latin typeface="+mn-lt"/>
                <a:ea typeface="+mn-ea"/>
                <a:cs typeface="+mn-cs"/>
              </a:defRPr>
            </a:lvl6pPr>
            <a:lvl7pPr marL="2743200" algn="r" defTabSz="914400" rtl="1" eaLnBrk="1" latinLnBrk="0" hangingPunct="1">
              <a:defRPr sz="1800" kern="1200">
                <a:solidFill>
                  <a:schemeClr val="lt1"/>
                </a:solidFill>
                <a:latin typeface="+mn-lt"/>
                <a:ea typeface="+mn-ea"/>
                <a:cs typeface="+mn-cs"/>
              </a:defRPr>
            </a:lvl7pPr>
            <a:lvl8pPr marL="3200400" algn="r" defTabSz="914400" rtl="1" eaLnBrk="1" latinLnBrk="0" hangingPunct="1">
              <a:defRPr sz="1800" kern="1200">
                <a:solidFill>
                  <a:schemeClr val="lt1"/>
                </a:solidFill>
                <a:latin typeface="+mn-lt"/>
                <a:ea typeface="+mn-ea"/>
                <a:cs typeface="+mn-cs"/>
              </a:defRPr>
            </a:lvl8pPr>
            <a:lvl9pPr marL="3657600" algn="r" defTabSz="914400" rtl="1" eaLnBrk="1" latinLnBrk="0" hangingPunct="1">
              <a:defRPr sz="1800" kern="1200">
                <a:solidFill>
                  <a:schemeClr val="lt1"/>
                </a:solidFill>
                <a:latin typeface="+mn-lt"/>
                <a:ea typeface="+mn-ea"/>
                <a:cs typeface="+mn-cs"/>
              </a:defRPr>
            </a:lvl9pPr>
          </a:lstStyle>
          <a:p>
            <a:pPr marL="0" marR="0" lvl="0" indent="0" algn="ctr" defTabSz="914400" rtl="1" eaLnBrk="1" fontAlgn="base" latinLnBrk="0" hangingPunct="1">
              <a:lnSpc>
                <a:spcPct val="100000"/>
              </a:lnSpc>
              <a:spcBef>
                <a:spcPct val="0"/>
              </a:spcBef>
              <a:spcAft>
                <a:spcPct val="0"/>
              </a:spcAft>
              <a:buClrTx/>
              <a:buSzTx/>
              <a:buFontTx/>
              <a:buNone/>
              <a:tabLst/>
              <a:defRPr/>
            </a:pPr>
            <a:r>
              <a:rPr kumimoji="0" lang="he-IL" sz="1100" b="0" i="0" u="none" strike="noStrike" kern="1200" cap="none" spc="0" normalizeH="0" baseline="0" noProof="0" dirty="0">
                <a:ln>
                  <a:noFill/>
                </a:ln>
                <a:solidFill>
                  <a:schemeClr val="bg1">
                    <a:lumMod val="65000"/>
                  </a:schemeClr>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אופן קבלה</a:t>
            </a:r>
            <a:endParaRPr kumimoji="0" lang="en-IL" sz="1100" b="0" i="0" u="none" strike="noStrike" kern="1200" cap="none" spc="0" normalizeH="0" baseline="0" noProof="0" dirty="0">
              <a:ln>
                <a:noFill/>
              </a:ln>
              <a:solidFill>
                <a:schemeClr val="bg1">
                  <a:lumMod val="65000"/>
                </a:schemeClr>
              </a:solidFill>
              <a:effectLst/>
              <a:uLnTx/>
              <a:uFillTx/>
              <a:latin typeface="Segoe UI" panose="020B0502040204020203" pitchFamily="34" charset="0"/>
              <a:ea typeface="+mn-ea"/>
              <a:cs typeface="Segoe UI" panose="020B0502040204020203" pitchFamily="34" charset="0"/>
            </a:endParaRPr>
          </a:p>
        </p:txBody>
      </p:sp>
      <p:sp>
        <p:nvSpPr>
          <p:cNvPr id="30" name="Rectangle: Rounded Corners 54">
            <a:hlinkClick r:id="" action="ppaction://noaction"/>
            <a:extLst>
              <a:ext uri="{FF2B5EF4-FFF2-40B4-BE49-F238E27FC236}">
                <a16:creationId xmlns:a16="http://schemas.microsoft.com/office/drawing/2014/main" id="{A818D739-EAEA-671B-C135-1C0F3E69F819}"/>
              </a:ext>
            </a:extLst>
          </p:cNvPr>
          <p:cNvSpPr/>
          <p:nvPr/>
        </p:nvSpPr>
        <p:spPr>
          <a:xfrm>
            <a:off x="5891980" y="6649674"/>
            <a:ext cx="1080000" cy="144000"/>
          </a:xfrm>
          <a:prstGeom prst="roundRect">
            <a:avLst>
              <a:gd name="adj" fmla="val 50000"/>
            </a:avLst>
          </a:prstGeom>
          <a:solidFill>
            <a:schemeClr val="bg1">
              <a:lumMod val="95000"/>
            </a:schemeClr>
          </a:solidFill>
          <a:ln w="12700">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r" defTabSz="914400" rtl="1" eaLnBrk="1" latinLnBrk="0" hangingPunct="1">
              <a:defRPr sz="1800" kern="1200">
                <a:solidFill>
                  <a:schemeClr val="lt1"/>
                </a:solidFill>
                <a:latin typeface="+mn-lt"/>
                <a:ea typeface="+mn-ea"/>
                <a:cs typeface="+mn-cs"/>
              </a:defRPr>
            </a:lvl1pPr>
            <a:lvl2pPr marL="457200" algn="r" defTabSz="914400" rtl="1" eaLnBrk="1" latinLnBrk="0" hangingPunct="1">
              <a:defRPr sz="1800" kern="1200">
                <a:solidFill>
                  <a:schemeClr val="lt1"/>
                </a:solidFill>
                <a:latin typeface="+mn-lt"/>
                <a:ea typeface="+mn-ea"/>
                <a:cs typeface="+mn-cs"/>
              </a:defRPr>
            </a:lvl2pPr>
            <a:lvl3pPr marL="914400" algn="r" defTabSz="914400" rtl="1" eaLnBrk="1" latinLnBrk="0" hangingPunct="1">
              <a:defRPr sz="1800" kern="1200">
                <a:solidFill>
                  <a:schemeClr val="lt1"/>
                </a:solidFill>
                <a:latin typeface="+mn-lt"/>
                <a:ea typeface="+mn-ea"/>
                <a:cs typeface="+mn-cs"/>
              </a:defRPr>
            </a:lvl3pPr>
            <a:lvl4pPr marL="1371600" algn="r" defTabSz="914400" rtl="1" eaLnBrk="1" latinLnBrk="0" hangingPunct="1">
              <a:defRPr sz="1800" kern="1200">
                <a:solidFill>
                  <a:schemeClr val="lt1"/>
                </a:solidFill>
                <a:latin typeface="+mn-lt"/>
                <a:ea typeface="+mn-ea"/>
                <a:cs typeface="+mn-cs"/>
              </a:defRPr>
            </a:lvl4pPr>
            <a:lvl5pPr marL="1828800" algn="r" defTabSz="914400" rtl="1" eaLnBrk="1" latinLnBrk="0" hangingPunct="1">
              <a:defRPr sz="1800" kern="1200">
                <a:solidFill>
                  <a:schemeClr val="lt1"/>
                </a:solidFill>
                <a:latin typeface="+mn-lt"/>
                <a:ea typeface="+mn-ea"/>
                <a:cs typeface="+mn-cs"/>
              </a:defRPr>
            </a:lvl5pPr>
            <a:lvl6pPr marL="2286000" algn="r" defTabSz="914400" rtl="1" eaLnBrk="1" latinLnBrk="0" hangingPunct="1">
              <a:defRPr sz="1800" kern="1200">
                <a:solidFill>
                  <a:schemeClr val="lt1"/>
                </a:solidFill>
                <a:latin typeface="+mn-lt"/>
                <a:ea typeface="+mn-ea"/>
                <a:cs typeface="+mn-cs"/>
              </a:defRPr>
            </a:lvl6pPr>
            <a:lvl7pPr marL="2743200" algn="r" defTabSz="914400" rtl="1" eaLnBrk="1" latinLnBrk="0" hangingPunct="1">
              <a:defRPr sz="1800" kern="1200">
                <a:solidFill>
                  <a:schemeClr val="lt1"/>
                </a:solidFill>
                <a:latin typeface="+mn-lt"/>
                <a:ea typeface="+mn-ea"/>
                <a:cs typeface="+mn-cs"/>
              </a:defRPr>
            </a:lvl7pPr>
            <a:lvl8pPr marL="3200400" algn="r" defTabSz="914400" rtl="1" eaLnBrk="1" latinLnBrk="0" hangingPunct="1">
              <a:defRPr sz="1800" kern="1200">
                <a:solidFill>
                  <a:schemeClr val="lt1"/>
                </a:solidFill>
                <a:latin typeface="+mn-lt"/>
                <a:ea typeface="+mn-ea"/>
                <a:cs typeface="+mn-cs"/>
              </a:defRPr>
            </a:lvl8pPr>
            <a:lvl9pPr marL="3657600" algn="r" defTabSz="914400" rtl="1" eaLnBrk="1" latinLnBrk="0" hangingPunct="1">
              <a:defRPr sz="1800" kern="1200">
                <a:solidFill>
                  <a:schemeClr val="lt1"/>
                </a:solidFill>
                <a:latin typeface="+mn-lt"/>
                <a:ea typeface="+mn-ea"/>
                <a:cs typeface="+mn-cs"/>
              </a:defRPr>
            </a:lvl9pPr>
          </a:lstStyle>
          <a:p>
            <a:pPr marL="0" marR="0" lvl="0" indent="0" algn="ctr" defTabSz="914400" rtl="1" eaLnBrk="1" fontAlgn="base" latinLnBrk="0" hangingPunct="1">
              <a:lnSpc>
                <a:spcPct val="100000"/>
              </a:lnSpc>
              <a:spcBef>
                <a:spcPct val="0"/>
              </a:spcBef>
              <a:spcAft>
                <a:spcPct val="0"/>
              </a:spcAft>
              <a:buClrTx/>
              <a:buSzTx/>
              <a:buFontTx/>
              <a:buNone/>
              <a:tabLst/>
              <a:defRPr/>
            </a:pPr>
            <a:r>
              <a:rPr kumimoji="0" lang="he-IL" sz="1100" b="1" i="0" u="none" strike="noStrike" kern="1200" cap="none" spc="0" normalizeH="0" baseline="0" noProof="0" dirty="0">
                <a:ln>
                  <a:noFill/>
                </a:ln>
                <a:solidFill>
                  <a:srgbClr val="002060"/>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&lt;-- סוג הדוח</a:t>
            </a:r>
            <a:endParaRPr kumimoji="0" lang="en-IL" sz="1100" b="1" i="0" u="none" strike="noStrike" kern="1200" cap="none" spc="0" normalizeH="0" baseline="0" noProof="0" dirty="0">
              <a:ln>
                <a:noFill/>
              </a:ln>
              <a:solidFill>
                <a:srgbClr val="002060"/>
              </a:solidFill>
              <a:effectLst/>
              <a:uLnTx/>
              <a:uFillTx/>
              <a:latin typeface="Segoe UI" panose="020B0502040204020203" pitchFamily="34" charset="0"/>
              <a:ea typeface="+mn-ea"/>
              <a:cs typeface="Segoe UI" panose="020B0502040204020203" pitchFamily="34" charset="0"/>
            </a:endParaRPr>
          </a:p>
        </p:txBody>
      </p:sp>
      <p:cxnSp>
        <p:nvCxnSpPr>
          <p:cNvPr id="31" name="Straight Connector 6">
            <a:extLst>
              <a:ext uri="{FF2B5EF4-FFF2-40B4-BE49-F238E27FC236}">
                <a16:creationId xmlns:a16="http://schemas.microsoft.com/office/drawing/2014/main" id="{C902F179-48C2-7017-A865-C2026E16BA59}"/>
              </a:ext>
            </a:extLst>
          </p:cNvPr>
          <p:cNvCxnSpPr>
            <a:cxnSpLocks/>
          </p:cNvCxnSpPr>
          <p:nvPr/>
        </p:nvCxnSpPr>
        <p:spPr>
          <a:xfrm rot="16200000" flipV="1">
            <a:off x="6096000" y="-367079"/>
            <a:ext cx="0" cy="10800000"/>
          </a:xfrm>
          <a:prstGeom prst="line">
            <a:avLst/>
          </a:prstGeom>
          <a:ln w="25400" cap="rnd">
            <a:solidFill>
              <a:schemeClr val="bg1">
                <a:lumMod val="85000"/>
              </a:schemeClr>
            </a:solidFill>
            <a:round/>
          </a:ln>
        </p:spPr>
        <p:style>
          <a:lnRef idx="1">
            <a:schemeClr val="accent1"/>
          </a:lnRef>
          <a:fillRef idx="0">
            <a:schemeClr val="accent1"/>
          </a:fillRef>
          <a:effectRef idx="0">
            <a:schemeClr val="accent1"/>
          </a:effectRef>
          <a:fontRef idx="minor">
            <a:schemeClr val="tx1"/>
          </a:fontRef>
        </p:style>
      </p:cxnSp>
      <p:sp>
        <p:nvSpPr>
          <p:cNvPr id="32" name="Rectangle 6">
            <a:extLst>
              <a:ext uri="{FF2B5EF4-FFF2-40B4-BE49-F238E27FC236}">
                <a16:creationId xmlns:a16="http://schemas.microsoft.com/office/drawing/2014/main" id="{EAA93CC6-840C-3F5F-EB31-03E3C2B00114}"/>
              </a:ext>
            </a:extLst>
          </p:cNvPr>
          <p:cNvSpPr/>
          <p:nvPr/>
        </p:nvSpPr>
        <p:spPr>
          <a:xfrm>
            <a:off x="457200" y="4995552"/>
            <a:ext cx="11201399" cy="1440000"/>
          </a:xfrm>
          <a:prstGeom prst="rect">
            <a:avLst/>
          </a:prstGeom>
        </p:spPr>
        <p:txBody>
          <a:bodyPr wrap="square" anchor="ctr">
            <a:noAutofit/>
          </a:bodyPr>
          <a:lstStyle/>
          <a:p>
            <a:pPr algn="ctr" rtl="1">
              <a:lnSpc>
                <a:spcPct val="150000"/>
              </a:lnSpc>
            </a:pPr>
            <a:r>
              <a:rPr lang="he-IL" sz="1600" dirty="0">
                <a:latin typeface="Segoe UI" panose="020B0502040204020203" pitchFamily="34" charset="0"/>
                <a:cs typeface="Segoe UI" panose="020B0502040204020203" pitchFamily="34" charset="0"/>
              </a:rPr>
              <a:t>קיימים הבדלי תמהיל דוחות ספציפיים בין הקבוצות – </a:t>
            </a:r>
            <a:r>
              <a:rPr lang="he-IL" sz="1600" b="1" dirty="0">
                <a:latin typeface="Segoe UI" panose="020B0502040204020203" pitchFamily="34" charset="0"/>
                <a:cs typeface="Segoe UI" panose="020B0502040204020203" pitchFamily="34" charset="0"/>
              </a:rPr>
              <a:t>יש להתייחס בזהירות וכאינדיקציה בלבד במגזר הערבי:  </a:t>
            </a:r>
          </a:p>
          <a:p>
            <a:pPr algn="ctr" rtl="1">
              <a:lnSpc>
                <a:spcPct val="150000"/>
              </a:lnSpc>
            </a:pPr>
            <a:r>
              <a:rPr lang="he-IL" sz="1600" b="1" dirty="0">
                <a:latin typeface="Segoe UI" panose="020B0502040204020203" pitchFamily="34" charset="0"/>
                <a:cs typeface="Segoe UI" panose="020B0502040204020203" pitchFamily="34" charset="0"/>
              </a:rPr>
              <a:t>מהירות </a:t>
            </a:r>
            <a:r>
              <a:rPr lang="he-IL" sz="1600" dirty="0">
                <a:latin typeface="Segoe UI" panose="020B0502040204020203" pitchFamily="34" charset="0"/>
                <a:cs typeface="Segoe UI" panose="020B0502040204020203" pitchFamily="34" charset="0"/>
              </a:rPr>
              <a:t>עולה עם הגיל בקרב המבקשים להישפט + יורדת עם הגיל בקרב אלה שלא ביקשו להישפט במגזר הערבי.</a:t>
            </a:r>
            <a:br>
              <a:rPr lang="en-US" sz="1600">
                <a:latin typeface="Segoe UI" panose="020B0502040204020203" pitchFamily="34" charset="0"/>
                <a:cs typeface="Segoe UI" panose="020B0502040204020203" pitchFamily="34" charset="0"/>
              </a:rPr>
            </a:br>
            <a:r>
              <a:rPr lang="he-IL" sz="1600" b="1">
                <a:latin typeface="Segoe UI" panose="020B0502040204020203" pitchFamily="34" charset="0"/>
                <a:cs typeface="Segoe UI" panose="020B0502040204020203" pitchFamily="34" charset="0"/>
              </a:rPr>
              <a:t>חגורת בטיחות </a:t>
            </a:r>
            <a:r>
              <a:rPr lang="he-IL" sz="1600">
                <a:latin typeface="Segoe UI" panose="020B0502040204020203" pitchFamily="34" charset="0"/>
                <a:cs typeface="Segoe UI" panose="020B0502040204020203" pitchFamily="34" charset="0"/>
              </a:rPr>
              <a:t>יורדת עם העליה בגיל בקרב המבקשים להישפט.</a:t>
            </a:r>
            <a:br>
              <a:rPr lang="en-US" sz="1600">
                <a:latin typeface="Segoe UI" panose="020B0502040204020203" pitchFamily="34" charset="0"/>
                <a:cs typeface="Segoe UI" panose="020B0502040204020203" pitchFamily="34" charset="0"/>
              </a:rPr>
            </a:br>
            <a:r>
              <a:rPr lang="he-IL" sz="1600" b="1">
                <a:latin typeface="Segoe UI" panose="020B0502040204020203" pitchFamily="34" charset="0"/>
                <a:cs typeface="Segoe UI" panose="020B0502040204020203" pitchFamily="34" charset="0"/>
              </a:rPr>
              <a:t>שימוש בטלפון </a:t>
            </a:r>
            <a:r>
              <a:rPr lang="he-IL" sz="1600">
                <a:latin typeface="Segoe UI" panose="020B0502040204020203" pitchFamily="34" charset="0"/>
                <a:cs typeface="Segoe UI" panose="020B0502040204020203" pitchFamily="34" charset="0"/>
              </a:rPr>
              <a:t>יורד עם העליה בגיל במגזר הערביף בעיקר הקרב המבקשים להישפט.</a:t>
            </a:r>
            <a:endParaRPr lang="he-IL" sz="16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277539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
                                            <p:txEl>
                                              <p:pRg st="1" end="1"/>
                                            </p:txEl>
                                          </p:spTgt>
                                        </p:tgtEl>
                                        <p:attrNameLst>
                                          <p:attrName>style.visibility</p:attrName>
                                        </p:attrNameLst>
                                      </p:cBhvr>
                                      <p:to>
                                        <p:strVal val="visible"/>
                                      </p:to>
                                    </p:set>
                                    <p:animEffect transition="in" filter="fade">
                                      <p:cBhvr>
                                        <p:cTn id="7" dur="500"/>
                                        <p:tgtEl>
                                          <p:spTgt spid="3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7C98885-FA56-36F7-DE8D-205B18D2E2B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DFA03B4-B735-6908-8C9D-7E6DDB579B4D}"/>
              </a:ext>
            </a:extLst>
          </p:cNvPr>
          <p:cNvSpPr>
            <a:spLocks noGrp="1"/>
          </p:cNvSpPr>
          <p:nvPr>
            <p:ph type="sldNum" sz="quarter" idx="4"/>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7A91BF3F-E284-4570-AC28-CDAE2F1A1EA1}" type="slidenum">
              <a:rPr kumimoji="0" lang="he-IL" sz="1100" b="0" i="0" u="none" strike="noStrike" kern="1200" cap="none" spc="0" normalizeH="0" baseline="0" noProof="0" smtClean="0">
                <a:ln>
                  <a:noFill/>
                </a:ln>
                <a:solidFill>
                  <a:prstClr val="white">
                    <a:lumMod val="75000"/>
                  </a:prstClr>
                </a:solidFill>
                <a:effectLst/>
                <a:uLnTx/>
                <a:uFillTx/>
                <a:latin typeface="Segoe UI" panose="020B0502040204020203" pitchFamily="34" charset="0"/>
                <a:ea typeface="+mn-ea"/>
                <a:cs typeface="Segoe UI" panose="020B0502040204020203"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11</a:t>
            </a:fld>
            <a:endParaRPr kumimoji="0" lang="he-IL" sz="1100" b="0" i="0" u="none" strike="noStrike" kern="1200" cap="none" spc="0" normalizeH="0" baseline="0" noProof="0" dirty="0">
              <a:ln>
                <a:noFill/>
              </a:ln>
              <a:solidFill>
                <a:prstClr val="white">
                  <a:lumMod val="75000"/>
                </a:prstClr>
              </a:solidFill>
              <a:effectLst/>
              <a:uLnTx/>
              <a:uFillTx/>
              <a:latin typeface="Segoe UI" panose="020B0502040204020203" pitchFamily="34" charset="0"/>
              <a:ea typeface="+mn-ea"/>
              <a:cs typeface="Segoe UI" panose="020B0502040204020203" pitchFamily="34" charset="0"/>
            </a:endParaRPr>
          </a:p>
        </p:txBody>
      </p:sp>
      <p:sp>
        <p:nvSpPr>
          <p:cNvPr id="7" name="Rectangle 3">
            <a:extLst>
              <a:ext uri="{FF2B5EF4-FFF2-40B4-BE49-F238E27FC236}">
                <a16:creationId xmlns:a16="http://schemas.microsoft.com/office/drawing/2014/main" id="{B83FEE09-943B-31FD-A9DC-4F3E559B9F1B}"/>
              </a:ext>
            </a:extLst>
          </p:cNvPr>
          <p:cNvSpPr/>
          <p:nvPr/>
        </p:nvSpPr>
        <p:spPr>
          <a:xfrm>
            <a:off x="1320802" y="191076"/>
            <a:ext cx="10614278" cy="5075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t"/>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0" cap="none" spc="0" normalizeH="0" baseline="0" noProof="0" dirty="0">
                <a:ln>
                  <a:noFill/>
                </a:ln>
                <a:solidFill>
                  <a:srgbClr val="104E88"/>
                </a:solidFill>
                <a:effectLst/>
                <a:uLnTx/>
                <a:uFillTx/>
                <a:latin typeface="Segoe UI" panose="020B0502040204020203" pitchFamily="34" charset="0"/>
                <a:cs typeface="Segoe UI" panose="020B0502040204020203" pitchFamily="34" charset="0"/>
                <a:sym typeface="Arial"/>
              </a:rPr>
              <a:t>סוג הדוח </a:t>
            </a:r>
            <a:r>
              <a:rPr kumimoji="0" lang="he-IL" b="0" i="0" u="none" strike="noStrike" kern="0" cap="none" spc="0" normalizeH="0" baseline="0" noProof="0" dirty="0">
                <a:ln>
                  <a:noFill/>
                </a:ln>
                <a:solidFill>
                  <a:srgbClr val="104E88"/>
                </a:solidFill>
                <a:effectLst/>
                <a:uLnTx/>
                <a:uFillTx/>
                <a:latin typeface="Segoe UI" panose="020B0502040204020203" pitchFamily="34" charset="0"/>
                <a:cs typeface="Segoe UI" panose="020B0502040204020203" pitchFamily="34" charset="0"/>
                <a:sym typeface="Arial"/>
              </a:rPr>
              <a:t>| לפי כמות דוחות שקיבלו</a:t>
            </a:r>
            <a:endParaRPr kumimoji="0" lang="he-IL" sz="2800" b="0" i="0" u="none" strike="noStrike" kern="0" cap="none" spc="0" normalizeH="0" baseline="0" noProof="0" dirty="0">
              <a:ln>
                <a:noFill/>
              </a:ln>
              <a:solidFill>
                <a:srgbClr val="104E88"/>
              </a:solidFill>
              <a:effectLst/>
              <a:uLnTx/>
              <a:uFillTx/>
              <a:latin typeface="Segoe UI" panose="020B0502040204020203" pitchFamily="34" charset="0"/>
              <a:cs typeface="Segoe UI" panose="020B0502040204020203" pitchFamily="34" charset="0"/>
              <a:sym typeface="Arial"/>
            </a:endParaRPr>
          </a:p>
        </p:txBody>
      </p:sp>
      <p:sp>
        <p:nvSpPr>
          <p:cNvPr id="3" name="Rectangle 6">
            <a:extLst>
              <a:ext uri="{FF2B5EF4-FFF2-40B4-BE49-F238E27FC236}">
                <a16:creationId xmlns:a16="http://schemas.microsoft.com/office/drawing/2014/main" id="{86477463-7FF9-936A-1796-EC95C805AEE1}"/>
              </a:ext>
            </a:extLst>
          </p:cNvPr>
          <p:cNvSpPr/>
          <p:nvPr/>
        </p:nvSpPr>
        <p:spPr>
          <a:xfrm>
            <a:off x="466123" y="6721674"/>
            <a:ext cx="10800000" cy="1440000"/>
          </a:xfrm>
          <a:prstGeom prst="rect">
            <a:avLst/>
          </a:prstGeom>
        </p:spPr>
        <p:txBody>
          <a:bodyPr wrap="square" anchor="ctr">
            <a:noAutofit/>
          </a:bodyPr>
          <a:lstStyle/>
          <a:p>
            <a:pPr algn="ctr" rtl="1"/>
            <a:endParaRPr lang="en-US" sz="1400" dirty="0">
              <a:latin typeface="Segoe UI" panose="020B0502040204020203" pitchFamily="34" charset="0"/>
              <a:cs typeface="Segoe UI" panose="020B0502040204020203" pitchFamily="34" charset="0"/>
            </a:endParaRPr>
          </a:p>
        </p:txBody>
      </p:sp>
      <p:cxnSp>
        <p:nvCxnSpPr>
          <p:cNvPr id="5" name="מחבר ישר 4">
            <a:extLst>
              <a:ext uri="{FF2B5EF4-FFF2-40B4-BE49-F238E27FC236}">
                <a16:creationId xmlns:a16="http://schemas.microsoft.com/office/drawing/2014/main" id="{745C3F32-E533-5E00-4D27-0DEDA93B9685}"/>
              </a:ext>
            </a:extLst>
          </p:cNvPr>
          <p:cNvCxnSpPr>
            <a:cxnSpLocks/>
          </p:cNvCxnSpPr>
          <p:nvPr/>
        </p:nvCxnSpPr>
        <p:spPr>
          <a:xfrm>
            <a:off x="6252733" y="994599"/>
            <a:ext cx="0" cy="3960000"/>
          </a:xfrm>
          <a:prstGeom prst="line">
            <a:avLst/>
          </a:prstGeom>
          <a:ln>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8" name="תיבת טקסט 7">
            <a:extLst>
              <a:ext uri="{FF2B5EF4-FFF2-40B4-BE49-F238E27FC236}">
                <a16:creationId xmlns:a16="http://schemas.microsoft.com/office/drawing/2014/main" id="{8EC1C50E-A9CB-2559-6596-A48F36DCBCD5}"/>
              </a:ext>
            </a:extLst>
          </p:cNvPr>
          <p:cNvSpPr txBox="1"/>
          <p:nvPr/>
        </p:nvSpPr>
        <p:spPr>
          <a:xfrm>
            <a:off x="2344998" y="922909"/>
            <a:ext cx="2520000" cy="307777"/>
          </a:xfrm>
          <a:prstGeom prst="rect">
            <a:avLst/>
          </a:prstGeom>
          <a:noFill/>
        </p:spPr>
        <p:txBody>
          <a:bodyPr wrap="square">
            <a:spAutoFit/>
          </a:bodyPr>
          <a:lstStyle/>
          <a:p>
            <a:pPr algn="ctr" rtl="1" fontAlgn="ctr"/>
            <a:r>
              <a:rPr lang="he-IL" sz="1400" b="1" u="none" strike="noStrike" dirty="0">
                <a:effectLst/>
                <a:latin typeface="Segoe UI" panose="020B0502040204020203" pitchFamily="34" charset="0"/>
                <a:cs typeface="Segoe UI" panose="020B0502040204020203" pitchFamily="34" charset="0"/>
              </a:rPr>
              <a:t>לא ביקשו להישפט</a:t>
            </a:r>
          </a:p>
        </p:txBody>
      </p:sp>
      <p:sp>
        <p:nvSpPr>
          <p:cNvPr id="9" name="תיבת טקסט 8">
            <a:extLst>
              <a:ext uri="{FF2B5EF4-FFF2-40B4-BE49-F238E27FC236}">
                <a16:creationId xmlns:a16="http://schemas.microsoft.com/office/drawing/2014/main" id="{1FA32BA7-0252-9365-66E4-D48D7799DEEE}"/>
              </a:ext>
            </a:extLst>
          </p:cNvPr>
          <p:cNvSpPr txBox="1"/>
          <p:nvPr/>
        </p:nvSpPr>
        <p:spPr>
          <a:xfrm>
            <a:off x="7872788" y="881749"/>
            <a:ext cx="2520000" cy="307777"/>
          </a:xfrm>
          <a:prstGeom prst="rect">
            <a:avLst/>
          </a:prstGeom>
          <a:noFill/>
        </p:spPr>
        <p:txBody>
          <a:bodyPr wrap="square">
            <a:spAutoFit/>
          </a:bodyPr>
          <a:lstStyle/>
          <a:p>
            <a:pPr algn="ctr" rtl="1" fontAlgn="b"/>
            <a:r>
              <a:rPr lang="he-IL" sz="1400" b="1" u="none" strike="noStrike" dirty="0">
                <a:effectLst/>
                <a:latin typeface="Segoe UI" panose="020B0502040204020203" pitchFamily="34" charset="0"/>
                <a:cs typeface="Segoe UI" panose="020B0502040204020203" pitchFamily="34" charset="0"/>
              </a:rPr>
              <a:t>ביקשו להישפט</a:t>
            </a:r>
            <a:endParaRPr lang="he-IL" sz="1400" b="1" i="0" u="none" strike="noStrike" dirty="0">
              <a:solidFill>
                <a:srgbClr val="000000"/>
              </a:solidFill>
              <a:effectLst/>
              <a:latin typeface="Segoe UI" panose="020B0502040204020203" pitchFamily="34" charset="0"/>
              <a:cs typeface="Segoe UI" panose="020B0502040204020203" pitchFamily="34" charset="0"/>
            </a:endParaRPr>
          </a:p>
        </p:txBody>
      </p:sp>
      <p:sp>
        <p:nvSpPr>
          <p:cNvPr id="19" name="תיבת טקסט 18">
            <a:extLst>
              <a:ext uri="{FF2B5EF4-FFF2-40B4-BE49-F238E27FC236}">
                <a16:creationId xmlns:a16="http://schemas.microsoft.com/office/drawing/2014/main" id="{B924F0E8-E42F-48F5-EA35-359A974E7B20}"/>
              </a:ext>
            </a:extLst>
          </p:cNvPr>
          <p:cNvSpPr txBox="1"/>
          <p:nvPr/>
        </p:nvSpPr>
        <p:spPr>
          <a:xfrm>
            <a:off x="1412484" y="1456962"/>
            <a:ext cx="1440000" cy="288000"/>
          </a:xfrm>
          <a:prstGeom prst="rect">
            <a:avLst/>
          </a:prstGeom>
          <a:noFill/>
        </p:spPr>
        <p:txBody>
          <a:bodyPr wrap="square">
            <a:spAutoFit/>
          </a:bodyPr>
          <a:lstStyle/>
          <a:p>
            <a:pPr rtl="1" fontAlgn="ctr"/>
            <a:r>
              <a:rPr lang="he-IL" sz="1200" b="1" u="none" strike="noStrike" dirty="0">
                <a:effectLst/>
                <a:latin typeface="Segoe UI" panose="020B0502040204020203" pitchFamily="34" charset="0"/>
                <a:cs typeface="Segoe UI" panose="020B0502040204020203" pitchFamily="34" charset="0"/>
              </a:rPr>
              <a:t>מגזר יהודי</a:t>
            </a:r>
          </a:p>
        </p:txBody>
      </p:sp>
      <p:sp>
        <p:nvSpPr>
          <p:cNvPr id="20" name="תיבת טקסט 19">
            <a:extLst>
              <a:ext uri="{FF2B5EF4-FFF2-40B4-BE49-F238E27FC236}">
                <a16:creationId xmlns:a16="http://schemas.microsoft.com/office/drawing/2014/main" id="{B63A98E0-D648-7306-477D-5990997095BD}"/>
              </a:ext>
            </a:extLst>
          </p:cNvPr>
          <p:cNvSpPr txBox="1"/>
          <p:nvPr/>
        </p:nvSpPr>
        <p:spPr>
          <a:xfrm>
            <a:off x="4208946" y="1456962"/>
            <a:ext cx="1440000" cy="288000"/>
          </a:xfrm>
          <a:prstGeom prst="rect">
            <a:avLst/>
          </a:prstGeom>
          <a:noFill/>
        </p:spPr>
        <p:txBody>
          <a:bodyPr wrap="square">
            <a:spAutoFit/>
          </a:bodyPr>
          <a:lstStyle/>
          <a:p>
            <a:pPr rtl="1" fontAlgn="ctr"/>
            <a:r>
              <a:rPr lang="he-IL" sz="1200" b="1" u="none" strike="noStrike" dirty="0">
                <a:effectLst/>
                <a:latin typeface="Segoe UI" panose="020B0502040204020203" pitchFamily="34" charset="0"/>
                <a:cs typeface="Segoe UI" panose="020B0502040204020203" pitchFamily="34" charset="0"/>
              </a:rPr>
              <a:t>מגזר ערבי</a:t>
            </a:r>
          </a:p>
        </p:txBody>
      </p:sp>
      <p:sp>
        <p:nvSpPr>
          <p:cNvPr id="21" name="תיבת טקסט 20">
            <a:extLst>
              <a:ext uri="{FF2B5EF4-FFF2-40B4-BE49-F238E27FC236}">
                <a16:creationId xmlns:a16="http://schemas.microsoft.com/office/drawing/2014/main" id="{FBE346B6-65F2-7F6C-6E63-83FC5AA68D31}"/>
              </a:ext>
            </a:extLst>
          </p:cNvPr>
          <p:cNvSpPr txBox="1"/>
          <p:nvPr/>
        </p:nvSpPr>
        <p:spPr>
          <a:xfrm>
            <a:off x="7049184" y="1456962"/>
            <a:ext cx="1440000" cy="288000"/>
          </a:xfrm>
          <a:prstGeom prst="rect">
            <a:avLst/>
          </a:prstGeom>
          <a:noFill/>
        </p:spPr>
        <p:txBody>
          <a:bodyPr wrap="square">
            <a:spAutoFit/>
          </a:bodyPr>
          <a:lstStyle/>
          <a:p>
            <a:pPr rtl="1" fontAlgn="ctr"/>
            <a:r>
              <a:rPr lang="he-IL" sz="1200" b="1" u="none" strike="noStrike" dirty="0">
                <a:effectLst/>
                <a:latin typeface="Segoe UI" panose="020B0502040204020203" pitchFamily="34" charset="0"/>
                <a:cs typeface="Segoe UI" panose="020B0502040204020203" pitchFamily="34" charset="0"/>
              </a:rPr>
              <a:t>מגזר יהודי</a:t>
            </a:r>
          </a:p>
        </p:txBody>
      </p:sp>
      <p:sp>
        <p:nvSpPr>
          <p:cNvPr id="22" name="תיבת טקסט 21">
            <a:extLst>
              <a:ext uri="{FF2B5EF4-FFF2-40B4-BE49-F238E27FC236}">
                <a16:creationId xmlns:a16="http://schemas.microsoft.com/office/drawing/2014/main" id="{106AAF5F-0CD5-FF22-D4CB-4E9FE71CAB61}"/>
              </a:ext>
            </a:extLst>
          </p:cNvPr>
          <p:cNvSpPr txBox="1"/>
          <p:nvPr/>
        </p:nvSpPr>
        <p:spPr>
          <a:xfrm>
            <a:off x="9774566" y="1456962"/>
            <a:ext cx="1440000" cy="288000"/>
          </a:xfrm>
          <a:prstGeom prst="rect">
            <a:avLst/>
          </a:prstGeom>
          <a:noFill/>
        </p:spPr>
        <p:txBody>
          <a:bodyPr wrap="square">
            <a:spAutoFit/>
          </a:bodyPr>
          <a:lstStyle/>
          <a:p>
            <a:pPr rtl="1" fontAlgn="ctr"/>
            <a:r>
              <a:rPr lang="he-IL" sz="1200" b="1" u="none" strike="noStrike" dirty="0">
                <a:effectLst/>
                <a:latin typeface="Segoe UI" panose="020B0502040204020203" pitchFamily="34" charset="0"/>
                <a:cs typeface="Segoe UI" panose="020B0502040204020203" pitchFamily="34" charset="0"/>
              </a:rPr>
              <a:t>מגזר ערבי</a:t>
            </a:r>
          </a:p>
        </p:txBody>
      </p:sp>
      <p:graphicFrame>
        <p:nvGraphicFramePr>
          <p:cNvPr id="6" name="Chart 3">
            <a:extLst>
              <a:ext uri="{FF2B5EF4-FFF2-40B4-BE49-F238E27FC236}">
                <a16:creationId xmlns:a16="http://schemas.microsoft.com/office/drawing/2014/main" id="{5D2EC749-029F-64D8-5738-662E01E3BC09}"/>
              </a:ext>
            </a:extLst>
          </p:cNvPr>
          <p:cNvGraphicFramePr/>
          <p:nvPr>
            <p:extLst>
              <p:ext uri="{D42A27DB-BD31-4B8C-83A1-F6EECF244321}">
                <p14:modId xmlns:p14="http://schemas.microsoft.com/office/powerpoint/2010/main" val="3367387382"/>
              </p:ext>
            </p:extLst>
          </p:nvPr>
        </p:nvGraphicFramePr>
        <p:xfrm>
          <a:off x="699158" y="1569259"/>
          <a:ext cx="3058122" cy="3420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טבלה 9">
            <a:extLst>
              <a:ext uri="{FF2B5EF4-FFF2-40B4-BE49-F238E27FC236}">
                <a16:creationId xmlns:a16="http://schemas.microsoft.com/office/drawing/2014/main" id="{F4915E5E-4A98-DACD-59AA-36E0864B7C00}"/>
              </a:ext>
            </a:extLst>
          </p:cNvPr>
          <p:cNvGraphicFramePr>
            <a:graphicFrameLocks noGrp="1"/>
          </p:cNvGraphicFramePr>
          <p:nvPr/>
        </p:nvGraphicFramePr>
        <p:xfrm>
          <a:off x="86335" y="1698177"/>
          <a:ext cx="1296000" cy="3240000"/>
        </p:xfrm>
        <a:graphic>
          <a:graphicData uri="http://schemas.openxmlformats.org/drawingml/2006/table">
            <a:tbl>
              <a:tblPr rtl="1" firstRow="1" bandRow="1">
                <a:tableStyleId>{2D5ABB26-0587-4C30-8999-92F81FD0307C}</a:tableStyleId>
              </a:tblPr>
              <a:tblGrid>
                <a:gridCol w="1296000">
                  <a:extLst>
                    <a:ext uri="{9D8B030D-6E8A-4147-A177-3AD203B41FA5}">
                      <a16:colId xmlns:a16="http://schemas.microsoft.com/office/drawing/2014/main" val="581933871"/>
                    </a:ext>
                  </a:extLst>
                </a:gridCol>
              </a:tblGrid>
              <a:tr h="405000">
                <a:tc>
                  <a:txBody>
                    <a:bodyPr/>
                    <a:lstStyle/>
                    <a:p>
                      <a:pPr algn="r" rtl="1" fontAlgn="b">
                        <a:buNone/>
                      </a:pPr>
                      <a:r>
                        <a:rPr lang="he-IL" sz="1100" b="0" i="0" u="none" strike="noStrike">
                          <a:solidFill>
                            <a:srgbClr val="000000"/>
                          </a:solidFill>
                          <a:effectLst/>
                          <a:latin typeface="Segoe UI" panose="020B0502040204020203" pitchFamily="34" charset="0"/>
                          <a:cs typeface="Segoe UI" panose="020B0502040204020203" pitchFamily="34" charset="0"/>
                        </a:rPr>
                        <a:t>מהירות</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28002872"/>
                  </a:ext>
                </a:extLst>
              </a:tr>
              <a:tr h="405000">
                <a:tc>
                  <a:txBody>
                    <a:bodyPr/>
                    <a:lstStyle/>
                    <a:p>
                      <a:pPr algn="r" rtl="1" fontAlgn="b">
                        <a:buNone/>
                      </a:pPr>
                      <a:r>
                        <a:rPr lang="he-IL" sz="1100" b="0" i="0" u="none" strike="noStrike">
                          <a:solidFill>
                            <a:srgbClr val="000000"/>
                          </a:solidFill>
                          <a:effectLst/>
                          <a:latin typeface="Segoe UI" panose="020B0502040204020203" pitchFamily="34" charset="0"/>
                          <a:cs typeface="Segoe UI" panose="020B0502040204020203" pitchFamily="34" charset="0"/>
                        </a:rPr>
                        <a:t>שימוש בטלפון</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54857623"/>
                  </a:ext>
                </a:extLst>
              </a:tr>
              <a:tr h="405000">
                <a:tc>
                  <a:txBody>
                    <a:bodyPr/>
                    <a:lstStyle/>
                    <a:p>
                      <a:pPr algn="r" rtl="1" fontAlgn="b">
                        <a:buNone/>
                      </a:pPr>
                      <a:r>
                        <a:rPr lang="he-IL" sz="1100" b="0" i="0" u="none" strike="noStrike" dirty="0">
                          <a:solidFill>
                            <a:srgbClr val="000000"/>
                          </a:solidFill>
                          <a:effectLst/>
                          <a:latin typeface="Segoe UI" panose="020B0502040204020203" pitchFamily="34" charset="0"/>
                          <a:cs typeface="Segoe UI" panose="020B0502040204020203" pitchFamily="34" charset="0"/>
                        </a:rPr>
                        <a:t>נסיעה בנתיב </a:t>
                      </a:r>
                      <a:r>
                        <a:rPr lang="he-IL" sz="1100" b="0" i="0" u="none" strike="noStrike" dirty="0" err="1">
                          <a:solidFill>
                            <a:srgbClr val="000000"/>
                          </a:solidFill>
                          <a:effectLst/>
                          <a:latin typeface="Segoe UI" panose="020B0502040204020203" pitchFamily="34" charset="0"/>
                          <a:cs typeface="Segoe UI" panose="020B0502040204020203" pitchFamily="34" charset="0"/>
                        </a:rPr>
                        <a:t>תחב"צ</a:t>
                      </a:r>
                      <a:endParaRPr lang="he-IL" sz="1100" b="0" i="0" u="none" strike="noStrike" dirty="0">
                        <a:solidFill>
                          <a:srgbClr val="000000"/>
                        </a:solidFill>
                        <a:effectLst/>
                        <a:latin typeface="Segoe UI" panose="020B0502040204020203" pitchFamily="34" charset="0"/>
                        <a:cs typeface="Segoe UI" panose="020B0502040204020203"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90531178"/>
                  </a:ext>
                </a:extLst>
              </a:tr>
              <a:tr h="405000">
                <a:tc>
                  <a:txBody>
                    <a:bodyPr/>
                    <a:lstStyle/>
                    <a:p>
                      <a:pPr algn="r" rtl="1" fontAlgn="b">
                        <a:buNone/>
                      </a:pPr>
                      <a:r>
                        <a:rPr lang="he-IL" sz="1100" b="0" i="0" u="none" strike="noStrike">
                          <a:solidFill>
                            <a:srgbClr val="000000"/>
                          </a:solidFill>
                          <a:effectLst/>
                          <a:latin typeface="Segoe UI" panose="020B0502040204020203" pitchFamily="34" charset="0"/>
                          <a:cs typeface="Segoe UI" panose="020B0502040204020203" pitchFamily="34" charset="0"/>
                        </a:rPr>
                        <a:t>אי ציות לתמרור</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88033099"/>
                  </a:ext>
                </a:extLst>
              </a:tr>
              <a:tr h="405000">
                <a:tc>
                  <a:txBody>
                    <a:bodyPr/>
                    <a:lstStyle/>
                    <a:p>
                      <a:pPr algn="r" rtl="1" fontAlgn="b">
                        <a:buNone/>
                      </a:pPr>
                      <a:r>
                        <a:rPr lang="he-IL" sz="1100" b="0" i="0" u="none" strike="noStrike">
                          <a:solidFill>
                            <a:srgbClr val="000000"/>
                          </a:solidFill>
                          <a:effectLst/>
                          <a:latin typeface="Segoe UI" panose="020B0502040204020203" pitchFamily="34" charset="0"/>
                          <a:cs typeface="Segoe UI" panose="020B0502040204020203" pitchFamily="34" charset="0"/>
                        </a:rPr>
                        <a:t>חגורת בטיחות</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24836368"/>
                  </a:ext>
                </a:extLst>
              </a:tr>
              <a:tr h="405000">
                <a:tc>
                  <a:txBody>
                    <a:bodyPr/>
                    <a:lstStyle/>
                    <a:p>
                      <a:pPr algn="r" rtl="1" fontAlgn="b">
                        <a:buNone/>
                      </a:pPr>
                      <a:r>
                        <a:rPr lang="he-IL" sz="1100" b="0" i="0" u="none" strike="noStrike">
                          <a:solidFill>
                            <a:srgbClr val="000000"/>
                          </a:solidFill>
                          <a:effectLst/>
                          <a:latin typeface="Segoe UI" panose="020B0502040204020203" pitchFamily="34" charset="0"/>
                          <a:cs typeface="Segoe UI" panose="020B0502040204020203" pitchFamily="34" charset="0"/>
                        </a:rPr>
                        <a:t>אור אדום</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07590062"/>
                  </a:ext>
                </a:extLst>
              </a:tr>
              <a:tr h="405000">
                <a:tc>
                  <a:txBody>
                    <a:bodyPr/>
                    <a:lstStyle/>
                    <a:p>
                      <a:pPr algn="r" rtl="1" fontAlgn="b">
                        <a:buNone/>
                      </a:pPr>
                      <a:r>
                        <a:rPr lang="he-IL" sz="1100" b="0" i="0" u="none" strike="noStrike" dirty="0">
                          <a:solidFill>
                            <a:srgbClr val="000000"/>
                          </a:solidFill>
                          <a:effectLst/>
                          <a:latin typeface="Segoe UI" panose="020B0502040204020203" pitchFamily="34" charset="0"/>
                          <a:cs typeface="Segoe UI" panose="020B0502040204020203" pitchFamily="34" charset="0"/>
                        </a:rPr>
                        <a:t>נסיעה בשוליים</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69517065"/>
                  </a:ext>
                </a:extLst>
              </a:tr>
              <a:tr h="405000">
                <a:tc>
                  <a:txBody>
                    <a:bodyPr/>
                    <a:lstStyle/>
                    <a:p>
                      <a:pPr algn="r" rtl="1" fontAlgn="b">
                        <a:buNone/>
                      </a:pPr>
                      <a:r>
                        <a:rPr lang="he-IL" sz="1100" b="0" i="0" u="none" strike="noStrike" dirty="0">
                          <a:solidFill>
                            <a:srgbClr val="000000"/>
                          </a:solidFill>
                          <a:effectLst/>
                          <a:latin typeface="Segoe UI" panose="020B0502040204020203" pitchFamily="34" charset="0"/>
                          <a:cs typeface="Segoe UI" panose="020B0502040204020203" pitchFamily="34" charset="0"/>
                        </a:rPr>
                        <a:t>שינויים ברכב</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66328170"/>
                  </a:ext>
                </a:extLst>
              </a:tr>
            </a:tbl>
          </a:graphicData>
        </a:graphic>
      </p:graphicFrame>
      <p:graphicFrame>
        <p:nvGraphicFramePr>
          <p:cNvPr id="4" name="Chart 3">
            <a:extLst>
              <a:ext uri="{FF2B5EF4-FFF2-40B4-BE49-F238E27FC236}">
                <a16:creationId xmlns:a16="http://schemas.microsoft.com/office/drawing/2014/main" id="{E15EAB9E-4B4C-C5F1-D077-52004E18C3E0}"/>
              </a:ext>
            </a:extLst>
          </p:cNvPr>
          <p:cNvGraphicFramePr/>
          <p:nvPr>
            <p:extLst>
              <p:ext uri="{D42A27DB-BD31-4B8C-83A1-F6EECF244321}">
                <p14:modId xmlns:p14="http://schemas.microsoft.com/office/powerpoint/2010/main" val="1193797617"/>
              </p:ext>
            </p:extLst>
          </p:nvPr>
        </p:nvGraphicFramePr>
        <p:xfrm>
          <a:off x="3517668" y="1569259"/>
          <a:ext cx="3058122" cy="3420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Chart 3">
            <a:extLst>
              <a:ext uri="{FF2B5EF4-FFF2-40B4-BE49-F238E27FC236}">
                <a16:creationId xmlns:a16="http://schemas.microsoft.com/office/drawing/2014/main" id="{89A2324F-40E6-B6D4-CD4D-02E31766C49D}"/>
              </a:ext>
            </a:extLst>
          </p:cNvPr>
          <p:cNvGraphicFramePr/>
          <p:nvPr>
            <p:extLst>
              <p:ext uri="{D42A27DB-BD31-4B8C-83A1-F6EECF244321}">
                <p14:modId xmlns:p14="http://schemas.microsoft.com/office/powerpoint/2010/main" val="435362930"/>
              </p:ext>
            </p:extLst>
          </p:nvPr>
        </p:nvGraphicFramePr>
        <p:xfrm>
          <a:off x="6336178" y="1569259"/>
          <a:ext cx="3058122" cy="34200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2" name="Chart 3">
            <a:extLst>
              <a:ext uri="{FF2B5EF4-FFF2-40B4-BE49-F238E27FC236}">
                <a16:creationId xmlns:a16="http://schemas.microsoft.com/office/drawing/2014/main" id="{79E5C4DB-27EA-A432-4D55-27C418CDACE2}"/>
              </a:ext>
            </a:extLst>
          </p:cNvPr>
          <p:cNvGraphicFramePr/>
          <p:nvPr>
            <p:extLst>
              <p:ext uri="{D42A27DB-BD31-4B8C-83A1-F6EECF244321}">
                <p14:modId xmlns:p14="http://schemas.microsoft.com/office/powerpoint/2010/main" val="2458169046"/>
              </p:ext>
            </p:extLst>
          </p:nvPr>
        </p:nvGraphicFramePr>
        <p:xfrm>
          <a:off x="9154687" y="1569259"/>
          <a:ext cx="3058122" cy="3420000"/>
        </p:xfrm>
        <a:graphic>
          <a:graphicData uri="http://schemas.openxmlformats.org/drawingml/2006/chart">
            <c:chart xmlns:c="http://schemas.openxmlformats.org/drawingml/2006/chart" xmlns:r="http://schemas.openxmlformats.org/officeDocument/2006/relationships" r:id="rId5"/>
          </a:graphicData>
        </a:graphic>
      </p:graphicFrame>
      <p:cxnSp>
        <p:nvCxnSpPr>
          <p:cNvPr id="13" name="Straight Connector 22">
            <a:extLst>
              <a:ext uri="{FF2B5EF4-FFF2-40B4-BE49-F238E27FC236}">
                <a16:creationId xmlns:a16="http://schemas.microsoft.com/office/drawing/2014/main" id="{94AEC686-A624-28AA-1A1B-043791E870A1}"/>
              </a:ext>
            </a:extLst>
          </p:cNvPr>
          <p:cNvCxnSpPr>
            <a:cxnSpLocks/>
          </p:cNvCxnSpPr>
          <p:nvPr/>
        </p:nvCxnSpPr>
        <p:spPr>
          <a:xfrm rot="5400000">
            <a:off x="6091368" y="-3862387"/>
            <a:ext cx="0" cy="1188000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22">
            <a:extLst>
              <a:ext uri="{FF2B5EF4-FFF2-40B4-BE49-F238E27FC236}">
                <a16:creationId xmlns:a16="http://schemas.microsoft.com/office/drawing/2014/main" id="{D1EE1B11-4815-6813-0912-B0E28F47ED14}"/>
              </a:ext>
            </a:extLst>
          </p:cNvPr>
          <p:cNvCxnSpPr>
            <a:cxnSpLocks/>
          </p:cNvCxnSpPr>
          <p:nvPr/>
        </p:nvCxnSpPr>
        <p:spPr>
          <a:xfrm rot="5400000">
            <a:off x="6091368" y="-3450012"/>
            <a:ext cx="0" cy="1188000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22">
            <a:extLst>
              <a:ext uri="{FF2B5EF4-FFF2-40B4-BE49-F238E27FC236}">
                <a16:creationId xmlns:a16="http://schemas.microsoft.com/office/drawing/2014/main" id="{D9ADFFCC-2864-9707-2068-B2D7C41CA379}"/>
              </a:ext>
            </a:extLst>
          </p:cNvPr>
          <p:cNvCxnSpPr>
            <a:cxnSpLocks/>
          </p:cNvCxnSpPr>
          <p:nvPr/>
        </p:nvCxnSpPr>
        <p:spPr>
          <a:xfrm rot="5400000">
            <a:off x="6091368" y="-3046601"/>
            <a:ext cx="0" cy="1188000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22">
            <a:extLst>
              <a:ext uri="{FF2B5EF4-FFF2-40B4-BE49-F238E27FC236}">
                <a16:creationId xmlns:a16="http://schemas.microsoft.com/office/drawing/2014/main" id="{BAA34437-F816-E829-61B4-65DC71B58310}"/>
              </a:ext>
            </a:extLst>
          </p:cNvPr>
          <p:cNvCxnSpPr>
            <a:cxnSpLocks/>
          </p:cNvCxnSpPr>
          <p:nvPr/>
        </p:nvCxnSpPr>
        <p:spPr>
          <a:xfrm rot="5400000">
            <a:off x="6091368" y="-2652154"/>
            <a:ext cx="0" cy="1188000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22">
            <a:extLst>
              <a:ext uri="{FF2B5EF4-FFF2-40B4-BE49-F238E27FC236}">
                <a16:creationId xmlns:a16="http://schemas.microsoft.com/office/drawing/2014/main" id="{2B7EA24F-F7FD-E36C-CC63-DCAA634A04EB}"/>
              </a:ext>
            </a:extLst>
          </p:cNvPr>
          <p:cNvCxnSpPr>
            <a:cxnSpLocks/>
          </p:cNvCxnSpPr>
          <p:nvPr/>
        </p:nvCxnSpPr>
        <p:spPr>
          <a:xfrm rot="5400000">
            <a:off x="6091368" y="-2221846"/>
            <a:ext cx="0" cy="1188000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87820DB9-D5A6-5F73-B8DC-0A080715AA4A}"/>
              </a:ext>
            </a:extLst>
          </p:cNvPr>
          <p:cNvCxnSpPr>
            <a:cxnSpLocks/>
          </p:cNvCxnSpPr>
          <p:nvPr/>
        </p:nvCxnSpPr>
        <p:spPr>
          <a:xfrm rot="5400000">
            <a:off x="6091368" y="-1809469"/>
            <a:ext cx="0" cy="1188000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2">
            <a:extLst>
              <a:ext uri="{FF2B5EF4-FFF2-40B4-BE49-F238E27FC236}">
                <a16:creationId xmlns:a16="http://schemas.microsoft.com/office/drawing/2014/main" id="{1D4BB23E-EBD4-AB15-8567-016D8719C3C1}"/>
              </a:ext>
            </a:extLst>
          </p:cNvPr>
          <p:cNvCxnSpPr>
            <a:cxnSpLocks/>
          </p:cNvCxnSpPr>
          <p:nvPr/>
        </p:nvCxnSpPr>
        <p:spPr>
          <a:xfrm rot="5400000">
            <a:off x="6091368" y="-1406058"/>
            <a:ext cx="0" cy="1188000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5" name="Rectangle 28">
            <a:extLst>
              <a:ext uri="{FF2B5EF4-FFF2-40B4-BE49-F238E27FC236}">
                <a16:creationId xmlns:a16="http://schemas.microsoft.com/office/drawing/2014/main" id="{03938985-555F-53E3-2C9A-5E8B1B4A5EE6}"/>
              </a:ext>
            </a:extLst>
          </p:cNvPr>
          <p:cNvSpPr/>
          <p:nvPr/>
        </p:nvSpPr>
        <p:spPr>
          <a:xfrm>
            <a:off x="7872788" y="6473004"/>
            <a:ext cx="3923846" cy="384995"/>
          </a:xfrm>
          <a:prstGeom prst="rect">
            <a:avLst/>
          </a:prstGeom>
          <a:noFill/>
          <a:ln>
            <a:noFill/>
          </a:ln>
        </p:spPr>
        <p:txBody>
          <a:bodyPr rot="0" spcFirstLastPara="0" vertOverflow="overflow" horzOverflow="overflow" vert="horz" wrap="square" lIns="91440" tIns="45720" rIns="91440" bIns="45720" numCol="1" spcCol="0" rtlCol="1" fromWordArt="0" anchor="ctr" anchorCtr="0" forceAA="0" compatLnSpc="1">
            <a:prstTxWarp prst="textNoShape">
              <a:avLst/>
            </a:prstTxWarp>
            <a:noAutofit/>
          </a:bodyPr>
          <a:lstStyle/>
          <a:p>
            <a:pPr lvl="0" algn="r" rtl="1">
              <a:defRPr/>
            </a:pPr>
            <a:r>
              <a:rPr lang="he-IL" sz="1000" dirty="0">
                <a:solidFill>
                  <a:prstClr val="white">
                    <a:lumMod val="65000"/>
                  </a:prstClr>
                </a:solidFill>
                <a:latin typeface="Segoe UI" panose="020B0502040204020203" pitchFamily="34" charset="0"/>
                <a:cs typeface="Segoe UI" panose="020B0502040204020203" pitchFamily="34" charset="0"/>
              </a:rPr>
              <a:t>"איזה סוג דו"ח תעבורה קיבלת?"</a:t>
            </a:r>
          </a:p>
        </p:txBody>
      </p:sp>
      <p:sp>
        <p:nvSpPr>
          <p:cNvPr id="26" name="Rectangle: Rounded Corners 54">
            <a:hlinkClick r:id="" action="ppaction://noaction"/>
            <a:extLst>
              <a:ext uri="{FF2B5EF4-FFF2-40B4-BE49-F238E27FC236}">
                <a16:creationId xmlns:a16="http://schemas.microsoft.com/office/drawing/2014/main" id="{2C6B5BB3-9434-925A-454E-6F1839396137}"/>
              </a:ext>
            </a:extLst>
          </p:cNvPr>
          <p:cNvSpPr/>
          <p:nvPr/>
        </p:nvSpPr>
        <p:spPr>
          <a:xfrm>
            <a:off x="1418590" y="6631748"/>
            <a:ext cx="720000" cy="144000"/>
          </a:xfrm>
          <a:prstGeom prst="roundRect">
            <a:avLst>
              <a:gd name="adj" fmla="val 50000"/>
            </a:avLst>
          </a:prstGeom>
          <a:solidFill>
            <a:schemeClr val="bg1"/>
          </a:solidFill>
          <a:ln w="12700">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r" defTabSz="914400" rtl="1" eaLnBrk="1" latinLnBrk="0" hangingPunct="1">
              <a:defRPr sz="1800" kern="1200">
                <a:solidFill>
                  <a:schemeClr val="lt1"/>
                </a:solidFill>
                <a:latin typeface="+mn-lt"/>
                <a:ea typeface="+mn-ea"/>
                <a:cs typeface="+mn-cs"/>
              </a:defRPr>
            </a:lvl1pPr>
            <a:lvl2pPr marL="457200" algn="r" defTabSz="914400" rtl="1" eaLnBrk="1" latinLnBrk="0" hangingPunct="1">
              <a:defRPr sz="1800" kern="1200">
                <a:solidFill>
                  <a:schemeClr val="lt1"/>
                </a:solidFill>
                <a:latin typeface="+mn-lt"/>
                <a:ea typeface="+mn-ea"/>
                <a:cs typeface="+mn-cs"/>
              </a:defRPr>
            </a:lvl2pPr>
            <a:lvl3pPr marL="914400" algn="r" defTabSz="914400" rtl="1" eaLnBrk="1" latinLnBrk="0" hangingPunct="1">
              <a:defRPr sz="1800" kern="1200">
                <a:solidFill>
                  <a:schemeClr val="lt1"/>
                </a:solidFill>
                <a:latin typeface="+mn-lt"/>
                <a:ea typeface="+mn-ea"/>
                <a:cs typeface="+mn-cs"/>
              </a:defRPr>
            </a:lvl3pPr>
            <a:lvl4pPr marL="1371600" algn="r" defTabSz="914400" rtl="1" eaLnBrk="1" latinLnBrk="0" hangingPunct="1">
              <a:defRPr sz="1800" kern="1200">
                <a:solidFill>
                  <a:schemeClr val="lt1"/>
                </a:solidFill>
                <a:latin typeface="+mn-lt"/>
                <a:ea typeface="+mn-ea"/>
                <a:cs typeface="+mn-cs"/>
              </a:defRPr>
            </a:lvl4pPr>
            <a:lvl5pPr marL="1828800" algn="r" defTabSz="914400" rtl="1" eaLnBrk="1" latinLnBrk="0" hangingPunct="1">
              <a:defRPr sz="1800" kern="1200">
                <a:solidFill>
                  <a:schemeClr val="lt1"/>
                </a:solidFill>
                <a:latin typeface="+mn-lt"/>
                <a:ea typeface="+mn-ea"/>
                <a:cs typeface="+mn-cs"/>
              </a:defRPr>
            </a:lvl5pPr>
            <a:lvl6pPr marL="2286000" algn="r" defTabSz="914400" rtl="1" eaLnBrk="1" latinLnBrk="0" hangingPunct="1">
              <a:defRPr sz="1800" kern="1200">
                <a:solidFill>
                  <a:schemeClr val="lt1"/>
                </a:solidFill>
                <a:latin typeface="+mn-lt"/>
                <a:ea typeface="+mn-ea"/>
                <a:cs typeface="+mn-cs"/>
              </a:defRPr>
            </a:lvl6pPr>
            <a:lvl7pPr marL="2743200" algn="r" defTabSz="914400" rtl="1" eaLnBrk="1" latinLnBrk="0" hangingPunct="1">
              <a:defRPr sz="1800" kern="1200">
                <a:solidFill>
                  <a:schemeClr val="lt1"/>
                </a:solidFill>
                <a:latin typeface="+mn-lt"/>
                <a:ea typeface="+mn-ea"/>
                <a:cs typeface="+mn-cs"/>
              </a:defRPr>
            </a:lvl7pPr>
            <a:lvl8pPr marL="3200400" algn="r" defTabSz="914400" rtl="1" eaLnBrk="1" latinLnBrk="0" hangingPunct="1">
              <a:defRPr sz="1800" kern="1200">
                <a:solidFill>
                  <a:schemeClr val="lt1"/>
                </a:solidFill>
                <a:latin typeface="+mn-lt"/>
                <a:ea typeface="+mn-ea"/>
                <a:cs typeface="+mn-cs"/>
              </a:defRPr>
            </a:lvl8pPr>
            <a:lvl9pPr marL="3657600" algn="r" defTabSz="914400" rtl="1" eaLnBrk="1" latinLnBrk="0" hangingPunct="1">
              <a:defRPr sz="1800" kern="1200">
                <a:solidFill>
                  <a:schemeClr val="lt1"/>
                </a:solidFill>
                <a:latin typeface="+mn-lt"/>
                <a:ea typeface="+mn-ea"/>
                <a:cs typeface="+mn-cs"/>
              </a:defRPr>
            </a:lvl9pPr>
          </a:lstStyle>
          <a:p>
            <a:pPr marL="0" marR="0" lvl="0" indent="0" algn="ctr" defTabSz="914400" rtl="1" eaLnBrk="1" fontAlgn="base" latinLnBrk="0" hangingPunct="1">
              <a:lnSpc>
                <a:spcPct val="100000"/>
              </a:lnSpc>
              <a:spcBef>
                <a:spcPct val="0"/>
              </a:spcBef>
              <a:spcAft>
                <a:spcPct val="0"/>
              </a:spcAft>
              <a:buClrTx/>
              <a:buSzTx/>
              <a:buFontTx/>
              <a:buNone/>
              <a:tabLst/>
              <a:defRPr/>
            </a:pPr>
            <a:r>
              <a:rPr kumimoji="0" lang="he-IL" sz="1100" b="0" i="0" u="none" strike="noStrike" kern="1200" cap="none" spc="0" normalizeH="0" baseline="0" noProof="0" dirty="0">
                <a:ln>
                  <a:noFill/>
                </a:ln>
                <a:solidFill>
                  <a:schemeClr val="bg1">
                    <a:lumMod val="65000"/>
                  </a:schemeClr>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מגדר</a:t>
            </a:r>
            <a:endParaRPr kumimoji="0" lang="en-IL" sz="1100" b="0" i="0" u="none" strike="noStrike" kern="1200" cap="none" spc="0" normalizeH="0" baseline="0" noProof="0" dirty="0">
              <a:ln>
                <a:noFill/>
              </a:ln>
              <a:solidFill>
                <a:schemeClr val="bg1">
                  <a:lumMod val="65000"/>
                </a:schemeClr>
              </a:solidFill>
              <a:effectLst/>
              <a:uLnTx/>
              <a:uFillTx/>
              <a:latin typeface="Segoe UI" panose="020B0502040204020203" pitchFamily="34" charset="0"/>
              <a:ea typeface="+mn-ea"/>
              <a:cs typeface="Segoe UI" panose="020B0502040204020203" pitchFamily="34" charset="0"/>
            </a:endParaRPr>
          </a:p>
        </p:txBody>
      </p:sp>
      <p:sp>
        <p:nvSpPr>
          <p:cNvPr id="27" name="Rectangle: Rounded Corners 54">
            <a:hlinkClick r:id="" action="ppaction://noaction"/>
            <a:extLst>
              <a:ext uri="{FF2B5EF4-FFF2-40B4-BE49-F238E27FC236}">
                <a16:creationId xmlns:a16="http://schemas.microsoft.com/office/drawing/2014/main" id="{F4C0B33D-AEEF-6F27-5D89-2A26AED307E8}"/>
              </a:ext>
            </a:extLst>
          </p:cNvPr>
          <p:cNvSpPr/>
          <p:nvPr/>
        </p:nvSpPr>
        <p:spPr>
          <a:xfrm>
            <a:off x="2190868" y="6631748"/>
            <a:ext cx="720000" cy="144000"/>
          </a:xfrm>
          <a:prstGeom prst="roundRect">
            <a:avLst>
              <a:gd name="adj" fmla="val 50000"/>
            </a:avLst>
          </a:prstGeom>
          <a:solidFill>
            <a:schemeClr val="bg1"/>
          </a:solidFill>
          <a:ln w="12700">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r" defTabSz="914400" rtl="1" eaLnBrk="1" latinLnBrk="0" hangingPunct="1">
              <a:defRPr sz="1800" kern="1200">
                <a:solidFill>
                  <a:schemeClr val="lt1"/>
                </a:solidFill>
                <a:latin typeface="+mn-lt"/>
                <a:ea typeface="+mn-ea"/>
                <a:cs typeface="+mn-cs"/>
              </a:defRPr>
            </a:lvl1pPr>
            <a:lvl2pPr marL="457200" algn="r" defTabSz="914400" rtl="1" eaLnBrk="1" latinLnBrk="0" hangingPunct="1">
              <a:defRPr sz="1800" kern="1200">
                <a:solidFill>
                  <a:schemeClr val="lt1"/>
                </a:solidFill>
                <a:latin typeface="+mn-lt"/>
                <a:ea typeface="+mn-ea"/>
                <a:cs typeface="+mn-cs"/>
              </a:defRPr>
            </a:lvl2pPr>
            <a:lvl3pPr marL="914400" algn="r" defTabSz="914400" rtl="1" eaLnBrk="1" latinLnBrk="0" hangingPunct="1">
              <a:defRPr sz="1800" kern="1200">
                <a:solidFill>
                  <a:schemeClr val="lt1"/>
                </a:solidFill>
                <a:latin typeface="+mn-lt"/>
                <a:ea typeface="+mn-ea"/>
                <a:cs typeface="+mn-cs"/>
              </a:defRPr>
            </a:lvl3pPr>
            <a:lvl4pPr marL="1371600" algn="r" defTabSz="914400" rtl="1" eaLnBrk="1" latinLnBrk="0" hangingPunct="1">
              <a:defRPr sz="1800" kern="1200">
                <a:solidFill>
                  <a:schemeClr val="lt1"/>
                </a:solidFill>
                <a:latin typeface="+mn-lt"/>
                <a:ea typeface="+mn-ea"/>
                <a:cs typeface="+mn-cs"/>
              </a:defRPr>
            </a:lvl4pPr>
            <a:lvl5pPr marL="1828800" algn="r" defTabSz="914400" rtl="1" eaLnBrk="1" latinLnBrk="0" hangingPunct="1">
              <a:defRPr sz="1800" kern="1200">
                <a:solidFill>
                  <a:schemeClr val="lt1"/>
                </a:solidFill>
                <a:latin typeface="+mn-lt"/>
                <a:ea typeface="+mn-ea"/>
                <a:cs typeface="+mn-cs"/>
              </a:defRPr>
            </a:lvl5pPr>
            <a:lvl6pPr marL="2286000" algn="r" defTabSz="914400" rtl="1" eaLnBrk="1" latinLnBrk="0" hangingPunct="1">
              <a:defRPr sz="1800" kern="1200">
                <a:solidFill>
                  <a:schemeClr val="lt1"/>
                </a:solidFill>
                <a:latin typeface="+mn-lt"/>
                <a:ea typeface="+mn-ea"/>
                <a:cs typeface="+mn-cs"/>
              </a:defRPr>
            </a:lvl6pPr>
            <a:lvl7pPr marL="2743200" algn="r" defTabSz="914400" rtl="1" eaLnBrk="1" latinLnBrk="0" hangingPunct="1">
              <a:defRPr sz="1800" kern="1200">
                <a:solidFill>
                  <a:schemeClr val="lt1"/>
                </a:solidFill>
                <a:latin typeface="+mn-lt"/>
                <a:ea typeface="+mn-ea"/>
                <a:cs typeface="+mn-cs"/>
              </a:defRPr>
            </a:lvl7pPr>
            <a:lvl8pPr marL="3200400" algn="r" defTabSz="914400" rtl="1" eaLnBrk="1" latinLnBrk="0" hangingPunct="1">
              <a:defRPr sz="1800" kern="1200">
                <a:solidFill>
                  <a:schemeClr val="lt1"/>
                </a:solidFill>
                <a:latin typeface="+mn-lt"/>
                <a:ea typeface="+mn-ea"/>
                <a:cs typeface="+mn-cs"/>
              </a:defRPr>
            </a:lvl8pPr>
            <a:lvl9pPr marL="3657600" algn="r" defTabSz="914400" rtl="1" eaLnBrk="1" latinLnBrk="0" hangingPunct="1">
              <a:defRPr sz="1800" kern="1200">
                <a:solidFill>
                  <a:schemeClr val="lt1"/>
                </a:solidFill>
                <a:latin typeface="+mn-lt"/>
                <a:ea typeface="+mn-ea"/>
                <a:cs typeface="+mn-cs"/>
              </a:defRPr>
            </a:lvl9pPr>
          </a:lstStyle>
          <a:p>
            <a:pPr marL="0" marR="0" lvl="0" indent="0" algn="ctr" defTabSz="914400" rtl="1" eaLnBrk="1" fontAlgn="base" latinLnBrk="0" hangingPunct="1">
              <a:lnSpc>
                <a:spcPct val="100000"/>
              </a:lnSpc>
              <a:spcBef>
                <a:spcPct val="0"/>
              </a:spcBef>
              <a:spcAft>
                <a:spcPct val="0"/>
              </a:spcAft>
              <a:buClrTx/>
              <a:buSzTx/>
              <a:buFontTx/>
              <a:buNone/>
              <a:tabLst/>
              <a:defRPr/>
            </a:pPr>
            <a:r>
              <a:rPr kumimoji="0" lang="he-IL" sz="1100" b="0" i="0" u="none" strike="noStrike" kern="1200" cap="none" spc="0" normalizeH="0" baseline="0" noProof="0" dirty="0">
                <a:ln>
                  <a:noFill/>
                </a:ln>
                <a:solidFill>
                  <a:schemeClr val="bg1">
                    <a:lumMod val="65000"/>
                  </a:schemeClr>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גיל</a:t>
            </a:r>
            <a:endParaRPr kumimoji="0" lang="en-IL" sz="1100" b="0" i="0" u="none" strike="noStrike" kern="1200" cap="none" spc="0" normalizeH="0" baseline="0" noProof="0" dirty="0">
              <a:ln>
                <a:noFill/>
              </a:ln>
              <a:solidFill>
                <a:schemeClr val="bg1">
                  <a:lumMod val="65000"/>
                </a:schemeClr>
              </a:solidFill>
              <a:effectLst/>
              <a:uLnTx/>
              <a:uFillTx/>
              <a:latin typeface="Segoe UI" panose="020B0502040204020203" pitchFamily="34" charset="0"/>
              <a:ea typeface="+mn-ea"/>
              <a:cs typeface="Segoe UI" panose="020B0502040204020203" pitchFamily="34" charset="0"/>
            </a:endParaRPr>
          </a:p>
        </p:txBody>
      </p:sp>
      <p:sp>
        <p:nvSpPr>
          <p:cNvPr id="28" name="Rectangle: Rounded Corners 54">
            <a:hlinkClick r:id="" action="ppaction://noaction"/>
            <a:extLst>
              <a:ext uri="{FF2B5EF4-FFF2-40B4-BE49-F238E27FC236}">
                <a16:creationId xmlns:a16="http://schemas.microsoft.com/office/drawing/2014/main" id="{EB38E1CD-303C-9476-6348-12B269F422E4}"/>
              </a:ext>
            </a:extLst>
          </p:cNvPr>
          <p:cNvSpPr/>
          <p:nvPr/>
        </p:nvSpPr>
        <p:spPr>
          <a:xfrm>
            <a:off x="2963146" y="6640710"/>
            <a:ext cx="972000" cy="144000"/>
          </a:xfrm>
          <a:prstGeom prst="roundRect">
            <a:avLst>
              <a:gd name="adj" fmla="val 50000"/>
            </a:avLst>
          </a:prstGeom>
          <a:solidFill>
            <a:schemeClr val="bg1">
              <a:lumMod val="95000"/>
            </a:schemeClr>
          </a:solidFill>
          <a:ln w="12700">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r" defTabSz="914400" rtl="1" eaLnBrk="1" latinLnBrk="0" hangingPunct="1">
              <a:defRPr sz="1800" kern="1200">
                <a:solidFill>
                  <a:schemeClr val="lt1"/>
                </a:solidFill>
                <a:latin typeface="+mn-lt"/>
                <a:ea typeface="+mn-ea"/>
                <a:cs typeface="+mn-cs"/>
              </a:defRPr>
            </a:lvl1pPr>
            <a:lvl2pPr marL="457200" algn="r" defTabSz="914400" rtl="1" eaLnBrk="1" latinLnBrk="0" hangingPunct="1">
              <a:defRPr sz="1800" kern="1200">
                <a:solidFill>
                  <a:schemeClr val="lt1"/>
                </a:solidFill>
                <a:latin typeface="+mn-lt"/>
                <a:ea typeface="+mn-ea"/>
                <a:cs typeface="+mn-cs"/>
              </a:defRPr>
            </a:lvl2pPr>
            <a:lvl3pPr marL="914400" algn="r" defTabSz="914400" rtl="1" eaLnBrk="1" latinLnBrk="0" hangingPunct="1">
              <a:defRPr sz="1800" kern="1200">
                <a:solidFill>
                  <a:schemeClr val="lt1"/>
                </a:solidFill>
                <a:latin typeface="+mn-lt"/>
                <a:ea typeface="+mn-ea"/>
                <a:cs typeface="+mn-cs"/>
              </a:defRPr>
            </a:lvl3pPr>
            <a:lvl4pPr marL="1371600" algn="r" defTabSz="914400" rtl="1" eaLnBrk="1" latinLnBrk="0" hangingPunct="1">
              <a:defRPr sz="1800" kern="1200">
                <a:solidFill>
                  <a:schemeClr val="lt1"/>
                </a:solidFill>
                <a:latin typeface="+mn-lt"/>
                <a:ea typeface="+mn-ea"/>
                <a:cs typeface="+mn-cs"/>
              </a:defRPr>
            </a:lvl4pPr>
            <a:lvl5pPr marL="1828800" algn="r" defTabSz="914400" rtl="1" eaLnBrk="1" latinLnBrk="0" hangingPunct="1">
              <a:defRPr sz="1800" kern="1200">
                <a:solidFill>
                  <a:schemeClr val="lt1"/>
                </a:solidFill>
                <a:latin typeface="+mn-lt"/>
                <a:ea typeface="+mn-ea"/>
                <a:cs typeface="+mn-cs"/>
              </a:defRPr>
            </a:lvl5pPr>
            <a:lvl6pPr marL="2286000" algn="r" defTabSz="914400" rtl="1" eaLnBrk="1" latinLnBrk="0" hangingPunct="1">
              <a:defRPr sz="1800" kern="1200">
                <a:solidFill>
                  <a:schemeClr val="lt1"/>
                </a:solidFill>
                <a:latin typeface="+mn-lt"/>
                <a:ea typeface="+mn-ea"/>
                <a:cs typeface="+mn-cs"/>
              </a:defRPr>
            </a:lvl6pPr>
            <a:lvl7pPr marL="2743200" algn="r" defTabSz="914400" rtl="1" eaLnBrk="1" latinLnBrk="0" hangingPunct="1">
              <a:defRPr sz="1800" kern="1200">
                <a:solidFill>
                  <a:schemeClr val="lt1"/>
                </a:solidFill>
                <a:latin typeface="+mn-lt"/>
                <a:ea typeface="+mn-ea"/>
                <a:cs typeface="+mn-cs"/>
              </a:defRPr>
            </a:lvl7pPr>
            <a:lvl8pPr marL="3200400" algn="r" defTabSz="914400" rtl="1" eaLnBrk="1" latinLnBrk="0" hangingPunct="1">
              <a:defRPr sz="1800" kern="1200">
                <a:solidFill>
                  <a:schemeClr val="lt1"/>
                </a:solidFill>
                <a:latin typeface="+mn-lt"/>
                <a:ea typeface="+mn-ea"/>
                <a:cs typeface="+mn-cs"/>
              </a:defRPr>
            </a:lvl8pPr>
            <a:lvl9pPr marL="3657600" algn="r" defTabSz="914400" rtl="1" eaLnBrk="1" latinLnBrk="0" hangingPunct="1">
              <a:defRPr sz="1800" kern="1200">
                <a:solidFill>
                  <a:schemeClr val="lt1"/>
                </a:solidFill>
                <a:latin typeface="+mn-lt"/>
                <a:ea typeface="+mn-ea"/>
                <a:cs typeface="+mn-cs"/>
              </a:defRPr>
            </a:lvl9pPr>
          </a:lstStyle>
          <a:p>
            <a:pPr marL="0" marR="0" lvl="0" indent="0" algn="ctr" defTabSz="914400" rtl="1" eaLnBrk="1" fontAlgn="base" latinLnBrk="0" hangingPunct="1">
              <a:lnSpc>
                <a:spcPct val="100000"/>
              </a:lnSpc>
              <a:spcBef>
                <a:spcPct val="0"/>
              </a:spcBef>
              <a:spcAft>
                <a:spcPct val="0"/>
              </a:spcAft>
              <a:buClrTx/>
              <a:buSzTx/>
              <a:buFontTx/>
              <a:buNone/>
              <a:tabLst/>
              <a:defRPr/>
            </a:pPr>
            <a:r>
              <a:rPr kumimoji="0" lang="he-IL" sz="1100" b="1" i="0" u="none" strike="noStrike" kern="1200" cap="none" spc="0" normalizeH="0" baseline="0" noProof="0" dirty="0">
                <a:ln>
                  <a:noFill/>
                </a:ln>
                <a:solidFill>
                  <a:schemeClr val="bg1">
                    <a:lumMod val="65000"/>
                  </a:schemeClr>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כמות דוחות</a:t>
            </a:r>
            <a:endParaRPr kumimoji="0" lang="en-IL" sz="1100" b="1" i="0" u="none" strike="noStrike" kern="1200" cap="none" spc="0" normalizeH="0" baseline="0" noProof="0" dirty="0">
              <a:ln>
                <a:noFill/>
              </a:ln>
              <a:solidFill>
                <a:schemeClr val="bg1">
                  <a:lumMod val="65000"/>
                </a:schemeClr>
              </a:solidFill>
              <a:effectLst/>
              <a:uLnTx/>
              <a:uFillTx/>
              <a:latin typeface="Segoe UI" panose="020B0502040204020203" pitchFamily="34" charset="0"/>
              <a:ea typeface="+mn-ea"/>
              <a:cs typeface="Segoe UI" panose="020B0502040204020203" pitchFamily="34" charset="0"/>
            </a:endParaRPr>
          </a:p>
        </p:txBody>
      </p:sp>
      <p:sp>
        <p:nvSpPr>
          <p:cNvPr id="29" name="Rectangle: Rounded Corners 54">
            <a:hlinkClick r:id="" action="ppaction://noaction"/>
            <a:extLst>
              <a:ext uri="{FF2B5EF4-FFF2-40B4-BE49-F238E27FC236}">
                <a16:creationId xmlns:a16="http://schemas.microsoft.com/office/drawing/2014/main" id="{9E79F715-8F41-BA94-9FE2-ACC4E945B0C0}"/>
              </a:ext>
            </a:extLst>
          </p:cNvPr>
          <p:cNvSpPr/>
          <p:nvPr/>
        </p:nvSpPr>
        <p:spPr>
          <a:xfrm>
            <a:off x="3987424" y="6640710"/>
            <a:ext cx="900000" cy="144000"/>
          </a:xfrm>
          <a:prstGeom prst="roundRect">
            <a:avLst>
              <a:gd name="adj" fmla="val 50000"/>
            </a:avLst>
          </a:prstGeom>
          <a:solidFill>
            <a:schemeClr val="bg1"/>
          </a:solidFill>
          <a:ln w="12700">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r" defTabSz="914400" rtl="1" eaLnBrk="1" latinLnBrk="0" hangingPunct="1">
              <a:defRPr sz="1800" kern="1200">
                <a:solidFill>
                  <a:schemeClr val="lt1"/>
                </a:solidFill>
                <a:latin typeface="+mn-lt"/>
                <a:ea typeface="+mn-ea"/>
                <a:cs typeface="+mn-cs"/>
              </a:defRPr>
            </a:lvl1pPr>
            <a:lvl2pPr marL="457200" algn="r" defTabSz="914400" rtl="1" eaLnBrk="1" latinLnBrk="0" hangingPunct="1">
              <a:defRPr sz="1800" kern="1200">
                <a:solidFill>
                  <a:schemeClr val="lt1"/>
                </a:solidFill>
                <a:latin typeface="+mn-lt"/>
                <a:ea typeface="+mn-ea"/>
                <a:cs typeface="+mn-cs"/>
              </a:defRPr>
            </a:lvl2pPr>
            <a:lvl3pPr marL="914400" algn="r" defTabSz="914400" rtl="1" eaLnBrk="1" latinLnBrk="0" hangingPunct="1">
              <a:defRPr sz="1800" kern="1200">
                <a:solidFill>
                  <a:schemeClr val="lt1"/>
                </a:solidFill>
                <a:latin typeface="+mn-lt"/>
                <a:ea typeface="+mn-ea"/>
                <a:cs typeface="+mn-cs"/>
              </a:defRPr>
            </a:lvl3pPr>
            <a:lvl4pPr marL="1371600" algn="r" defTabSz="914400" rtl="1" eaLnBrk="1" latinLnBrk="0" hangingPunct="1">
              <a:defRPr sz="1800" kern="1200">
                <a:solidFill>
                  <a:schemeClr val="lt1"/>
                </a:solidFill>
                <a:latin typeface="+mn-lt"/>
                <a:ea typeface="+mn-ea"/>
                <a:cs typeface="+mn-cs"/>
              </a:defRPr>
            </a:lvl4pPr>
            <a:lvl5pPr marL="1828800" algn="r" defTabSz="914400" rtl="1" eaLnBrk="1" latinLnBrk="0" hangingPunct="1">
              <a:defRPr sz="1800" kern="1200">
                <a:solidFill>
                  <a:schemeClr val="lt1"/>
                </a:solidFill>
                <a:latin typeface="+mn-lt"/>
                <a:ea typeface="+mn-ea"/>
                <a:cs typeface="+mn-cs"/>
              </a:defRPr>
            </a:lvl5pPr>
            <a:lvl6pPr marL="2286000" algn="r" defTabSz="914400" rtl="1" eaLnBrk="1" latinLnBrk="0" hangingPunct="1">
              <a:defRPr sz="1800" kern="1200">
                <a:solidFill>
                  <a:schemeClr val="lt1"/>
                </a:solidFill>
                <a:latin typeface="+mn-lt"/>
                <a:ea typeface="+mn-ea"/>
                <a:cs typeface="+mn-cs"/>
              </a:defRPr>
            </a:lvl6pPr>
            <a:lvl7pPr marL="2743200" algn="r" defTabSz="914400" rtl="1" eaLnBrk="1" latinLnBrk="0" hangingPunct="1">
              <a:defRPr sz="1800" kern="1200">
                <a:solidFill>
                  <a:schemeClr val="lt1"/>
                </a:solidFill>
                <a:latin typeface="+mn-lt"/>
                <a:ea typeface="+mn-ea"/>
                <a:cs typeface="+mn-cs"/>
              </a:defRPr>
            </a:lvl7pPr>
            <a:lvl8pPr marL="3200400" algn="r" defTabSz="914400" rtl="1" eaLnBrk="1" latinLnBrk="0" hangingPunct="1">
              <a:defRPr sz="1800" kern="1200">
                <a:solidFill>
                  <a:schemeClr val="lt1"/>
                </a:solidFill>
                <a:latin typeface="+mn-lt"/>
                <a:ea typeface="+mn-ea"/>
                <a:cs typeface="+mn-cs"/>
              </a:defRPr>
            </a:lvl8pPr>
            <a:lvl9pPr marL="3657600" algn="r" defTabSz="914400" rtl="1" eaLnBrk="1" latinLnBrk="0" hangingPunct="1">
              <a:defRPr sz="1800" kern="1200">
                <a:solidFill>
                  <a:schemeClr val="lt1"/>
                </a:solidFill>
                <a:latin typeface="+mn-lt"/>
                <a:ea typeface="+mn-ea"/>
                <a:cs typeface="+mn-cs"/>
              </a:defRPr>
            </a:lvl9pPr>
          </a:lstStyle>
          <a:p>
            <a:pPr marL="0" marR="0" lvl="0" indent="0" algn="ctr" defTabSz="914400" rtl="1" eaLnBrk="1" fontAlgn="base" latinLnBrk="0" hangingPunct="1">
              <a:lnSpc>
                <a:spcPct val="100000"/>
              </a:lnSpc>
              <a:spcBef>
                <a:spcPct val="0"/>
              </a:spcBef>
              <a:spcAft>
                <a:spcPct val="0"/>
              </a:spcAft>
              <a:buClrTx/>
              <a:buSzTx/>
              <a:buFontTx/>
              <a:buNone/>
              <a:tabLst/>
              <a:defRPr/>
            </a:pPr>
            <a:r>
              <a:rPr kumimoji="0" lang="he-IL" sz="1100" b="0" i="0" u="none" strike="noStrike" kern="1200" cap="none" spc="0" normalizeH="0" baseline="0" noProof="0" dirty="0">
                <a:ln>
                  <a:noFill/>
                </a:ln>
                <a:solidFill>
                  <a:schemeClr val="bg1">
                    <a:lumMod val="65000"/>
                  </a:schemeClr>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מועד קבלה</a:t>
            </a:r>
            <a:endParaRPr kumimoji="0" lang="en-IL" sz="1100" b="0" i="0" u="none" strike="noStrike" kern="1200" cap="none" spc="0" normalizeH="0" baseline="0" noProof="0" dirty="0">
              <a:ln>
                <a:noFill/>
              </a:ln>
              <a:solidFill>
                <a:schemeClr val="bg1">
                  <a:lumMod val="65000"/>
                </a:schemeClr>
              </a:solidFill>
              <a:effectLst/>
              <a:uLnTx/>
              <a:uFillTx/>
              <a:latin typeface="Segoe UI" panose="020B0502040204020203" pitchFamily="34" charset="0"/>
              <a:ea typeface="+mn-ea"/>
              <a:cs typeface="Segoe UI" panose="020B0502040204020203" pitchFamily="34" charset="0"/>
            </a:endParaRPr>
          </a:p>
        </p:txBody>
      </p:sp>
      <p:sp>
        <p:nvSpPr>
          <p:cNvPr id="30" name="Rectangle: Rounded Corners 54">
            <a:hlinkClick r:id="" action="ppaction://noaction"/>
            <a:extLst>
              <a:ext uri="{FF2B5EF4-FFF2-40B4-BE49-F238E27FC236}">
                <a16:creationId xmlns:a16="http://schemas.microsoft.com/office/drawing/2014/main" id="{FA9E75AD-0992-66A9-74F8-2D7EA7B29CD2}"/>
              </a:ext>
            </a:extLst>
          </p:cNvPr>
          <p:cNvSpPr/>
          <p:nvPr/>
        </p:nvSpPr>
        <p:spPr>
          <a:xfrm>
            <a:off x="4939702" y="6649674"/>
            <a:ext cx="900000" cy="144000"/>
          </a:xfrm>
          <a:prstGeom prst="roundRect">
            <a:avLst>
              <a:gd name="adj" fmla="val 50000"/>
            </a:avLst>
          </a:prstGeom>
          <a:solidFill>
            <a:schemeClr val="bg1"/>
          </a:solidFill>
          <a:ln w="12700">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r" defTabSz="914400" rtl="1" eaLnBrk="1" latinLnBrk="0" hangingPunct="1">
              <a:defRPr sz="1800" kern="1200">
                <a:solidFill>
                  <a:schemeClr val="lt1"/>
                </a:solidFill>
                <a:latin typeface="+mn-lt"/>
                <a:ea typeface="+mn-ea"/>
                <a:cs typeface="+mn-cs"/>
              </a:defRPr>
            </a:lvl1pPr>
            <a:lvl2pPr marL="457200" algn="r" defTabSz="914400" rtl="1" eaLnBrk="1" latinLnBrk="0" hangingPunct="1">
              <a:defRPr sz="1800" kern="1200">
                <a:solidFill>
                  <a:schemeClr val="lt1"/>
                </a:solidFill>
                <a:latin typeface="+mn-lt"/>
                <a:ea typeface="+mn-ea"/>
                <a:cs typeface="+mn-cs"/>
              </a:defRPr>
            </a:lvl2pPr>
            <a:lvl3pPr marL="914400" algn="r" defTabSz="914400" rtl="1" eaLnBrk="1" latinLnBrk="0" hangingPunct="1">
              <a:defRPr sz="1800" kern="1200">
                <a:solidFill>
                  <a:schemeClr val="lt1"/>
                </a:solidFill>
                <a:latin typeface="+mn-lt"/>
                <a:ea typeface="+mn-ea"/>
                <a:cs typeface="+mn-cs"/>
              </a:defRPr>
            </a:lvl3pPr>
            <a:lvl4pPr marL="1371600" algn="r" defTabSz="914400" rtl="1" eaLnBrk="1" latinLnBrk="0" hangingPunct="1">
              <a:defRPr sz="1800" kern="1200">
                <a:solidFill>
                  <a:schemeClr val="lt1"/>
                </a:solidFill>
                <a:latin typeface="+mn-lt"/>
                <a:ea typeface="+mn-ea"/>
                <a:cs typeface="+mn-cs"/>
              </a:defRPr>
            </a:lvl4pPr>
            <a:lvl5pPr marL="1828800" algn="r" defTabSz="914400" rtl="1" eaLnBrk="1" latinLnBrk="0" hangingPunct="1">
              <a:defRPr sz="1800" kern="1200">
                <a:solidFill>
                  <a:schemeClr val="lt1"/>
                </a:solidFill>
                <a:latin typeface="+mn-lt"/>
                <a:ea typeface="+mn-ea"/>
                <a:cs typeface="+mn-cs"/>
              </a:defRPr>
            </a:lvl5pPr>
            <a:lvl6pPr marL="2286000" algn="r" defTabSz="914400" rtl="1" eaLnBrk="1" latinLnBrk="0" hangingPunct="1">
              <a:defRPr sz="1800" kern="1200">
                <a:solidFill>
                  <a:schemeClr val="lt1"/>
                </a:solidFill>
                <a:latin typeface="+mn-lt"/>
                <a:ea typeface="+mn-ea"/>
                <a:cs typeface="+mn-cs"/>
              </a:defRPr>
            </a:lvl6pPr>
            <a:lvl7pPr marL="2743200" algn="r" defTabSz="914400" rtl="1" eaLnBrk="1" latinLnBrk="0" hangingPunct="1">
              <a:defRPr sz="1800" kern="1200">
                <a:solidFill>
                  <a:schemeClr val="lt1"/>
                </a:solidFill>
                <a:latin typeface="+mn-lt"/>
                <a:ea typeface="+mn-ea"/>
                <a:cs typeface="+mn-cs"/>
              </a:defRPr>
            </a:lvl7pPr>
            <a:lvl8pPr marL="3200400" algn="r" defTabSz="914400" rtl="1" eaLnBrk="1" latinLnBrk="0" hangingPunct="1">
              <a:defRPr sz="1800" kern="1200">
                <a:solidFill>
                  <a:schemeClr val="lt1"/>
                </a:solidFill>
                <a:latin typeface="+mn-lt"/>
                <a:ea typeface="+mn-ea"/>
                <a:cs typeface="+mn-cs"/>
              </a:defRPr>
            </a:lvl8pPr>
            <a:lvl9pPr marL="3657600" algn="r" defTabSz="914400" rtl="1" eaLnBrk="1" latinLnBrk="0" hangingPunct="1">
              <a:defRPr sz="1800" kern="1200">
                <a:solidFill>
                  <a:schemeClr val="lt1"/>
                </a:solidFill>
                <a:latin typeface="+mn-lt"/>
                <a:ea typeface="+mn-ea"/>
                <a:cs typeface="+mn-cs"/>
              </a:defRPr>
            </a:lvl9pPr>
          </a:lstStyle>
          <a:p>
            <a:pPr marL="0" marR="0" lvl="0" indent="0" algn="ctr" defTabSz="914400" rtl="1" eaLnBrk="1" fontAlgn="base" latinLnBrk="0" hangingPunct="1">
              <a:lnSpc>
                <a:spcPct val="100000"/>
              </a:lnSpc>
              <a:spcBef>
                <a:spcPct val="0"/>
              </a:spcBef>
              <a:spcAft>
                <a:spcPct val="0"/>
              </a:spcAft>
              <a:buClrTx/>
              <a:buSzTx/>
              <a:buFontTx/>
              <a:buNone/>
              <a:tabLst/>
              <a:defRPr/>
            </a:pPr>
            <a:r>
              <a:rPr kumimoji="0" lang="he-IL" sz="1100" b="0" i="0" u="none" strike="noStrike" kern="1200" cap="none" spc="0" normalizeH="0" baseline="0" noProof="0" dirty="0">
                <a:ln>
                  <a:noFill/>
                </a:ln>
                <a:solidFill>
                  <a:schemeClr val="bg1">
                    <a:lumMod val="65000"/>
                  </a:schemeClr>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אופן קבלה</a:t>
            </a:r>
            <a:endParaRPr kumimoji="0" lang="en-IL" sz="1100" b="0" i="0" u="none" strike="noStrike" kern="1200" cap="none" spc="0" normalizeH="0" baseline="0" noProof="0" dirty="0">
              <a:ln>
                <a:noFill/>
              </a:ln>
              <a:solidFill>
                <a:schemeClr val="bg1">
                  <a:lumMod val="65000"/>
                </a:schemeClr>
              </a:solidFill>
              <a:effectLst/>
              <a:uLnTx/>
              <a:uFillTx/>
              <a:latin typeface="Segoe UI" panose="020B0502040204020203" pitchFamily="34" charset="0"/>
              <a:ea typeface="+mn-ea"/>
              <a:cs typeface="Segoe UI" panose="020B0502040204020203" pitchFamily="34" charset="0"/>
            </a:endParaRPr>
          </a:p>
        </p:txBody>
      </p:sp>
      <p:sp>
        <p:nvSpPr>
          <p:cNvPr id="31" name="Rectangle: Rounded Corners 54">
            <a:hlinkClick r:id="" action="ppaction://noaction"/>
            <a:extLst>
              <a:ext uri="{FF2B5EF4-FFF2-40B4-BE49-F238E27FC236}">
                <a16:creationId xmlns:a16="http://schemas.microsoft.com/office/drawing/2014/main" id="{EA9FC799-2A6C-E3BB-B9FC-0019F164DB78}"/>
              </a:ext>
            </a:extLst>
          </p:cNvPr>
          <p:cNvSpPr/>
          <p:nvPr/>
        </p:nvSpPr>
        <p:spPr>
          <a:xfrm>
            <a:off x="5891980" y="6649674"/>
            <a:ext cx="1080000" cy="144000"/>
          </a:xfrm>
          <a:prstGeom prst="roundRect">
            <a:avLst>
              <a:gd name="adj" fmla="val 50000"/>
            </a:avLst>
          </a:prstGeom>
          <a:solidFill>
            <a:schemeClr val="bg1">
              <a:lumMod val="95000"/>
            </a:schemeClr>
          </a:solidFill>
          <a:ln w="12700">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r" defTabSz="914400" rtl="1" eaLnBrk="1" latinLnBrk="0" hangingPunct="1">
              <a:defRPr sz="1800" kern="1200">
                <a:solidFill>
                  <a:schemeClr val="lt1"/>
                </a:solidFill>
                <a:latin typeface="+mn-lt"/>
                <a:ea typeface="+mn-ea"/>
                <a:cs typeface="+mn-cs"/>
              </a:defRPr>
            </a:lvl1pPr>
            <a:lvl2pPr marL="457200" algn="r" defTabSz="914400" rtl="1" eaLnBrk="1" latinLnBrk="0" hangingPunct="1">
              <a:defRPr sz="1800" kern="1200">
                <a:solidFill>
                  <a:schemeClr val="lt1"/>
                </a:solidFill>
                <a:latin typeface="+mn-lt"/>
                <a:ea typeface="+mn-ea"/>
                <a:cs typeface="+mn-cs"/>
              </a:defRPr>
            </a:lvl2pPr>
            <a:lvl3pPr marL="914400" algn="r" defTabSz="914400" rtl="1" eaLnBrk="1" latinLnBrk="0" hangingPunct="1">
              <a:defRPr sz="1800" kern="1200">
                <a:solidFill>
                  <a:schemeClr val="lt1"/>
                </a:solidFill>
                <a:latin typeface="+mn-lt"/>
                <a:ea typeface="+mn-ea"/>
                <a:cs typeface="+mn-cs"/>
              </a:defRPr>
            </a:lvl3pPr>
            <a:lvl4pPr marL="1371600" algn="r" defTabSz="914400" rtl="1" eaLnBrk="1" latinLnBrk="0" hangingPunct="1">
              <a:defRPr sz="1800" kern="1200">
                <a:solidFill>
                  <a:schemeClr val="lt1"/>
                </a:solidFill>
                <a:latin typeface="+mn-lt"/>
                <a:ea typeface="+mn-ea"/>
                <a:cs typeface="+mn-cs"/>
              </a:defRPr>
            </a:lvl4pPr>
            <a:lvl5pPr marL="1828800" algn="r" defTabSz="914400" rtl="1" eaLnBrk="1" latinLnBrk="0" hangingPunct="1">
              <a:defRPr sz="1800" kern="1200">
                <a:solidFill>
                  <a:schemeClr val="lt1"/>
                </a:solidFill>
                <a:latin typeface="+mn-lt"/>
                <a:ea typeface="+mn-ea"/>
                <a:cs typeface="+mn-cs"/>
              </a:defRPr>
            </a:lvl5pPr>
            <a:lvl6pPr marL="2286000" algn="r" defTabSz="914400" rtl="1" eaLnBrk="1" latinLnBrk="0" hangingPunct="1">
              <a:defRPr sz="1800" kern="1200">
                <a:solidFill>
                  <a:schemeClr val="lt1"/>
                </a:solidFill>
                <a:latin typeface="+mn-lt"/>
                <a:ea typeface="+mn-ea"/>
                <a:cs typeface="+mn-cs"/>
              </a:defRPr>
            </a:lvl6pPr>
            <a:lvl7pPr marL="2743200" algn="r" defTabSz="914400" rtl="1" eaLnBrk="1" latinLnBrk="0" hangingPunct="1">
              <a:defRPr sz="1800" kern="1200">
                <a:solidFill>
                  <a:schemeClr val="lt1"/>
                </a:solidFill>
                <a:latin typeface="+mn-lt"/>
                <a:ea typeface="+mn-ea"/>
                <a:cs typeface="+mn-cs"/>
              </a:defRPr>
            </a:lvl7pPr>
            <a:lvl8pPr marL="3200400" algn="r" defTabSz="914400" rtl="1" eaLnBrk="1" latinLnBrk="0" hangingPunct="1">
              <a:defRPr sz="1800" kern="1200">
                <a:solidFill>
                  <a:schemeClr val="lt1"/>
                </a:solidFill>
                <a:latin typeface="+mn-lt"/>
                <a:ea typeface="+mn-ea"/>
                <a:cs typeface="+mn-cs"/>
              </a:defRPr>
            </a:lvl8pPr>
            <a:lvl9pPr marL="3657600" algn="r" defTabSz="914400" rtl="1" eaLnBrk="1" latinLnBrk="0" hangingPunct="1">
              <a:defRPr sz="1800" kern="1200">
                <a:solidFill>
                  <a:schemeClr val="lt1"/>
                </a:solidFill>
                <a:latin typeface="+mn-lt"/>
                <a:ea typeface="+mn-ea"/>
                <a:cs typeface="+mn-cs"/>
              </a:defRPr>
            </a:lvl9pPr>
          </a:lstStyle>
          <a:p>
            <a:pPr marL="0" marR="0" lvl="0" indent="0" algn="ctr" defTabSz="914400" rtl="1" eaLnBrk="1" fontAlgn="base" latinLnBrk="0" hangingPunct="1">
              <a:lnSpc>
                <a:spcPct val="100000"/>
              </a:lnSpc>
              <a:spcBef>
                <a:spcPct val="0"/>
              </a:spcBef>
              <a:spcAft>
                <a:spcPct val="0"/>
              </a:spcAft>
              <a:buClrTx/>
              <a:buSzTx/>
              <a:buFontTx/>
              <a:buNone/>
              <a:tabLst/>
              <a:defRPr/>
            </a:pPr>
            <a:r>
              <a:rPr kumimoji="0" lang="he-IL" sz="1100" b="1" i="0" u="none" strike="noStrike" kern="1200" cap="none" spc="0" normalizeH="0" baseline="0" noProof="0" dirty="0">
                <a:ln>
                  <a:noFill/>
                </a:ln>
                <a:solidFill>
                  <a:srgbClr val="002060"/>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&lt;-- סוג הדוח</a:t>
            </a:r>
            <a:endParaRPr kumimoji="0" lang="en-IL" sz="1100" b="1" i="0" u="none" strike="noStrike" kern="1200" cap="none" spc="0" normalizeH="0" baseline="0" noProof="0" dirty="0">
              <a:ln>
                <a:noFill/>
              </a:ln>
              <a:solidFill>
                <a:srgbClr val="002060"/>
              </a:solidFill>
              <a:effectLst/>
              <a:uLnTx/>
              <a:uFillTx/>
              <a:latin typeface="Segoe UI" panose="020B0502040204020203" pitchFamily="34" charset="0"/>
              <a:ea typeface="+mn-ea"/>
              <a:cs typeface="Segoe UI" panose="020B0502040204020203" pitchFamily="34" charset="0"/>
            </a:endParaRPr>
          </a:p>
        </p:txBody>
      </p:sp>
      <p:cxnSp>
        <p:nvCxnSpPr>
          <p:cNvPr id="17" name="Straight Connector 6">
            <a:extLst>
              <a:ext uri="{FF2B5EF4-FFF2-40B4-BE49-F238E27FC236}">
                <a16:creationId xmlns:a16="http://schemas.microsoft.com/office/drawing/2014/main" id="{548B875C-3AE7-29CA-E3ED-13C80EA41A5B}"/>
              </a:ext>
            </a:extLst>
          </p:cNvPr>
          <p:cNvCxnSpPr>
            <a:cxnSpLocks/>
          </p:cNvCxnSpPr>
          <p:nvPr/>
        </p:nvCxnSpPr>
        <p:spPr>
          <a:xfrm rot="16200000" flipV="1">
            <a:off x="6096000" y="-367079"/>
            <a:ext cx="0" cy="10800000"/>
          </a:xfrm>
          <a:prstGeom prst="line">
            <a:avLst/>
          </a:prstGeom>
          <a:ln w="25400" cap="rnd">
            <a:solidFill>
              <a:schemeClr val="bg1">
                <a:lumMod val="85000"/>
              </a:schemeClr>
            </a:solidFill>
            <a:round/>
          </a:ln>
        </p:spPr>
        <p:style>
          <a:lnRef idx="1">
            <a:schemeClr val="accent1"/>
          </a:lnRef>
          <a:fillRef idx="0">
            <a:schemeClr val="accent1"/>
          </a:fillRef>
          <a:effectRef idx="0">
            <a:schemeClr val="accent1"/>
          </a:effectRef>
          <a:fontRef idx="minor">
            <a:schemeClr val="tx1"/>
          </a:fontRef>
        </p:style>
      </p:cxnSp>
      <p:sp>
        <p:nvSpPr>
          <p:cNvPr id="32" name="Rectangle 6">
            <a:extLst>
              <a:ext uri="{FF2B5EF4-FFF2-40B4-BE49-F238E27FC236}">
                <a16:creationId xmlns:a16="http://schemas.microsoft.com/office/drawing/2014/main" id="{E6AE4764-5698-0D81-1181-F2C0C0075DCF}"/>
              </a:ext>
            </a:extLst>
          </p:cNvPr>
          <p:cNvSpPr/>
          <p:nvPr/>
        </p:nvSpPr>
        <p:spPr>
          <a:xfrm>
            <a:off x="574676" y="5150790"/>
            <a:ext cx="11201399" cy="1095025"/>
          </a:xfrm>
          <a:prstGeom prst="rect">
            <a:avLst/>
          </a:prstGeom>
        </p:spPr>
        <p:txBody>
          <a:bodyPr wrap="square" anchor="ctr">
            <a:noAutofit/>
          </a:bodyPr>
          <a:lstStyle/>
          <a:p>
            <a:pPr algn="ctr" rtl="1">
              <a:lnSpc>
                <a:spcPct val="150000"/>
              </a:lnSpc>
            </a:pPr>
            <a:r>
              <a:rPr lang="he-IL" sz="1200" dirty="0">
                <a:latin typeface="Segoe UI" panose="020B0502040204020203" pitchFamily="34" charset="0"/>
                <a:cs typeface="Segoe UI" panose="020B0502040204020203" pitchFamily="34" charset="0"/>
              </a:rPr>
              <a:t>(כצפוי...) </a:t>
            </a:r>
            <a:r>
              <a:rPr lang="he-IL" sz="1600" dirty="0">
                <a:latin typeface="Segoe UI" panose="020B0502040204020203" pitchFamily="34" charset="0"/>
                <a:cs typeface="Segoe UI" panose="020B0502040204020203" pitchFamily="34" charset="0"/>
              </a:rPr>
              <a:t>אלה שקיבלו יותר מדו"ח אחד נוטים יותר לעבירות "חוזרות" עם יותר סוגי דוחות – בעיקר </a:t>
            </a:r>
            <a:r>
              <a:rPr lang="he-IL" sz="1600">
                <a:latin typeface="Segoe UI" panose="020B0502040204020203" pitchFamily="34" charset="0"/>
                <a:cs typeface="Segoe UI" panose="020B0502040204020203" pitchFamily="34" charset="0"/>
              </a:rPr>
              <a:t>בשלושת הנושאים המרכזיים.</a:t>
            </a:r>
          </a:p>
          <a:p>
            <a:pPr algn="ctr" rtl="1">
              <a:lnSpc>
                <a:spcPct val="150000"/>
              </a:lnSpc>
            </a:pPr>
            <a:r>
              <a:rPr lang="he-IL" sz="1600" b="1" dirty="0">
                <a:solidFill>
                  <a:srgbClr val="1D1C64"/>
                </a:solidFill>
                <a:latin typeface="Segoe UI" panose="020B0502040204020203" pitchFamily="34" charset="0"/>
                <a:cs typeface="Segoe UI" panose="020B0502040204020203" pitchFamily="34" charset="0"/>
              </a:rPr>
              <a:t>ולכן מומלץ לייצר עבורם  מסע קצר וברור יותר עם הכוונה יזומה, כי הם מועדים יותר להיכנס שוב לתהליך</a:t>
            </a:r>
            <a:r>
              <a:rPr lang="en-US" sz="1600" b="1">
                <a:solidFill>
                  <a:srgbClr val="1D1C64"/>
                </a:solidFill>
                <a:latin typeface="Segoe UI" panose="020B0502040204020203" pitchFamily="34" charset="0"/>
                <a:cs typeface="Segoe UI" panose="020B0502040204020203" pitchFamily="34" charset="0"/>
              </a:rPr>
              <a:t>.</a:t>
            </a:r>
            <a:endParaRPr lang="en-US" sz="1600" b="1" dirty="0">
              <a:solidFill>
                <a:srgbClr val="1D1C64"/>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7585222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
                                            <p:txEl>
                                              <p:pRg st="1" end="1"/>
                                            </p:txEl>
                                          </p:spTgt>
                                        </p:tgtEl>
                                        <p:attrNameLst>
                                          <p:attrName>style.visibility</p:attrName>
                                        </p:attrNameLst>
                                      </p:cBhvr>
                                      <p:to>
                                        <p:strVal val="visible"/>
                                      </p:to>
                                    </p:set>
                                    <p:animEffect transition="in" filter="fade">
                                      <p:cBhvr>
                                        <p:cTn id="7" dur="500"/>
                                        <p:tgtEl>
                                          <p:spTgt spid="3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47F20E5-E9DF-6A06-DC9E-77223FDED39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3C6BE65-F6BB-0380-19B7-AAD788BC294B}"/>
              </a:ext>
            </a:extLst>
          </p:cNvPr>
          <p:cNvSpPr>
            <a:spLocks noGrp="1"/>
          </p:cNvSpPr>
          <p:nvPr>
            <p:ph type="sldNum" sz="quarter" idx="4"/>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7A91BF3F-E284-4570-AC28-CDAE2F1A1EA1}" type="slidenum">
              <a:rPr kumimoji="0" lang="he-IL" sz="1100" b="0" i="0" u="none" strike="noStrike" kern="1200" cap="none" spc="0" normalizeH="0" baseline="0" noProof="0" smtClean="0">
                <a:ln>
                  <a:noFill/>
                </a:ln>
                <a:solidFill>
                  <a:prstClr val="white">
                    <a:lumMod val="75000"/>
                  </a:prstClr>
                </a:solidFill>
                <a:effectLst/>
                <a:uLnTx/>
                <a:uFillTx/>
                <a:latin typeface="Segoe UI" panose="020B0502040204020203" pitchFamily="34" charset="0"/>
                <a:ea typeface="+mn-ea"/>
                <a:cs typeface="Segoe UI" panose="020B0502040204020203"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12</a:t>
            </a:fld>
            <a:endParaRPr kumimoji="0" lang="he-IL" sz="1100" b="0" i="0" u="none" strike="noStrike" kern="1200" cap="none" spc="0" normalizeH="0" baseline="0" noProof="0" dirty="0">
              <a:ln>
                <a:noFill/>
              </a:ln>
              <a:solidFill>
                <a:prstClr val="white">
                  <a:lumMod val="75000"/>
                </a:prstClr>
              </a:solidFill>
              <a:effectLst/>
              <a:uLnTx/>
              <a:uFillTx/>
              <a:latin typeface="Segoe UI" panose="020B0502040204020203" pitchFamily="34" charset="0"/>
              <a:ea typeface="+mn-ea"/>
              <a:cs typeface="Segoe UI" panose="020B0502040204020203" pitchFamily="34" charset="0"/>
            </a:endParaRPr>
          </a:p>
        </p:txBody>
      </p:sp>
      <p:sp>
        <p:nvSpPr>
          <p:cNvPr id="7" name="Rectangle 3">
            <a:extLst>
              <a:ext uri="{FF2B5EF4-FFF2-40B4-BE49-F238E27FC236}">
                <a16:creationId xmlns:a16="http://schemas.microsoft.com/office/drawing/2014/main" id="{6056E993-4DA8-0AA1-2AA9-A2DDF90A7B8B}"/>
              </a:ext>
            </a:extLst>
          </p:cNvPr>
          <p:cNvSpPr/>
          <p:nvPr/>
        </p:nvSpPr>
        <p:spPr>
          <a:xfrm>
            <a:off x="1320802" y="191076"/>
            <a:ext cx="10614278" cy="5075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t"/>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0" cap="none" spc="0" normalizeH="0" baseline="0" noProof="0" dirty="0">
                <a:ln>
                  <a:noFill/>
                </a:ln>
                <a:solidFill>
                  <a:srgbClr val="104E88"/>
                </a:solidFill>
                <a:effectLst/>
                <a:uLnTx/>
                <a:uFillTx/>
                <a:latin typeface="Segoe UI" panose="020B0502040204020203" pitchFamily="34" charset="0"/>
                <a:cs typeface="Segoe UI" panose="020B0502040204020203" pitchFamily="34" charset="0"/>
                <a:sym typeface="Arial"/>
              </a:rPr>
              <a:t>סוג הדוח </a:t>
            </a:r>
            <a:r>
              <a:rPr kumimoji="0" lang="he-IL" b="0" i="0" u="none" strike="noStrike" kern="0" cap="none" spc="0" normalizeH="0" baseline="0" noProof="0" dirty="0">
                <a:ln>
                  <a:noFill/>
                </a:ln>
                <a:solidFill>
                  <a:srgbClr val="104E88"/>
                </a:solidFill>
                <a:effectLst/>
                <a:uLnTx/>
                <a:uFillTx/>
                <a:latin typeface="Segoe UI" panose="020B0502040204020203" pitchFamily="34" charset="0"/>
                <a:cs typeface="Segoe UI" panose="020B0502040204020203" pitchFamily="34" charset="0"/>
                <a:sym typeface="Arial"/>
              </a:rPr>
              <a:t>| לפי מועד קבלת הדוח</a:t>
            </a:r>
            <a:endParaRPr kumimoji="0" lang="he-IL" sz="2800" b="0" i="0" u="none" strike="noStrike" kern="0" cap="none" spc="0" normalizeH="0" baseline="0" noProof="0" dirty="0">
              <a:ln>
                <a:noFill/>
              </a:ln>
              <a:solidFill>
                <a:srgbClr val="104E88"/>
              </a:solidFill>
              <a:effectLst/>
              <a:uLnTx/>
              <a:uFillTx/>
              <a:latin typeface="Segoe UI" panose="020B0502040204020203" pitchFamily="34" charset="0"/>
              <a:cs typeface="Segoe UI" panose="020B0502040204020203" pitchFamily="34" charset="0"/>
              <a:sym typeface="Arial"/>
            </a:endParaRPr>
          </a:p>
        </p:txBody>
      </p:sp>
      <p:cxnSp>
        <p:nvCxnSpPr>
          <p:cNvPr id="5" name="מחבר ישר 4">
            <a:extLst>
              <a:ext uri="{FF2B5EF4-FFF2-40B4-BE49-F238E27FC236}">
                <a16:creationId xmlns:a16="http://schemas.microsoft.com/office/drawing/2014/main" id="{C7E4B4F0-2313-6E44-EDFF-3583D952E4EF}"/>
              </a:ext>
            </a:extLst>
          </p:cNvPr>
          <p:cNvCxnSpPr>
            <a:cxnSpLocks/>
          </p:cNvCxnSpPr>
          <p:nvPr/>
        </p:nvCxnSpPr>
        <p:spPr>
          <a:xfrm>
            <a:off x="6252733" y="994599"/>
            <a:ext cx="0" cy="3960000"/>
          </a:xfrm>
          <a:prstGeom prst="line">
            <a:avLst/>
          </a:prstGeom>
          <a:ln>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8" name="תיבת טקסט 7">
            <a:extLst>
              <a:ext uri="{FF2B5EF4-FFF2-40B4-BE49-F238E27FC236}">
                <a16:creationId xmlns:a16="http://schemas.microsoft.com/office/drawing/2014/main" id="{3109BDFB-51AE-CB85-7159-05746A46C74B}"/>
              </a:ext>
            </a:extLst>
          </p:cNvPr>
          <p:cNvSpPr txBox="1"/>
          <p:nvPr/>
        </p:nvSpPr>
        <p:spPr>
          <a:xfrm>
            <a:off x="2344998" y="922909"/>
            <a:ext cx="2520000" cy="307777"/>
          </a:xfrm>
          <a:prstGeom prst="rect">
            <a:avLst/>
          </a:prstGeom>
          <a:noFill/>
        </p:spPr>
        <p:txBody>
          <a:bodyPr wrap="square">
            <a:spAutoFit/>
          </a:bodyPr>
          <a:lstStyle/>
          <a:p>
            <a:pPr algn="ctr" rtl="1" fontAlgn="ctr"/>
            <a:r>
              <a:rPr lang="he-IL" sz="1400" b="1" u="none" strike="noStrike" dirty="0">
                <a:effectLst/>
                <a:latin typeface="Segoe UI" panose="020B0502040204020203" pitchFamily="34" charset="0"/>
                <a:cs typeface="Segoe UI" panose="020B0502040204020203" pitchFamily="34" charset="0"/>
              </a:rPr>
              <a:t>לא ביקשו להישפט</a:t>
            </a:r>
          </a:p>
        </p:txBody>
      </p:sp>
      <p:sp>
        <p:nvSpPr>
          <p:cNvPr id="9" name="תיבת טקסט 8">
            <a:extLst>
              <a:ext uri="{FF2B5EF4-FFF2-40B4-BE49-F238E27FC236}">
                <a16:creationId xmlns:a16="http://schemas.microsoft.com/office/drawing/2014/main" id="{84866178-6EAD-0F2E-1A9D-E4CF1CE7A956}"/>
              </a:ext>
            </a:extLst>
          </p:cNvPr>
          <p:cNvSpPr txBox="1"/>
          <p:nvPr/>
        </p:nvSpPr>
        <p:spPr>
          <a:xfrm>
            <a:off x="7872788" y="881749"/>
            <a:ext cx="2520000" cy="307777"/>
          </a:xfrm>
          <a:prstGeom prst="rect">
            <a:avLst/>
          </a:prstGeom>
          <a:noFill/>
        </p:spPr>
        <p:txBody>
          <a:bodyPr wrap="square">
            <a:spAutoFit/>
          </a:bodyPr>
          <a:lstStyle/>
          <a:p>
            <a:pPr algn="ctr" rtl="1" fontAlgn="b"/>
            <a:r>
              <a:rPr lang="he-IL" sz="1400" b="1" u="none" strike="noStrike" dirty="0">
                <a:effectLst/>
                <a:latin typeface="Segoe UI" panose="020B0502040204020203" pitchFamily="34" charset="0"/>
                <a:cs typeface="Segoe UI" panose="020B0502040204020203" pitchFamily="34" charset="0"/>
              </a:rPr>
              <a:t>ביקשו להישפט</a:t>
            </a:r>
            <a:endParaRPr lang="he-IL" sz="1400" b="1" i="0" u="none" strike="noStrike" dirty="0">
              <a:solidFill>
                <a:srgbClr val="000000"/>
              </a:solidFill>
              <a:effectLst/>
              <a:latin typeface="Segoe UI" panose="020B0502040204020203" pitchFamily="34" charset="0"/>
              <a:cs typeface="Segoe UI" panose="020B0502040204020203" pitchFamily="34" charset="0"/>
            </a:endParaRPr>
          </a:p>
        </p:txBody>
      </p:sp>
      <p:sp>
        <p:nvSpPr>
          <p:cNvPr id="19" name="תיבת טקסט 18">
            <a:extLst>
              <a:ext uri="{FF2B5EF4-FFF2-40B4-BE49-F238E27FC236}">
                <a16:creationId xmlns:a16="http://schemas.microsoft.com/office/drawing/2014/main" id="{0E16F4E9-35EC-1BF7-2153-9E4304BE708B}"/>
              </a:ext>
            </a:extLst>
          </p:cNvPr>
          <p:cNvSpPr txBox="1"/>
          <p:nvPr/>
        </p:nvSpPr>
        <p:spPr>
          <a:xfrm>
            <a:off x="1412484" y="1456962"/>
            <a:ext cx="1440000" cy="288000"/>
          </a:xfrm>
          <a:prstGeom prst="rect">
            <a:avLst/>
          </a:prstGeom>
          <a:noFill/>
        </p:spPr>
        <p:txBody>
          <a:bodyPr wrap="square">
            <a:spAutoFit/>
          </a:bodyPr>
          <a:lstStyle/>
          <a:p>
            <a:pPr rtl="1" fontAlgn="ctr"/>
            <a:r>
              <a:rPr lang="he-IL" sz="1200" b="1" u="none" strike="noStrike" dirty="0">
                <a:effectLst/>
                <a:latin typeface="Segoe UI" panose="020B0502040204020203" pitchFamily="34" charset="0"/>
                <a:cs typeface="Segoe UI" panose="020B0502040204020203" pitchFamily="34" charset="0"/>
              </a:rPr>
              <a:t>מגזר יהודי</a:t>
            </a:r>
          </a:p>
        </p:txBody>
      </p:sp>
      <p:sp>
        <p:nvSpPr>
          <p:cNvPr id="20" name="תיבת טקסט 19">
            <a:extLst>
              <a:ext uri="{FF2B5EF4-FFF2-40B4-BE49-F238E27FC236}">
                <a16:creationId xmlns:a16="http://schemas.microsoft.com/office/drawing/2014/main" id="{9DF3002B-44AB-31BD-7A3D-8479156911BF}"/>
              </a:ext>
            </a:extLst>
          </p:cNvPr>
          <p:cNvSpPr txBox="1"/>
          <p:nvPr/>
        </p:nvSpPr>
        <p:spPr>
          <a:xfrm>
            <a:off x="4208946" y="1456962"/>
            <a:ext cx="1440000" cy="288000"/>
          </a:xfrm>
          <a:prstGeom prst="rect">
            <a:avLst/>
          </a:prstGeom>
          <a:noFill/>
        </p:spPr>
        <p:txBody>
          <a:bodyPr wrap="square">
            <a:spAutoFit/>
          </a:bodyPr>
          <a:lstStyle/>
          <a:p>
            <a:pPr rtl="1" fontAlgn="ctr"/>
            <a:r>
              <a:rPr lang="he-IL" sz="1200" b="1" u="none" strike="noStrike" dirty="0">
                <a:effectLst/>
                <a:latin typeface="Segoe UI" panose="020B0502040204020203" pitchFamily="34" charset="0"/>
                <a:cs typeface="Segoe UI" panose="020B0502040204020203" pitchFamily="34" charset="0"/>
              </a:rPr>
              <a:t>מגזר ערבי</a:t>
            </a:r>
          </a:p>
        </p:txBody>
      </p:sp>
      <p:sp>
        <p:nvSpPr>
          <p:cNvPr id="21" name="תיבת טקסט 20">
            <a:extLst>
              <a:ext uri="{FF2B5EF4-FFF2-40B4-BE49-F238E27FC236}">
                <a16:creationId xmlns:a16="http://schemas.microsoft.com/office/drawing/2014/main" id="{C00F0F2F-17B6-B030-4AB0-A5C9B0BE668C}"/>
              </a:ext>
            </a:extLst>
          </p:cNvPr>
          <p:cNvSpPr txBox="1"/>
          <p:nvPr/>
        </p:nvSpPr>
        <p:spPr>
          <a:xfrm>
            <a:off x="7049184" y="1456962"/>
            <a:ext cx="1440000" cy="288000"/>
          </a:xfrm>
          <a:prstGeom prst="rect">
            <a:avLst/>
          </a:prstGeom>
          <a:noFill/>
        </p:spPr>
        <p:txBody>
          <a:bodyPr wrap="square">
            <a:spAutoFit/>
          </a:bodyPr>
          <a:lstStyle/>
          <a:p>
            <a:pPr rtl="1" fontAlgn="ctr"/>
            <a:r>
              <a:rPr lang="he-IL" sz="1200" b="1" u="none" strike="noStrike" dirty="0">
                <a:effectLst/>
                <a:latin typeface="Segoe UI" panose="020B0502040204020203" pitchFamily="34" charset="0"/>
                <a:cs typeface="Segoe UI" panose="020B0502040204020203" pitchFamily="34" charset="0"/>
              </a:rPr>
              <a:t>מגזר יהודי</a:t>
            </a:r>
          </a:p>
        </p:txBody>
      </p:sp>
      <p:sp>
        <p:nvSpPr>
          <p:cNvPr id="22" name="תיבת טקסט 21">
            <a:extLst>
              <a:ext uri="{FF2B5EF4-FFF2-40B4-BE49-F238E27FC236}">
                <a16:creationId xmlns:a16="http://schemas.microsoft.com/office/drawing/2014/main" id="{79198427-E8EF-C679-5A7E-9348B96193A8}"/>
              </a:ext>
            </a:extLst>
          </p:cNvPr>
          <p:cNvSpPr txBox="1"/>
          <p:nvPr/>
        </p:nvSpPr>
        <p:spPr>
          <a:xfrm>
            <a:off x="9774566" y="1456962"/>
            <a:ext cx="1440000" cy="288000"/>
          </a:xfrm>
          <a:prstGeom prst="rect">
            <a:avLst/>
          </a:prstGeom>
          <a:noFill/>
        </p:spPr>
        <p:txBody>
          <a:bodyPr wrap="square">
            <a:spAutoFit/>
          </a:bodyPr>
          <a:lstStyle/>
          <a:p>
            <a:pPr rtl="1" fontAlgn="ctr"/>
            <a:r>
              <a:rPr lang="he-IL" sz="1200" b="1" u="none" strike="noStrike" dirty="0">
                <a:effectLst/>
                <a:latin typeface="Segoe UI" panose="020B0502040204020203" pitchFamily="34" charset="0"/>
                <a:cs typeface="Segoe UI" panose="020B0502040204020203" pitchFamily="34" charset="0"/>
              </a:rPr>
              <a:t>מגזר ערבי</a:t>
            </a:r>
          </a:p>
        </p:txBody>
      </p:sp>
      <p:graphicFrame>
        <p:nvGraphicFramePr>
          <p:cNvPr id="6" name="Chart 3">
            <a:extLst>
              <a:ext uri="{FF2B5EF4-FFF2-40B4-BE49-F238E27FC236}">
                <a16:creationId xmlns:a16="http://schemas.microsoft.com/office/drawing/2014/main" id="{D86495C8-5B37-3073-BF7E-2A707D6D8021}"/>
              </a:ext>
            </a:extLst>
          </p:cNvPr>
          <p:cNvGraphicFramePr/>
          <p:nvPr>
            <p:extLst>
              <p:ext uri="{D42A27DB-BD31-4B8C-83A1-F6EECF244321}">
                <p14:modId xmlns:p14="http://schemas.microsoft.com/office/powerpoint/2010/main" val="206701738"/>
              </p:ext>
            </p:extLst>
          </p:nvPr>
        </p:nvGraphicFramePr>
        <p:xfrm>
          <a:off x="699158" y="1569259"/>
          <a:ext cx="3058122" cy="3420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טבלה 9">
            <a:extLst>
              <a:ext uri="{FF2B5EF4-FFF2-40B4-BE49-F238E27FC236}">
                <a16:creationId xmlns:a16="http://schemas.microsoft.com/office/drawing/2014/main" id="{C99B1922-4FED-0F0F-6A3A-2000DE10AEE9}"/>
              </a:ext>
            </a:extLst>
          </p:cNvPr>
          <p:cNvGraphicFramePr>
            <a:graphicFrameLocks noGrp="1"/>
          </p:cNvGraphicFramePr>
          <p:nvPr/>
        </p:nvGraphicFramePr>
        <p:xfrm>
          <a:off x="86335" y="1698177"/>
          <a:ext cx="1296000" cy="3240000"/>
        </p:xfrm>
        <a:graphic>
          <a:graphicData uri="http://schemas.openxmlformats.org/drawingml/2006/table">
            <a:tbl>
              <a:tblPr rtl="1" firstRow="1" bandRow="1">
                <a:tableStyleId>{2D5ABB26-0587-4C30-8999-92F81FD0307C}</a:tableStyleId>
              </a:tblPr>
              <a:tblGrid>
                <a:gridCol w="1296000">
                  <a:extLst>
                    <a:ext uri="{9D8B030D-6E8A-4147-A177-3AD203B41FA5}">
                      <a16:colId xmlns:a16="http://schemas.microsoft.com/office/drawing/2014/main" val="581933871"/>
                    </a:ext>
                  </a:extLst>
                </a:gridCol>
              </a:tblGrid>
              <a:tr h="405000">
                <a:tc>
                  <a:txBody>
                    <a:bodyPr/>
                    <a:lstStyle/>
                    <a:p>
                      <a:pPr algn="r" rtl="1" fontAlgn="b">
                        <a:buNone/>
                      </a:pPr>
                      <a:r>
                        <a:rPr lang="he-IL" sz="1100" b="0" i="0" u="none" strike="noStrike">
                          <a:solidFill>
                            <a:srgbClr val="000000"/>
                          </a:solidFill>
                          <a:effectLst/>
                          <a:latin typeface="Segoe UI" panose="020B0502040204020203" pitchFamily="34" charset="0"/>
                          <a:cs typeface="Segoe UI" panose="020B0502040204020203" pitchFamily="34" charset="0"/>
                        </a:rPr>
                        <a:t>מהירות</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28002872"/>
                  </a:ext>
                </a:extLst>
              </a:tr>
              <a:tr h="405000">
                <a:tc>
                  <a:txBody>
                    <a:bodyPr/>
                    <a:lstStyle/>
                    <a:p>
                      <a:pPr algn="r" rtl="1" fontAlgn="b">
                        <a:buNone/>
                      </a:pPr>
                      <a:r>
                        <a:rPr lang="he-IL" sz="1100" b="0" i="0" u="none" strike="noStrike">
                          <a:solidFill>
                            <a:srgbClr val="000000"/>
                          </a:solidFill>
                          <a:effectLst/>
                          <a:latin typeface="Segoe UI" panose="020B0502040204020203" pitchFamily="34" charset="0"/>
                          <a:cs typeface="Segoe UI" panose="020B0502040204020203" pitchFamily="34" charset="0"/>
                        </a:rPr>
                        <a:t>שימוש בטלפון</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54857623"/>
                  </a:ext>
                </a:extLst>
              </a:tr>
              <a:tr h="405000">
                <a:tc>
                  <a:txBody>
                    <a:bodyPr/>
                    <a:lstStyle/>
                    <a:p>
                      <a:pPr algn="r" rtl="1" fontAlgn="b">
                        <a:buNone/>
                      </a:pPr>
                      <a:r>
                        <a:rPr lang="he-IL" sz="1100" b="0" i="0" u="none" strike="noStrike" dirty="0">
                          <a:solidFill>
                            <a:srgbClr val="000000"/>
                          </a:solidFill>
                          <a:effectLst/>
                          <a:latin typeface="Segoe UI" panose="020B0502040204020203" pitchFamily="34" charset="0"/>
                          <a:cs typeface="Segoe UI" panose="020B0502040204020203" pitchFamily="34" charset="0"/>
                        </a:rPr>
                        <a:t>נסיעה בנתיב </a:t>
                      </a:r>
                      <a:r>
                        <a:rPr lang="he-IL" sz="1100" b="0" i="0" u="none" strike="noStrike" dirty="0" err="1">
                          <a:solidFill>
                            <a:srgbClr val="000000"/>
                          </a:solidFill>
                          <a:effectLst/>
                          <a:latin typeface="Segoe UI" panose="020B0502040204020203" pitchFamily="34" charset="0"/>
                          <a:cs typeface="Segoe UI" panose="020B0502040204020203" pitchFamily="34" charset="0"/>
                        </a:rPr>
                        <a:t>תחב"צ</a:t>
                      </a:r>
                      <a:endParaRPr lang="he-IL" sz="1100" b="0" i="0" u="none" strike="noStrike" dirty="0">
                        <a:solidFill>
                          <a:srgbClr val="000000"/>
                        </a:solidFill>
                        <a:effectLst/>
                        <a:latin typeface="Segoe UI" panose="020B0502040204020203" pitchFamily="34" charset="0"/>
                        <a:cs typeface="Segoe UI" panose="020B0502040204020203"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90531178"/>
                  </a:ext>
                </a:extLst>
              </a:tr>
              <a:tr h="405000">
                <a:tc>
                  <a:txBody>
                    <a:bodyPr/>
                    <a:lstStyle/>
                    <a:p>
                      <a:pPr algn="r" rtl="1" fontAlgn="b">
                        <a:buNone/>
                      </a:pPr>
                      <a:r>
                        <a:rPr lang="he-IL" sz="1100" b="0" i="0" u="none" strike="noStrike">
                          <a:solidFill>
                            <a:srgbClr val="000000"/>
                          </a:solidFill>
                          <a:effectLst/>
                          <a:latin typeface="Segoe UI" panose="020B0502040204020203" pitchFamily="34" charset="0"/>
                          <a:cs typeface="Segoe UI" panose="020B0502040204020203" pitchFamily="34" charset="0"/>
                        </a:rPr>
                        <a:t>אי ציות לתמרור</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88033099"/>
                  </a:ext>
                </a:extLst>
              </a:tr>
              <a:tr h="405000">
                <a:tc>
                  <a:txBody>
                    <a:bodyPr/>
                    <a:lstStyle/>
                    <a:p>
                      <a:pPr algn="r" rtl="1" fontAlgn="b">
                        <a:buNone/>
                      </a:pPr>
                      <a:r>
                        <a:rPr lang="he-IL" sz="1100" b="0" i="0" u="none" strike="noStrike">
                          <a:solidFill>
                            <a:srgbClr val="000000"/>
                          </a:solidFill>
                          <a:effectLst/>
                          <a:latin typeface="Segoe UI" panose="020B0502040204020203" pitchFamily="34" charset="0"/>
                          <a:cs typeface="Segoe UI" panose="020B0502040204020203" pitchFamily="34" charset="0"/>
                        </a:rPr>
                        <a:t>חגורת בטיחות</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24836368"/>
                  </a:ext>
                </a:extLst>
              </a:tr>
              <a:tr h="405000">
                <a:tc>
                  <a:txBody>
                    <a:bodyPr/>
                    <a:lstStyle/>
                    <a:p>
                      <a:pPr algn="r" rtl="1" fontAlgn="b">
                        <a:buNone/>
                      </a:pPr>
                      <a:r>
                        <a:rPr lang="he-IL" sz="1100" b="0" i="0" u="none" strike="noStrike">
                          <a:solidFill>
                            <a:srgbClr val="000000"/>
                          </a:solidFill>
                          <a:effectLst/>
                          <a:latin typeface="Segoe UI" panose="020B0502040204020203" pitchFamily="34" charset="0"/>
                          <a:cs typeface="Segoe UI" panose="020B0502040204020203" pitchFamily="34" charset="0"/>
                        </a:rPr>
                        <a:t>אור אדום</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07590062"/>
                  </a:ext>
                </a:extLst>
              </a:tr>
              <a:tr h="405000">
                <a:tc>
                  <a:txBody>
                    <a:bodyPr/>
                    <a:lstStyle/>
                    <a:p>
                      <a:pPr algn="r" rtl="1" fontAlgn="b">
                        <a:buNone/>
                      </a:pPr>
                      <a:r>
                        <a:rPr lang="he-IL" sz="1100" b="0" i="0" u="none" strike="noStrike" dirty="0">
                          <a:solidFill>
                            <a:srgbClr val="000000"/>
                          </a:solidFill>
                          <a:effectLst/>
                          <a:latin typeface="Segoe UI" panose="020B0502040204020203" pitchFamily="34" charset="0"/>
                          <a:cs typeface="Segoe UI" panose="020B0502040204020203" pitchFamily="34" charset="0"/>
                        </a:rPr>
                        <a:t>נסיעה בשוליים</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69517065"/>
                  </a:ext>
                </a:extLst>
              </a:tr>
              <a:tr h="405000">
                <a:tc>
                  <a:txBody>
                    <a:bodyPr/>
                    <a:lstStyle/>
                    <a:p>
                      <a:pPr algn="r" rtl="1" fontAlgn="b">
                        <a:buNone/>
                      </a:pPr>
                      <a:r>
                        <a:rPr lang="he-IL" sz="1100" b="0" i="0" u="none" strike="noStrike" dirty="0">
                          <a:solidFill>
                            <a:srgbClr val="000000"/>
                          </a:solidFill>
                          <a:effectLst/>
                          <a:latin typeface="Segoe UI" panose="020B0502040204020203" pitchFamily="34" charset="0"/>
                          <a:cs typeface="Segoe UI" panose="020B0502040204020203" pitchFamily="34" charset="0"/>
                        </a:rPr>
                        <a:t>שינויים ברכב</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66328170"/>
                  </a:ext>
                </a:extLst>
              </a:tr>
            </a:tbl>
          </a:graphicData>
        </a:graphic>
      </p:graphicFrame>
      <p:graphicFrame>
        <p:nvGraphicFramePr>
          <p:cNvPr id="4" name="Chart 3">
            <a:extLst>
              <a:ext uri="{FF2B5EF4-FFF2-40B4-BE49-F238E27FC236}">
                <a16:creationId xmlns:a16="http://schemas.microsoft.com/office/drawing/2014/main" id="{1B8D52EE-FD7F-644C-6D60-228633EBA80D}"/>
              </a:ext>
            </a:extLst>
          </p:cNvPr>
          <p:cNvGraphicFramePr/>
          <p:nvPr>
            <p:extLst>
              <p:ext uri="{D42A27DB-BD31-4B8C-83A1-F6EECF244321}">
                <p14:modId xmlns:p14="http://schemas.microsoft.com/office/powerpoint/2010/main" val="1500874939"/>
              </p:ext>
            </p:extLst>
          </p:nvPr>
        </p:nvGraphicFramePr>
        <p:xfrm>
          <a:off x="3517668" y="1569259"/>
          <a:ext cx="3058122" cy="3420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Chart 3">
            <a:extLst>
              <a:ext uri="{FF2B5EF4-FFF2-40B4-BE49-F238E27FC236}">
                <a16:creationId xmlns:a16="http://schemas.microsoft.com/office/drawing/2014/main" id="{CF44A298-831A-3D30-C9C9-135B82BAAC89}"/>
              </a:ext>
            </a:extLst>
          </p:cNvPr>
          <p:cNvGraphicFramePr/>
          <p:nvPr>
            <p:extLst>
              <p:ext uri="{D42A27DB-BD31-4B8C-83A1-F6EECF244321}">
                <p14:modId xmlns:p14="http://schemas.microsoft.com/office/powerpoint/2010/main" val="3877271820"/>
              </p:ext>
            </p:extLst>
          </p:nvPr>
        </p:nvGraphicFramePr>
        <p:xfrm>
          <a:off x="6336178" y="1569259"/>
          <a:ext cx="3058122" cy="34200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2" name="Chart 3">
            <a:extLst>
              <a:ext uri="{FF2B5EF4-FFF2-40B4-BE49-F238E27FC236}">
                <a16:creationId xmlns:a16="http://schemas.microsoft.com/office/drawing/2014/main" id="{4339D700-9B4D-D987-4C87-EF31D9319C8D}"/>
              </a:ext>
            </a:extLst>
          </p:cNvPr>
          <p:cNvGraphicFramePr/>
          <p:nvPr>
            <p:extLst>
              <p:ext uri="{D42A27DB-BD31-4B8C-83A1-F6EECF244321}">
                <p14:modId xmlns:p14="http://schemas.microsoft.com/office/powerpoint/2010/main" val="1985891544"/>
              </p:ext>
            </p:extLst>
          </p:nvPr>
        </p:nvGraphicFramePr>
        <p:xfrm>
          <a:off x="9154687" y="1569259"/>
          <a:ext cx="3058122" cy="3420000"/>
        </p:xfrm>
        <a:graphic>
          <a:graphicData uri="http://schemas.openxmlformats.org/drawingml/2006/chart">
            <c:chart xmlns:c="http://schemas.openxmlformats.org/drawingml/2006/chart" xmlns:r="http://schemas.openxmlformats.org/officeDocument/2006/relationships" r:id="rId5"/>
          </a:graphicData>
        </a:graphic>
      </p:graphicFrame>
      <p:cxnSp>
        <p:nvCxnSpPr>
          <p:cNvPr id="13" name="Straight Connector 22">
            <a:extLst>
              <a:ext uri="{FF2B5EF4-FFF2-40B4-BE49-F238E27FC236}">
                <a16:creationId xmlns:a16="http://schemas.microsoft.com/office/drawing/2014/main" id="{50D0412B-E53A-4070-D16C-7C3B989451C3}"/>
              </a:ext>
            </a:extLst>
          </p:cNvPr>
          <p:cNvCxnSpPr>
            <a:cxnSpLocks/>
          </p:cNvCxnSpPr>
          <p:nvPr/>
        </p:nvCxnSpPr>
        <p:spPr>
          <a:xfrm rot="5400000">
            <a:off x="6091368" y="-3862387"/>
            <a:ext cx="0" cy="1188000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22">
            <a:extLst>
              <a:ext uri="{FF2B5EF4-FFF2-40B4-BE49-F238E27FC236}">
                <a16:creationId xmlns:a16="http://schemas.microsoft.com/office/drawing/2014/main" id="{E214DFCF-542D-2060-33EF-17964B00B2A8}"/>
              </a:ext>
            </a:extLst>
          </p:cNvPr>
          <p:cNvCxnSpPr>
            <a:cxnSpLocks/>
          </p:cNvCxnSpPr>
          <p:nvPr/>
        </p:nvCxnSpPr>
        <p:spPr>
          <a:xfrm rot="5400000">
            <a:off x="6091368" y="-3450012"/>
            <a:ext cx="0" cy="1188000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22">
            <a:extLst>
              <a:ext uri="{FF2B5EF4-FFF2-40B4-BE49-F238E27FC236}">
                <a16:creationId xmlns:a16="http://schemas.microsoft.com/office/drawing/2014/main" id="{952CCDD3-1DA0-E93B-8BAB-6F91C518A616}"/>
              </a:ext>
            </a:extLst>
          </p:cNvPr>
          <p:cNvCxnSpPr>
            <a:cxnSpLocks/>
          </p:cNvCxnSpPr>
          <p:nvPr/>
        </p:nvCxnSpPr>
        <p:spPr>
          <a:xfrm rot="5400000">
            <a:off x="6091368" y="-3046601"/>
            <a:ext cx="0" cy="1188000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22">
            <a:extLst>
              <a:ext uri="{FF2B5EF4-FFF2-40B4-BE49-F238E27FC236}">
                <a16:creationId xmlns:a16="http://schemas.microsoft.com/office/drawing/2014/main" id="{7BAD5334-534F-F72D-735D-42FD1ABE0FAD}"/>
              </a:ext>
            </a:extLst>
          </p:cNvPr>
          <p:cNvCxnSpPr>
            <a:cxnSpLocks/>
          </p:cNvCxnSpPr>
          <p:nvPr/>
        </p:nvCxnSpPr>
        <p:spPr>
          <a:xfrm rot="5400000">
            <a:off x="6091368" y="-2652154"/>
            <a:ext cx="0" cy="1188000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22">
            <a:extLst>
              <a:ext uri="{FF2B5EF4-FFF2-40B4-BE49-F238E27FC236}">
                <a16:creationId xmlns:a16="http://schemas.microsoft.com/office/drawing/2014/main" id="{E8B4F949-E3E3-E394-1ACD-F19F779E3C67}"/>
              </a:ext>
            </a:extLst>
          </p:cNvPr>
          <p:cNvCxnSpPr>
            <a:cxnSpLocks/>
          </p:cNvCxnSpPr>
          <p:nvPr/>
        </p:nvCxnSpPr>
        <p:spPr>
          <a:xfrm rot="5400000">
            <a:off x="6091368" y="-2221846"/>
            <a:ext cx="0" cy="1188000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11EAFF12-7D95-84B5-6DD0-5A652225E7AF}"/>
              </a:ext>
            </a:extLst>
          </p:cNvPr>
          <p:cNvCxnSpPr>
            <a:cxnSpLocks/>
          </p:cNvCxnSpPr>
          <p:nvPr/>
        </p:nvCxnSpPr>
        <p:spPr>
          <a:xfrm rot="5400000">
            <a:off x="6091368" y="-1809469"/>
            <a:ext cx="0" cy="1188000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2">
            <a:extLst>
              <a:ext uri="{FF2B5EF4-FFF2-40B4-BE49-F238E27FC236}">
                <a16:creationId xmlns:a16="http://schemas.microsoft.com/office/drawing/2014/main" id="{CC742DDD-03BA-21CE-4098-AEA40C949C05}"/>
              </a:ext>
            </a:extLst>
          </p:cNvPr>
          <p:cNvCxnSpPr>
            <a:cxnSpLocks/>
          </p:cNvCxnSpPr>
          <p:nvPr/>
        </p:nvCxnSpPr>
        <p:spPr>
          <a:xfrm rot="5400000">
            <a:off x="6091368" y="-1406058"/>
            <a:ext cx="0" cy="1188000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5" name="Rectangle 28">
            <a:extLst>
              <a:ext uri="{FF2B5EF4-FFF2-40B4-BE49-F238E27FC236}">
                <a16:creationId xmlns:a16="http://schemas.microsoft.com/office/drawing/2014/main" id="{7F57AF1A-1753-2903-7318-A232E0369E44}"/>
              </a:ext>
            </a:extLst>
          </p:cNvPr>
          <p:cNvSpPr/>
          <p:nvPr/>
        </p:nvSpPr>
        <p:spPr>
          <a:xfrm>
            <a:off x="7872788" y="6473004"/>
            <a:ext cx="3923846" cy="384995"/>
          </a:xfrm>
          <a:prstGeom prst="rect">
            <a:avLst/>
          </a:prstGeom>
          <a:noFill/>
          <a:ln>
            <a:noFill/>
          </a:ln>
        </p:spPr>
        <p:txBody>
          <a:bodyPr rot="0" spcFirstLastPara="0" vertOverflow="overflow" horzOverflow="overflow" vert="horz" wrap="square" lIns="91440" tIns="45720" rIns="91440" bIns="45720" numCol="1" spcCol="0" rtlCol="1" fromWordArt="0" anchor="ctr" anchorCtr="0" forceAA="0" compatLnSpc="1">
            <a:prstTxWarp prst="textNoShape">
              <a:avLst/>
            </a:prstTxWarp>
            <a:noAutofit/>
          </a:bodyPr>
          <a:lstStyle/>
          <a:p>
            <a:pPr lvl="0" algn="r" rtl="1">
              <a:defRPr/>
            </a:pPr>
            <a:r>
              <a:rPr lang="he-IL" sz="1000" dirty="0">
                <a:solidFill>
                  <a:prstClr val="white">
                    <a:lumMod val="65000"/>
                  </a:prstClr>
                </a:solidFill>
                <a:latin typeface="Segoe UI" panose="020B0502040204020203" pitchFamily="34" charset="0"/>
                <a:cs typeface="Segoe UI" panose="020B0502040204020203" pitchFamily="34" charset="0"/>
              </a:rPr>
              <a:t>"איזה סוג דו"ח תעבורה קיבלת?"</a:t>
            </a:r>
          </a:p>
        </p:txBody>
      </p:sp>
      <p:sp>
        <p:nvSpPr>
          <p:cNvPr id="26" name="Rectangle: Rounded Corners 54">
            <a:hlinkClick r:id="" action="ppaction://noaction"/>
            <a:extLst>
              <a:ext uri="{FF2B5EF4-FFF2-40B4-BE49-F238E27FC236}">
                <a16:creationId xmlns:a16="http://schemas.microsoft.com/office/drawing/2014/main" id="{284A3956-B744-59E8-D72E-1ADFBD266153}"/>
              </a:ext>
            </a:extLst>
          </p:cNvPr>
          <p:cNvSpPr/>
          <p:nvPr/>
        </p:nvSpPr>
        <p:spPr>
          <a:xfrm>
            <a:off x="1418590" y="6631748"/>
            <a:ext cx="720000" cy="144000"/>
          </a:xfrm>
          <a:prstGeom prst="roundRect">
            <a:avLst>
              <a:gd name="adj" fmla="val 50000"/>
            </a:avLst>
          </a:prstGeom>
          <a:solidFill>
            <a:schemeClr val="bg1"/>
          </a:solidFill>
          <a:ln w="12700">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r" defTabSz="914400" rtl="1" eaLnBrk="1" latinLnBrk="0" hangingPunct="1">
              <a:defRPr sz="1800" kern="1200">
                <a:solidFill>
                  <a:schemeClr val="lt1"/>
                </a:solidFill>
                <a:latin typeface="+mn-lt"/>
                <a:ea typeface="+mn-ea"/>
                <a:cs typeface="+mn-cs"/>
              </a:defRPr>
            </a:lvl1pPr>
            <a:lvl2pPr marL="457200" algn="r" defTabSz="914400" rtl="1" eaLnBrk="1" latinLnBrk="0" hangingPunct="1">
              <a:defRPr sz="1800" kern="1200">
                <a:solidFill>
                  <a:schemeClr val="lt1"/>
                </a:solidFill>
                <a:latin typeface="+mn-lt"/>
                <a:ea typeface="+mn-ea"/>
                <a:cs typeface="+mn-cs"/>
              </a:defRPr>
            </a:lvl2pPr>
            <a:lvl3pPr marL="914400" algn="r" defTabSz="914400" rtl="1" eaLnBrk="1" latinLnBrk="0" hangingPunct="1">
              <a:defRPr sz="1800" kern="1200">
                <a:solidFill>
                  <a:schemeClr val="lt1"/>
                </a:solidFill>
                <a:latin typeface="+mn-lt"/>
                <a:ea typeface="+mn-ea"/>
                <a:cs typeface="+mn-cs"/>
              </a:defRPr>
            </a:lvl3pPr>
            <a:lvl4pPr marL="1371600" algn="r" defTabSz="914400" rtl="1" eaLnBrk="1" latinLnBrk="0" hangingPunct="1">
              <a:defRPr sz="1800" kern="1200">
                <a:solidFill>
                  <a:schemeClr val="lt1"/>
                </a:solidFill>
                <a:latin typeface="+mn-lt"/>
                <a:ea typeface="+mn-ea"/>
                <a:cs typeface="+mn-cs"/>
              </a:defRPr>
            </a:lvl4pPr>
            <a:lvl5pPr marL="1828800" algn="r" defTabSz="914400" rtl="1" eaLnBrk="1" latinLnBrk="0" hangingPunct="1">
              <a:defRPr sz="1800" kern="1200">
                <a:solidFill>
                  <a:schemeClr val="lt1"/>
                </a:solidFill>
                <a:latin typeface="+mn-lt"/>
                <a:ea typeface="+mn-ea"/>
                <a:cs typeface="+mn-cs"/>
              </a:defRPr>
            </a:lvl5pPr>
            <a:lvl6pPr marL="2286000" algn="r" defTabSz="914400" rtl="1" eaLnBrk="1" latinLnBrk="0" hangingPunct="1">
              <a:defRPr sz="1800" kern="1200">
                <a:solidFill>
                  <a:schemeClr val="lt1"/>
                </a:solidFill>
                <a:latin typeface="+mn-lt"/>
                <a:ea typeface="+mn-ea"/>
                <a:cs typeface="+mn-cs"/>
              </a:defRPr>
            </a:lvl6pPr>
            <a:lvl7pPr marL="2743200" algn="r" defTabSz="914400" rtl="1" eaLnBrk="1" latinLnBrk="0" hangingPunct="1">
              <a:defRPr sz="1800" kern="1200">
                <a:solidFill>
                  <a:schemeClr val="lt1"/>
                </a:solidFill>
                <a:latin typeface="+mn-lt"/>
                <a:ea typeface="+mn-ea"/>
                <a:cs typeface="+mn-cs"/>
              </a:defRPr>
            </a:lvl7pPr>
            <a:lvl8pPr marL="3200400" algn="r" defTabSz="914400" rtl="1" eaLnBrk="1" latinLnBrk="0" hangingPunct="1">
              <a:defRPr sz="1800" kern="1200">
                <a:solidFill>
                  <a:schemeClr val="lt1"/>
                </a:solidFill>
                <a:latin typeface="+mn-lt"/>
                <a:ea typeface="+mn-ea"/>
                <a:cs typeface="+mn-cs"/>
              </a:defRPr>
            </a:lvl8pPr>
            <a:lvl9pPr marL="3657600" algn="r" defTabSz="914400" rtl="1" eaLnBrk="1" latinLnBrk="0" hangingPunct="1">
              <a:defRPr sz="1800" kern="1200">
                <a:solidFill>
                  <a:schemeClr val="lt1"/>
                </a:solidFill>
                <a:latin typeface="+mn-lt"/>
                <a:ea typeface="+mn-ea"/>
                <a:cs typeface="+mn-cs"/>
              </a:defRPr>
            </a:lvl9pPr>
          </a:lstStyle>
          <a:p>
            <a:pPr marL="0" marR="0" lvl="0" indent="0" algn="ctr" defTabSz="914400" rtl="1" eaLnBrk="1" fontAlgn="base" latinLnBrk="0" hangingPunct="1">
              <a:lnSpc>
                <a:spcPct val="100000"/>
              </a:lnSpc>
              <a:spcBef>
                <a:spcPct val="0"/>
              </a:spcBef>
              <a:spcAft>
                <a:spcPct val="0"/>
              </a:spcAft>
              <a:buClrTx/>
              <a:buSzTx/>
              <a:buFontTx/>
              <a:buNone/>
              <a:tabLst/>
              <a:defRPr/>
            </a:pPr>
            <a:r>
              <a:rPr kumimoji="0" lang="he-IL" sz="1100" b="0" i="0" u="none" strike="noStrike" kern="1200" cap="none" spc="0" normalizeH="0" baseline="0" noProof="0" dirty="0">
                <a:ln>
                  <a:noFill/>
                </a:ln>
                <a:solidFill>
                  <a:schemeClr val="bg1">
                    <a:lumMod val="65000"/>
                  </a:schemeClr>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מגדר</a:t>
            </a:r>
            <a:endParaRPr kumimoji="0" lang="en-IL" sz="1100" b="0" i="0" u="none" strike="noStrike" kern="1200" cap="none" spc="0" normalizeH="0" baseline="0" noProof="0" dirty="0">
              <a:ln>
                <a:noFill/>
              </a:ln>
              <a:solidFill>
                <a:schemeClr val="bg1">
                  <a:lumMod val="65000"/>
                </a:schemeClr>
              </a:solidFill>
              <a:effectLst/>
              <a:uLnTx/>
              <a:uFillTx/>
              <a:latin typeface="Segoe UI" panose="020B0502040204020203" pitchFamily="34" charset="0"/>
              <a:ea typeface="+mn-ea"/>
              <a:cs typeface="Segoe UI" panose="020B0502040204020203" pitchFamily="34" charset="0"/>
            </a:endParaRPr>
          </a:p>
        </p:txBody>
      </p:sp>
      <p:sp>
        <p:nvSpPr>
          <p:cNvPr id="27" name="Rectangle: Rounded Corners 54">
            <a:hlinkClick r:id="" action="ppaction://noaction"/>
            <a:extLst>
              <a:ext uri="{FF2B5EF4-FFF2-40B4-BE49-F238E27FC236}">
                <a16:creationId xmlns:a16="http://schemas.microsoft.com/office/drawing/2014/main" id="{40617C73-E8EB-D7D6-000D-7D4E336C2F9F}"/>
              </a:ext>
            </a:extLst>
          </p:cNvPr>
          <p:cNvSpPr/>
          <p:nvPr/>
        </p:nvSpPr>
        <p:spPr>
          <a:xfrm>
            <a:off x="2190868" y="6631748"/>
            <a:ext cx="720000" cy="144000"/>
          </a:xfrm>
          <a:prstGeom prst="roundRect">
            <a:avLst>
              <a:gd name="adj" fmla="val 50000"/>
            </a:avLst>
          </a:prstGeom>
          <a:solidFill>
            <a:schemeClr val="bg1"/>
          </a:solidFill>
          <a:ln w="12700">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r" defTabSz="914400" rtl="1" eaLnBrk="1" latinLnBrk="0" hangingPunct="1">
              <a:defRPr sz="1800" kern="1200">
                <a:solidFill>
                  <a:schemeClr val="lt1"/>
                </a:solidFill>
                <a:latin typeface="+mn-lt"/>
                <a:ea typeface="+mn-ea"/>
                <a:cs typeface="+mn-cs"/>
              </a:defRPr>
            </a:lvl1pPr>
            <a:lvl2pPr marL="457200" algn="r" defTabSz="914400" rtl="1" eaLnBrk="1" latinLnBrk="0" hangingPunct="1">
              <a:defRPr sz="1800" kern="1200">
                <a:solidFill>
                  <a:schemeClr val="lt1"/>
                </a:solidFill>
                <a:latin typeface="+mn-lt"/>
                <a:ea typeface="+mn-ea"/>
                <a:cs typeface="+mn-cs"/>
              </a:defRPr>
            </a:lvl2pPr>
            <a:lvl3pPr marL="914400" algn="r" defTabSz="914400" rtl="1" eaLnBrk="1" latinLnBrk="0" hangingPunct="1">
              <a:defRPr sz="1800" kern="1200">
                <a:solidFill>
                  <a:schemeClr val="lt1"/>
                </a:solidFill>
                <a:latin typeface="+mn-lt"/>
                <a:ea typeface="+mn-ea"/>
                <a:cs typeface="+mn-cs"/>
              </a:defRPr>
            </a:lvl3pPr>
            <a:lvl4pPr marL="1371600" algn="r" defTabSz="914400" rtl="1" eaLnBrk="1" latinLnBrk="0" hangingPunct="1">
              <a:defRPr sz="1800" kern="1200">
                <a:solidFill>
                  <a:schemeClr val="lt1"/>
                </a:solidFill>
                <a:latin typeface="+mn-lt"/>
                <a:ea typeface="+mn-ea"/>
                <a:cs typeface="+mn-cs"/>
              </a:defRPr>
            </a:lvl4pPr>
            <a:lvl5pPr marL="1828800" algn="r" defTabSz="914400" rtl="1" eaLnBrk="1" latinLnBrk="0" hangingPunct="1">
              <a:defRPr sz="1800" kern="1200">
                <a:solidFill>
                  <a:schemeClr val="lt1"/>
                </a:solidFill>
                <a:latin typeface="+mn-lt"/>
                <a:ea typeface="+mn-ea"/>
                <a:cs typeface="+mn-cs"/>
              </a:defRPr>
            </a:lvl5pPr>
            <a:lvl6pPr marL="2286000" algn="r" defTabSz="914400" rtl="1" eaLnBrk="1" latinLnBrk="0" hangingPunct="1">
              <a:defRPr sz="1800" kern="1200">
                <a:solidFill>
                  <a:schemeClr val="lt1"/>
                </a:solidFill>
                <a:latin typeface="+mn-lt"/>
                <a:ea typeface="+mn-ea"/>
                <a:cs typeface="+mn-cs"/>
              </a:defRPr>
            </a:lvl6pPr>
            <a:lvl7pPr marL="2743200" algn="r" defTabSz="914400" rtl="1" eaLnBrk="1" latinLnBrk="0" hangingPunct="1">
              <a:defRPr sz="1800" kern="1200">
                <a:solidFill>
                  <a:schemeClr val="lt1"/>
                </a:solidFill>
                <a:latin typeface="+mn-lt"/>
                <a:ea typeface="+mn-ea"/>
                <a:cs typeface="+mn-cs"/>
              </a:defRPr>
            </a:lvl7pPr>
            <a:lvl8pPr marL="3200400" algn="r" defTabSz="914400" rtl="1" eaLnBrk="1" latinLnBrk="0" hangingPunct="1">
              <a:defRPr sz="1800" kern="1200">
                <a:solidFill>
                  <a:schemeClr val="lt1"/>
                </a:solidFill>
                <a:latin typeface="+mn-lt"/>
                <a:ea typeface="+mn-ea"/>
                <a:cs typeface="+mn-cs"/>
              </a:defRPr>
            </a:lvl8pPr>
            <a:lvl9pPr marL="3657600" algn="r" defTabSz="914400" rtl="1" eaLnBrk="1" latinLnBrk="0" hangingPunct="1">
              <a:defRPr sz="1800" kern="1200">
                <a:solidFill>
                  <a:schemeClr val="lt1"/>
                </a:solidFill>
                <a:latin typeface="+mn-lt"/>
                <a:ea typeface="+mn-ea"/>
                <a:cs typeface="+mn-cs"/>
              </a:defRPr>
            </a:lvl9pPr>
          </a:lstStyle>
          <a:p>
            <a:pPr marL="0" marR="0" lvl="0" indent="0" algn="ctr" defTabSz="914400" rtl="1" eaLnBrk="1" fontAlgn="base" latinLnBrk="0" hangingPunct="1">
              <a:lnSpc>
                <a:spcPct val="100000"/>
              </a:lnSpc>
              <a:spcBef>
                <a:spcPct val="0"/>
              </a:spcBef>
              <a:spcAft>
                <a:spcPct val="0"/>
              </a:spcAft>
              <a:buClrTx/>
              <a:buSzTx/>
              <a:buFontTx/>
              <a:buNone/>
              <a:tabLst/>
              <a:defRPr/>
            </a:pPr>
            <a:r>
              <a:rPr kumimoji="0" lang="he-IL" sz="1100" b="0" i="0" u="none" strike="noStrike" kern="1200" cap="none" spc="0" normalizeH="0" baseline="0" noProof="0" dirty="0">
                <a:ln>
                  <a:noFill/>
                </a:ln>
                <a:solidFill>
                  <a:schemeClr val="bg1">
                    <a:lumMod val="65000"/>
                  </a:schemeClr>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גיל</a:t>
            </a:r>
            <a:endParaRPr kumimoji="0" lang="en-IL" sz="1100" b="0" i="0" u="none" strike="noStrike" kern="1200" cap="none" spc="0" normalizeH="0" baseline="0" noProof="0" dirty="0">
              <a:ln>
                <a:noFill/>
              </a:ln>
              <a:solidFill>
                <a:schemeClr val="bg1">
                  <a:lumMod val="65000"/>
                </a:schemeClr>
              </a:solidFill>
              <a:effectLst/>
              <a:uLnTx/>
              <a:uFillTx/>
              <a:latin typeface="Segoe UI" panose="020B0502040204020203" pitchFamily="34" charset="0"/>
              <a:ea typeface="+mn-ea"/>
              <a:cs typeface="Segoe UI" panose="020B0502040204020203" pitchFamily="34" charset="0"/>
            </a:endParaRPr>
          </a:p>
        </p:txBody>
      </p:sp>
      <p:sp>
        <p:nvSpPr>
          <p:cNvPr id="28" name="Rectangle: Rounded Corners 54">
            <a:hlinkClick r:id="" action="ppaction://noaction"/>
            <a:extLst>
              <a:ext uri="{FF2B5EF4-FFF2-40B4-BE49-F238E27FC236}">
                <a16:creationId xmlns:a16="http://schemas.microsoft.com/office/drawing/2014/main" id="{48680852-52C2-C490-35DF-40FAC732CC7A}"/>
              </a:ext>
            </a:extLst>
          </p:cNvPr>
          <p:cNvSpPr/>
          <p:nvPr/>
        </p:nvSpPr>
        <p:spPr>
          <a:xfrm>
            <a:off x="2963146" y="6640710"/>
            <a:ext cx="936000" cy="144000"/>
          </a:xfrm>
          <a:prstGeom prst="roundRect">
            <a:avLst>
              <a:gd name="adj" fmla="val 50000"/>
            </a:avLst>
          </a:prstGeom>
          <a:solidFill>
            <a:schemeClr val="bg1"/>
          </a:solidFill>
          <a:ln w="12700">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r" defTabSz="914400" rtl="1" eaLnBrk="1" latinLnBrk="0" hangingPunct="1">
              <a:defRPr sz="1800" kern="1200">
                <a:solidFill>
                  <a:schemeClr val="lt1"/>
                </a:solidFill>
                <a:latin typeface="+mn-lt"/>
                <a:ea typeface="+mn-ea"/>
                <a:cs typeface="+mn-cs"/>
              </a:defRPr>
            </a:lvl1pPr>
            <a:lvl2pPr marL="457200" algn="r" defTabSz="914400" rtl="1" eaLnBrk="1" latinLnBrk="0" hangingPunct="1">
              <a:defRPr sz="1800" kern="1200">
                <a:solidFill>
                  <a:schemeClr val="lt1"/>
                </a:solidFill>
                <a:latin typeface="+mn-lt"/>
                <a:ea typeface="+mn-ea"/>
                <a:cs typeface="+mn-cs"/>
              </a:defRPr>
            </a:lvl2pPr>
            <a:lvl3pPr marL="914400" algn="r" defTabSz="914400" rtl="1" eaLnBrk="1" latinLnBrk="0" hangingPunct="1">
              <a:defRPr sz="1800" kern="1200">
                <a:solidFill>
                  <a:schemeClr val="lt1"/>
                </a:solidFill>
                <a:latin typeface="+mn-lt"/>
                <a:ea typeface="+mn-ea"/>
                <a:cs typeface="+mn-cs"/>
              </a:defRPr>
            </a:lvl3pPr>
            <a:lvl4pPr marL="1371600" algn="r" defTabSz="914400" rtl="1" eaLnBrk="1" latinLnBrk="0" hangingPunct="1">
              <a:defRPr sz="1800" kern="1200">
                <a:solidFill>
                  <a:schemeClr val="lt1"/>
                </a:solidFill>
                <a:latin typeface="+mn-lt"/>
                <a:ea typeface="+mn-ea"/>
                <a:cs typeface="+mn-cs"/>
              </a:defRPr>
            </a:lvl4pPr>
            <a:lvl5pPr marL="1828800" algn="r" defTabSz="914400" rtl="1" eaLnBrk="1" latinLnBrk="0" hangingPunct="1">
              <a:defRPr sz="1800" kern="1200">
                <a:solidFill>
                  <a:schemeClr val="lt1"/>
                </a:solidFill>
                <a:latin typeface="+mn-lt"/>
                <a:ea typeface="+mn-ea"/>
                <a:cs typeface="+mn-cs"/>
              </a:defRPr>
            </a:lvl5pPr>
            <a:lvl6pPr marL="2286000" algn="r" defTabSz="914400" rtl="1" eaLnBrk="1" latinLnBrk="0" hangingPunct="1">
              <a:defRPr sz="1800" kern="1200">
                <a:solidFill>
                  <a:schemeClr val="lt1"/>
                </a:solidFill>
                <a:latin typeface="+mn-lt"/>
                <a:ea typeface="+mn-ea"/>
                <a:cs typeface="+mn-cs"/>
              </a:defRPr>
            </a:lvl6pPr>
            <a:lvl7pPr marL="2743200" algn="r" defTabSz="914400" rtl="1" eaLnBrk="1" latinLnBrk="0" hangingPunct="1">
              <a:defRPr sz="1800" kern="1200">
                <a:solidFill>
                  <a:schemeClr val="lt1"/>
                </a:solidFill>
                <a:latin typeface="+mn-lt"/>
                <a:ea typeface="+mn-ea"/>
                <a:cs typeface="+mn-cs"/>
              </a:defRPr>
            </a:lvl7pPr>
            <a:lvl8pPr marL="3200400" algn="r" defTabSz="914400" rtl="1" eaLnBrk="1" latinLnBrk="0" hangingPunct="1">
              <a:defRPr sz="1800" kern="1200">
                <a:solidFill>
                  <a:schemeClr val="lt1"/>
                </a:solidFill>
                <a:latin typeface="+mn-lt"/>
                <a:ea typeface="+mn-ea"/>
                <a:cs typeface="+mn-cs"/>
              </a:defRPr>
            </a:lvl8pPr>
            <a:lvl9pPr marL="3657600" algn="r" defTabSz="914400" rtl="1" eaLnBrk="1" latinLnBrk="0" hangingPunct="1">
              <a:defRPr sz="1800" kern="1200">
                <a:solidFill>
                  <a:schemeClr val="lt1"/>
                </a:solidFill>
                <a:latin typeface="+mn-lt"/>
                <a:ea typeface="+mn-ea"/>
                <a:cs typeface="+mn-cs"/>
              </a:defRPr>
            </a:lvl9pPr>
          </a:lstStyle>
          <a:p>
            <a:pPr marL="0" marR="0" lvl="0" indent="0" algn="ctr" defTabSz="914400" rtl="1" eaLnBrk="1" fontAlgn="base" latinLnBrk="0" hangingPunct="1">
              <a:lnSpc>
                <a:spcPct val="100000"/>
              </a:lnSpc>
              <a:spcBef>
                <a:spcPct val="0"/>
              </a:spcBef>
              <a:spcAft>
                <a:spcPct val="0"/>
              </a:spcAft>
              <a:buClrTx/>
              <a:buSzTx/>
              <a:buFontTx/>
              <a:buNone/>
              <a:tabLst/>
              <a:defRPr/>
            </a:pPr>
            <a:r>
              <a:rPr kumimoji="0" lang="he-IL" sz="1100" b="0" i="0" u="none" strike="noStrike" kern="1200" cap="none" spc="0" normalizeH="0" baseline="0" noProof="0" dirty="0">
                <a:ln>
                  <a:noFill/>
                </a:ln>
                <a:solidFill>
                  <a:schemeClr val="bg1">
                    <a:lumMod val="65000"/>
                  </a:schemeClr>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כמות דוחות</a:t>
            </a:r>
            <a:endParaRPr kumimoji="0" lang="en-IL" sz="1100" b="0" i="0" u="none" strike="noStrike" kern="1200" cap="none" spc="0" normalizeH="0" baseline="0" noProof="0" dirty="0">
              <a:ln>
                <a:noFill/>
              </a:ln>
              <a:solidFill>
                <a:schemeClr val="bg1">
                  <a:lumMod val="65000"/>
                </a:schemeClr>
              </a:solidFill>
              <a:effectLst/>
              <a:uLnTx/>
              <a:uFillTx/>
              <a:latin typeface="Segoe UI" panose="020B0502040204020203" pitchFamily="34" charset="0"/>
              <a:ea typeface="+mn-ea"/>
              <a:cs typeface="Segoe UI" panose="020B0502040204020203" pitchFamily="34" charset="0"/>
            </a:endParaRPr>
          </a:p>
        </p:txBody>
      </p:sp>
      <p:sp>
        <p:nvSpPr>
          <p:cNvPr id="29" name="Rectangle: Rounded Corners 54">
            <a:hlinkClick r:id="" action="ppaction://noaction"/>
            <a:extLst>
              <a:ext uri="{FF2B5EF4-FFF2-40B4-BE49-F238E27FC236}">
                <a16:creationId xmlns:a16="http://schemas.microsoft.com/office/drawing/2014/main" id="{0A14DB01-5D00-0EA9-4E88-BC55290FC7C9}"/>
              </a:ext>
            </a:extLst>
          </p:cNvPr>
          <p:cNvSpPr/>
          <p:nvPr/>
        </p:nvSpPr>
        <p:spPr>
          <a:xfrm>
            <a:off x="3951424" y="6640710"/>
            <a:ext cx="936000" cy="144000"/>
          </a:xfrm>
          <a:prstGeom prst="roundRect">
            <a:avLst>
              <a:gd name="adj" fmla="val 50000"/>
            </a:avLst>
          </a:prstGeom>
          <a:solidFill>
            <a:schemeClr val="bg1">
              <a:lumMod val="95000"/>
            </a:schemeClr>
          </a:solidFill>
          <a:ln w="12700">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r" defTabSz="914400" rtl="1" eaLnBrk="1" latinLnBrk="0" hangingPunct="1">
              <a:defRPr sz="1800" kern="1200">
                <a:solidFill>
                  <a:schemeClr val="lt1"/>
                </a:solidFill>
                <a:latin typeface="+mn-lt"/>
                <a:ea typeface="+mn-ea"/>
                <a:cs typeface="+mn-cs"/>
              </a:defRPr>
            </a:lvl1pPr>
            <a:lvl2pPr marL="457200" algn="r" defTabSz="914400" rtl="1" eaLnBrk="1" latinLnBrk="0" hangingPunct="1">
              <a:defRPr sz="1800" kern="1200">
                <a:solidFill>
                  <a:schemeClr val="lt1"/>
                </a:solidFill>
                <a:latin typeface="+mn-lt"/>
                <a:ea typeface="+mn-ea"/>
                <a:cs typeface="+mn-cs"/>
              </a:defRPr>
            </a:lvl2pPr>
            <a:lvl3pPr marL="914400" algn="r" defTabSz="914400" rtl="1" eaLnBrk="1" latinLnBrk="0" hangingPunct="1">
              <a:defRPr sz="1800" kern="1200">
                <a:solidFill>
                  <a:schemeClr val="lt1"/>
                </a:solidFill>
                <a:latin typeface="+mn-lt"/>
                <a:ea typeface="+mn-ea"/>
                <a:cs typeface="+mn-cs"/>
              </a:defRPr>
            </a:lvl3pPr>
            <a:lvl4pPr marL="1371600" algn="r" defTabSz="914400" rtl="1" eaLnBrk="1" latinLnBrk="0" hangingPunct="1">
              <a:defRPr sz="1800" kern="1200">
                <a:solidFill>
                  <a:schemeClr val="lt1"/>
                </a:solidFill>
                <a:latin typeface="+mn-lt"/>
                <a:ea typeface="+mn-ea"/>
                <a:cs typeface="+mn-cs"/>
              </a:defRPr>
            </a:lvl4pPr>
            <a:lvl5pPr marL="1828800" algn="r" defTabSz="914400" rtl="1" eaLnBrk="1" latinLnBrk="0" hangingPunct="1">
              <a:defRPr sz="1800" kern="1200">
                <a:solidFill>
                  <a:schemeClr val="lt1"/>
                </a:solidFill>
                <a:latin typeface="+mn-lt"/>
                <a:ea typeface="+mn-ea"/>
                <a:cs typeface="+mn-cs"/>
              </a:defRPr>
            </a:lvl5pPr>
            <a:lvl6pPr marL="2286000" algn="r" defTabSz="914400" rtl="1" eaLnBrk="1" latinLnBrk="0" hangingPunct="1">
              <a:defRPr sz="1800" kern="1200">
                <a:solidFill>
                  <a:schemeClr val="lt1"/>
                </a:solidFill>
                <a:latin typeface="+mn-lt"/>
                <a:ea typeface="+mn-ea"/>
                <a:cs typeface="+mn-cs"/>
              </a:defRPr>
            </a:lvl6pPr>
            <a:lvl7pPr marL="2743200" algn="r" defTabSz="914400" rtl="1" eaLnBrk="1" latinLnBrk="0" hangingPunct="1">
              <a:defRPr sz="1800" kern="1200">
                <a:solidFill>
                  <a:schemeClr val="lt1"/>
                </a:solidFill>
                <a:latin typeface="+mn-lt"/>
                <a:ea typeface="+mn-ea"/>
                <a:cs typeface="+mn-cs"/>
              </a:defRPr>
            </a:lvl7pPr>
            <a:lvl8pPr marL="3200400" algn="r" defTabSz="914400" rtl="1" eaLnBrk="1" latinLnBrk="0" hangingPunct="1">
              <a:defRPr sz="1800" kern="1200">
                <a:solidFill>
                  <a:schemeClr val="lt1"/>
                </a:solidFill>
                <a:latin typeface="+mn-lt"/>
                <a:ea typeface="+mn-ea"/>
                <a:cs typeface="+mn-cs"/>
              </a:defRPr>
            </a:lvl8pPr>
            <a:lvl9pPr marL="3657600" algn="r" defTabSz="914400" rtl="1" eaLnBrk="1" latinLnBrk="0" hangingPunct="1">
              <a:defRPr sz="1800" kern="1200">
                <a:solidFill>
                  <a:schemeClr val="lt1"/>
                </a:solidFill>
                <a:latin typeface="+mn-lt"/>
                <a:ea typeface="+mn-ea"/>
                <a:cs typeface="+mn-cs"/>
              </a:defRPr>
            </a:lvl9pPr>
          </a:lstStyle>
          <a:p>
            <a:pPr marL="0" marR="0" lvl="0" indent="0" algn="ctr" defTabSz="914400" rtl="1" eaLnBrk="1" fontAlgn="base" latinLnBrk="0" hangingPunct="1">
              <a:lnSpc>
                <a:spcPct val="100000"/>
              </a:lnSpc>
              <a:spcBef>
                <a:spcPct val="0"/>
              </a:spcBef>
              <a:spcAft>
                <a:spcPct val="0"/>
              </a:spcAft>
              <a:buClrTx/>
              <a:buSzTx/>
              <a:buFontTx/>
              <a:buNone/>
              <a:tabLst/>
              <a:defRPr/>
            </a:pPr>
            <a:r>
              <a:rPr kumimoji="0" lang="he-IL" sz="1100" b="1" i="0" u="none" strike="noStrike" kern="1200" cap="none" spc="0" normalizeH="0" baseline="0" noProof="0" dirty="0">
                <a:ln>
                  <a:noFill/>
                </a:ln>
                <a:solidFill>
                  <a:schemeClr val="bg1">
                    <a:lumMod val="65000"/>
                  </a:schemeClr>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מועד קבלה</a:t>
            </a:r>
            <a:endParaRPr kumimoji="0" lang="en-IL" sz="1100" b="1" i="0" u="none" strike="noStrike" kern="1200" cap="none" spc="0" normalizeH="0" baseline="0" noProof="0" dirty="0">
              <a:ln>
                <a:noFill/>
              </a:ln>
              <a:solidFill>
                <a:schemeClr val="bg1">
                  <a:lumMod val="65000"/>
                </a:schemeClr>
              </a:solidFill>
              <a:effectLst/>
              <a:uLnTx/>
              <a:uFillTx/>
              <a:latin typeface="Segoe UI" panose="020B0502040204020203" pitchFamily="34" charset="0"/>
              <a:ea typeface="+mn-ea"/>
              <a:cs typeface="Segoe UI" panose="020B0502040204020203" pitchFamily="34" charset="0"/>
            </a:endParaRPr>
          </a:p>
        </p:txBody>
      </p:sp>
      <p:sp>
        <p:nvSpPr>
          <p:cNvPr id="30" name="Rectangle: Rounded Corners 54">
            <a:hlinkClick r:id="" action="ppaction://noaction"/>
            <a:extLst>
              <a:ext uri="{FF2B5EF4-FFF2-40B4-BE49-F238E27FC236}">
                <a16:creationId xmlns:a16="http://schemas.microsoft.com/office/drawing/2014/main" id="{6779AA2D-BCA0-B1DE-6CE8-A50691AD38D5}"/>
              </a:ext>
            </a:extLst>
          </p:cNvPr>
          <p:cNvSpPr/>
          <p:nvPr/>
        </p:nvSpPr>
        <p:spPr>
          <a:xfrm>
            <a:off x="4939702" y="6649674"/>
            <a:ext cx="900000" cy="144000"/>
          </a:xfrm>
          <a:prstGeom prst="roundRect">
            <a:avLst>
              <a:gd name="adj" fmla="val 50000"/>
            </a:avLst>
          </a:prstGeom>
          <a:solidFill>
            <a:schemeClr val="bg1"/>
          </a:solidFill>
          <a:ln w="12700">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r" defTabSz="914400" rtl="1" eaLnBrk="1" latinLnBrk="0" hangingPunct="1">
              <a:defRPr sz="1800" kern="1200">
                <a:solidFill>
                  <a:schemeClr val="lt1"/>
                </a:solidFill>
                <a:latin typeface="+mn-lt"/>
                <a:ea typeface="+mn-ea"/>
                <a:cs typeface="+mn-cs"/>
              </a:defRPr>
            </a:lvl1pPr>
            <a:lvl2pPr marL="457200" algn="r" defTabSz="914400" rtl="1" eaLnBrk="1" latinLnBrk="0" hangingPunct="1">
              <a:defRPr sz="1800" kern="1200">
                <a:solidFill>
                  <a:schemeClr val="lt1"/>
                </a:solidFill>
                <a:latin typeface="+mn-lt"/>
                <a:ea typeface="+mn-ea"/>
                <a:cs typeface="+mn-cs"/>
              </a:defRPr>
            </a:lvl2pPr>
            <a:lvl3pPr marL="914400" algn="r" defTabSz="914400" rtl="1" eaLnBrk="1" latinLnBrk="0" hangingPunct="1">
              <a:defRPr sz="1800" kern="1200">
                <a:solidFill>
                  <a:schemeClr val="lt1"/>
                </a:solidFill>
                <a:latin typeface="+mn-lt"/>
                <a:ea typeface="+mn-ea"/>
                <a:cs typeface="+mn-cs"/>
              </a:defRPr>
            </a:lvl3pPr>
            <a:lvl4pPr marL="1371600" algn="r" defTabSz="914400" rtl="1" eaLnBrk="1" latinLnBrk="0" hangingPunct="1">
              <a:defRPr sz="1800" kern="1200">
                <a:solidFill>
                  <a:schemeClr val="lt1"/>
                </a:solidFill>
                <a:latin typeface="+mn-lt"/>
                <a:ea typeface="+mn-ea"/>
                <a:cs typeface="+mn-cs"/>
              </a:defRPr>
            </a:lvl4pPr>
            <a:lvl5pPr marL="1828800" algn="r" defTabSz="914400" rtl="1" eaLnBrk="1" latinLnBrk="0" hangingPunct="1">
              <a:defRPr sz="1800" kern="1200">
                <a:solidFill>
                  <a:schemeClr val="lt1"/>
                </a:solidFill>
                <a:latin typeface="+mn-lt"/>
                <a:ea typeface="+mn-ea"/>
                <a:cs typeface="+mn-cs"/>
              </a:defRPr>
            </a:lvl5pPr>
            <a:lvl6pPr marL="2286000" algn="r" defTabSz="914400" rtl="1" eaLnBrk="1" latinLnBrk="0" hangingPunct="1">
              <a:defRPr sz="1800" kern="1200">
                <a:solidFill>
                  <a:schemeClr val="lt1"/>
                </a:solidFill>
                <a:latin typeface="+mn-lt"/>
                <a:ea typeface="+mn-ea"/>
                <a:cs typeface="+mn-cs"/>
              </a:defRPr>
            </a:lvl6pPr>
            <a:lvl7pPr marL="2743200" algn="r" defTabSz="914400" rtl="1" eaLnBrk="1" latinLnBrk="0" hangingPunct="1">
              <a:defRPr sz="1800" kern="1200">
                <a:solidFill>
                  <a:schemeClr val="lt1"/>
                </a:solidFill>
                <a:latin typeface="+mn-lt"/>
                <a:ea typeface="+mn-ea"/>
                <a:cs typeface="+mn-cs"/>
              </a:defRPr>
            </a:lvl7pPr>
            <a:lvl8pPr marL="3200400" algn="r" defTabSz="914400" rtl="1" eaLnBrk="1" latinLnBrk="0" hangingPunct="1">
              <a:defRPr sz="1800" kern="1200">
                <a:solidFill>
                  <a:schemeClr val="lt1"/>
                </a:solidFill>
                <a:latin typeface="+mn-lt"/>
                <a:ea typeface="+mn-ea"/>
                <a:cs typeface="+mn-cs"/>
              </a:defRPr>
            </a:lvl8pPr>
            <a:lvl9pPr marL="3657600" algn="r" defTabSz="914400" rtl="1" eaLnBrk="1" latinLnBrk="0" hangingPunct="1">
              <a:defRPr sz="1800" kern="1200">
                <a:solidFill>
                  <a:schemeClr val="lt1"/>
                </a:solidFill>
                <a:latin typeface="+mn-lt"/>
                <a:ea typeface="+mn-ea"/>
                <a:cs typeface="+mn-cs"/>
              </a:defRPr>
            </a:lvl9pPr>
          </a:lstStyle>
          <a:p>
            <a:pPr marL="0" marR="0" lvl="0" indent="0" algn="ctr" defTabSz="914400" rtl="1" eaLnBrk="1" fontAlgn="base" latinLnBrk="0" hangingPunct="1">
              <a:lnSpc>
                <a:spcPct val="100000"/>
              </a:lnSpc>
              <a:spcBef>
                <a:spcPct val="0"/>
              </a:spcBef>
              <a:spcAft>
                <a:spcPct val="0"/>
              </a:spcAft>
              <a:buClrTx/>
              <a:buSzTx/>
              <a:buFontTx/>
              <a:buNone/>
              <a:tabLst/>
              <a:defRPr/>
            </a:pPr>
            <a:r>
              <a:rPr kumimoji="0" lang="he-IL" sz="1100" b="0" i="0" u="none" strike="noStrike" kern="1200" cap="none" spc="0" normalizeH="0" baseline="0" noProof="0" dirty="0">
                <a:ln>
                  <a:noFill/>
                </a:ln>
                <a:solidFill>
                  <a:schemeClr val="bg1">
                    <a:lumMod val="65000"/>
                  </a:schemeClr>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אופן קבלה</a:t>
            </a:r>
            <a:endParaRPr kumimoji="0" lang="en-IL" sz="1100" b="0" i="0" u="none" strike="noStrike" kern="1200" cap="none" spc="0" normalizeH="0" baseline="0" noProof="0" dirty="0">
              <a:ln>
                <a:noFill/>
              </a:ln>
              <a:solidFill>
                <a:schemeClr val="bg1">
                  <a:lumMod val="65000"/>
                </a:schemeClr>
              </a:solidFill>
              <a:effectLst/>
              <a:uLnTx/>
              <a:uFillTx/>
              <a:latin typeface="Segoe UI" panose="020B0502040204020203" pitchFamily="34" charset="0"/>
              <a:ea typeface="+mn-ea"/>
              <a:cs typeface="Segoe UI" panose="020B0502040204020203" pitchFamily="34" charset="0"/>
            </a:endParaRPr>
          </a:p>
        </p:txBody>
      </p:sp>
      <p:sp>
        <p:nvSpPr>
          <p:cNvPr id="31" name="Rectangle: Rounded Corners 54">
            <a:hlinkClick r:id="" action="ppaction://noaction"/>
            <a:extLst>
              <a:ext uri="{FF2B5EF4-FFF2-40B4-BE49-F238E27FC236}">
                <a16:creationId xmlns:a16="http://schemas.microsoft.com/office/drawing/2014/main" id="{F7521D6D-618C-3FE6-E273-1867212B9B0D}"/>
              </a:ext>
            </a:extLst>
          </p:cNvPr>
          <p:cNvSpPr/>
          <p:nvPr/>
        </p:nvSpPr>
        <p:spPr>
          <a:xfrm>
            <a:off x="5891980" y="6649674"/>
            <a:ext cx="1080000" cy="144000"/>
          </a:xfrm>
          <a:prstGeom prst="roundRect">
            <a:avLst>
              <a:gd name="adj" fmla="val 50000"/>
            </a:avLst>
          </a:prstGeom>
          <a:solidFill>
            <a:schemeClr val="bg1">
              <a:lumMod val="95000"/>
            </a:schemeClr>
          </a:solidFill>
          <a:ln w="12700">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r" defTabSz="914400" rtl="1" eaLnBrk="1" latinLnBrk="0" hangingPunct="1">
              <a:defRPr sz="1800" kern="1200">
                <a:solidFill>
                  <a:schemeClr val="lt1"/>
                </a:solidFill>
                <a:latin typeface="+mn-lt"/>
                <a:ea typeface="+mn-ea"/>
                <a:cs typeface="+mn-cs"/>
              </a:defRPr>
            </a:lvl1pPr>
            <a:lvl2pPr marL="457200" algn="r" defTabSz="914400" rtl="1" eaLnBrk="1" latinLnBrk="0" hangingPunct="1">
              <a:defRPr sz="1800" kern="1200">
                <a:solidFill>
                  <a:schemeClr val="lt1"/>
                </a:solidFill>
                <a:latin typeface="+mn-lt"/>
                <a:ea typeface="+mn-ea"/>
                <a:cs typeface="+mn-cs"/>
              </a:defRPr>
            </a:lvl2pPr>
            <a:lvl3pPr marL="914400" algn="r" defTabSz="914400" rtl="1" eaLnBrk="1" latinLnBrk="0" hangingPunct="1">
              <a:defRPr sz="1800" kern="1200">
                <a:solidFill>
                  <a:schemeClr val="lt1"/>
                </a:solidFill>
                <a:latin typeface="+mn-lt"/>
                <a:ea typeface="+mn-ea"/>
                <a:cs typeface="+mn-cs"/>
              </a:defRPr>
            </a:lvl3pPr>
            <a:lvl4pPr marL="1371600" algn="r" defTabSz="914400" rtl="1" eaLnBrk="1" latinLnBrk="0" hangingPunct="1">
              <a:defRPr sz="1800" kern="1200">
                <a:solidFill>
                  <a:schemeClr val="lt1"/>
                </a:solidFill>
                <a:latin typeface="+mn-lt"/>
                <a:ea typeface="+mn-ea"/>
                <a:cs typeface="+mn-cs"/>
              </a:defRPr>
            </a:lvl4pPr>
            <a:lvl5pPr marL="1828800" algn="r" defTabSz="914400" rtl="1" eaLnBrk="1" latinLnBrk="0" hangingPunct="1">
              <a:defRPr sz="1800" kern="1200">
                <a:solidFill>
                  <a:schemeClr val="lt1"/>
                </a:solidFill>
                <a:latin typeface="+mn-lt"/>
                <a:ea typeface="+mn-ea"/>
                <a:cs typeface="+mn-cs"/>
              </a:defRPr>
            </a:lvl5pPr>
            <a:lvl6pPr marL="2286000" algn="r" defTabSz="914400" rtl="1" eaLnBrk="1" latinLnBrk="0" hangingPunct="1">
              <a:defRPr sz="1800" kern="1200">
                <a:solidFill>
                  <a:schemeClr val="lt1"/>
                </a:solidFill>
                <a:latin typeface="+mn-lt"/>
                <a:ea typeface="+mn-ea"/>
                <a:cs typeface="+mn-cs"/>
              </a:defRPr>
            </a:lvl6pPr>
            <a:lvl7pPr marL="2743200" algn="r" defTabSz="914400" rtl="1" eaLnBrk="1" latinLnBrk="0" hangingPunct="1">
              <a:defRPr sz="1800" kern="1200">
                <a:solidFill>
                  <a:schemeClr val="lt1"/>
                </a:solidFill>
                <a:latin typeface="+mn-lt"/>
                <a:ea typeface="+mn-ea"/>
                <a:cs typeface="+mn-cs"/>
              </a:defRPr>
            </a:lvl7pPr>
            <a:lvl8pPr marL="3200400" algn="r" defTabSz="914400" rtl="1" eaLnBrk="1" latinLnBrk="0" hangingPunct="1">
              <a:defRPr sz="1800" kern="1200">
                <a:solidFill>
                  <a:schemeClr val="lt1"/>
                </a:solidFill>
                <a:latin typeface="+mn-lt"/>
                <a:ea typeface="+mn-ea"/>
                <a:cs typeface="+mn-cs"/>
              </a:defRPr>
            </a:lvl8pPr>
            <a:lvl9pPr marL="3657600" algn="r" defTabSz="914400" rtl="1" eaLnBrk="1" latinLnBrk="0" hangingPunct="1">
              <a:defRPr sz="1800" kern="1200">
                <a:solidFill>
                  <a:schemeClr val="lt1"/>
                </a:solidFill>
                <a:latin typeface="+mn-lt"/>
                <a:ea typeface="+mn-ea"/>
                <a:cs typeface="+mn-cs"/>
              </a:defRPr>
            </a:lvl9pPr>
          </a:lstStyle>
          <a:p>
            <a:pPr marL="0" marR="0" lvl="0" indent="0" algn="ctr" defTabSz="914400" rtl="1" eaLnBrk="1" fontAlgn="base" latinLnBrk="0" hangingPunct="1">
              <a:lnSpc>
                <a:spcPct val="100000"/>
              </a:lnSpc>
              <a:spcBef>
                <a:spcPct val="0"/>
              </a:spcBef>
              <a:spcAft>
                <a:spcPct val="0"/>
              </a:spcAft>
              <a:buClrTx/>
              <a:buSzTx/>
              <a:buFontTx/>
              <a:buNone/>
              <a:tabLst/>
              <a:defRPr/>
            </a:pPr>
            <a:r>
              <a:rPr kumimoji="0" lang="he-IL" sz="1100" b="1" i="0" u="none" strike="noStrike" kern="1200" cap="none" spc="0" normalizeH="0" baseline="0" noProof="0" dirty="0">
                <a:ln>
                  <a:noFill/>
                </a:ln>
                <a:solidFill>
                  <a:srgbClr val="002060"/>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&lt;-- סוג הדוח</a:t>
            </a:r>
            <a:endParaRPr kumimoji="0" lang="en-IL" sz="1100" b="1" i="0" u="none" strike="noStrike" kern="1200" cap="none" spc="0" normalizeH="0" baseline="0" noProof="0" dirty="0">
              <a:ln>
                <a:noFill/>
              </a:ln>
              <a:solidFill>
                <a:srgbClr val="002060"/>
              </a:solidFill>
              <a:effectLst/>
              <a:uLnTx/>
              <a:uFillTx/>
              <a:latin typeface="Segoe UI" panose="020B0502040204020203" pitchFamily="34" charset="0"/>
              <a:ea typeface="+mn-ea"/>
              <a:cs typeface="Segoe UI" panose="020B0502040204020203" pitchFamily="34" charset="0"/>
            </a:endParaRPr>
          </a:p>
        </p:txBody>
      </p:sp>
      <p:cxnSp>
        <p:nvCxnSpPr>
          <p:cNvPr id="17" name="Straight Connector 6">
            <a:extLst>
              <a:ext uri="{FF2B5EF4-FFF2-40B4-BE49-F238E27FC236}">
                <a16:creationId xmlns:a16="http://schemas.microsoft.com/office/drawing/2014/main" id="{5651B33D-94B4-E8CE-8A10-0FF70058B717}"/>
              </a:ext>
            </a:extLst>
          </p:cNvPr>
          <p:cNvCxnSpPr>
            <a:cxnSpLocks/>
          </p:cNvCxnSpPr>
          <p:nvPr/>
        </p:nvCxnSpPr>
        <p:spPr>
          <a:xfrm rot="16200000" flipV="1">
            <a:off x="6096000" y="-367079"/>
            <a:ext cx="0" cy="10800000"/>
          </a:xfrm>
          <a:prstGeom prst="line">
            <a:avLst/>
          </a:prstGeom>
          <a:ln w="25400" cap="rnd">
            <a:solidFill>
              <a:schemeClr val="bg1">
                <a:lumMod val="85000"/>
              </a:schemeClr>
            </a:solidFill>
            <a:round/>
          </a:ln>
        </p:spPr>
        <p:style>
          <a:lnRef idx="1">
            <a:schemeClr val="accent1"/>
          </a:lnRef>
          <a:fillRef idx="0">
            <a:schemeClr val="accent1"/>
          </a:fillRef>
          <a:effectRef idx="0">
            <a:schemeClr val="accent1"/>
          </a:effectRef>
          <a:fontRef idx="minor">
            <a:schemeClr val="tx1"/>
          </a:fontRef>
        </p:style>
      </p:cxnSp>
      <p:sp>
        <p:nvSpPr>
          <p:cNvPr id="33" name="Rectangle 6">
            <a:extLst>
              <a:ext uri="{FF2B5EF4-FFF2-40B4-BE49-F238E27FC236}">
                <a16:creationId xmlns:a16="http://schemas.microsoft.com/office/drawing/2014/main" id="{9CE59432-DFDC-5795-F024-24D45E85FCFF}"/>
              </a:ext>
            </a:extLst>
          </p:cNvPr>
          <p:cNvSpPr/>
          <p:nvPr/>
        </p:nvSpPr>
        <p:spPr>
          <a:xfrm>
            <a:off x="457200" y="4995552"/>
            <a:ext cx="11201399" cy="1440000"/>
          </a:xfrm>
          <a:prstGeom prst="rect">
            <a:avLst/>
          </a:prstGeom>
        </p:spPr>
        <p:txBody>
          <a:bodyPr wrap="square" anchor="ctr">
            <a:noAutofit/>
          </a:bodyPr>
          <a:lstStyle/>
          <a:p>
            <a:pPr algn="ctr" rtl="1">
              <a:lnSpc>
                <a:spcPct val="150000"/>
              </a:lnSpc>
            </a:pPr>
            <a:r>
              <a:rPr lang="he-IL" sz="1600" dirty="0">
                <a:latin typeface="Segoe UI" panose="020B0502040204020203" pitchFamily="34" charset="0"/>
                <a:cs typeface="Segoe UI" panose="020B0502040204020203" pitchFamily="34" charset="0"/>
              </a:rPr>
              <a:t>קיימים הבדלי תמהיל דוחות ספציפיים בין הקבוצות:</a:t>
            </a:r>
            <a:r>
              <a:rPr lang="he-IL" sz="1600" b="1" dirty="0">
                <a:latin typeface="Segoe UI" panose="020B0502040204020203" pitchFamily="34" charset="0"/>
                <a:cs typeface="Segoe UI" panose="020B0502040204020203" pitchFamily="34" charset="0"/>
              </a:rPr>
              <a:t>  </a:t>
            </a:r>
          </a:p>
          <a:p>
            <a:pPr algn="ctr" rtl="1">
              <a:lnSpc>
                <a:spcPct val="150000"/>
              </a:lnSpc>
            </a:pPr>
            <a:r>
              <a:rPr lang="he-IL" sz="1600" b="1" dirty="0">
                <a:latin typeface="Segoe UI" panose="020B0502040204020203" pitchFamily="34" charset="0"/>
                <a:cs typeface="Segoe UI" panose="020B0502040204020203" pitchFamily="34" charset="0"/>
              </a:rPr>
              <a:t>מהירות </a:t>
            </a:r>
            <a:r>
              <a:rPr lang="he-IL" sz="1600" dirty="0">
                <a:latin typeface="Segoe UI" panose="020B0502040204020203" pitchFamily="34" charset="0"/>
                <a:cs typeface="Segoe UI" panose="020B0502040204020203" pitchFamily="34" charset="0"/>
              </a:rPr>
              <a:t>נפוצה יותר בדוחות חדשים במגזר הערבי לעומת דוחות ישנים במגזר היהודי | </a:t>
            </a:r>
            <a:r>
              <a:rPr lang="he-IL" sz="1600" b="1" dirty="0">
                <a:latin typeface="Segoe UI" panose="020B0502040204020203" pitchFamily="34" charset="0"/>
                <a:cs typeface="Segoe UI" panose="020B0502040204020203" pitchFamily="34" charset="0"/>
              </a:rPr>
              <a:t>נסיעה נתיב </a:t>
            </a:r>
            <a:r>
              <a:rPr lang="he-IL" sz="1600" b="1" dirty="0" err="1">
                <a:latin typeface="Segoe UI" panose="020B0502040204020203" pitchFamily="34" charset="0"/>
                <a:cs typeface="Segoe UI" panose="020B0502040204020203" pitchFamily="34" charset="0"/>
              </a:rPr>
              <a:t>תחב"צ</a:t>
            </a:r>
            <a:r>
              <a:rPr lang="he-IL" sz="1600" b="1" dirty="0">
                <a:latin typeface="Segoe UI" panose="020B0502040204020203" pitchFamily="34" charset="0"/>
                <a:cs typeface="Segoe UI" panose="020B0502040204020203" pitchFamily="34" charset="0"/>
              </a:rPr>
              <a:t> </a:t>
            </a:r>
            <a:r>
              <a:rPr lang="he-IL" sz="1600" dirty="0">
                <a:latin typeface="Segoe UI" panose="020B0502040204020203" pitchFamily="34" charset="0"/>
                <a:cs typeface="Segoe UI" panose="020B0502040204020203" pitchFamily="34" charset="0"/>
              </a:rPr>
              <a:t>בדוחות חדשים </a:t>
            </a:r>
            <a:br>
              <a:rPr lang="en-US" sz="1600" dirty="0">
                <a:latin typeface="Segoe UI" panose="020B0502040204020203" pitchFamily="34" charset="0"/>
                <a:cs typeface="Segoe UI" panose="020B0502040204020203" pitchFamily="34" charset="0"/>
              </a:rPr>
            </a:br>
            <a:r>
              <a:rPr lang="he-IL" sz="1600" dirty="0">
                <a:latin typeface="Segoe UI" panose="020B0502040204020203" pitchFamily="34" charset="0"/>
                <a:cs typeface="Segoe UI" panose="020B0502040204020203" pitchFamily="34" charset="0"/>
              </a:rPr>
              <a:t>במגזר היהודי | </a:t>
            </a:r>
            <a:r>
              <a:rPr lang="he-IL" sz="1600" b="1" dirty="0">
                <a:latin typeface="Segoe UI" panose="020B0502040204020203" pitchFamily="34" charset="0"/>
                <a:cs typeface="Segoe UI" panose="020B0502040204020203" pitchFamily="34" charset="0"/>
              </a:rPr>
              <a:t>אי ציות לתמרור </a:t>
            </a:r>
            <a:r>
              <a:rPr lang="he-IL" sz="1600" dirty="0">
                <a:latin typeface="Segoe UI" panose="020B0502040204020203" pitchFamily="34" charset="0"/>
                <a:cs typeface="Segoe UI" panose="020B0502040204020203" pitchFamily="34" charset="0"/>
              </a:rPr>
              <a:t>בדוחות חדשים.</a:t>
            </a:r>
          </a:p>
        </p:txBody>
      </p:sp>
    </p:spTree>
    <p:extLst>
      <p:ext uri="{BB962C8B-B14F-4D97-AF65-F5344CB8AC3E}">
        <p14:creationId xmlns:p14="http://schemas.microsoft.com/office/powerpoint/2010/main" val="42109889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3">
                                            <p:txEl>
                                              <p:pRg st="1" end="1"/>
                                            </p:txEl>
                                          </p:spTgt>
                                        </p:tgtEl>
                                        <p:attrNameLst>
                                          <p:attrName>style.visibility</p:attrName>
                                        </p:attrNameLst>
                                      </p:cBhvr>
                                      <p:to>
                                        <p:strVal val="visible"/>
                                      </p:to>
                                    </p:set>
                                    <p:animEffect transition="in" filter="fade">
                                      <p:cBhvr>
                                        <p:cTn id="7" dur="500"/>
                                        <p:tgtEl>
                                          <p:spTgt spid="3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C643DE5-78D0-061F-9033-D7A1630D5DD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72C3B9E-91AD-D205-D9D3-2689ADB92585}"/>
              </a:ext>
            </a:extLst>
          </p:cNvPr>
          <p:cNvSpPr>
            <a:spLocks noGrp="1"/>
          </p:cNvSpPr>
          <p:nvPr>
            <p:ph type="sldNum" sz="quarter" idx="4"/>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7A91BF3F-E284-4570-AC28-CDAE2F1A1EA1}" type="slidenum">
              <a:rPr kumimoji="0" lang="he-IL" sz="1100" b="0" i="0" u="none" strike="noStrike" kern="1200" cap="none" spc="0" normalizeH="0" baseline="0" noProof="0" smtClean="0">
                <a:ln>
                  <a:noFill/>
                </a:ln>
                <a:solidFill>
                  <a:prstClr val="white">
                    <a:lumMod val="75000"/>
                  </a:prstClr>
                </a:solidFill>
                <a:effectLst/>
                <a:uLnTx/>
                <a:uFillTx/>
                <a:latin typeface="Segoe UI" panose="020B0502040204020203" pitchFamily="34" charset="0"/>
                <a:ea typeface="+mn-ea"/>
                <a:cs typeface="Segoe UI" panose="020B0502040204020203"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13</a:t>
            </a:fld>
            <a:endParaRPr kumimoji="0" lang="he-IL" sz="1100" b="0" i="0" u="none" strike="noStrike" kern="1200" cap="none" spc="0" normalizeH="0" baseline="0" noProof="0" dirty="0">
              <a:ln>
                <a:noFill/>
              </a:ln>
              <a:solidFill>
                <a:prstClr val="white">
                  <a:lumMod val="75000"/>
                </a:prstClr>
              </a:solidFill>
              <a:effectLst/>
              <a:uLnTx/>
              <a:uFillTx/>
              <a:latin typeface="Segoe UI" panose="020B0502040204020203" pitchFamily="34" charset="0"/>
              <a:ea typeface="+mn-ea"/>
              <a:cs typeface="Segoe UI" panose="020B0502040204020203" pitchFamily="34" charset="0"/>
            </a:endParaRPr>
          </a:p>
        </p:txBody>
      </p:sp>
      <p:sp>
        <p:nvSpPr>
          <p:cNvPr id="7" name="Rectangle 3">
            <a:extLst>
              <a:ext uri="{FF2B5EF4-FFF2-40B4-BE49-F238E27FC236}">
                <a16:creationId xmlns:a16="http://schemas.microsoft.com/office/drawing/2014/main" id="{A9BA9DDE-2B90-D4E4-3A6A-0F68C79F51B0}"/>
              </a:ext>
            </a:extLst>
          </p:cNvPr>
          <p:cNvSpPr/>
          <p:nvPr/>
        </p:nvSpPr>
        <p:spPr>
          <a:xfrm>
            <a:off x="1320802" y="191076"/>
            <a:ext cx="10614278" cy="5075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t"/>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0" cap="none" spc="0" normalizeH="0" baseline="0" noProof="0" dirty="0">
                <a:ln>
                  <a:noFill/>
                </a:ln>
                <a:solidFill>
                  <a:srgbClr val="104E88"/>
                </a:solidFill>
                <a:effectLst/>
                <a:uLnTx/>
                <a:uFillTx/>
                <a:latin typeface="Segoe UI" panose="020B0502040204020203" pitchFamily="34" charset="0"/>
                <a:cs typeface="Segoe UI" panose="020B0502040204020203" pitchFamily="34" charset="0"/>
                <a:sym typeface="Arial"/>
              </a:rPr>
              <a:t>סוג הדוח </a:t>
            </a:r>
            <a:r>
              <a:rPr kumimoji="0" lang="he-IL" b="0" i="0" u="none" strike="noStrike" kern="0" cap="none" spc="0" normalizeH="0" baseline="0" noProof="0" dirty="0">
                <a:ln>
                  <a:noFill/>
                </a:ln>
                <a:solidFill>
                  <a:srgbClr val="104E88"/>
                </a:solidFill>
                <a:effectLst/>
                <a:uLnTx/>
                <a:uFillTx/>
                <a:latin typeface="Segoe UI" panose="020B0502040204020203" pitchFamily="34" charset="0"/>
                <a:cs typeface="Segoe UI" panose="020B0502040204020203" pitchFamily="34" charset="0"/>
                <a:sym typeface="Arial"/>
              </a:rPr>
              <a:t>| אופן קבלת הדוח</a:t>
            </a:r>
            <a:endParaRPr kumimoji="0" lang="he-IL" sz="2800" b="0" i="0" u="none" strike="noStrike" kern="0" cap="none" spc="0" normalizeH="0" baseline="0" noProof="0" dirty="0">
              <a:ln>
                <a:noFill/>
              </a:ln>
              <a:solidFill>
                <a:srgbClr val="104E88"/>
              </a:solidFill>
              <a:effectLst/>
              <a:uLnTx/>
              <a:uFillTx/>
              <a:latin typeface="Segoe UI" panose="020B0502040204020203" pitchFamily="34" charset="0"/>
              <a:cs typeface="Segoe UI" panose="020B0502040204020203" pitchFamily="34" charset="0"/>
              <a:sym typeface="Arial"/>
            </a:endParaRPr>
          </a:p>
        </p:txBody>
      </p:sp>
      <p:cxnSp>
        <p:nvCxnSpPr>
          <p:cNvPr id="5" name="מחבר ישר 4">
            <a:extLst>
              <a:ext uri="{FF2B5EF4-FFF2-40B4-BE49-F238E27FC236}">
                <a16:creationId xmlns:a16="http://schemas.microsoft.com/office/drawing/2014/main" id="{A93EA257-F403-0EBA-8CA0-D5D6AD95F6B5}"/>
              </a:ext>
            </a:extLst>
          </p:cNvPr>
          <p:cNvCxnSpPr>
            <a:cxnSpLocks/>
          </p:cNvCxnSpPr>
          <p:nvPr/>
        </p:nvCxnSpPr>
        <p:spPr>
          <a:xfrm>
            <a:off x="6252733" y="994599"/>
            <a:ext cx="0" cy="3960000"/>
          </a:xfrm>
          <a:prstGeom prst="line">
            <a:avLst/>
          </a:prstGeom>
          <a:ln>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8" name="תיבת טקסט 7">
            <a:extLst>
              <a:ext uri="{FF2B5EF4-FFF2-40B4-BE49-F238E27FC236}">
                <a16:creationId xmlns:a16="http://schemas.microsoft.com/office/drawing/2014/main" id="{EA3595EE-AE95-A21A-EFFC-84BB73B57B82}"/>
              </a:ext>
            </a:extLst>
          </p:cNvPr>
          <p:cNvSpPr txBox="1"/>
          <p:nvPr/>
        </p:nvSpPr>
        <p:spPr>
          <a:xfrm>
            <a:off x="2344998" y="922909"/>
            <a:ext cx="2520000" cy="307777"/>
          </a:xfrm>
          <a:prstGeom prst="rect">
            <a:avLst/>
          </a:prstGeom>
          <a:noFill/>
        </p:spPr>
        <p:txBody>
          <a:bodyPr wrap="square">
            <a:spAutoFit/>
          </a:bodyPr>
          <a:lstStyle/>
          <a:p>
            <a:pPr algn="ctr" rtl="1" fontAlgn="ctr"/>
            <a:r>
              <a:rPr lang="he-IL" sz="1400" b="1" u="none" strike="noStrike" dirty="0">
                <a:effectLst/>
                <a:latin typeface="Segoe UI" panose="020B0502040204020203" pitchFamily="34" charset="0"/>
                <a:cs typeface="Segoe UI" panose="020B0502040204020203" pitchFamily="34" charset="0"/>
              </a:rPr>
              <a:t>לא ביקשו להישפט</a:t>
            </a:r>
          </a:p>
        </p:txBody>
      </p:sp>
      <p:sp>
        <p:nvSpPr>
          <p:cNvPr id="9" name="תיבת טקסט 8">
            <a:extLst>
              <a:ext uri="{FF2B5EF4-FFF2-40B4-BE49-F238E27FC236}">
                <a16:creationId xmlns:a16="http://schemas.microsoft.com/office/drawing/2014/main" id="{9A0AA478-C8B4-1FC1-DC52-8ACF1F13CD2C}"/>
              </a:ext>
            </a:extLst>
          </p:cNvPr>
          <p:cNvSpPr txBox="1"/>
          <p:nvPr/>
        </p:nvSpPr>
        <p:spPr>
          <a:xfrm>
            <a:off x="7872788" y="881749"/>
            <a:ext cx="2520000" cy="307777"/>
          </a:xfrm>
          <a:prstGeom prst="rect">
            <a:avLst/>
          </a:prstGeom>
          <a:noFill/>
        </p:spPr>
        <p:txBody>
          <a:bodyPr wrap="square">
            <a:spAutoFit/>
          </a:bodyPr>
          <a:lstStyle/>
          <a:p>
            <a:pPr algn="ctr" rtl="1" fontAlgn="b"/>
            <a:r>
              <a:rPr lang="he-IL" sz="1400" b="1" u="none" strike="noStrike" dirty="0">
                <a:effectLst/>
                <a:latin typeface="Segoe UI" panose="020B0502040204020203" pitchFamily="34" charset="0"/>
                <a:cs typeface="Segoe UI" panose="020B0502040204020203" pitchFamily="34" charset="0"/>
              </a:rPr>
              <a:t>ביקשו להישפט</a:t>
            </a:r>
            <a:endParaRPr lang="he-IL" sz="1400" b="1" i="0" u="none" strike="noStrike" dirty="0">
              <a:solidFill>
                <a:srgbClr val="000000"/>
              </a:solidFill>
              <a:effectLst/>
              <a:latin typeface="Segoe UI" panose="020B0502040204020203" pitchFamily="34" charset="0"/>
              <a:cs typeface="Segoe UI" panose="020B0502040204020203" pitchFamily="34" charset="0"/>
            </a:endParaRPr>
          </a:p>
        </p:txBody>
      </p:sp>
      <p:sp>
        <p:nvSpPr>
          <p:cNvPr id="19" name="תיבת טקסט 18">
            <a:extLst>
              <a:ext uri="{FF2B5EF4-FFF2-40B4-BE49-F238E27FC236}">
                <a16:creationId xmlns:a16="http://schemas.microsoft.com/office/drawing/2014/main" id="{88E81B83-5904-28E2-2F2D-07841C0F808B}"/>
              </a:ext>
            </a:extLst>
          </p:cNvPr>
          <p:cNvSpPr txBox="1"/>
          <p:nvPr/>
        </p:nvSpPr>
        <p:spPr>
          <a:xfrm>
            <a:off x="1412484" y="1456962"/>
            <a:ext cx="1440000" cy="288000"/>
          </a:xfrm>
          <a:prstGeom prst="rect">
            <a:avLst/>
          </a:prstGeom>
          <a:noFill/>
        </p:spPr>
        <p:txBody>
          <a:bodyPr wrap="square">
            <a:spAutoFit/>
          </a:bodyPr>
          <a:lstStyle/>
          <a:p>
            <a:pPr rtl="1" fontAlgn="ctr"/>
            <a:r>
              <a:rPr lang="he-IL" sz="1200" b="1" u="none" strike="noStrike" dirty="0">
                <a:effectLst/>
                <a:latin typeface="Segoe UI" panose="020B0502040204020203" pitchFamily="34" charset="0"/>
                <a:cs typeface="Segoe UI" panose="020B0502040204020203" pitchFamily="34" charset="0"/>
              </a:rPr>
              <a:t>מגזר יהודי</a:t>
            </a:r>
          </a:p>
        </p:txBody>
      </p:sp>
      <p:sp>
        <p:nvSpPr>
          <p:cNvPr id="20" name="תיבת טקסט 19">
            <a:extLst>
              <a:ext uri="{FF2B5EF4-FFF2-40B4-BE49-F238E27FC236}">
                <a16:creationId xmlns:a16="http://schemas.microsoft.com/office/drawing/2014/main" id="{E63BDDFB-813D-CE2A-0674-0C92649DEE92}"/>
              </a:ext>
            </a:extLst>
          </p:cNvPr>
          <p:cNvSpPr txBox="1"/>
          <p:nvPr/>
        </p:nvSpPr>
        <p:spPr>
          <a:xfrm>
            <a:off x="4208946" y="1456962"/>
            <a:ext cx="1440000" cy="288000"/>
          </a:xfrm>
          <a:prstGeom prst="rect">
            <a:avLst/>
          </a:prstGeom>
          <a:noFill/>
        </p:spPr>
        <p:txBody>
          <a:bodyPr wrap="square">
            <a:spAutoFit/>
          </a:bodyPr>
          <a:lstStyle/>
          <a:p>
            <a:pPr rtl="1" fontAlgn="ctr"/>
            <a:r>
              <a:rPr lang="he-IL" sz="1200" b="1" u="none" strike="noStrike" dirty="0">
                <a:effectLst/>
                <a:latin typeface="Segoe UI" panose="020B0502040204020203" pitchFamily="34" charset="0"/>
                <a:cs typeface="Segoe UI" panose="020B0502040204020203" pitchFamily="34" charset="0"/>
              </a:rPr>
              <a:t>מגזר ערבי</a:t>
            </a:r>
          </a:p>
        </p:txBody>
      </p:sp>
      <p:sp>
        <p:nvSpPr>
          <p:cNvPr id="21" name="תיבת טקסט 20">
            <a:extLst>
              <a:ext uri="{FF2B5EF4-FFF2-40B4-BE49-F238E27FC236}">
                <a16:creationId xmlns:a16="http://schemas.microsoft.com/office/drawing/2014/main" id="{0E54C9F2-CEB1-826A-C91B-2771682652E1}"/>
              </a:ext>
            </a:extLst>
          </p:cNvPr>
          <p:cNvSpPr txBox="1"/>
          <p:nvPr/>
        </p:nvSpPr>
        <p:spPr>
          <a:xfrm>
            <a:off x="7049184" y="1456962"/>
            <a:ext cx="1440000" cy="288000"/>
          </a:xfrm>
          <a:prstGeom prst="rect">
            <a:avLst/>
          </a:prstGeom>
          <a:noFill/>
        </p:spPr>
        <p:txBody>
          <a:bodyPr wrap="square">
            <a:spAutoFit/>
          </a:bodyPr>
          <a:lstStyle/>
          <a:p>
            <a:pPr rtl="1" fontAlgn="ctr"/>
            <a:r>
              <a:rPr lang="he-IL" sz="1200" b="1" u="none" strike="noStrike" dirty="0">
                <a:effectLst/>
                <a:latin typeface="Segoe UI" panose="020B0502040204020203" pitchFamily="34" charset="0"/>
                <a:cs typeface="Segoe UI" panose="020B0502040204020203" pitchFamily="34" charset="0"/>
              </a:rPr>
              <a:t>מגזר יהודי</a:t>
            </a:r>
          </a:p>
        </p:txBody>
      </p:sp>
      <p:sp>
        <p:nvSpPr>
          <p:cNvPr id="22" name="תיבת טקסט 21">
            <a:extLst>
              <a:ext uri="{FF2B5EF4-FFF2-40B4-BE49-F238E27FC236}">
                <a16:creationId xmlns:a16="http://schemas.microsoft.com/office/drawing/2014/main" id="{DCA291A5-D836-9EC3-9901-243D2325B14C}"/>
              </a:ext>
            </a:extLst>
          </p:cNvPr>
          <p:cNvSpPr txBox="1"/>
          <p:nvPr/>
        </p:nvSpPr>
        <p:spPr>
          <a:xfrm>
            <a:off x="9720776" y="1456962"/>
            <a:ext cx="1440000" cy="288000"/>
          </a:xfrm>
          <a:prstGeom prst="rect">
            <a:avLst/>
          </a:prstGeom>
          <a:noFill/>
        </p:spPr>
        <p:txBody>
          <a:bodyPr wrap="square">
            <a:spAutoFit/>
          </a:bodyPr>
          <a:lstStyle/>
          <a:p>
            <a:pPr rtl="1" fontAlgn="ctr"/>
            <a:r>
              <a:rPr lang="he-IL" sz="1200" b="1" u="none" strike="noStrike" dirty="0">
                <a:effectLst/>
                <a:latin typeface="Segoe UI" panose="020B0502040204020203" pitchFamily="34" charset="0"/>
                <a:cs typeface="Segoe UI" panose="020B0502040204020203" pitchFamily="34" charset="0"/>
              </a:rPr>
              <a:t>מגזר ערבי</a:t>
            </a:r>
          </a:p>
        </p:txBody>
      </p:sp>
      <p:graphicFrame>
        <p:nvGraphicFramePr>
          <p:cNvPr id="6" name="Chart 3">
            <a:extLst>
              <a:ext uri="{FF2B5EF4-FFF2-40B4-BE49-F238E27FC236}">
                <a16:creationId xmlns:a16="http://schemas.microsoft.com/office/drawing/2014/main" id="{5DA566EF-04ED-8C33-BECB-245761FA5EAF}"/>
              </a:ext>
            </a:extLst>
          </p:cNvPr>
          <p:cNvGraphicFramePr/>
          <p:nvPr>
            <p:extLst>
              <p:ext uri="{D42A27DB-BD31-4B8C-83A1-F6EECF244321}">
                <p14:modId xmlns:p14="http://schemas.microsoft.com/office/powerpoint/2010/main" val="61747774"/>
              </p:ext>
            </p:extLst>
          </p:nvPr>
        </p:nvGraphicFramePr>
        <p:xfrm>
          <a:off x="699158" y="1569259"/>
          <a:ext cx="3058122" cy="3420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טבלה 9">
            <a:extLst>
              <a:ext uri="{FF2B5EF4-FFF2-40B4-BE49-F238E27FC236}">
                <a16:creationId xmlns:a16="http://schemas.microsoft.com/office/drawing/2014/main" id="{A49C7F56-C689-CB94-A937-FB6C23F01AC8}"/>
              </a:ext>
            </a:extLst>
          </p:cNvPr>
          <p:cNvGraphicFramePr>
            <a:graphicFrameLocks noGrp="1"/>
          </p:cNvGraphicFramePr>
          <p:nvPr/>
        </p:nvGraphicFramePr>
        <p:xfrm>
          <a:off x="86335" y="1698177"/>
          <a:ext cx="1296000" cy="3240000"/>
        </p:xfrm>
        <a:graphic>
          <a:graphicData uri="http://schemas.openxmlformats.org/drawingml/2006/table">
            <a:tbl>
              <a:tblPr rtl="1" firstRow="1" bandRow="1">
                <a:tableStyleId>{2D5ABB26-0587-4C30-8999-92F81FD0307C}</a:tableStyleId>
              </a:tblPr>
              <a:tblGrid>
                <a:gridCol w="1296000">
                  <a:extLst>
                    <a:ext uri="{9D8B030D-6E8A-4147-A177-3AD203B41FA5}">
                      <a16:colId xmlns:a16="http://schemas.microsoft.com/office/drawing/2014/main" val="581933871"/>
                    </a:ext>
                  </a:extLst>
                </a:gridCol>
              </a:tblGrid>
              <a:tr h="405000">
                <a:tc>
                  <a:txBody>
                    <a:bodyPr/>
                    <a:lstStyle/>
                    <a:p>
                      <a:pPr algn="r" rtl="1" fontAlgn="b">
                        <a:buNone/>
                      </a:pPr>
                      <a:r>
                        <a:rPr lang="he-IL" sz="1100" b="0" i="0" u="none" strike="noStrike">
                          <a:solidFill>
                            <a:srgbClr val="000000"/>
                          </a:solidFill>
                          <a:effectLst/>
                          <a:latin typeface="Segoe UI" panose="020B0502040204020203" pitchFamily="34" charset="0"/>
                          <a:cs typeface="Segoe UI" panose="020B0502040204020203" pitchFamily="34" charset="0"/>
                        </a:rPr>
                        <a:t>מהירות</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28002872"/>
                  </a:ext>
                </a:extLst>
              </a:tr>
              <a:tr h="405000">
                <a:tc>
                  <a:txBody>
                    <a:bodyPr/>
                    <a:lstStyle/>
                    <a:p>
                      <a:pPr algn="r" rtl="1" fontAlgn="b">
                        <a:buNone/>
                      </a:pPr>
                      <a:r>
                        <a:rPr lang="he-IL" sz="1100" b="0" i="0" u="none" strike="noStrike">
                          <a:solidFill>
                            <a:srgbClr val="000000"/>
                          </a:solidFill>
                          <a:effectLst/>
                          <a:latin typeface="Segoe UI" panose="020B0502040204020203" pitchFamily="34" charset="0"/>
                          <a:cs typeface="Segoe UI" panose="020B0502040204020203" pitchFamily="34" charset="0"/>
                        </a:rPr>
                        <a:t>שימוש בטלפון</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54857623"/>
                  </a:ext>
                </a:extLst>
              </a:tr>
              <a:tr h="405000">
                <a:tc>
                  <a:txBody>
                    <a:bodyPr/>
                    <a:lstStyle/>
                    <a:p>
                      <a:pPr algn="r" rtl="1" fontAlgn="b">
                        <a:buNone/>
                      </a:pPr>
                      <a:r>
                        <a:rPr lang="he-IL" sz="1100" b="0" i="0" u="none" strike="noStrike" dirty="0">
                          <a:solidFill>
                            <a:srgbClr val="000000"/>
                          </a:solidFill>
                          <a:effectLst/>
                          <a:latin typeface="Segoe UI" panose="020B0502040204020203" pitchFamily="34" charset="0"/>
                          <a:cs typeface="Segoe UI" panose="020B0502040204020203" pitchFamily="34" charset="0"/>
                        </a:rPr>
                        <a:t>נסיעה בנתיב </a:t>
                      </a:r>
                      <a:r>
                        <a:rPr lang="he-IL" sz="1100" b="0" i="0" u="none" strike="noStrike" dirty="0" err="1">
                          <a:solidFill>
                            <a:srgbClr val="000000"/>
                          </a:solidFill>
                          <a:effectLst/>
                          <a:latin typeface="Segoe UI" panose="020B0502040204020203" pitchFamily="34" charset="0"/>
                          <a:cs typeface="Segoe UI" panose="020B0502040204020203" pitchFamily="34" charset="0"/>
                        </a:rPr>
                        <a:t>תחב"צ</a:t>
                      </a:r>
                      <a:endParaRPr lang="he-IL" sz="1100" b="0" i="0" u="none" strike="noStrike" dirty="0">
                        <a:solidFill>
                          <a:srgbClr val="000000"/>
                        </a:solidFill>
                        <a:effectLst/>
                        <a:latin typeface="Segoe UI" panose="020B0502040204020203" pitchFamily="34" charset="0"/>
                        <a:cs typeface="Segoe UI" panose="020B0502040204020203"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90531178"/>
                  </a:ext>
                </a:extLst>
              </a:tr>
              <a:tr h="405000">
                <a:tc>
                  <a:txBody>
                    <a:bodyPr/>
                    <a:lstStyle/>
                    <a:p>
                      <a:pPr algn="r" rtl="1" fontAlgn="b">
                        <a:buNone/>
                      </a:pPr>
                      <a:r>
                        <a:rPr lang="he-IL" sz="1100" b="0" i="0" u="none" strike="noStrike">
                          <a:solidFill>
                            <a:srgbClr val="000000"/>
                          </a:solidFill>
                          <a:effectLst/>
                          <a:latin typeface="Segoe UI" panose="020B0502040204020203" pitchFamily="34" charset="0"/>
                          <a:cs typeface="Segoe UI" panose="020B0502040204020203" pitchFamily="34" charset="0"/>
                        </a:rPr>
                        <a:t>אי ציות לתמרור</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88033099"/>
                  </a:ext>
                </a:extLst>
              </a:tr>
              <a:tr h="405000">
                <a:tc>
                  <a:txBody>
                    <a:bodyPr/>
                    <a:lstStyle/>
                    <a:p>
                      <a:pPr algn="r" rtl="1" fontAlgn="b">
                        <a:buNone/>
                      </a:pPr>
                      <a:r>
                        <a:rPr lang="he-IL" sz="1100" b="0" i="0" u="none" strike="noStrike">
                          <a:solidFill>
                            <a:srgbClr val="000000"/>
                          </a:solidFill>
                          <a:effectLst/>
                          <a:latin typeface="Segoe UI" panose="020B0502040204020203" pitchFamily="34" charset="0"/>
                          <a:cs typeface="Segoe UI" panose="020B0502040204020203" pitchFamily="34" charset="0"/>
                        </a:rPr>
                        <a:t>חגורת בטיחות</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24836368"/>
                  </a:ext>
                </a:extLst>
              </a:tr>
              <a:tr h="405000">
                <a:tc>
                  <a:txBody>
                    <a:bodyPr/>
                    <a:lstStyle/>
                    <a:p>
                      <a:pPr algn="r" rtl="1" fontAlgn="b">
                        <a:buNone/>
                      </a:pPr>
                      <a:r>
                        <a:rPr lang="he-IL" sz="1100" b="0" i="0" u="none" strike="noStrike">
                          <a:solidFill>
                            <a:srgbClr val="000000"/>
                          </a:solidFill>
                          <a:effectLst/>
                          <a:latin typeface="Segoe UI" panose="020B0502040204020203" pitchFamily="34" charset="0"/>
                          <a:cs typeface="Segoe UI" panose="020B0502040204020203" pitchFamily="34" charset="0"/>
                        </a:rPr>
                        <a:t>אור אדום</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07590062"/>
                  </a:ext>
                </a:extLst>
              </a:tr>
              <a:tr h="405000">
                <a:tc>
                  <a:txBody>
                    <a:bodyPr/>
                    <a:lstStyle/>
                    <a:p>
                      <a:pPr algn="r" rtl="1" fontAlgn="b">
                        <a:buNone/>
                      </a:pPr>
                      <a:r>
                        <a:rPr lang="he-IL" sz="1100" b="0" i="0" u="none" strike="noStrike" dirty="0">
                          <a:solidFill>
                            <a:srgbClr val="000000"/>
                          </a:solidFill>
                          <a:effectLst/>
                          <a:latin typeface="Segoe UI" panose="020B0502040204020203" pitchFamily="34" charset="0"/>
                          <a:cs typeface="Segoe UI" panose="020B0502040204020203" pitchFamily="34" charset="0"/>
                        </a:rPr>
                        <a:t>נסיעה בשוליים</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69517065"/>
                  </a:ext>
                </a:extLst>
              </a:tr>
              <a:tr h="405000">
                <a:tc>
                  <a:txBody>
                    <a:bodyPr/>
                    <a:lstStyle/>
                    <a:p>
                      <a:pPr algn="r" rtl="1" fontAlgn="b">
                        <a:buNone/>
                      </a:pPr>
                      <a:r>
                        <a:rPr lang="he-IL" sz="1100" b="0" i="0" u="none" strike="noStrike" dirty="0">
                          <a:solidFill>
                            <a:srgbClr val="000000"/>
                          </a:solidFill>
                          <a:effectLst/>
                          <a:latin typeface="Segoe UI" panose="020B0502040204020203" pitchFamily="34" charset="0"/>
                          <a:cs typeface="Segoe UI" panose="020B0502040204020203" pitchFamily="34" charset="0"/>
                        </a:rPr>
                        <a:t>שינויים ברכב</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66328170"/>
                  </a:ext>
                </a:extLst>
              </a:tr>
            </a:tbl>
          </a:graphicData>
        </a:graphic>
      </p:graphicFrame>
      <p:graphicFrame>
        <p:nvGraphicFramePr>
          <p:cNvPr id="4" name="Chart 3">
            <a:extLst>
              <a:ext uri="{FF2B5EF4-FFF2-40B4-BE49-F238E27FC236}">
                <a16:creationId xmlns:a16="http://schemas.microsoft.com/office/drawing/2014/main" id="{B81706FC-168B-ECFA-860E-7070AC77B52C}"/>
              </a:ext>
            </a:extLst>
          </p:cNvPr>
          <p:cNvGraphicFramePr/>
          <p:nvPr>
            <p:extLst>
              <p:ext uri="{D42A27DB-BD31-4B8C-83A1-F6EECF244321}">
                <p14:modId xmlns:p14="http://schemas.microsoft.com/office/powerpoint/2010/main" val="2055413430"/>
              </p:ext>
            </p:extLst>
          </p:nvPr>
        </p:nvGraphicFramePr>
        <p:xfrm>
          <a:off x="3517668" y="1569259"/>
          <a:ext cx="3058122" cy="34200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1" name="Chart 3">
            <a:extLst>
              <a:ext uri="{FF2B5EF4-FFF2-40B4-BE49-F238E27FC236}">
                <a16:creationId xmlns:a16="http://schemas.microsoft.com/office/drawing/2014/main" id="{AF722994-AFA8-65CF-3F59-409EB734F13E}"/>
              </a:ext>
            </a:extLst>
          </p:cNvPr>
          <p:cNvGraphicFramePr/>
          <p:nvPr>
            <p:extLst>
              <p:ext uri="{D42A27DB-BD31-4B8C-83A1-F6EECF244321}">
                <p14:modId xmlns:p14="http://schemas.microsoft.com/office/powerpoint/2010/main" val="3851412357"/>
              </p:ext>
            </p:extLst>
          </p:nvPr>
        </p:nvGraphicFramePr>
        <p:xfrm>
          <a:off x="6336178" y="1569259"/>
          <a:ext cx="3058122" cy="342000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2" name="Chart 3">
            <a:extLst>
              <a:ext uri="{FF2B5EF4-FFF2-40B4-BE49-F238E27FC236}">
                <a16:creationId xmlns:a16="http://schemas.microsoft.com/office/drawing/2014/main" id="{6D890F67-0D82-3D4B-CAFA-4FF5DD76FBEF}"/>
              </a:ext>
            </a:extLst>
          </p:cNvPr>
          <p:cNvGraphicFramePr/>
          <p:nvPr>
            <p:extLst>
              <p:ext uri="{D42A27DB-BD31-4B8C-83A1-F6EECF244321}">
                <p14:modId xmlns:p14="http://schemas.microsoft.com/office/powerpoint/2010/main" val="2368514775"/>
              </p:ext>
            </p:extLst>
          </p:nvPr>
        </p:nvGraphicFramePr>
        <p:xfrm>
          <a:off x="9100897" y="1569259"/>
          <a:ext cx="3058122" cy="3420000"/>
        </p:xfrm>
        <a:graphic>
          <a:graphicData uri="http://schemas.openxmlformats.org/drawingml/2006/chart">
            <c:chart xmlns:c="http://schemas.openxmlformats.org/drawingml/2006/chart" xmlns:r="http://schemas.openxmlformats.org/officeDocument/2006/relationships" r:id="rId6"/>
          </a:graphicData>
        </a:graphic>
      </p:graphicFrame>
      <p:cxnSp>
        <p:nvCxnSpPr>
          <p:cNvPr id="13" name="Straight Connector 22">
            <a:extLst>
              <a:ext uri="{FF2B5EF4-FFF2-40B4-BE49-F238E27FC236}">
                <a16:creationId xmlns:a16="http://schemas.microsoft.com/office/drawing/2014/main" id="{F8BFAE4A-B2CB-1591-A62F-97F840F599A3}"/>
              </a:ext>
            </a:extLst>
          </p:cNvPr>
          <p:cNvCxnSpPr>
            <a:cxnSpLocks/>
          </p:cNvCxnSpPr>
          <p:nvPr/>
        </p:nvCxnSpPr>
        <p:spPr>
          <a:xfrm rot="5400000">
            <a:off x="6091368" y="-3862387"/>
            <a:ext cx="0" cy="1188000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22">
            <a:extLst>
              <a:ext uri="{FF2B5EF4-FFF2-40B4-BE49-F238E27FC236}">
                <a16:creationId xmlns:a16="http://schemas.microsoft.com/office/drawing/2014/main" id="{F0A1AC0C-9294-1C1A-0A65-A1FE7C669D69}"/>
              </a:ext>
            </a:extLst>
          </p:cNvPr>
          <p:cNvCxnSpPr>
            <a:cxnSpLocks/>
          </p:cNvCxnSpPr>
          <p:nvPr/>
        </p:nvCxnSpPr>
        <p:spPr>
          <a:xfrm rot="5400000">
            <a:off x="6091368" y="-3450012"/>
            <a:ext cx="0" cy="1188000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22">
            <a:extLst>
              <a:ext uri="{FF2B5EF4-FFF2-40B4-BE49-F238E27FC236}">
                <a16:creationId xmlns:a16="http://schemas.microsoft.com/office/drawing/2014/main" id="{D05F7321-9B93-3288-FC8C-3D8A22389542}"/>
              </a:ext>
            </a:extLst>
          </p:cNvPr>
          <p:cNvCxnSpPr>
            <a:cxnSpLocks/>
          </p:cNvCxnSpPr>
          <p:nvPr/>
        </p:nvCxnSpPr>
        <p:spPr>
          <a:xfrm rot="5400000">
            <a:off x="6091368" y="-3046601"/>
            <a:ext cx="0" cy="1188000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22">
            <a:extLst>
              <a:ext uri="{FF2B5EF4-FFF2-40B4-BE49-F238E27FC236}">
                <a16:creationId xmlns:a16="http://schemas.microsoft.com/office/drawing/2014/main" id="{146254E5-E65D-3797-9320-7AD2AD80BB39}"/>
              </a:ext>
            </a:extLst>
          </p:cNvPr>
          <p:cNvCxnSpPr>
            <a:cxnSpLocks/>
          </p:cNvCxnSpPr>
          <p:nvPr/>
        </p:nvCxnSpPr>
        <p:spPr>
          <a:xfrm rot="5400000">
            <a:off x="6091368" y="-2652154"/>
            <a:ext cx="0" cy="1188000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22">
            <a:extLst>
              <a:ext uri="{FF2B5EF4-FFF2-40B4-BE49-F238E27FC236}">
                <a16:creationId xmlns:a16="http://schemas.microsoft.com/office/drawing/2014/main" id="{A3B24A9C-2113-4458-1706-252C73C8AB1F}"/>
              </a:ext>
            </a:extLst>
          </p:cNvPr>
          <p:cNvCxnSpPr>
            <a:cxnSpLocks/>
          </p:cNvCxnSpPr>
          <p:nvPr/>
        </p:nvCxnSpPr>
        <p:spPr>
          <a:xfrm rot="5400000">
            <a:off x="6091368" y="-2221846"/>
            <a:ext cx="0" cy="1188000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091F4E27-BFF8-0518-D321-9B2460D95D0C}"/>
              </a:ext>
            </a:extLst>
          </p:cNvPr>
          <p:cNvCxnSpPr>
            <a:cxnSpLocks/>
          </p:cNvCxnSpPr>
          <p:nvPr/>
        </p:nvCxnSpPr>
        <p:spPr>
          <a:xfrm rot="5400000">
            <a:off x="6091368" y="-1809469"/>
            <a:ext cx="0" cy="1188000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2">
            <a:extLst>
              <a:ext uri="{FF2B5EF4-FFF2-40B4-BE49-F238E27FC236}">
                <a16:creationId xmlns:a16="http://schemas.microsoft.com/office/drawing/2014/main" id="{388ACDC7-B052-682C-220C-A8F1311D433E}"/>
              </a:ext>
            </a:extLst>
          </p:cNvPr>
          <p:cNvCxnSpPr>
            <a:cxnSpLocks/>
          </p:cNvCxnSpPr>
          <p:nvPr/>
        </p:nvCxnSpPr>
        <p:spPr>
          <a:xfrm rot="5400000">
            <a:off x="6091368" y="-1406058"/>
            <a:ext cx="0" cy="1188000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5" name="Rectangle 28">
            <a:extLst>
              <a:ext uri="{FF2B5EF4-FFF2-40B4-BE49-F238E27FC236}">
                <a16:creationId xmlns:a16="http://schemas.microsoft.com/office/drawing/2014/main" id="{934E4AF0-7C85-9039-8D6B-CC7E9EEC8C74}"/>
              </a:ext>
            </a:extLst>
          </p:cNvPr>
          <p:cNvSpPr/>
          <p:nvPr/>
        </p:nvSpPr>
        <p:spPr>
          <a:xfrm>
            <a:off x="7872788" y="6473004"/>
            <a:ext cx="3923846" cy="384995"/>
          </a:xfrm>
          <a:prstGeom prst="rect">
            <a:avLst/>
          </a:prstGeom>
          <a:noFill/>
          <a:ln>
            <a:noFill/>
          </a:ln>
        </p:spPr>
        <p:txBody>
          <a:bodyPr rot="0" spcFirstLastPara="0" vertOverflow="overflow" horzOverflow="overflow" vert="horz" wrap="square" lIns="91440" tIns="45720" rIns="91440" bIns="45720" numCol="1" spcCol="0" rtlCol="1" fromWordArt="0" anchor="ctr" anchorCtr="0" forceAA="0" compatLnSpc="1">
            <a:prstTxWarp prst="textNoShape">
              <a:avLst/>
            </a:prstTxWarp>
            <a:noAutofit/>
          </a:bodyPr>
          <a:lstStyle/>
          <a:p>
            <a:pPr lvl="0" algn="r" rtl="1">
              <a:defRPr/>
            </a:pPr>
            <a:r>
              <a:rPr lang="he-IL" sz="1000" dirty="0">
                <a:solidFill>
                  <a:prstClr val="white">
                    <a:lumMod val="65000"/>
                  </a:prstClr>
                </a:solidFill>
                <a:latin typeface="Segoe UI" panose="020B0502040204020203" pitchFamily="34" charset="0"/>
                <a:cs typeface="Segoe UI" panose="020B0502040204020203" pitchFamily="34" charset="0"/>
              </a:rPr>
              <a:t>"איזה סוג דו"ח תעבורה קיבלת?"</a:t>
            </a:r>
          </a:p>
        </p:txBody>
      </p:sp>
      <p:sp>
        <p:nvSpPr>
          <p:cNvPr id="26" name="Rectangle: Rounded Corners 54">
            <a:hlinkClick r:id="" action="ppaction://noaction"/>
            <a:extLst>
              <a:ext uri="{FF2B5EF4-FFF2-40B4-BE49-F238E27FC236}">
                <a16:creationId xmlns:a16="http://schemas.microsoft.com/office/drawing/2014/main" id="{5373617F-1D82-D41D-FD84-767E54F78831}"/>
              </a:ext>
            </a:extLst>
          </p:cNvPr>
          <p:cNvSpPr/>
          <p:nvPr/>
        </p:nvSpPr>
        <p:spPr>
          <a:xfrm>
            <a:off x="1418590" y="6631748"/>
            <a:ext cx="720000" cy="144000"/>
          </a:xfrm>
          <a:prstGeom prst="roundRect">
            <a:avLst>
              <a:gd name="adj" fmla="val 50000"/>
            </a:avLst>
          </a:prstGeom>
          <a:solidFill>
            <a:schemeClr val="bg1"/>
          </a:solidFill>
          <a:ln w="12700">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r" defTabSz="914400" rtl="1" eaLnBrk="1" latinLnBrk="0" hangingPunct="1">
              <a:defRPr sz="1800" kern="1200">
                <a:solidFill>
                  <a:schemeClr val="lt1"/>
                </a:solidFill>
                <a:latin typeface="+mn-lt"/>
                <a:ea typeface="+mn-ea"/>
                <a:cs typeface="+mn-cs"/>
              </a:defRPr>
            </a:lvl1pPr>
            <a:lvl2pPr marL="457200" algn="r" defTabSz="914400" rtl="1" eaLnBrk="1" latinLnBrk="0" hangingPunct="1">
              <a:defRPr sz="1800" kern="1200">
                <a:solidFill>
                  <a:schemeClr val="lt1"/>
                </a:solidFill>
                <a:latin typeface="+mn-lt"/>
                <a:ea typeface="+mn-ea"/>
                <a:cs typeface="+mn-cs"/>
              </a:defRPr>
            </a:lvl2pPr>
            <a:lvl3pPr marL="914400" algn="r" defTabSz="914400" rtl="1" eaLnBrk="1" latinLnBrk="0" hangingPunct="1">
              <a:defRPr sz="1800" kern="1200">
                <a:solidFill>
                  <a:schemeClr val="lt1"/>
                </a:solidFill>
                <a:latin typeface="+mn-lt"/>
                <a:ea typeface="+mn-ea"/>
                <a:cs typeface="+mn-cs"/>
              </a:defRPr>
            </a:lvl3pPr>
            <a:lvl4pPr marL="1371600" algn="r" defTabSz="914400" rtl="1" eaLnBrk="1" latinLnBrk="0" hangingPunct="1">
              <a:defRPr sz="1800" kern="1200">
                <a:solidFill>
                  <a:schemeClr val="lt1"/>
                </a:solidFill>
                <a:latin typeface="+mn-lt"/>
                <a:ea typeface="+mn-ea"/>
                <a:cs typeface="+mn-cs"/>
              </a:defRPr>
            </a:lvl4pPr>
            <a:lvl5pPr marL="1828800" algn="r" defTabSz="914400" rtl="1" eaLnBrk="1" latinLnBrk="0" hangingPunct="1">
              <a:defRPr sz="1800" kern="1200">
                <a:solidFill>
                  <a:schemeClr val="lt1"/>
                </a:solidFill>
                <a:latin typeface="+mn-lt"/>
                <a:ea typeface="+mn-ea"/>
                <a:cs typeface="+mn-cs"/>
              </a:defRPr>
            </a:lvl5pPr>
            <a:lvl6pPr marL="2286000" algn="r" defTabSz="914400" rtl="1" eaLnBrk="1" latinLnBrk="0" hangingPunct="1">
              <a:defRPr sz="1800" kern="1200">
                <a:solidFill>
                  <a:schemeClr val="lt1"/>
                </a:solidFill>
                <a:latin typeface="+mn-lt"/>
                <a:ea typeface="+mn-ea"/>
                <a:cs typeface="+mn-cs"/>
              </a:defRPr>
            </a:lvl6pPr>
            <a:lvl7pPr marL="2743200" algn="r" defTabSz="914400" rtl="1" eaLnBrk="1" latinLnBrk="0" hangingPunct="1">
              <a:defRPr sz="1800" kern="1200">
                <a:solidFill>
                  <a:schemeClr val="lt1"/>
                </a:solidFill>
                <a:latin typeface="+mn-lt"/>
                <a:ea typeface="+mn-ea"/>
                <a:cs typeface="+mn-cs"/>
              </a:defRPr>
            </a:lvl7pPr>
            <a:lvl8pPr marL="3200400" algn="r" defTabSz="914400" rtl="1" eaLnBrk="1" latinLnBrk="0" hangingPunct="1">
              <a:defRPr sz="1800" kern="1200">
                <a:solidFill>
                  <a:schemeClr val="lt1"/>
                </a:solidFill>
                <a:latin typeface="+mn-lt"/>
                <a:ea typeface="+mn-ea"/>
                <a:cs typeface="+mn-cs"/>
              </a:defRPr>
            </a:lvl8pPr>
            <a:lvl9pPr marL="3657600" algn="r" defTabSz="914400" rtl="1" eaLnBrk="1" latinLnBrk="0" hangingPunct="1">
              <a:defRPr sz="1800" kern="1200">
                <a:solidFill>
                  <a:schemeClr val="lt1"/>
                </a:solidFill>
                <a:latin typeface="+mn-lt"/>
                <a:ea typeface="+mn-ea"/>
                <a:cs typeface="+mn-cs"/>
              </a:defRPr>
            </a:lvl9pPr>
          </a:lstStyle>
          <a:p>
            <a:pPr marL="0" marR="0" lvl="0" indent="0" algn="ctr" defTabSz="914400" rtl="1" eaLnBrk="1" fontAlgn="base" latinLnBrk="0" hangingPunct="1">
              <a:lnSpc>
                <a:spcPct val="100000"/>
              </a:lnSpc>
              <a:spcBef>
                <a:spcPct val="0"/>
              </a:spcBef>
              <a:spcAft>
                <a:spcPct val="0"/>
              </a:spcAft>
              <a:buClrTx/>
              <a:buSzTx/>
              <a:buFontTx/>
              <a:buNone/>
              <a:tabLst/>
              <a:defRPr/>
            </a:pPr>
            <a:r>
              <a:rPr kumimoji="0" lang="he-IL" sz="1100" b="0" i="0" u="none" strike="noStrike" kern="1200" cap="none" spc="0" normalizeH="0" baseline="0" noProof="0" dirty="0">
                <a:ln>
                  <a:noFill/>
                </a:ln>
                <a:solidFill>
                  <a:schemeClr val="bg1">
                    <a:lumMod val="65000"/>
                  </a:schemeClr>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מגדר</a:t>
            </a:r>
            <a:endParaRPr kumimoji="0" lang="en-IL" sz="1100" b="0" i="0" u="none" strike="noStrike" kern="1200" cap="none" spc="0" normalizeH="0" baseline="0" noProof="0" dirty="0">
              <a:ln>
                <a:noFill/>
              </a:ln>
              <a:solidFill>
                <a:schemeClr val="bg1">
                  <a:lumMod val="65000"/>
                </a:schemeClr>
              </a:solidFill>
              <a:effectLst/>
              <a:uLnTx/>
              <a:uFillTx/>
              <a:latin typeface="Segoe UI" panose="020B0502040204020203" pitchFamily="34" charset="0"/>
              <a:ea typeface="+mn-ea"/>
              <a:cs typeface="Segoe UI" panose="020B0502040204020203" pitchFamily="34" charset="0"/>
            </a:endParaRPr>
          </a:p>
        </p:txBody>
      </p:sp>
      <p:sp>
        <p:nvSpPr>
          <p:cNvPr id="27" name="Rectangle: Rounded Corners 54">
            <a:hlinkClick r:id="" action="ppaction://noaction"/>
            <a:extLst>
              <a:ext uri="{FF2B5EF4-FFF2-40B4-BE49-F238E27FC236}">
                <a16:creationId xmlns:a16="http://schemas.microsoft.com/office/drawing/2014/main" id="{D96D2177-AA85-E946-1CD2-32AFAA43CDBE}"/>
              </a:ext>
            </a:extLst>
          </p:cNvPr>
          <p:cNvSpPr/>
          <p:nvPr/>
        </p:nvSpPr>
        <p:spPr>
          <a:xfrm>
            <a:off x="2190868" y="6631748"/>
            <a:ext cx="720000" cy="144000"/>
          </a:xfrm>
          <a:prstGeom prst="roundRect">
            <a:avLst>
              <a:gd name="adj" fmla="val 50000"/>
            </a:avLst>
          </a:prstGeom>
          <a:solidFill>
            <a:schemeClr val="bg1"/>
          </a:solidFill>
          <a:ln w="12700">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r" defTabSz="914400" rtl="1" eaLnBrk="1" latinLnBrk="0" hangingPunct="1">
              <a:defRPr sz="1800" kern="1200">
                <a:solidFill>
                  <a:schemeClr val="lt1"/>
                </a:solidFill>
                <a:latin typeface="+mn-lt"/>
                <a:ea typeface="+mn-ea"/>
                <a:cs typeface="+mn-cs"/>
              </a:defRPr>
            </a:lvl1pPr>
            <a:lvl2pPr marL="457200" algn="r" defTabSz="914400" rtl="1" eaLnBrk="1" latinLnBrk="0" hangingPunct="1">
              <a:defRPr sz="1800" kern="1200">
                <a:solidFill>
                  <a:schemeClr val="lt1"/>
                </a:solidFill>
                <a:latin typeface="+mn-lt"/>
                <a:ea typeface="+mn-ea"/>
                <a:cs typeface="+mn-cs"/>
              </a:defRPr>
            </a:lvl2pPr>
            <a:lvl3pPr marL="914400" algn="r" defTabSz="914400" rtl="1" eaLnBrk="1" latinLnBrk="0" hangingPunct="1">
              <a:defRPr sz="1800" kern="1200">
                <a:solidFill>
                  <a:schemeClr val="lt1"/>
                </a:solidFill>
                <a:latin typeface="+mn-lt"/>
                <a:ea typeface="+mn-ea"/>
                <a:cs typeface="+mn-cs"/>
              </a:defRPr>
            </a:lvl3pPr>
            <a:lvl4pPr marL="1371600" algn="r" defTabSz="914400" rtl="1" eaLnBrk="1" latinLnBrk="0" hangingPunct="1">
              <a:defRPr sz="1800" kern="1200">
                <a:solidFill>
                  <a:schemeClr val="lt1"/>
                </a:solidFill>
                <a:latin typeface="+mn-lt"/>
                <a:ea typeface="+mn-ea"/>
                <a:cs typeface="+mn-cs"/>
              </a:defRPr>
            </a:lvl4pPr>
            <a:lvl5pPr marL="1828800" algn="r" defTabSz="914400" rtl="1" eaLnBrk="1" latinLnBrk="0" hangingPunct="1">
              <a:defRPr sz="1800" kern="1200">
                <a:solidFill>
                  <a:schemeClr val="lt1"/>
                </a:solidFill>
                <a:latin typeface="+mn-lt"/>
                <a:ea typeface="+mn-ea"/>
                <a:cs typeface="+mn-cs"/>
              </a:defRPr>
            </a:lvl5pPr>
            <a:lvl6pPr marL="2286000" algn="r" defTabSz="914400" rtl="1" eaLnBrk="1" latinLnBrk="0" hangingPunct="1">
              <a:defRPr sz="1800" kern="1200">
                <a:solidFill>
                  <a:schemeClr val="lt1"/>
                </a:solidFill>
                <a:latin typeface="+mn-lt"/>
                <a:ea typeface="+mn-ea"/>
                <a:cs typeface="+mn-cs"/>
              </a:defRPr>
            </a:lvl6pPr>
            <a:lvl7pPr marL="2743200" algn="r" defTabSz="914400" rtl="1" eaLnBrk="1" latinLnBrk="0" hangingPunct="1">
              <a:defRPr sz="1800" kern="1200">
                <a:solidFill>
                  <a:schemeClr val="lt1"/>
                </a:solidFill>
                <a:latin typeface="+mn-lt"/>
                <a:ea typeface="+mn-ea"/>
                <a:cs typeface="+mn-cs"/>
              </a:defRPr>
            </a:lvl7pPr>
            <a:lvl8pPr marL="3200400" algn="r" defTabSz="914400" rtl="1" eaLnBrk="1" latinLnBrk="0" hangingPunct="1">
              <a:defRPr sz="1800" kern="1200">
                <a:solidFill>
                  <a:schemeClr val="lt1"/>
                </a:solidFill>
                <a:latin typeface="+mn-lt"/>
                <a:ea typeface="+mn-ea"/>
                <a:cs typeface="+mn-cs"/>
              </a:defRPr>
            </a:lvl8pPr>
            <a:lvl9pPr marL="3657600" algn="r" defTabSz="914400" rtl="1" eaLnBrk="1" latinLnBrk="0" hangingPunct="1">
              <a:defRPr sz="1800" kern="1200">
                <a:solidFill>
                  <a:schemeClr val="lt1"/>
                </a:solidFill>
                <a:latin typeface="+mn-lt"/>
                <a:ea typeface="+mn-ea"/>
                <a:cs typeface="+mn-cs"/>
              </a:defRPr>
            </a:lvl9pPr>
          </a:lstStyle>
          <a:p>
            <a:pPr marL="0" marR="0" lvl="0" indent="0" algn="ctr" defTabSz="914400" rtl="1" eaLnBrk="1" fontAlgn="base" latinLnBrk="0" hangingPunct="1">
              <a:lnSpc>
                <a:spcPct val="100000"/>
              </a:lnSpc>
              <a:spcBef>
                <a:spcPct val="0"/>
              </a:spcBef>
              <a:spcAft>
                <a:spcPct val="0"/>
              </a:spcAft>
              <a:buClrTx/>
              <a:buSzTx/>
              <a:buFontTx/>
              <a:buNone/>
              <a:tabLst/>
              <a:defRPr/>
            </a:pPr>
            <a:r>
              <a:rPr kumimoji="0" lang="he-IL" sz="1100" b="0" i="0" u="none" strike="noStrike" kern="1200" cap="none" spc="0" normalizeH="0" baseline="0" noProof="0" dirty="0">
                <a:ln>
                  <a:noFill/>
                </a:ln>
                <a:solidFill>
                  <a:schemeClr val="bg1">
                    <a:lumMod val="65000"/>
                  </a:schemeClr>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גיל</a:t>
            </a:r>
            <a:endParaRPr kumimoji="0" lang="en-IL" sz="1100" b="0" i="0" u="none" strike="noStrike" kern="1200" cap="none" spc="0" normalizeH="0" baseline="0" noProof="0" dirty="0">
              <a:ln>
                <a:noFill/>
              </a:ln>
              <a:solidFill>
                <a:schemeClr val="bg1">
                  <a:lumMod val="65000"/>
                </a:schemeClr>
              </a:solidFill>
              <a:effectLst/>
              <a:uLnTx/>
              <a:uFillTx/>
              <a:latin typeface="Segoe UI" panose="020B0502040204020203" pitchFamily="34" charset="0"/>
              <a:ea typeface="+mn-ea"/>
              <a:cs typeface="Segoe UI" panose="020B0502040204020203" pitchFamily="34" charset="0"/>
            </a:endParaRPr>
          </a:p>
        </p:txBody>
      </p:sp>
      <p:sp>
        <p:nvSpPr>
          <p:cNvPr id="28" name="Rectangle: Rounded Corners 54">
            <a:hlinkClick r:id="" action="ppaction://noaction"/>
            <a:extLst>
              <a:ext uri="{FF2B5EF4-FFF2-40B4-BE49-F238E27FC236}">
                <a16:creationId xmlns:a16="http://schemas.microsoft.com/office/drawing/2014/main" id="{50E9E2B3-74C1-B845-5D04-7A564CE93BA3}"/>
              </a:ext>
            </a:extLst>
          </p:cNvPr>
          <p:cNvSpPr/>
          <p:nvPr/>
        </p:nvSpPr>
        <p:spPr>
          <a:xfrm>
            <a:off x="2963146" y="6640710"/>
            <a:ext cx="936000" cy="144000"/>
          </a:xfrm>
          <a:prstGeom prst="roundRect">
            <a:avLst>
              <a:gd name="adj" fmla="val 50000"/>
            </a:avLst>
          </a:prstGeom>
          <a:solidFill>
            <a:schemeClr val="bg1"/>
          </a:solidFill>
          <a:ln w="12700">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r" defTabSz="914400" rtl="1" eaLnBrk="1" latinLnBrk="0" hangingPunct="1">
              <a:defRPr sz="1800" kern="1200">
                <a:solidFill>
                  <a:schemeClr val="lt1"/>
                </a:solidFill>
                <a:latin typeface="+mn-lt"/>
                <a:ea typeface="+mn-ea"/>
                <a:cs typeface="+mn-cs"/>
              </a:defRPr>
            </a:lvl1pPr>
            <a:lvl2pPr marL="457200" algn="r" defTabSz="914400" rtl="1" eaLnBrk="1" latinLnBrk="0" hangingPunct="1">
              <a:defRPr sz="1800" kern="1200">
                <a:solidFill>
                  <a:schemeClr val="lt1"/>
                </a:solidFill>
                <a:latin typeface="+mn-lt"/>
                <a:ea typeface="+mn-ea"/>
                <a:cs typeface="+mn-cs"/>
              </a:defRPr>
            </a:lvl2pPr>
            <a:lvl3pPr marL="914400" algn="r" defTabSz="914400" rtl="1" eaLnBrk="1" latinLnBrk="0" hangingPunct="1">
              <a:defRPr sz="1800" kern="1200">
                <a:solidFill>
                  <a:schemeClr val="lt1"/>
                </a:solidFill>
                <a:latin typeface="+mn-lt"/>
                <a:ea typeface="+mn-ea"/>
                <a:cs typeface="+mn-cs"/>
              </a:defRPr>
            </a:lvl3pPr>
            <a:lvl4pPr marL="1371600" algn="r" defTabSz="914400" rtl="1" eaLnBrk="1" latinLnBrk="0" hangingPunct="1">
              <a:defRPr sz="1800" kern="1200">
                <a:solidFill>
                  <a:schemeClr val="lt1"/>
                </a:solidFill>
                <a:latin typeface="+mn-lt"/>
                <a:ea typeface="+mn-ea"/>
                <a:cs typeface="+mn-cs"/>
              </a:defRPr>
            </a:lvl4pPr>
            <a:lvl5pPr marL="1828800" algn="r" defTabSz="914400" rtl="1" eaLnBrk="1" latinLnBrk="0" hangingPunct="1">
              <a:defRPr sz="1800" kern="1200">
                <a:solidFill>
                  <a:schemeClr val="lt1"/>
                </a:solidFill>
                <a:latin typeface="+mn-lt"/>
                <a:ea typeface="+mn-ea"/>
                <a:cs typeface="+mn-cs"/>
              </a:defRPr>
            </a:lvl5pPr>
            <a:lvl6pPr marL="2286000" algn="r" defTabSz="914400" rtl="1" eaLnBrk="1" latinLnBrk="0" hangingPunct="1">
              <a:defRPr sz="1800" kern="1200">
                <a:solidFill>
                  <a:schemeClr val="lt1"/>
                </a:solidFill>
                <a:latin typeface="+mn-lt"/>
                <a:ea typeface="+mn-ea"/>
                <a:cs typeface="+mn-cs"/>
              </a:defRPr>
            </a:lvl6pPr>
            <a:lvl7pPr marL="2743200" algn="r" defTabSz="914400" rtl="1" eaLnBrk="1" latinLnBrk="0" hangingPunct="1">
              <a:defRPr sz="1800" kern="1200">
                <a:solidFill>
                  <a:schemeClr val="lt1"/>
                </a:solidFill>
                <a:latin typeface="+mn-lt"/>
                <a:ea typeface="+mn-ea"/>
                <a:cs typeface="+mn-cs"/>
              </a:defRPr>
            </a:lvl7pPr>
            <a:lvl8pPr marL="3200400" algn="r" defTabSz="914400" rtl="1" eaLnBrk="1" latinLnBrk="0" hangingPunct="1">
              <a:defRPr sz="1800" kern="1200">
                <a:solidFill>
                  <a:schemeClr val="lt1"/>
                </a:solidFill>
                <a:latin typeface="+mn-lt"/>
                <a:ea typeface="+mn-ea"/>
                <a:cs typeface="+mn-cs"/>
              </a:defRPr>
            </a:lvl8pPr>
            <a:lvl9pPr marL="3657600" algn="r" defTabSz="914400" rtl="1" eaLnBrk="1" latinLnBrk="0" hangingPunct="1">
              <a:defRPr sz="1800" kern="1200">
                <a:solidFill>
                  <a:schemeClr val="lt1"/>
                </a:solidFill>
                <a:latin typeface="+mn-lt"/>
                <a:ea typeface="+mn-ea"/>
                <a:cs typeface="+mn-cs"/>
              </a:defRPr>
            </a:lvl9pPr>
          </a:lstStyle>
          <a:p>
            <a:pPr marL="0" marR="0" lvl="0" indent="0" algn="ctr" defTabSz="914400" rtl="1" eaLnBrk="1" fontAlgn="base" latinLnBrk="0" hangingPunct="1">
              <a:lnSpc>
                <a:spcPct val="100000"/>
              </a:lnSpc>
              <a:spcBef>
                <a:spcPct val="0"/>
              </a:spcBef>
              <a:spcAft>
                <a:spcPct val="0"/>
              </a:spcAft>
              <a:buClrTx/>
              <a:buSzTx/>
              <a:buFontTx/>
              <a:buNone/>
              <a:tabLst/>
              <a:defRPr/>
            </a:pPr>
            <a:r>
              <a:rPr kumimoji="0" lang="he-IL" sz="1100" b="0" i="0" u="none" strike="noStrike" kern="1200" cap="none" spc="0" normalizeH="0" baseline="0" noProof="0" dirty="0">
                <a:ln>
                  <a:noFill/>
                </a:ln>
                <a:solidFill>
                  <a:schemeClr val="bg1">
                    <a:lumMod val="65000"/>
                  </a:schemeClr>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כמות דוחות</a:t>
            </a:r>
            <a:endParaRPr kumimoji="0" lang="en-IL" sz="1100" b="0" i="0" u="none" strike="noStrike" kern="1200" cap="none" spc="0" normalizeH="0" baseline="0" noProof="0" dirty="0">
              <a:ln>
                <a:noFill/>
              </a:ln>
              <a:solidFill>
                <a:schemeClr val="bg1">
                  <a:lumMod val="65000"/>
                </a:schemeClr>
              </a:solidFill>
              <a:effectLst/>
              <a:uLnTx/>
              <a:uFillTx/>
              <a:latin typeface="Segoe UI" panose="020B0502040204020203" pitchFamily="34" charset="0"/>
              <a:ea typeface="+mn-ea"/>
              <a:cs typeface="Segoe UI" panose="020B0502040204020203" pitchFamily="34" charset="0"/>
            </a:endParaRPr>
          </a:p>
        </p:txBody>
      </p:sp>
      <p:sp>
        <p:nvSpPr>
          <p:cNvPr id="29" name="Rectangle: Rounded Corners 54">
            <a:hlinkClick r:id="" action="ppaction://noaction"/>
            <a:extLst>
              <a:ext uri="{FF2B5EF4-FFF2-40B4-BE49-F238E27FC236}">
                <a16:creationId xmlns:a16="http://schemas.microsoft.com/office/drawing/2014/main" id="{FD39968E-5ED6-AEA0-74E8-481FE9D5E102}"/>
              </a:ext>
            </a:extLst>
          </p:cNvPr>
          <p:cNvSpPr/>
          <p:nvPr/>
        </p:nvSpPr>
        <p:spPr>
          <a:xfrm>
            <a:off x="3951424" y="6640710"/>
            <a:ext cx="900000" cy="144000"/>
          </a:xfrm>
          <a:prstGeom prst="roundRect">
            <a:avLst>
              <a:gd name="adj" fmla="val 50000"/>
            </a:avLst>
          </a:prstGeom>
          <a:solidFill>
            <a:schemeClr val="bg1"/>
          </a:solidFill>
          <a:ln w="12700">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r" defTabSz="914400" rtl="1" eaLnBrk="1" latinLnBrk="0" hangingPunct="1">
              <a:defRPr sz="1800" kern="1200">
                <a:solidFill>
                  <a:schemeClr val="lt1"/>
                </a:solidFill>
                <a:latin typeface="+mn-lt"/>
                <a:ea typeface="+mn-ea"/>
                <a:cs typeface="+mn-cs"/>
              </a:defRPr>
            </a:lvl1pPr>
            <a:lvl2pPr marL="457200" algn="r" defTabSz="914400" rtl="1" eaLnBrk="1" latinLnBrk="0" hangingPunct="1">
              <a:defRPr sz="1800" kern="1200">
                <a:solidFill>
                  <a:schemeClr val="lt1"/>
                </a:solidFill>
                <a:latin typeface="+mn-lt"/>
                <a:ea typeface="+mn-ea"/>
                <a:cs typeface="+mn-cs"/>
              </a:defRPr>
            </a:lvl2pPr>
            <a:lvl3pPr marL="914400" algn="r" defTabSz="914400" rtl="1" eaLnBrk="1" latinLnBrk="0" hangingPunct="1">
              <a:defRPr sz="1800" kern="1200">
                <a:solidFill>
                  <a:schemeClr val="lt1"/>
                </a:solidFill>
                <a:latin typeface="+mn-lt"/>
                <a:ea typeface="+mn-ea"/>
                <a:cs typeface="+mn-cs"/>
              </a:defRPr>
            </a:lvl3pPr>
            <a:lvl4pPr marL="1371600" algn="r" defTabSz="914400" rtl="1" eaLnBrk="1" latinLnBrk="0" hangingPunct="1">
              <a:defRPr sz="1800" kern="1200">
                <a:solidFill>
                  <a:schemeClr val="lt1"/>
                </a:solidFill>
                <a:latin typeface="+mn-lt"/>
                <a:ea typeface="+mn-ea"/>
                <a:cs typeface="+mn-cs"/>
              </a:defRPr>
            </a:lvl4pPr>
            <a:lvl5pPr marL="1828800" algn="r" defTabSz="914400" rtl="1" eaLnBrk="1" latinLnBrk="0" hangingPunct="1">
              <a:defRPr sz="1800" kern="1200">
                <a:solidFill>
                  <a:schemeClr val="lt1"/>
                </a:solidFill>
                <a:latin typeface="+mn-lt"/>
                <a:ea typeface="+mn-ea"/>
                <a:cs typeface="+mn-cs"/>
              </a:defRPr>
            </a:lvl5pPr>
            <a:lvl6pPr marL="2286000" algn="r" defTabSz="914400" rtl="1" eaLnBrk="1" latinLnBrk="0" hangingPunct="1">
              <a:defRPr sz="1800" kern="1200">
                <a:solidFill>
                  <a:schemeClr val="lt1"/>
                </a:solidFill>
                <a:latin typeface="+mn-lt"/>
                <a:ea typeface="+mn-ea"/>
                <a:cs typeface="+mn-cs"/>
              </a:defRPr>
            </a:lvl6pPr>
            <a:lvl7pPr marL="2743200" algn="r" defTabSz="914400" rtl="1" eaLnBrk="1" latinLnBrk="0" hangingPunct="1">
              <a:defRPr sz="1800" kern="1200">
                <a:solidFill>
                  <a:schemeClr val="lt1"/>
                </a:solidFill>
                <a:latin typeface="+mn-lt"/>
                <a:ea typeface="+mn-ea"/>
                <a:cs typeface="+mn-cs"/>
              </a:defRPr>
            </a:lvl7pPr>
            <a:lvl8pPr marL="3200400" algn="r" defTabSz="914400" rtl="1" eaLnBrk="1" latinLnBrk="0" hangingPunct="1">
              <a:defRPr sz="1800" kern="1200">
                <a:solidFill>
                  <a:schemeClr val="lt1"/>
                </a:solidFill>
                <a:latin typeface="+mn-lt"/>
                <a:ea typeface="+mn-ea"/>
                <a:cs typeface="+mn-cs"/>
              </a:defRPr>
            </a:lvl8pPr>
            <a:lvl9pPr marL="3657600" algn="r" defTabSz="914400" rtl="1" eaLnBrk="1" latinLnBrk="0" hangingPunct="1">
              <a:defRPr sz="1800" kern="1200">
                <a:solidFill>
                  <a:schemeClr val="lt1"/>
                </a:solidFill>
                <a:latin typeface="+mn-lt"/>
                <a:ea typeface="+mn-ea"/>
                <a:cs typeface="+mn-cs"/>
              </a:defRPr>
            </a:lvl9pPr>
          </a:lstStyle>
          <a:p>
            <a:pPr marL="0" marR="0" lvl="0" indent="0" algn="ctr" defTabSz="914400" rtl="1" eaLnBrk="1" fontAlgn="base" latinLnBrk="0" hangingPunct="1">
              <a:lnSpc>
                <a:spcPct val="100000"/>
              </a:lnSpc>
              <a:spcBef>
                <a:spcPct val="0"/>
              </a:spcBef>
              <a:spcAft>
                <a:spcPct val="0"/>
              </a:spcAft>
              <a:buClrTx/>
              <a:buSzTx/>
              <a:buFontTx/>
              <a:buNone/>
              <a:tabLst/>
              <a:defRPr/>
            </a:pPr>
            <a:r>
              <a:rPr kumimoji="0" lang="he-IL" sz="1100" b="0" i="0" u="none" strike="noStrike" kern="1200" cap="none" spc="0" normalizeH="0" baseline="0" noProof="0" dirty="0">
                <a:ln>
                  <a:noFill/>
                </a:ln>
                <a:solidFill>
                  <a:schemeClr val="bg1">
                    <a:lumMod val="65000"/>
                  </a:schemeClr>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מועד קבלה</a:t>
            </a:r>
            <a:endParaRPr kumimoji="0" lang="en-IL" sz="1100" b="0" i="0" u="none" strike="noStrike" kern="1200" cap="none" spc="0" normalizeH="0" baseline="0" noProof="0" dirty="0">
              <a:ln>
                <a:noFill/>
              </a:ln>
              <a:solidFill>
                <a:schemeClr val="bg1">
                  <a:lumMod val="65000"/>
                </a:schemeClr>
              </a:solidFill>
              <a:effectLst/>
              <a:uLnTx/>
              <a:uFillTx/>
              <a:latin typeface="Segoe UI" panose="020B0502040204020203" pitchFamily="34" charset="0"/>
              <a:ea typeface="+mn-ea"/>
              <a:cs typeface="Segoe UI" panose="020B0502040204020203" pitchFamily="34" charset="0"/>
            </a:endParaRPr>
          </a:p>
        </p:txBody>
      </p:sp>
      <p:sp>
        <p:nvSpPr>
          <p:cNvPr id="30" name="Rectangle: Rounded Corners 54">
            <a:hlinkClick r:id="" action="ppaction://noaction"/>
            <a:extLst>
              <a:ext uri="{FF2B5EF4-FFF2-40B4-BE49-F238E27FC236}">
                <a16:creationId xmlns:a16="http://schemas.microsoft.com/office/drawing/2014/main" id="{D83D9DCE-B890-727B-957B-6088E647CBF5}"/>
              </a:ext>
            </a:extLst>
          </p:cNvPr>
          <p:cNvSpPr/>
          <p:nvPr/>
        </p:nvSpPr>
        <p:spPr>
          <a:xfrm>
            <a:off x="4903702" y="6649674"/>
            <a:ext cx="936000" cy="144000"/>
          </a:xfrm>
          <a:prstGeom prst="roundRect">
            <a:avLst>
              <a:gd name="adj" fmla="val 50000"/>
            </a:avLst>
          </a:prstGeom>
          <a:solidFill>
            <a:schemeClr val="bg1">
              <a:lumMod val="95000"/>
            </a:schemeClr>
          </a:solidFill>
          <a:ln w="12700">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r" defTabSz="914400" rtl="1" eaLnBrk="1" latinLnBrk="0" hangingPunct="1">
              <a:defRPr sz="1800" kern="1200">
                <a:solidFill>
                  <a:schemeClr val="lt1"/>
                </a:solidFill>
                <a:latin typeface="+mn-lt"/>
                <a:ea typeface="+mn-ea"/>
                <a:cs typeface="+mn-cs"/>
              </a:defRPr>
            </a:lvl1pPr>
            <a:lvl2pPr marL="457200" algn="r" defTabSz="914400" rtl="1" eaLnBrk="1" latinLnBrk="0" hangingPunct="1">
              <a:defRPr sz="1800" kern="1200">
                <a:solidFill>
                  <a:schemeClr val="lt1"/>
                </a:solidFill>
                <a:latin typeface="+mn-lt"/>
                <a:ea typeface="+mn-ea"/>
                <a:cs typeface="+mn-cs"/>
              </a:defRPr>
            </a:lvl2pPr>
            <a:lvl3pPr marL="914400" algn="r" defTabSz="914400" rtl="1" eaLnBrk="1" latinLnBrk="0" hangingPunct="1">
              <a:defRPr sz="1800" kern="1200">
                <a:solidFill>
                  <a:schemeClr val="lt1"/>
                </a:solidFill>
                <a:latin typeface="+mn-lt"/>
                <a:ea typeface="+mn-ea"/>
                <a:cs typeface="+mn-cs"/>
              </a:defRPr>
            </a:lvl3pPr>
            <a:lvl4pPr marL="1371600" algn="r" defTabSz="914400" rtl="1" eaLnBrk="1" latinLnBrk="0" hangingPunct="1">
              <a:defRPr sz="1800" kern="1200">
                <a:solidFill>
                  <a:schemeClr val="lt1"/>
                </a:solidFill>
                <a:latin typeface="+mn-lt"/>
                <a:ea typeface="+mn-ea"/>
                <a:cs typeface="+mn-cs"/>
              </a:defRPr>
            </a:lvl4pPr>
            <a:lvl5pPr marL="1828800" algn="r" defTabSz="914400" rtl="1" eaLnBrk="1" latinLnBrk="0" hangingPunct="1">
              <a:defRPr sz="1800" kern="1200">
                <a:solidFill>
                  <a:schemeClr val="lt1"/>
                </a:solidFill>
                <a:latin typeface="+mn-lt"/>
                <a:ea typeface="+mn-ea"/>
                <a:cs typeface="+mn-cs"/>
              </a:defRPr>
            </a:lvl5pPr>
            <a:lvl6pPr marL="2286000" algn="r" defTabSz="914400" rtl="1" eaLnBrk="1" latinLnBrk="0" hangingPunct="1">
              <a:defRPr sz="1800" kern="1200">
                <a:solidFill>
                  <a:schemeClr val="lt1"/>
                </a:solidFill>
                <a:latin typeface="+mn-lt"/>
                <a:ea typeface="+mn-ea"/>
                <a:cs typeface="+mn-cs"/>
              </a:defRPr>
            </a:lvl6pPr>
            <a:lvl7pPr marL="2743200" algn="r" defTabSz="914400" rtl="1" eaLnBrk="1" latinLnBrk="0" hangingPunct="1">
              <a:defRPr sz="1800" kern="1200">
                <a:solidFill>
                  <a:schemeClr val="lt1"/>
                </a:solidFill>
                <a:latin typeface="+mn-lt"/>
                <a:ea typeface="+mn-ea"/>
                <a:cs typeface="+mn-cs"/>
              </a:defRPr>
            </a:lvl7pPr>
            <a:lvl8pPr marL="3200400" algn="r" defTabSz="914400" rtl="1" eaLnBrk="1" latinLnBrk="0" hangingPunct="1">
              <a:defRPr sz="1800" kern="1200">
                <a:solidFill>
                  <a:schemeClr val="lt1"/>
                </a:solidFill>
                <a:latin typeface="+mn-lt"/>
                <a:ea typeface="+mn-ea"/>
                <a:cs typeface="+mn-cs"/>
              </a:defRPr>
            </a:lvl8pPr>
            <a:lvl9pPr marL="3657600" algn="r" defTabSz="914400" rtl="1" eaLnBrk="1" latinLnBrk="0" hangingPunct="1">
              <a:defRPr sz="1800" kern="1200">
                <a:solidFill>
                  <a:schemeClr val="lt1"/>
                </a:solidFill>
                <a:latin typeface="+mn-lt"/>
                <a:ea typeface="+mn-ea"/>
                <a:cs typeface="+mn-cs"/>
              </a:defRPr>
            </a:lvl9pPr>
          </a:lstStyle>
          <a:p>
            <a:pPr marL="0" marR="0" lvl="0" indent="0" algn="ctr" defTabSz="914400" rtl="1" eaLnBrk="1" fontAlgn="base" latinLnBrk="0" hangingPunct="1">
              <a:lnSpc>
                <a:spcPct val="100000"/>
              </a:lnSpc>
              <a:spcBef>
                <a:spcPct val="0"/>
              </a:spcBef>
              <a:spcAft>
                <a:spcPct val="0"/>
              </a:spcAft>
              <a:buClrTx/>
              <a:buSzTx/>
              <a:buFontTx/>
              <a:buNone/>
              <a:tabLst/>
              <a:defRPr/>
            </a:pPr>
            <a:r>
              <a:rPr kumimoji="0" lang="he-IL" sz="1100" b="1" i="0" u="none" strike="noStrike" kern="1200" cap="none" spc="0" normalizeH="0" baseline="0" noProof="0" dirty="0">
                <a:ln>
                  <a:noFill/>
                </a:ln>
                <a:solidFill>
                  <a:schemeClr val="bg1">
                    <a:lumMod val="65000"/>
                  </a:schemeClr>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אופן קבלה</a:t>
            </a:r>
            <a:endParaRPr kumimoji="0" lang="en-IL" sz="1100" b="1" i="0" u="none" strike="noStrike" kern="1200" cap="none" spc="0" normalizeH="0" baseline="0" noProof="0" dirty="0">
              <a:ln>
                <a:noFill/>
              </a:ln>
              <a:solidFill>
                <a:schemeClr val="bg1">
                  <a:lumMod val="65000"/>
                </a:schemeClr>
              </a:solidFill>
              <a:effectLst/>
              <a:uLnTx/>
              <a:uFillTx/>
              <a:latin typeface="Segoe UI" panose="020B0502040204020203" pitchFamily="34" charset="0"/>
              <a:ea typeface="+mn-ea"/>
              <a:cs typeface="Segoe UI" panose="020B0502040204020203" pitchFamily="34" charset="0"/>
            </a:endParaRPr>
          </a:p>
        </p:txBody>
      </p:sp>
      <p:sp>
        <p:nvSpPr>
          <p:cNvPr id="31" name="Rectangle: Rounded Corners 54">
            <a:hlinkClick r:id="" action="ppaction://noaction"/>
            <a:extLst>
              <a:ext uri="{FF2B5EF4-FFF2-40B4-BE49-F238E27FC236}">
                <a16:creationId xmlns:a16="http://schemas.microsoft.com/office/drawing/2014/main" id="{D143351B-8BB2-EAB8-7FB1-D8F42E83B3FB}"/>
              </a:ext>
            </a:extLst>
          </p:cNvPr>
          <p:cNvSpPr/>
          <p:nvPr/>
        </p:nvSpPr>
        <p:spPr>
          <a:xfrm>
            <a:off x="5891980" y="6649674"/>
            <a:ext cx="1080000" cy="144000"/>
          </a:xfrm>
          <a:prstGeom prst="roundRect">
            <a:avLst>
              <a:gd name="adj" fmla="val 50000"/>
            </a:avLst>
          </a:prstGeom>
          <a:solidFill>
            <a:schemeClr val="bg1">
              <a:lumMod val="95000"/>
            </a:schemeClr>
          </a:solidFill>
          <a:ln w="12700">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r" defTabSz="914400" rtl="1" eaLnBrk="1" latinLnBrk="0" hangingPunct="1">
              <a:defRPr sz="1800" kern="1200">
                <a:solidFill>
                  <a:schemeClr val="lt1"/>
                </a:solidFill>
                <a:latin typeface="+mn-lt"/>
                <a:ea typeface="+mn-ea"/>
                <a:cs typeface="+mn-cs"/>
              </a:defRPr>
            </a:lvl1pPr>
            <a:lvl2pPr marL="457200" algn="r" defTabSz="914400" rtl="1" eaLnBrk="1" latinLnBrk="0" hangingPunct="1">
              <a:defRPr sz="1800" kern="1200">
                <a:solidFill>
                  <a:schemeClr val="lt1"/>
                </a:solidFill>
                <a:latin typeface="+mn-lt"/>
                <a:ea typeface="+mn-ea"/>
                <a:cs typeface="+mn-cs"/>
              </a:defRPr>
            </a:lvl2pPr>
            <a:lvl3pPr marL="914400" algn="r" defTabSz="914400" rtl="1" eaLnBrk="1" latinLnBrk="0" hangingPunct="1">
              <a:defRPr sz="1800" kern="1200">
                <a:solidFill>
                  <a:schemeClr val="lt1"/>
                </a:solidFill>
                <a:latin typeface="+mn-lt"/>
                <a:ea typeface="+mn-ea"/>
                <a:cs typeface="+mn-cs"/>
              </a:defRPr>
            </a:lvl3pPr>
            <a:lvl4pPr marL="1371600" algn="r" defTabSz="914400" rtl="1" eaLnBrk="1" latinLnBrk="0" hangingPunct="1">
              <a:defRPr sz="1800" kern="1200">
                <a:solidFill>
                  <a:schemeClr val="lt1"/>
                </a:solidFill>
                <a:latin typeface="+mn-lt"/>
                <a:ea typeface="+mn-ea"/>
                <a:cs typeface="+mn-cs"/>
              </a:defRPr>
            </a:lvl4pPr>
            <a:lvl5pPr marL="1828800" algn="r" defTabSz="914400" rtl="1" eaLnBrk="1" latinLnBrk="0" hangingPunct="1">
              <a:defRPr sz="1800" kern="1200">
                <a:solidFill>
                  <a:schemeClr val="lt1"/>
                </a:solidFill>
                <a:latin typeface="+mn-lt"/>
                <a:ea typeface="+mn-ea"/>
                <a:cs typeface="+mn-cs"/>
              </a:defRPr>
            </a:lvl5pPr>
            <a:lvl6pPr marL="2286000" algn="r" defTabSz="914400" rtl="1" eaLnBrk="1" latinLnBrk="0" hangingPunct="1">
              <a:defRPr sz="1800" kern="1200">
                <a:solidFill>
                  <a:schemeClr val="lt1"/>
                </a:solidFill>
                <a:latin typeface="+mn-lt"/>
                <a:ea typeface="+mn-ea"/>
                <a:cs typeface="+mn-cs"/>
              </a:defRPr>
            </a:lvl6pPr>
            <a:lvl7pPr marL="2743200" algn="r" defTabSz="914400" rtl="1" eaLnBrk="1" latinLnBrk="0" hangingPunct="1">
              <a:defRPr sz="1800" kern="1200">
                <a:solidFill>
                  <a:schemeClr val="lt1"/>
                </a:solidFill>
                <a:latin typeface="+mn-lt"/>
                <a:ea typeface="+mn-ea"/>
                <a:cs typeface="+mn-cs"/>
              </a:defRPr>
            </a:lvl7pPr>
            <a:lvl8pPr marL="3200400" algn="r" defTabSz="914400" rtl="1" eaLnBrk="1" latinLnBrk="0" hangingPunct="1">
              <a:defRPr sz="1800" kern="1200">
                <a:solidFill>
                  <a:schemeClr val="lt1"/>
                </a:solidFill>
                <a:latin typeface="+mn-lt"/>
                <a:ea typeface="+mn-ea"/>
                <a:cs typeface="+mn-cs"/>
              </a:defRPr>
            </a:lvl8pPr>
            <a:lvl9pPr marL="3657600" algn="r" defTabSz="914400" rtl="1" eaLnBrk="1" latinLnBrk="0" hangingPunct="1">
              <a:defRPr sz="1800" kern="1200">
                <a:solidFill>
                  <a:schemeClr val="lt1"/>
                </a:solidFill>
                <a:latin typeface="+mn-lt"/>
                <a:ea typeface="+mn-ea"/>
                <a:cs typeface="+mn-cs"/>
              </a:defRPr>
            </a:lvl9pPr>
          </a:lstStyle>
          <a:p>
            <a:pPr marL="0" marR="0" lvl="0" indent="0" algn="ctr" defTabSz="914400" rtl="1" eaLnBrk="1" fontAlgn="base" latinLnBrk="0" hangingPunct="1">
              <a:lnSpc>
                <a:spcPct val="100000"/>
              </a:lnSpc>
              <a:spcBef>
                <a:spcPct val="0"/>
              </a:spcBef>
              <a:spcAft>
                <a:spcPct val="0"/>
              </a:spcAft>
              <a:buClrTx/>
              <a:buSzTx/>
              <a:buFontTx/>
              <a:buNone/>
              <a:tabLst/>
              <a:defRPr/>
            </a:pPr>
            <a:r>
              <a:rPr kumimoji="0" lang="he-IL" sz="1100" b="1" i="0" u="none" strike="noStrike" kern="1200" cap="none" spc="0" normalizeH="0" baseline="0" noProof="0" dirty="0">
                <a:ln>
                  <a:noFill/>
                </a:ln>
                <a:solidFill>
                  <a:srgbClr val="002060"/>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&lt;-- סוג הדוח</a:t>
            </a:r>
            <a:endParaRPr kumimoji="0" lang="en-IL" sz="1100" b="1" i="0" u="none" strike="noStrike" kern="1200" cap="none" spc="0" normalizeH="0" baseline="0" noProof="0" dirty="0">
              <a:ln>
                <a:noFill/>
              </a:ln>
              <a:solidFill>
                <a:srgbClr val="002060"/>
              </a:solidFill>
              <a:effectLst/>
              <a:uLnTx/>
              <a:uFillTx/>
              <a:latin typeface="Segoe UI" panose="020B0502040204020203" pitchFamily="34" charset="0"/>
              <a:ea typeface="+mn-ea"/>
              <a:cs typeface="Segoe UI" panose="020B0502040204020203" pitchFamily="34" charset="0"/>
            </a:endParaRPr>
          </a:p>
        </p:txBody>
      </p:sp>
      <p:cxnSp>
        <p:nvCxnSpPr>
          <p:cNvPr id="17" name="Straight Connector 6">
            <a:extLst>
              <a:ext uri="{FF2B5EF4-FFF2-40B4-BE49-F238E27FC236}">
                <a16:creationId xmlns:a16="http://schemas.microsoft.com/office/drawing/2014/main" id="{E0D44DDF-D15F-3569-6B6E-E9D709451F3C}"/>
              </a:ext>
            </a:extLst>
          </p:cNvPr>
          <p:cNvCxnSpPr>
            <a:cxnSpLocks/>
          </p:cNvCxnSpPr>
          <p:nvPr/>
        </p:nvCxnSpPr>
        <p:spPr>
          <a:xfrm rot="16200000" flipV="1">
            <a:off x="6096000" y="-367079"/>
            <a:ext cx="0" cy="10800000"/>
          </a:xfrm>
          <a:prstGeom prst="line">
            <a:avLst/>
          </a:prstGeom>
          <a:ln w="25400" cap="rnd">
            <a:solidFill>
              <a:schemeClr val="bg1">
                <a:lumMod val="85000"/>
              </a:schemeClr>
            </a:solidFill>
            <a:round/>
          </a:ln>
        </p:spPr>
        <p:style>
          <a:lnRef idx="1">
            <a:schemeClr val="accent1"/>
          </a:lnRef>
          <a:fillRef idx="0">
            <a:schemeClr val="accent1"/>
          </a:fillRef>
          <a:effectRef idx="0">
            <a:schemeClr val="accent1"/>
          </a:effectRef>
          <a:fontRef idx="minor">
            <a:schemeClr val="tx1"/>
          </a:fontRef>
        </p:style>
      </p:cxnSp>
      <p:sp>
        <p:nvSpPr>
          <p:cNvPr id="32" name="Rectangle 6">
            <a:extLst>
              <a:ext uri="{FF2B5EF4-FFF2-40B4-BE49-F238E27FC236}">
                <a16:creationId xmlns:a16="http://schemas.microsoft.com/office/drawing/2014/main" id="{EDDB61D3-1874-A952-7AF3-0E0D482E8FB5}"/>
              </a:ext>
            </a:extLst>
          </p:cNvPr>
          <p:cNvSpPr/>
          <p:nvPr/>
        </p:nvSpPr>
        <p:spPr>
          <a:xfrm>
            <a:off x="957620" y="5122859"/>
            <a:ext cx="11201399" cy="1440000"/>
          </a:xfrm>
          <a:prstGeom prst="rect">
            <a:avLst/>
          </a:prstGeom>
        </p:spPr>
        <p:txBody>
          <a:bodyPr wrap="square" anchor="ctr">
            <a:noAutofit/>
          </a:bodyPr>
          <a:lstStyle/>
          <a:p>
            <a:pPr algn="ctr" rtl="1">
              <a:lnSpc>
                <a:spcPct val="150000"/>
              </a:lnSpc>
            </a:pPr>
            <a:r>
              <a:rPr lang="he-IL" sz="1600" dirty="0">
                <a:latin typeface="Segoe UI" panose="020B0502040204020203" pitchFamily="34" charset="0"/>
                <a:cs typeface="Segoe UI" panose="020B0502040204020203" pitchFamily="34" charset="0"/>
              </a:rPr>
              <a:t>קיימים הבדלי תמהיל דוחות ספציפיים בין הקבוצות:  </a:t>
            </a:r>
          </a:p>
          <a:p>
            <a:pPr algn="ctr" rtl="1">
              <a:lnSpc>
                <a:spcPct val="150000"/>
              </a:lnSpc>
            </a:pPr>
            <a:r>
              <a:rPr lang="he-IL" sz="1600" b="1" dirty="0">
                <a:latin typeface="Segoe UI" panose="020B0502040204020203" pitchFamily="34" charset="0"/>
                <a:cs typeface="Segoe UI" panose="020B0502040204020203" pitchFamily="34" charset="0"/>
              </a:rPr>
              <a:t>פיזית משוטר בשטח:</a:t>
            </a:r>
            <a:r>
              <a:rPr lang="he-IL" sz="1600" dirty="0">
                <a:latin typeface="Segoe UI" panose="020B0502040204020203" pitchFamily="34" charset="0"/>
                <a:cs typeface="Segoe UI" panose="020B0502040204020203" pitchFamily="34" charset="0"/>
              </a:rPr>
              <a:t> יותר שימוש בטלפון וחגורת בטיחות | </a:t>
            </a:r>
            <a:r>
              <a:rPr lang="he-IL" sz="1600" b="1" dirty="0">
                <a:latin typeface="Segoe UI" panose="020B0502040204020203" pitchFamily="34" charset="0"/>
                <a:cs typeface="Segoe UI" panose="020B0502040204020203" pitchFamily="34" charset="0"/>
              </a:rPr>
              <a:t>אמצעים אחרים: </a:t>
            </a:r>
            <a:r>
              <a:rPr lang="he-IL" sz="1600" dirty="0">
                <a:latin typeface="Segoe UI" panose="020B0502040204020203" pitchFamily="34" charset="0"/>
                <a:cs typeface="Segoe UI" panose="020B0502040204020203" pitchFamily="34" charset="0"/>
              </a:rPr>
              <a:t>יותר נסיעה בנתיב </a:t>
            </a:r>
            <a:r>
              <a:rPr lang="he-IL" sz="1600" dirty="0" err="1">
                <a:latin typeface="Segoe UI" panose="020B0502040204020203" pitchFamily="34" charset="0"/>
                <a:cs typeface="Segoe UI" panose="020B0502040204020203" pitchFamily="34" charset="0"/>
              </a:rPr>
              <a:t>תחב"צ</a:t>
            </a:r>
            <a:r>
              <a:rPr lang="he-IL" sz="1600" dirty="0">
                <a:latin typeface="Segoe UI" panose="020B0502040204020203" pitchFamily="34" charset="0"/>
                <a:cs typeface="Segoe UI" panose="020B0502040204020203" pitchFamily="34" charset="0"/>
              </a:rPr>
              <a:t>, אור אדום, אי ציות לתמרור במגזר הערבי ומהירות בקרב אלה שלא ביקשו להישפט במגזר הערבי. </a:t>
            </a:r>
            <a:endParaRPr lang="he-IL" sz="1600" b="1" dirty="0">
              <a:solidFill>
                <a:srgbClr val="1D1C64"/>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2697511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
                                            <p:txEl>
                                              <p:pRg st="1" end="1"/>
                                            </p:txEl>
                                          </p:spTgt>
                                        </p:tgtEl>
                                        <p:attrNameLst>
                                          <p:attrName>style.visibility</p:attrName>
                                        </p:attrNameLst>
                                      </p:cBhvr>
                                      <p:to>
                                        <p:strVal val="visible"/>
                                      </p:to>
                                    </p:set>
                                    <p:animEffect transition="in" filter="fade">
                                      <p:cBhvr>
                                        <p:cTn id="7" dur="500"/>
                                        <p:tgtEl>
                                          <p:spTgt spid="3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uiExpand="1" build="p"/>
    </p:bldLst>
  </p:timing>
  <p:extLst>
    <p:ext uri="{6950BFC3-D8DA-4A85-94F7-54DA5524770B}">
      <p188:commentRel xmlns:p188="http://schemas.microsoft.com/office/powerpoint/2018/8/main" r:id="rId2"/>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4C8AAF-D14D-DF55-E7A1-031400D64774}"/>
            </a:ext>
          </a:extLst>
        </p:cNvPr>
        <p:cNvGrpSpPr/>
        <p:nvPr/>
      </p:nvGrpSpPr>
      <p:grpSpPr>
        <a:xfrm>
          <a:off x="0" y="0"/>
          <a:ext cx="0" cy="0"/>
          <a:chOff x="0" y="0"/>
          <a:chExt cx="0" cy="0"/>
        </a:xfrm>
      </p:grpSpPr>
      <p:graphicFrame>
        <p:nvGraphicFramePr>
          <p:cNvPr id="5" name="אובייקט 3">
            <a:extLst>
              <a:ext uri="{FF2B5EF4-FFF2-40B4-BE49-F238E27FC236}">
                <a16:creationId xmlns:a16="http://schemas.microsoft.com/office/drawing/2014/main" id="{2835FE3A-E333-A13D-C69E-87194DD4BCD6}"/>
              </a:ext>
            </a:extLst>
          </p:cNvPr>
          <p:cNvGraphicFramePr>
            <a:graphicFrameLocks noChangeAspect="1"/>
          </p:cNvGraphicFramePr>
          <p:nvPr>
            <p:extLst>
              <p:ext uri="{D42A27DB-BD31-4B8C-83A1-F6EECF244321}">
                <p14:modId xmlns:p14="http://schemas.microsoft.com/office/powerpoint/2010/main" val="4257797571"/>
              </p:ext>
            </p:extLst>
          </p:nvPr>
        </p:nvGraphicFramePr>
        <p:xfrm>
          <a:off x="547857" y="3049815"/>
          <a:ext cx="11387219" cy="1872000"/>
        </p:xfrm>
        <a:graphic>
          <a:graphicData uri="http://schemas.openxmlformats.org/drawingml/2006/chart">
            <c:chart xmlns:c="http://schemas.openxmlformats.org/drawingml/2006/chart" xmlns:r="http://schemas.openxmlformats.org/officeDocument/2006/relationships" r:id="rId2"/>
          </a:graphicData>
        </a:graphic>
      </p:graphicFrame>
      <p:sp>
        <p:nvSpPr>
          <p:cNvPr id="15" name="Slide Number Placeholder 1">
            <a:extLst>
              <a:ext uri="{FF2B5EF4-FFF2-40B4-BE49-F238E27FC236}">
                <a16:creationId xmlns:a16="http://schemas.microsoft.com/office/drawing/2014/main" id="{9F67D3C9-FAB5-A936-51F4-DF39A7A9849A}"/>
              </a:ext>
            </a:extLst>
          </p:cNvPr>
          <p:cNvSpPr txBox="1">
            <a:spLocks/>
          </p:cNvSpPr>
          <p:nvPr/>
        </p:nvSpPr>
        <p:spPr>
          <a:xfrm>
            <a:off x="11541989" y="6473956"/>
            <a:ext cx="540000" cy="360000"/>
          </a:xfrm>
          <a:prstGeom prst="rect">
            <a:avLst/>
          </a:prstGeom>
          <a:noFill/>
          <a:ln w="12700" cap="flat" cmpd="sng" algn="ctr">
            <a:noFill/>
            <a:prstDash val="solid"/>
            <a:miter lim="800000"/>
          </a:ln>
          <a:effectLst/>
        </p:spPr>
        <p:txBody>
          <a:bodyPr rot="0" spcFirstLastPara="0" vertOverflow="overflow" horzOverflow="overflow" vert="horz" wrap="square" lIns="91440" tIns="45720" rIns="91440" bIns="45720" numCol="1" spcCol="0" rtlCol="1" fromWordArt="0" anchor="ctr" anchorCtr="0" forceAA="0" compatLnSpc="1">
            <a:prstTxWarp prst="textNoShape">
              <a:avLst/>
            </a:prstTxWarp>
            <a:noAutofit/>
          </a:bodyPr>
          <a:lstStyle>
            <a:defPPr>
              <a:defRPr lang="he-IL"/>
            </a:defPPr>
            <a:lvl1pPr marL="0" algn="l" defTabSz="914400" rtl="0" eaLnBrk="1" latinLnBrk="0" hangingPunct="1">
              <a:defRPr lang="he-IL" sz="1100" kern="1200" smtClean="0">
                <a:solidFill>
                  <a:schemeClr val="bg1">
                    <a:lumMod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r" rtl="1">
              <a:defRPr/>
            </a:pPr>
            <a:fld id="{7A91BF3F-E284-4570-AC28-CDAE2F1A1EA1}" type="slidenum">
              <a:rPr lang="he-IL" smtClean="0">
                <a:solidFill>
                  <a:prstClr val="white">
                    <a:lumMod val="75000"/>
                  </a:prstClr>
                </a:solidFill>
              </a:rPr>
              <a:pPr algn="r" rtl="1">
                <a:defRPr/>
              </a:pPr>
              <a:t>14</a:t>
            </a:fld>
            <a:endParaRPr lang="he-IL" dirty="0">
              <a:solidFill>
                <a:prstClr val="white">
                  <a:lumMod val="75000"/>
                </a:prstClr>
              </a:solidFill>
            </a:endParaRPr>
          </a:p>
        </p:txBody>
      </p:sp>
      <p:cxnSp>
        <p:nvCxnSpPr>
          <p:cNvPr id="2" name="Straight Connector 6">
            <a:extLst>
              <a:ext uri="{FF2B5EF4-FFF2-40B4-BE49-F238E27FC236}">
                <a16:creationId xmlns:a16="http://schemas.microsoft.com/office/drawing/2014/main" id="{12C8334B-A4E3-6AAA-AB53-6631A0B94C55}"/>
              </a:ext>
            </a:extLst>
          </p:cNvPr>
          <p:cNvCxnSpPr>
            <a:cxnSpLocks/>
          </p:cNvCxnSpPr>
          <p:nvPr/>
        </p:nvCxnSpPr>
        <p:spPr>
          <a:xfrm rot="16200000" flipV="1">
            <a:off x="6096000" y="-346567"/>
            <a:ext cx="0" cy="10800000"/>
          </a:xfrm>
          <a:prstGeom prst="line">
            <a:avLst/>
          </a:prstGeom>
          <a:ln w="25400" cap="rnd">
            <a:solidFill>
              <a:schemeClr val="bg1">
                <a:lumMod val="85000"/>
              </a:schemeClr>
            </a:solidFill>
            <a:round/>
          </a:ln>
        </p:spPr>
        <p:style>
          <a:lnRef idx="1">
            <a:schemeClr val="accent1"/>
          </a:lnRef>
          <a:fillRef idx="0">
            <a:schemeClr val="accent1"/>
          </a:fillRef>
          <a:effectRef idx="0">
            <a:schemeClr val="accent1"/>
          </a:effectRef>
          <a:fontRef idx="minor">
            <a:schemeClr val="tx1"/>
          </a:fontRef>
        </p:style>
      </p:cxnSp>
      <p:sp>
        <p:nvSpPr>
          <p:cNvPr id="3" name="Rectangle 6">
            <a:extLst>
              <a:ext uri="{FF2B5EF4-FFF2-40B4-BE49-F238E27FC236}">
                <a16:creationId xmlns:a16="http://schemas.microsoft.com/office/drawing/2014/main" id="{1826816F-49DD-64A0-DF64-DF3A5EC142BF}"/>
              </a:ext>
            </a:extLst>
          </p:cNvPr>
          <p:cNvSpPr/>
          <p:nvPr/>
        </p:nvSpPr>
        <p:spPr>
          <a:xfrm>
            <a:off x="841469" y="5165261"/>
            <a:ext cx="10800000" cy="1440000"/>
          </a:xfrm>
          <a:prstGeom prst="rect">
            <a:avLst/>
          </a:prstGeom>
        </p:spPr>
        <p:txBody>
          <a:bodyPr wrap="square" anchor="ctr">
            <a:noAutofit/>
          </a:bodyPr>
          <a:lstStyle/>
          <a:p>
            <a:pPr algn="ctr" rtl="1">
              <a:lnSpc>
                <a:spcPct val="150000"/>
              </a:lnSpc>
            </a:pPr>
            <a:r>
              <a:rPr lang="en-US" sz="1600" dirty="0">
                <a:latin typeface="Segoe UI" panose="020B0502040204020203" pitchFamily="34" charset="0"/>
                <a:cs typeface="Segoe UI" panose="020B0502040204020203" pitchFamily="34" charset="0"/>
              </a:rPr>
              <a:t> </a:t>
            </a:r>
            <a:r>
              <a:rPr lang="he-IL" sz="1600" b="1" dirty="0">
                <a:latin typeface="Segoe UI" panose="020B0502040204020203" pitchFamily="34" charset="0"/>
                <a:cs typeface="Segoe UI" panose="020B0502040204020203" pitchFamily="34" charset="0"/>
              </a:rPr>
              <a:t>מרבית הדוחות מגיעים ממשטרת ישראל</a:t>
            </a:r>
            <a:r>
              <a:rPr lang="en-US" sz="1600" dirty="0">
                <a:latin typeface="Segoe UI" panose="020B0502040204020203" pitchFamily="34" charset="0"/>
                <a:cs typeface="Segoe UI" panose="020B0502040204020203" pitchFamily="34" charset="0"/>
              </a:rPr>
              <a:t>.</a:t>
            </a:r>
            <a:r>
              <a:rPr lang="he-IL" sz="1600" dirty="0">
                <a:latin typeface="Segoe UI" panose="020B0502040204020203" pitchFamily="34" charset="0"/>
                <a:cs typeface="Segoe UI" panose="020B0502040204020203" pitchFamily="34" charset="0"/>
              </a:rPr>
              <a:t> בולט יותר במגזר הערבי, בייחוד בקרב אלה שלא ביקשו להישפט.</a:t>
            </a:r>
          </a:p>
          <a:p>
            <a:pPr algn="ctr" rtl="1">
              <a:lnSpc>
                <a:spcPct val="150000"/>
              </a:lnSpc>
            </a:pPr>
            <a:r>
              <a:rPr lang="he-IL" sz="1600" b="1" dirty="0">
                <a:latin typeface="Segoe UI" panose="020B0502040204020203" pitchFamily="34" charset="0"/>
                <a:cs typeface="Segoe UI" panose="020B0502040204020203" pitchFamily="34" charset="0"/>
              </a:rPr>
              <a:t>פערים בין המגזרים גם בערוצי האכיפה </a:t>
            </a:r>
            <a:r>
              <a:rPr lang="he-IL" sz="1600" dirty="0">
                <a:latin typeface="Segoe UI" panose="020B0502040204020203" pitchFamily="34" charset="0"/>
                <a:cs typeface="Segoe UI" panose="020B0502040204020203" pitchFamily="34" charset="0"/>
              </a:rPr>
              <a:t>עם יותר דוחות שניתנים פיזית משוטר בשטח שבולט יותר בקרב אלה שלא ביקשו להישפט </a:t>
            </a:r>
            <a:r>
              <a:rPr lang="he-IL" sz="1400" dirty="0">
                <a:latin typeface="Segoe UI" panose="020B0502040204020203" pitchFamily="34" charset="0"/>
                <a:cs typeface="Segoe UI" panose="020B0502040204020203" pitchFamily="34" charset="0"/>
              </a:rPr>
              <a:t>(כפועל יוצא של בולטות משטרת ישראל כנותנת הדוחות)</a:t>
            </a:r>
            <a:r>
              <a:rPr lang="en-US" sz="1400" dirty="0">
                <a:latin typeface="Segoe UI" panose="020B0502040204020203" pitchFamily="34" charset="0"/>
                <a:cs typeface="Segoe UI" panose="020B0502040204020203" pitchFamily="34" charset="0"/>
              </a:rPr>
              <a:t>.</a:t>
            </a:r>
            <a:r>
              <a:rPr lang="he-IL" sz="1400" dirty="0">
                <a:latin typeface="Segoe UI" panose="020B0502040204020203" pitchFamily="34" charset="0"/>
                <a:cs typeface="Segoe UI" panose="020B0502040204020203" pitchFamily="34" charset="0"/>
              </a:rPr>
              <a:t> </a:t>
            </a:r>
            <a:r>
              <a:rPr lang="he-IL" sz="1600" dirty="0">
                <a:latin typeface="Segoe UI" panose="020B0502040204020203" pitchFamily="34" charset="0"/>
                <a:cs typeface="Segoe UI" panose="020B0502040204020203" pitchFamily="34" charset="0"/>
              </a:rPr>
              <a:t>הדואר בולט יותר במגזר היהודי.</a:t>
            </a:r>
            <a:r>
              <a:rPr lang="en-US" sz="1600" dirty="0">
                <a:latin typeface="Segoe UI" panose="020B0502040204020203" pitchFamily="34" charset="0"/>
                <a:cs typeface="Segoe UI" panose="020B0502040204020203" pitchFamily="34" charset="0"/>
              </a:rPr>
              <a:t> </a:t>
            </a:r>
            <a:endParaRPr lang="he-IL" sz="1600" dirty="0">
              <a:latin typeface="Segoe UI" panose="020B0502040204020203" pitchFamily="34" charset="0"/>
              <a:cs typeface="Segoe UI" panose="020B0502040204020203" pitchFamily="34" charset="0"/>
            </a:endParaRPr>
          </a:p>
          <a:p>
            <a:pPr algn="ctr" rtl="1">
              <a:lnSpc>
                <a:spcPct val="150000"/>
              </a:lnSpc>
            </a:pPr>
            <a:r>
              <a:rPr lang="he-IL" sz="1600" b="1" dirty="0">
                <a:solidFill>
                  <a:srgbClr val="1D1C64"/>
                </a:solidFill>
                <a:latin typeface="Segoe UI" panose="020B0502040204020203" pitchFamily="34" charset="0"/>
                <a:cs typeface="Segoe UI" panose="020B0502040204020203" pitchFamily="34" charset="0"/>
              </a:rPr>
              <a:t>חשוב לייצר אחידות מסר וחוויית שימוש בין המשטרה ,הרשויות וערוצי מסירה שונים, במיוחד במקרים שאין </a:t>
            </a:r>
            <a:br>
              <a:rPr lang="en-US" sz="1600" b="1" dirty="0">
                <a:solidFill>
                  <a:srgbClr val="1D1C64"/>
                </a:solidFill>
                <a:latin typeface="Segoe UI" panose="020B0502040204020203" pitchFamily="34" charset="0"/>
                <a:cs typeface="Segoe UI" panose="020B0502040204020203" pitchFamily="34" charset="0"/>
              </a:rPr>
            </a:br>
            <a:r>
              <a:rPr lang="he-IL" sz="1600" b="1" dirty="0">
                <a:solidFill>
                  <a:srgbClr val="1D1C64"/>
                </a:solidFill>
                <a:latin typeface="Segoe UI" panose="020B0502040204020203" pitchFamily="34" charset="0"/>
                <a:cs typeface="Segoe UI" panose="020B0502040204020203" pitchFamily="34" charset="0"/>
              </a:rPr>
              <a:t>הסבר אנושי בזמן אמת</a:t>
            </a:r>
            <a:r>
              <a:rPr lang="en-US" sz="1600" b="1" dirty="0">
                <a:solidFill>
                  <a:srgbClr val="1D1C64"/>
                </a:solidFill>
                <a:latin typeface="Segoe UI" panose="020B0502040204020203" pitchFamily="34" charset="0"/>
                <a:cs typeface="Segoe UI" panose="020B0502040204020203" pitchFamily="34" charset="0"/>
              </a:rPr>
              <a:t>.</a:t>
            </a:r>
          </a:p>
        </p:txBody>
      </p:sp>
      <p:cxnSp>
        <p:nvCxnSpPr>
          <p:cNvPr id="9" name="מחבר ישר 8">
            <a:extLst>
              <a:ext uri="{FF2B5EF4-FFF2-40B4-BE49-F238E27FC236}">
                <a16:creationId xmlns:a16="http://schemas.microsoft.com/office/drawing/2014/main" id="{96EF37D8-2CE1-6DB8-28EC-B71B87AAB0C6}"/>
              </a:ext>
            </a:extLst>
          </p:cNvPr>
          <p:cNvCxnSpPr>
            <a:cxnSpLocks/>
          </p:cNvCxnSpPr>
          <p:nvPr/>
        </p:nvCxnSpPr>
        <p:spPr>
          <a:xfrm>
            <a:off x="5815383" y="1015094"/>
            <a:ext cx="0" cy="3960000"/>
          </a:xfrm>
          <a:prstGeom prst="line">
            <a:avLst/>
          </a:prstGeom>
          <a:ln>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12" name="תיבת טקסט 11">
            <a:extLst>
              <a:ext uri="{FF2B5EF4-FFF2-40B4-BE49-F238E27FC236}">
                <a16:creationId xmlns:a16="http://schemas.microsoft.com/office/drawing/2014/main" id="{C90D88CF-E935-364E-C3B7-28FFB8B20268}"/>
              </a:ext>
            </a:extLst>
          </p:cNvPr>
          <p:cNvSpPr txBox="1"/>
          <p:nvPr/>
        </p:nvSpPr>
        <p:spPr>
          <a:xfrm>
            <a:off x="2247667" y="1018964"/>
            <a:ext cx="2520000" cy="307777"/>
          </a:xfrm>
          <a:prstGeom prst="rect">
            <a:avLst/>
          </a:prstGeom>
          <a:noFill/>
        </p:spPr>
        <p:txBody>
          <a:bodyPr wrap="square">
            <a:spAutoFit/>
          </a:bodyPr>
          <a:lstStyle/>
          <a:p>
            <a:pPr algn="ctr" rtl="1" fontAlgn="ctr"/>
            <a:r>
              <a:rPr lang="he-IL" sz="1400" b="1" u="none" strike="noStrike" dirty="0">
                <a:effectLst/>
                <a:latin typeface="Segoe UI" panose="020B0502040204020203" pitchFamily="34" charset="0"/>
                <a:cs typeface="Segoe UI" panose="020B0502040204020203" pitchFamily="34" charset="0"/>
              </a:rPr>
              <a:t>לא ביקשו להישפט</a:t>
            </a:r>
          </a:p>
        </p:txBody>
      </p:sp>
      <p:sp>
        <p:nvSpPr>
          <p:cNvPr id="13" name="תיבת טקסט 12">
            <a:extLst>
              <a:ext uri="{FF2B5EF4-FFF2-40B4-BE49-F238E27FC236}">
                <a16:creationId xmlns:a16="http://schemas.microsoft.com/office/drawing/2014/main" id="{A93EF457-52B7-23D8-AA40-04B1B7507816}"/>
              </a:ext>
            </a:extLst>
          </p:cNvPr>
          <p:cNvSpPr txBox="1"/>
          <p:nvPr/>
        </p:nvSpPr>
        <p:spPr>
          <a:xfrm>
            <a:off x="7426473" y="968839"/>
            <a:ext cx="2520000" cy="307777"/>
          </a:xfrm>
          <a:prstGeom prst="rect">
            <a:avLst/>
          </a:prstGeom>
          <a:noFill/>
        </p:spPr>
        <p:txBody>
          <a:bodyPr wrap="square">
            <a:spAutoFit/>
          </a:bodyPr>
          <a:lstStyle/>
          <a:p>
            <a:pPr algn="ctr" rtl="1" fontAlgn="b"/>
            <a:r>
              <a:rPr lang="he-IL" sz="1400" b="1" u="none" strike="noStrike" dirty="0">
                <a:effectLst/>
                <a:latin typeface="Segoe UI" panose="020B0502040204020203" pitchFamily="34" charset="0"/>
                <a:cs typeface="Segoe UI" panose="020B0502040204020203" pitchFamily="34" charset="0"/>
              </a:rPr>
              <a:t>ביקשו להישפט</a:t>
            </a:r>
            <a:endParaRPr lang="he-IL" sz="1400" b="1" i="0" u="none" strike="noStrike" dirty="0">
              <a:solidFill>
                <a:srgbClr val="000000"/>
              </a:solidFill>
              <a:effectLst/>
              <a:latin typeface="Segoe UI" panose="020B0502040204020203" pitchFamily="34" charset="0"/>
              <a:cs typeface="Segoe UI" panose="020B0502040204020203" pitchFamily="34" charset="0"/>
            </a:endParaRPr>
          </a:p>
        </p:txBody>
      </p:sp>
      <p:graphicFrame>
        <p:nvGraphicFramePr>
          <p:cNvPr id="8" name="אובייקט 3">
            <a:extLst>
              <a:ext uri="{FF2B5EF4-FFF2-40B4-BE49-F238E27FC236}">
                <a16:creationId xmlns:a16="http://schemas.microsoft.com/office/drawing/2014/main" id="{1192665E-0095-95FD-35BD-5567621E992F}"/>
              </a:ext>
            </a:extLst>
          </p:cNvPr>
          <p:cNvGraphicFramePr>
            <a:graphicFrameLocks noChangeAspect="1"/>
          </p:cNvGraphicFramePr>
          <p:nvPr>
            <p:extLst>
              <p:ext uri="{D42A27DB-BD31-4B8C-83A1-F6EECF244321}">
                <p14:modId xmlns:p14="http://schemas.microsoft.com/office/powerpoint/2010/main" val="783165783"/>
              </p:ext>
            </p:extLst>
          </p:nvPr>
        </p:nvGraphicFramePr>
        <p:xfrm>
          <a:off x="547857" y="1379832"/>
          <a:ext cx="11387219" cy="1720108"/>
        </p:xfrm>
        <a:graphic>
          <a:graphicData uri="http://schemas.openxmlformats.org/drawingml/2006/chart">
            <c:chart xmlns:c="http://schemas.openxmlformats.org/drawingml/2006/chart" xmlns:r="http://schemas.openxmlformats.org/officeDocument/2006/relationships" r:id="rId3"/>
          </a:graphicData>
        </a:graphic>
      </p:graphicFrame>
      <p:sp>
        <p:nvSpPr>
          <p:cNvPr id="11" name="Rectangle 28">
            <a:extLst>
              <a:ext uri="{FF2B5EF4-FFF2-40B4-BE49-F238E27FC236}">
                <a16:creationId xmlns:a16="http://schemas.microsoft.com/office/drawing/2014/main" id="{EA8E8F15-1E11-83E7-19B2-BD4A95440A32}"/>
              </a:ext>
            </a:extLst>
          </p:cNvPr>
          <p:cNvSpPr/>
          <p:nvPr/>
        </p:nvSpPr>
        <p:spPr>
          <a:xfrm>
            <a:off x="2796634" y="6473005"/>
            <a:ext cx="9000000" cy="360000"/>
          </a:xfrm>
          <a:prstGeom prst="rect">
            <a:avLst/>
          </a:prstGeom>
          <a:noFill/>
          <a:ln>
            <a:noFill/>
          </a:ln>
        </p:spPr>
        <p:txBody>
          <a:bodyPr rot="0" spcFirstLastPara="0" vertOverflow="overflow" horzOverflow="overflow" vert="horz" wrap="square" lIns="91440" tIns="45720" rIns="91440" bIns="45720" numCol="1" spcCol="0" rtlCol="1" fromWordArt="0" anchor="ctr" anchorCtr="0" forceAA="0" compatLnSpc="1">
            <a:prstTxWarp prst="textNoShape">
              <a:avLst/>
            </a:prstTxWarp>
            <a:noAutofit/>
          </a:bodyPr>
          <a:lstStyle/>
          <a:p>
            <a:pPr lvl="0" algn="r" rtl="1">
              <a:defRPr/>
            </a:pPr>
            <a:r>
              <a:rPr lang="he-IL" sz="1000" dirty="0">
                <a:solidFill>
                  <a:prstClr val="white">
                    <a:lumMod val="65000"/>
                  </a:prstClr>
                </a:solidFill>
                <a:latin typeface="Segoe UI" panose="020B0502040204020203" pitchFamily="34" charset="0"/>
                <a:cs typeface="Segoe UI" panose="020B0502040204020203" pitchFamily="34" charset="0"/>
              </a:rPr>
              <a:t>"ממי קיבלת את הדו"ח?"</a:t>
            </a:r>
          </a:p>
          <a:p>
            <a:pPr lvl="0" algn="r" rtl="1">
              <a:defRPr/>
            </a:pPr>
            <a:r>
              <a:rPr lang="he-IL" sz="1000" dirty="0">
                <a:solidFill>
                  <a:prstClr val="white">
                    <a:lumMod val="65000"/>
                  </a:prstClr>
                </a:solidFill>
                <a:latin typeface="Segoe UI" panose="020B0502040204020203" pitchFamily="34" charset="0"/>
                <a:cs typeface="Segoe UI" panose="020B0502040204020203" pitchFamily="34" charset="0"/>
              </a:rPr>
              <a:t>"איך קיבלת את הדו"ח?"</a:t>
            </a:r>
          </a:p>
        </p:txBody>
      </p:sp>
      <p:sp>
        <p:nvSpPr>
          <p:cNvPr id="14" name="Rectangle 3">
            <a:extLst>
              <a:ext uri="{FF2B5EF4-FFF2-40B4-BE49-F238E27FC236}">
                <a16:creationId xmlns:a16="http://schemas.microsoft.com/office/drawing/2014/main" id="{56C981C3-0A85-3D87-2703-6421426098F1}"/>
              </a:ext>
            </a:extLst>
          </p:cNvPr>
          <p:cNvSpPr/>
          <p:nvPr/>
        </p:nvSpPr>
        <p:spPr>
          <a:xfrm>
            <a:off x="1320802" y="191076"/>
            <a:ext cx="10614278" cy="5075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t"/>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0" cap="none" spc="0" normalizeH="0" baseline="0" noProof="0" dirty="0">
                <a:ln>
                  <a:noFill/>
                </a:ln>
                <a:solidFill>
                  <a:srgbClr val="104E88"/>
                </a:solidFill>
                <a:effectLst/>
                <a:uLnTx/>
                <a:uFillTx/>
                <a:latin typeface="Segoe UI" panose="020B0502040204020203" pitchFamily="34" charset="0"/>
                <a:cs typeface="Segoe UI" panose="020B0502040204020203" pitchFamily="34" charset="0"/>
                <a:sym typeface="Arial"/>
              </a:rPr>
              <a:t>ממי ואיך קיבלו את הדוח</a:t>
            </a:r>
          </a:p>
        </p:txBody>
      </p:sp>
      <p:sp>
        <p:nvSpPr>
          <p:cNvPr id="16" name="תיבת טקסט 15">
            <a:extLst>
              <a:ext uri="{FF2B5EF4-FFF2-40B4-BE49-F238E27FC236}">
                <a16:creationId xmlns:a16="http://schemas.microsoft.com/office/drawing/2014/main" id="{8ABEED98-3DB4-CE47-F01A-80763093FB7C}"/>
              </a:ext>
            </a:extLst>
          </p:cNvPr>
          <p:cNvSpPr txBox="1"/>
          <p:nvPr/>
        </p:nvSpPr>
        <p:spPr>
          <a:xfrm>
            <a:off x="106719" y="2103858"/>
            <a:ext cx="1080000" cy="523220"/>
          </a:xfrm>
          <a:prstGeom prst="rect">
            <a:avLst/>
          </a:prstGeom>
          <a:noFill/>
        </p:spPr>
        <p:txBody>
          <a:bodyPr wrap="square">
            <a:spAutoFit/>
          </a:bodyPr>
          <a:lstStyle/>
          <a:p>
            <a:pPr algn="ctr" rtl="1" fontAlgn="b"/>
            <a:r>
              <a:rPr lang="he-IL" sz="1400" b="1" u="none" strike="noStrike" dirty="0">
                <a:effectLst/>
                <a:latin typeface="Segoe UI" panose="020B0502040204020203" pitchFamily="34" charset="0"/>
                <a:cs typeface="Segoe UI" panose="020B0502040204020203" pitchFamily="34" charset="0"/>
              </a:rPr>
              <a:t>נותן</a:t>
            </a:r>
            <a:br>
              <a:rPr lang="en-US" sz="1400" b="1" u="none" strike="noStrike" dirty="0">
                <a:effectLst/>
                <a:latin typeface="Segoe UI" panose="020B0502040204020203" pitchFamily="34" charset="0"/>
                <a:cs typeface="Segoe UI" panose="020B0502040204020203" pitchFamily="34" charset="0"/>
              </a:rPr>
            </a:br>
            <a:r>
              <a:rPr lang="he-IL" sz="1400" b="1" u="none" strike="noStrike" dirty="0">
                <a:effectLst/>
                <a:latin typeface="Segoe UI" panose="020B0502040204020203" pitchFamily="34" charset="0"/>
                <a:cs typeface="Segoe UI" panose="020B0502040204020203" pitchFamily="34" charset="0"/>
              </a:rPr>
              <a:t>הדוח</a:t>
            </a:r>
            <a:endParaRPr lang="he-IL" sz="1400" b="1" i="0" u="none" strike="noStrike" dirty="0">
              <a:solidFill>
                <a:srgbClr val="000000"/>
              </a:solidFill>
              <a:effectLst/>
              <a:latin typeface="Segoe UI" panose="020B0502040204020203" pitchFamily="34" charset="0"/>
              <a:cs typeface="Segoe UI" panose="020B0502040204020203" pitchFamily="34" charset="0"/>
            </a:endParaRPr>
          </a:p>
        </p:txBody>
      </p:sp>
      <p:sp>
        <p:nvSpPr>
          <p:cNvPr id="17" name="תיבת טקסט 16">
            <a:extLst>
              <a:ext uri="{FF2B5EF4-FFF2-40B4-BE49-F238E27FC236}">
                <a16:creationId xmlns:a16="http://schemas.microsoft.com/office/drawing/2014/main" id="{B9BCE3D2-3770-3572-D406-168D21C11D42}"/>
              </a:ext>
            </a:extLst>
          </p:cNvPr>
          <p:cNvSpPr txBox="1"/>
          <p:nvPr/>
        </p:nvSpPr>
        <p:spPr>
          <a:xfrm>
            <a:off x="106719" y="3463200"/>
            <a:ext cx="1080000" cy="738664"/>
          </a:xfrm>
          <a:prstGeom prst="rect">
            <a:avLst/>
          </a:prstGeom>
          <a:noFill/>
        </p:spPr>
        <p:txBody>
          <a:bodyPr wrap="square">
            <a:spAutoFit/>
          </a:bodyPr>
          <a:lstStyle/>
          <a:p>
            <a:pPr algn="ctr" rtl="1" fontAlgn="b"/>
            <a:r>
              <a:rPr lang="he-IL" sz="1400" b="1" u="none" strike="noStrike" dirty="0">
                <a:effectLst/>
                <a:latin typeface="Segoe UI" panose="020B0502040204020203" pitchFamily="34" charset="0"/>
                <a:cs typeface="Segoe UI" panose="020B0502040204020203" pitchFamily="34" charset="0"/>
              </a:rPr>
              <a:t>אופן </a:t>
            </a:r>
            <a:br>
              <a:rPr lang="en-US" sz="1400" b="1" u="none" strike="noStrike" dirty="0">
                <a:effectLst/>
                <a:latin typeface="Segoe UI" panose="020B0502040204020203" pitchFamily="34" charset="0"/>
                <a:cs typeface="Segoe UI" panose="020B0502040204020203" pitchFamily="34" charset="0"/>
              </a:rPr>
            </a:br>
            <a:r>
              <a:rPr lang="he-IL" sz="1400" b="1" u="none" strike="noStrike" dirty="0">
                <a:effectLst/>
                <a:latin typeface="Segoe UI" panose="020B0502040204020203" pitchFamily="34" charset="0"/>
                <a:cs typeface="Segoe UI" panose="020B0502040204020203" pitchFamily="34" charset="0"/>
              </a:rPr>
              <a:t>קבלת הדוח</a:t>
            </a:r>
            <a:endParaRPr lang="he-IL" sz="1400" b="1" i="0" u="none" strike="noStrike" dirty="0">
              <a:solidFill>
                <a:srgbClr val="000000"/>
              </a:solidFill>
              <a:effectLst/>
              <a:latin typeface="Segoe UI" panose="020B0502040204020203" pitchFamily="34" charset="0"/>
              <a:cs typeface="Segoe UI" panose="020B0502040204020203" pitchFamily="34" charset="0"/>
            </a:endParaRPr>
          </a:p>
        </p:txBody>
      </p:sp>
      <p:sp>
        <p:nvSpPr>
          <p:cNvPr id="4" name="Rectangle: Rounded Corners 54">
            <a:hlinkClick r:id="" action="ppaction://noaction"/>
            <a:extLst>
              <a:ext uri="{FF2B5EF4-FFF2-40B4-BE49-F238E27FC236}">
                <a16:creationId xmlns:a16="http://schemas.microsoft.com/office/drawing/2014/main" id="{9F5EFD88-0B37-132A-40FD-60367EF60FCE}"/>
              </a:ext>
            </a:extLst>
          </p:cNvPr>
          <p:cNvSpPr/>
          <p:nvPr/>
        </p:nvSpPr>
        <p:spPr>
          <a:xfrm>
            <a:off x="1418590" y="6568993"/>
            <a:ext cx="900000" cy="144000"/>
          </a:xfrm>
          <a:prstGeom prst="roundRect">
            <a:avLst>
              <a:gd name="adj" fmla="val 50000"/>
            </a:avLst>
          </a:prstGeom>
          <a:solidFill>
            <a:schemeClr val="bg1"/>
          </a:solidFill>
          <a:ln w="12700">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r" defTabSz="914400" rtl="1" eaLnBrk="1" latinLnBrk="0" hangingPunct="1">
              <a:defRPr sz="1800" kern="1200">
                <a:solidFill>
                  <a:schemeClr val="lt1"/>
                </a:solidFill>
                <a:latin typeface="+mn-lt"/>
                <a:ea typeface="+mn-ea"/>
                <a:cs typeface="+mn-cs"/>
              </a:defRPr>
            </a:lvl1pPr>
            <a:lvl2pPr marL="457200" algn="r" defTabSz="914400" rtl="1" eaLnBrk="1" latinLnBrk="0" hangingPunct="1">
              <a:defRPr sz="1800" kern="1200">
                <a:solidFill>
                  <a:schemeClr val="lt1"/>
                </a:solidFill>
                <a:latin typeface="+mn-lt"/>
                <a:ea typeface="+mn-ea"/>
                <a:cs typeface="+mn-cs"/>
              </a:defRPr>
            </a:lvl2pPr>
            <a:lvl3pPr marL="914400" algn="r" defTabSz="914400" rtl="1" eaLnBrk="1" latinLnBrk="0" hangingPunct="1">
              <a:defRPr sz="1800" kern="1200">
                <a:solidFill>
                  <a:schemeClr val="lt1"/>
                </a:solidFill>
                <a:latin typeface="+mn-lt"/>
                <a:ea typeface="+mn-ea"/>
                <a:cs typeface="+mn-cs"/>
              </a:defRPr>
            </a:lvl3pPr>
            <a:lvl4pPr marL="1371600" algn="r" defTabSz="914400" rtl="1" eaLnBrk="1" latinLnBrk="0" hangingPunct="1">
              <a:defRPr sz="1800" kern="1200">
                <a:solidFill>
                  <a:schemeClr val="lt1"/>
                </a:solidFill>
                <a:latin typeface="+mn-lt"/>
                <a:ea typeface="+mn-ea"/>
                <a:cs typeface="+mn-cs"/>
              </a:defRPr>
            </a:lvl4pPr>
            <a:lvl5pPr marL="1828800" algn="r" defTabSz="914400" rtl="1" eaLnBrk="1" latinLnBrk="0" hangingPunct="1">
              <a:defRPr sz="1800" kern="1200">
                <a:solidFill>
                  <a:schemeClr val="lt1"/>
                </a:solidFill>
                <a:latin typeface="+mn-lt"/>
                <a:ea typeface="+mn-ea"/>
                <a:cs typeface="+mn-cs"/>
              </a:defRPr>
            </a:lvl5pPr>
            <a:lvl6pPr marL="2286000" algn="r" defTabSz="914400" rtl="1" eaLnBrk="1" latinLnBrk="0" hangingPunct="1">
              <a:defRPr sz="1800" kern="1200">
                <a:solidFill>
                  <a:schemeClr val="lt1"/>
                </a:solidFill>
                <a:latin typeface="+mn-lt"/>
                <a:ea typeface="+mn-ea"/>
                <a:cs typeface="+mn-cs"/>
              </a:defRPr>
            </a:lvl6pPr>
            <a:lvl7pPr marL="2743200" algn="r" defTabSz="914400" rtl="1" eaLnBrk="1" latinLnBrk="0" hangingPunct="1">
              <a:defRPr sz="1800" kern="1200">
                <a:solidFill>
                  <a:schemeClr val="lt1"/>
                </a:solidFill>
                <a:latin typeface="+mn-lt"/>
                <a:ea typeface="+mn-ea"/>
                <a:cs typeface="+mn-cs"/>
              </a:defRPr>
            </a:lvl7pPr>
            <a:lvl8pPr marL="3200400" algn="r" defTabSz="914400" rtl="1" eaLnBrk="1" latinLnBrk="0" hangingPunct="1">
              <a:defRPr sz="1800" kern="1200">
                <a:solidFill>
                  <a:schemeClr val="lt1"/>
                </a:solidFill>
                <a:latin typeface="+mn-lt"/>
                <a:ea typeface="+mn-ea"/>
                <a:cs typeface="+mn-cs"/>
              </a:defRPr>
            </a:lvl8pPr>
            <a:lvl9pPr marL="3657600" algn="r" defTabSz="914400" rtl="1" eaLnBrk="1" latinLnBrk="0" hangingPunct="1">
              <a:defRPr sz="1800" kern="1200">
                <a:solidFill>
                  <a:schemeClr val="lt1"/>
                </a:solidFill>
                <a:latin typeface="+mn-lt"/>
                <a:ea typeface="+mn-ea"/>
                <a:cs typeface="+mn-cs"/>
              </a:defRPr>
            </a:lvl9pPr>
          </a:lstStyle>
          <a:p>
            <a:pPr marL="0" marR="0" lvl="0" indent="0" algn="ctr" defTabSz="914400" rtl="1" eaLnBrk="1" fontAlgn="base" latinLnBrk="0" hangingPunct="1">
              <a:lnSpc>
                <a:spcPct val="100000"/>
              </a:lnSpc>
              <a:spcBef>
                <a:spcPct val="0"/>
              </a:spcBef>
              <a:spcAft>
                <a:spcPct val="0"/>
              </a:spcAft>
              <a:buClrTx/>
              <a:buSzTx/>
              <a:buFontTx/>
              <a:buNone/>
              <a:tabLst/>
              <a:defRPr/>
            </a:pPr>
            <a:r>
              <a:rPr kumimoji="0" lang="he-IL" sz="1100" b="0" i="0" u="none" strike="noStrike" kern="1200" cap="none" spc="0" normalizeH="0" baseline="0" noProof="0" dirty="0">
                <a:ln>
                  <a:noFill/>
                </a:ln>
                <a:solidFill>
                  <a:schemeClr val="bg1">
                    <a:lumMod val="65000"/>
                  </a:schemeClr>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סגמנטציה</a:t>
            </a:r>
            <a:endParaRPr kumimoji="0" lang="en-IL" sz="1100" b="0" i="0" u="none" strike="noStrike" kern="1200" cap="none" spc="0" normalizeH="0" baseline="0" noProof="0" dirty="0">
              <a:ln>
                <a:noFill/>
              </a:ln>
              <a:solidFill>
                <a:schemeClr val="bg1">
                  <a:lumMod val="65000"/>
                </a:schemeClr>
              </a:solidFill>
              <a:effectLst/>
              <a:uLnTx/>
              <a:uFillTx/>
              <a:latin typeface="Segoe UI" panose="020B0502040204020203" pitchFamily="34" charset="0"/>
              <a:ea typeface="+mn-ea"/>
              <a:cs typeface="Segoe UI" panose="020B0502040204020203" pitchFamily="34" charset="0"/>
            </a:endParaRPr>
          </a:p>
        </p:txBody>
      </p:sp>
    </p:spTree>
    <p:extLst>
      <p:ext uri="{BB962C8B-B14F-4D97-AF65-F5344CB8AC3E}">
        <p14:creationId xmlns:p14="http://schemas.microsoft.com/office/powerpoint/2010/main" val="1687941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5"/>
    </p:bld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CF4F635-1712-4F45-4DE9-2AD730D7AD85}"/>
            </a:ext>
          </a:extLst>
        </p:cNvPr>
        <p:cNvGrpSpPr/>
        <p:nvPr/>
      </p:nvGrpSpPr>
      <p:grpSpPr>
        <a:xfrm>
          <a:off x="0" y="0"/>
          <a:ext cx="0" cy="0"/>
          <a:chOff x="0" y="0"/>
          <a:chExt cx="0" cy="0"/>
        </a:xfrm>
      </p:grpSpPr>
      <p:graphicFrame>
        <p:nvGraphicFramePr>
          <p:cNvPr id="19" name="אובייקט 3">
            <a:extLst>
              <a:ext uri="{FF2B5EF4-FFF2-40B4-BE49-F238E27FC236}">
                <a16:creationId xmlns:a16="http://schemas.microsoft.com/office/drawing/2014/main" id="{C46230C9-3B5B-9403-C4B0-72AB5DBA77FF}"/>
              </a:ext>
            </a:extLst>
          </p:cNvPr>
          <p:cNvGraphicFramePr>
            <a:graphicFrameLocks noChangeAspect="1"/>
          </p:cNvGraphicFramePr>
          <p:nvPr>
            <p:extLst>
              <p:ext uri="{D42A27DB-BD31-4B8C-83A1-F6EECF244321}">
                <p14:modId xmlns:p14="http://schemas.microsoft.com/office/powerpoint/2010/main" val="2563373982"/>
              </p:ext>
            </p:extLst>
          </p:nvPr>
        </p:nvGraphicFramePr>
        <p:xfrm>
          <a:off x="805402" y="1690372"/>
          <a:ext cx="11387222" cy="166941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אובייקט 3">
            <a:extLst>
              <a:ext uri="{FF2B5EF4-FFF2-40B4-BE49-F238E27FC236}">
                <a16:creationId xmlns:a16="http://schemas.microsoft.com/office/drawing/2014/main" id="{4963F056-BD47-8E8C-CEC9-79415052E792}"/>
              </a:ext>
            </a:extLst>
          </p:cNvPr>
          <p:cNvGraphicFramePr>
            <a:graphicFrameLocks noChangeAspect="1"/>
          </p:cNvGraphicFramePr>
          <p:nvPr>
            <p:extLst>
              <p:ext uri="{D42A27DB-BD31-4B8C-83A1-F6EECF244321}">
                <p14:modId xmlns:p14="http://schemas.microsoft.com/office/powerpoint/2010/main" val="1756298085"/>
              </p:ext>
            </p:extLst>
          </p:nvPr>
        </p:nvGraphicFramePr>
        <p:xfrm>
          <a:off x="789907" y="3451278"/>
          <a:ext cx="11387222" cy="1669410"/>
        </p:xfrm>
        <a:graphic>
          <a:graphicData uri="http://schemas.openxmlformats.org/drawingml/2006/chart">
            <c:chart xmlns:c="http://schemas.openxmlformats.org/drawingml/2006/chart" xmlns:r="http://schemas.openxmlformats.org/officeDocument/2006/relationships" r:id="rId3"/>
          </a:graphicData>
        </a:graphic>
      </p:graphicFrame>
      <p:sp>
        <p:nvSpPr>
          <p:cNvPr id="15" name="Slide Number Placeholder 1">
            <a:extLst>
              <a:ext uri="{FF2B5EF4-FFF2-40B4-BE49-F238E27FC236}">
                <a16:creationId xmlns:a16="http://schemas.microsoft.com/office/drawing/2014/main" id="{9B7E78AE-D22A-8B95-B320-047C6FDDCDA6}"/>
              </a:ext>
            </a:extLst>
          </p:cNvPr>
          <p:cNvSpPr txBox="1">
            <a:spLocks/>
          </p:cNvSpPr>
          <p:nvPr/>
        </p:nvSpPr>
        <p:spPr>
          <a:xfrm>
            <a:off x="11541989" y="6473956"/>
            <a:ext cx="540000" cy="360000"/>
          </a:xfrm>
          <a:prstGeom prst="rect">
            <a:avLst/>
          </a:prstGeom>
          <a:noFill/>
          <a:ln w="12700" cap="flat" cmpd="sng" algn="ctr">
            <a:noFill/>
            <a:prstDash val="solid"/>
            <a:miter lim="800000"/>
          </a:ln>
          <a:effectLst/>
        </p:spPr>
        <p:txBody>
          <a:bodyPr rot="0" spcFirstLastPara="0" vertOverflow="overflow" horzOverflow="overflow" vert="horz" wrap="square" lIns="91440" tIns="45720" rIns="91440" bIns="45720" numCol="1" spcCol="0" rtlCol="1" fromWordArt="0" anchor="ctr" anchorCtr="0" forceAA="0" compatLnSpc="1">
            <a:prstTxWarp prst="textNoShape">
              <a:avLst/>
            </a:prstTxWarp>
            <a:noAutofit/>
          </a:bodyPr>
          <a:lstStyle>
            <a:defPPr>
              <a:defRPr lang="he-IL"/>
            </a:defPPr>
            <a:lvl1pPr marL="0" algn="l" defTabSz="914400" rtl="0" eaLnBrk="1" latinLnBrk="0" hangingPunct="1">
              <a:defRPr lang="he-IL" sz="1100" kern="1200" smtClean="0">
                <a:solidFill>
                  <a:schemeClr val="bg1">
                    <a:lumMod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r" rtl="1">
              <a:defRPr/>
            </a:pPr>
            <a:fld id="{7A91BF3F-E284-4570-AC28-CDAE2F1A1EA1}" type="slidenum">
              <a:rPr lang="he-IL" smtClean="0">
                <a:solidFill>
                  <a:prstClr val="white">
                    <a:lumMod val="75000"/>
                  </a:prstClr>
                </a:solidFill>
              </a:rPr>
              <a:pPr algn="r" rtl="1">
                <a:defRPr/>
              </a:pPr>
              <a:t>15</a:t>
            </a:fld>
            <a:endParaRPr lang="he-IL" dirty="0">
              <a:solidFill>
                <a:prstClr val="white">
                  <a:lumMod val="75000"/>
                </a:prstClr>
              </a:solidFill>
            </a:endParaRPr>
          </a:p>
        </p:txBody>
      </p:sp>
      <p:cxnSp>
        <p:nvCxnSpPr>
          <p:cNvPr id="2" name="Straight Connector 6">
            <a:extLst>
              <a:ext uri="{FF2B5EF4-FFF2-40B4-BE49-F238E27FC236}">
                <a16:creationId xmlns:a16="http://schemas.microsoft.com/office/drawing/2014/main" id="{263E14F1-B253-9E4F-AA41-DF424476A58A}"/>
              </a:ext>
            </a:extLst>
          </p:cNvPr>
          <p:cNvCxnSpPr>
            <a:cxnSpLocks/>
          </p:cNvCxnSpPr>
          <p:nvPr/>
        </p:nvCxnSpPr>
        <p:spPr>
          <a:xfrm rot="16200000" flipV="1">
            <a:off x="6338049" y="-143367"/>
            <a:ext cx="0" cy="10800000"/>
          </a:xfrm>
          <a:prstGeom prst="line">
            <a:avLst/>
          </a:prstGeom>
          <a:ln w="25400" cap="rnd">
            <a:solidFill>
              <a:schemeClr val="bg1">
                <a:lumMod val="85000"/>
              </a:schemeClr>
            </a:solidFill>
            <a:round/>
          </a:ln>
        </p:spPr>
        <p:style>
          <a:lnRef idx="1">
            <a:schemeClr val="accent1"/>
          </a:lnRef>
          <a:fillRef idx="0">
            <a:schemeClr val="accent1"/>
          </a:fillRef>
          <a:effectRef idx="0">
            <a:schemeClr val="accent1"/>
          </a:effectRef>
          <a:fontRef idx="minor">
            <a:schemeClr val="tx1"/>
          </a:fontRef>
        </p:style>
      </p:cxnSp>
      <p:sp>
        <p:nvSpPr>
          <p:cNvPr id="3" name="Rectangle 6">
            <a:extLst>
              <a:ext uri="{FF2B5EF4-FFF2-40B4-BE49-F238E27FC236}">
                <a16:creationId xmlns:a16="http://schemas.microsoft.com/office/drawing/2014/main" id="{9D676545-C51A-7956-6541-4FF6E9BBFB3D}"/>
              </a:ext>
            </a:extLst>
          </p:cNvPr>
          <p:cNvSpPr/>
          <p:nvPr/>
        </p:nvSpPr>
        <p:spPr>
          <a:xfrm>
            <a:off x="938048" y="5095493"/>
            <a:ext cx="11143941" cy="1440000"/>
          </a:xfrm>
          <a:prstGeom prst="rect">
            <a:avLst/>
          </a:prstGeom>
        </p:spPr>
        <p:txBody>
          <a:bodyPr wrap="square" anchor="ctr">
            <a:noAutofit/>
          </a:bodyPr>
          <a:lstStyle/>
          <a:p>
            <a:pPr algn="ctr" rtl="1">
              <a:lnSpc>
                <a:spcPct val="150000"/>
              </a:lnSpc>
            </a:pPr>
            <a:r>
              <a:rPr lang="he-IL" sz="1600" dirty="0">
                <a:latin typeface="Segoe UI" panose="020B0502040204020203" pitchFamily="34" charset="0"/>
                <a:cs typeface="Segoe UI" panose="020B0502040204020203" pitchFamily="34" charset="0"/>
              </a:rPr>
              <a:t>למרות בולטות הדוחות הפיזיים משוטר בשטח </a:t>
            </a:r>
            <a:r>
              <a:rPr lang="he-IL" sz="1600" b="1" dirty="0">
                <a:latin typeface="Segoe UI" panose="020B0502040204020203" pitchFamily="34" charset="0"/>
                <a:cs typeface="Segoe UI" panose="020B0502040204020203" pitchFamily="34" charset="0"/>
              </a:rPr>
              <a:t>ניכר מעבר לחלופות אחרות ובייחוד לדואר בדוחות מהשנתיים האחרונות.</a:t>
            </a:r>
          </a:p>
          <a:p>
            <a:pPr algn="ctr" rtl="1">
              <a:lnSpc>
                <a:spcPct val="150000"/>
              </a:lnSpc>
            </a:pPr>
            <a:r>
              <a:rPr lang="he-IL" sz="1600" dirty="0">
                <a:latin typeface="Segoe UI" panose="020B0502040204020203" pitchFamily="34" charset="0"/>
                <a:cs typeface="Segoe UI" panose="020B0502040204020203" pitchFamily="34" charset="0"/>
              </a:rPr>
              <a:t>אופן הקבלה קשור גם לתוצאות בפועל כשדוח משוטר בשטח מעורר יותר אנטגוניזם ופחות משלמים בפועל את הקנס. </a:t>
            </a:r>
            <a:br>
              <a:rPr lang="en-US" sz="1600" dirty="0">
                <a:latin typeface="Segoe UI" panose="020B0502040204020203" pitchFamily="34" charset="0"/>
                <a:cs typeface="Segoe UI" panose="020B0502040204020203" pitchFamily="34" charset="0"/>
              </a:rPr>
            </a:br>
            <a:r>
              <a:rPr lang="he-IL" sz="1600" b="1" dirty="0">
                <a:solidFill>
                  <a:srgbClr val="1D1C64"/>
                </a:solidFill>
                <a:latin typeface="Segoe UI" panose="020B0502040204020203" pitchFamily="34" charset="0"/>
                <a:cs typeface="Segoe UI" panose="020B0502040204020203" pitchFamily="34" charset="0"/>
              </a:rPr>
              <a:t>כשמומלץ להאיץ את המעבר לדיוור דיגיטלי עם קישור ישיר להסדרת הדוח יעלה את אחוזי התשלום/הסדרה מיידיים.</a:t>
            </a:r>
            <a:endParaRPr lang="en-US" sz="1600" b="1" dirty="0">
              <a:solidFill>
                <a:srgbClr val="1D1C64"/>
              </a:solidFill>
              <a:latin typeface="Segoe UI" panose="020B0502040204020203" pitchFamily="34" charset="0"/>
              <a:cs typeface="Segoe UI" panose="020B0502040204020203" pitchFamily="34" charset="0"/>
            </a:endParaRPr>
          </a:p>
        </p:txBody>
      </p:sp>
      <p:cxnSp>
        <p:nvCxnSpPr>
          <p:cNvPr id="9" name="מחבר ישר 8">
            <a:extLst>
              <a:ext uri="{FF2B5EF4-FFF2-40B4-BE49-F238E27FC236}">
                <a16:creationId xmlns:a16="http://schemas.microsoft.com/office/drawing/2014/main" id="{4CAF61F2-CA6A-D654-3C2C-D8F21C0F0C38}"/>
              </a:ext>
            </a:extLst>
          </p:cNvPr>
          <p:cNvCxnSpPr>
            <a:cxnSpLocks/>
          </p:cNvCxnSpPr>
          <p:nvPr/>
        </p:nvCxnSpPr>
        <p:spPr>
          <a:xfrm>
            <a:off x="6478776" y="1104741"/>
            <a:ext cx="0" cy="4032000"/>
          </a:xfrm>
          <a:prstGeom prst="line">
            <a:avLst/>
          </a:prstGeom>
          <a:ln>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12" name="תיבת טקסט 11">
            <a:extLst>
              <a:ext uri="{FF2B5EF4-FFF2-40B4-BE49-F238E27FC236}">
                <a16:creationId xmlns:a16="http://schemas.microsoft.com/office/drawing/2014/main" id="{405D5412-1824-7C40-DFB9-674B9A223857}"/>
              </a:ext>
            </a:extLst>
          </p:cNvPr>
          <p:cNvSpPr txBox="1"/>
          <p:nvPr/>
        </p:nvSpPr>
        <p:spPr>
          <a:xfrm>
            <a:off x="2489716" y="1018964"/>
            <a:ext cx="2520000" cy="307777"/>
          </a:xfrm>
          <a:prstGeom prst="rect">
            <a:avLst/>
          </a:prstGeom>
          <a:noFill/>
        </p:spPr>
        <p:txBody>
          <a:bodyPr wrap="square">
            <a:spAutoFit/>
          </a:bodyPr>
          <a:lstStyle/>
          <a:p>
            <a:pPr algn="ctr" rtl="1" fontAlgn="ctr"/>
            <a:r>
              <a:rPr lang="he-IL" sz="1400" b="1" u="none" strike="noStrike" dirty="0">
                <a:effectLst/>
                <a:latin typeface="Segoe UI" panose="020B0502040204020203" pitchFamily="34" charset="0"/>
                <a:cs typeface="Segoe UI" panose="020B0502040204020203" pitchFamily="34" charset="0"/>
              </a:rPr>
              <a:t>לא ביקשו להישפט</a:t>
            </a:r>
          </a:p>
        </p:txBody>
      </p:sp>
      <p:sp>
        <p:nvSpPr>
          <p:cNvPr id="13" name="תיבת טקסט 12">
            <a:extLst>
              <a:ext uri="{FF2B5EF4-FFF2-40B4-BE49-F238E27FC236}">
                <a16:creationId xmlns:a16="http://schemas.microsoft.com/office/drawing/2014/main" id="{D04C7392-FEB9-E672-25FE-3B1376AD3D6D}"/>
              </a:ext>
            </a:extLst>
          </p:cNvPr>
          <p:cNvSpPr txBox="1"/>
          <p:nvPr/>
        </p:nvSpPr>
        <p:spPr>
          <a:xfrm>
            <a:off x="7928498" y="968839"/>
            <a:ext cx="2520000" cy="307777"/>
          </a:xfrm>
          <a:prstGeom prst="rect">
            <a:avLst/>
          </a:prstGeom>
          <a:noFill/>
        </p:spPr>
        <p:txBody>
          <a:bodyPr wrap="square">
            <a:spAutoFit/>
          </a:bodyPr>
          <a:lstStyle/>
          <a:p>
            <a:pPr algn="ctr" rtl="1" fontAlgn="b"/>
            <a:r>
              <a:rPr lang="he-IL" sz="1400" b="1" u="none" strike="noStrike" dirty="0">
                <a:effectLst/>
                <a:latin typeface="Segoe UI" panose="020B0502040204020203" pitchFamily="34" charset="0"/>
                <a:cs typeface="Segoe UI" panose="020B0502040204020203" pitchFamily="34" charset="0"/>
              </a:rPr>
              <a:t>ביקשו להישפט</a:t>
            </a:r>
            <a:endParaRPr lang="he-IL" sz="1400" b="1" i="0" u="none" strike="noStrike" dirty="0">
              <a:solidFill>
                <a:srgbClr val="000000"/>
              </a:solidFill>
              <a:effectLst/>
              <a:latin typeface="Segoe UI" panose="020B0502040204020203" pitchFamily="34" charset="0"/>
              <a:cs typeface="Segoe UI" panose="020B0502040204020203" pitchFamily="34" charset="0"/>
            </a:endParaRPr>
          </a:p>
        </p:txBody>
      </p:sp>
      <p:sp>
        <p:nvSpPr>
          <p:cNvPr id="11" name="Rectangle 28">
            <a:extLst>
              <a:ext uri="{FF2B5EF4-FFF2-40B4-BE49-F238E27FC236}">
                <a16:creationId xmlns:a16="http://schemas.microsoft.com/office/drawing/2014/main" id="{D6BB2950-D5D1-E51F-4E65-3DD3BF5E59FC}"/>
              </a:ext>
            </a:extLst>
          </p:cNvPr>
          <p:cNvSpPr/>
          <p:nvPr/>
        </p:nvSpPr>
        <p:spPr>
          <a:xfrm>
            <a:off x="2796634" y="6473005"/>
            <a:ext cx="9000000" cy="360000"/>
          </a:xfrm>
          <a:prstGeom prst="rect">
            <a:avLst/>
          </a:prstGeom>
          <a:noFill/>
          <a:ln>
            <a:noFill/>
          </a:ln>
        </p:spPr>
        <p:txBody>
          <a:bodyPr rot="0" spcFirstLastPara="0" vertOverflow="overflow" horzOverflow="overflow" vert="horz" wrap="square" lIns="91440" tIns="45720" rIns="91440" bIns="45720" numCol="1" spcCol="0" rtlCol="1" fromWordArt="0" anchor="ctr" anchorCtr="0" forceAA="0" compatLnSpc="1">
            <a:prstTxWarp prst="textNoShape">
              <a:avLst/>
            </a:prstTxWarp>
            <a:noAutofit/>
          </a:bodyPr>
          <a:lstStyle/>
          <a:p>
            <a:pPr lvl="0" algn="r" rtl="1">
              <a:defRPr/>
            </a:pPr>
            <a:r>
              <a:rPr lang="he-IL" sz="1000" dirty="0">
                <a:solidFill>
                  <a:prstClr val="white">
                    <a:lumMod val="65000"/>
                  </a:prstClr>
                </a:solidFill>
                <a:latin typeface="Segoe UI" panose="020B0502040204020203" pitchFamily="34" charset="0"/>
                <a:cs typeface="Segoe UI" panose="020B0502040204020203" pitchFamily="34" charset="0"/>
              </a:rPr>
              <a:t>* אחר = אימייל | </a:t>
            </a:r>
            <a:r>
              <a:rPr lang="en-US" sz="1000" dirty="0">
                <a:solidFill>
                  <a:prstClr val="white">
                    <a:lumMod val="65000"/>
                  </a:prstClr>
                </a:solidFill>
                <a:latin typeface="Segoe UI" panose="020B0502040204020203" pitchFamily="34" charset="0"/>
                <a:cs typeface="Segoe UI" panose="020B0502040204020203" pitchFamily="34" charset="0"/>
              </a:rPr>
              <a:t>SMS</a:t>
            </a:r>
            <a:r>
              <a:rPr lang="he-IL" sz="1000" dirty="0">
                <a:solidFill>
                  <a:prstClr val="white">
                    <a:lumMod val="65000"/>
                  </a:prstClr>
                </a:solidFill>
                <a:latin typeface="Segoe UI" panose="020B0502040204020203" pitchFamily="34" charset="0"/>
                <a:cs typeface="Segoe UI" panose="020B0502040204020203" pitchFamily="34" charset="0"/>
              </a:rPr>
              <a:t> | מקוון | הדבקה לרכב</a:t>
            </a:r>
          </a:p>
          <a:p>
            <a:pPr lvl="0" algn="r" rtl="1">
              <a:defRPr/>
            </a:pPr>
            <a:r>
              <a:rPr lang="he-IL" sz="1000" dirty="0">
                <a:solidFill>
                  <a:prstClr val="white">
                    <a:lumMod val="65000"/>
                  </a:prstClr>
                </a:solidFill>
                <a:latin typeface="Segoe UI" panose="020B0502040204020203" pitchFamily="34" charset="0"/>
                <a:cs typeface="Segoe UI" panose="020B0502040204020203" pitchFamily="34" charset="0"/>
              </a:rPr>
              <a:t>"איך קיבלת את הדו"ח?"</a:t>
            </a:r>
          </a:p>
        </p:txBody>
      </p:sp>
      <p:sp>
        <p:nvSpPr>
          <p:cNvPr id="16" name="תיבת טקסט 15">
            <a:extLst>
              <a:ext uri="{FF2B5EF4-FFF2-40B4-BE49-F238E27FC236}">
                <a16:creationId xmlns:a16="http://schemas.microsoft.com/office/drawing/2014/main" id="{381CF88B-A8FC-BBF4-6245-D43AD8D1C975}"/>
              </a:ext>
            </a:extLst>
          </p:cNvPr>
          <p:cNvSpPr txBox="1"/>
          <p:nvPr/>
        </p:nvSpPr>
        <p:spPr>
          <a:xfrm>
            <a:off x="17070" y="2014211"/>
            <a:ext cx="1440000" cy="1046440"/>
          </a:xfrm>
          <a:prstGeom prst="rect">
            <a:avLst/>
          </a:prstGeom>
          <a:noFill/>
        </p:spPr>
        <p:txBody>
          <a:bodyPr wrap="square">
            <a:spAutoFit/>
          </a:bodyPr>
          <a:lstStyle/>
          <a:p>
            <a:pPr algn="ctr" rtl="1" fontAlgn="b"/>
            <a:r>
              <a:rPr lang="he-IL" sz="1400" b="1" u="none" strike="noStrike" dirty="0">
                <a:effectLst/>
                <a:latin typeface="Segoe UI" panose="020B0502040204020203" pitchFamily="34" charset="0"/>
                <a:cs typeface="Segoe UI" panose="020B0502040204020203" pitchFamily="34" charset="0"/>
              </a:rPr>
              <a:t>לפי תשלום קנס</a:t>
            </a:r>
            <a:br>
              <a:rPr lang="en-US" sz="1400" b="1" u="none" strike="noStrike" dirty="0">
                <a:effectLst/>
                <a:latin typeface="Segoe UI" panose="020B0502040204020203" pitchFamily="34" charset="0"/>
                <a:cs typeface="Segoe UI" panose="020B0502040204020203" pitchFamily="34" charset="0"/>
              </a:rPr>
            </a:br>
            <a:r>
              <a:rPr lang="he-IL" sz="1000" u="none" strike="noStrike" dirty="0">
                <a:effectLst/>
                <a:latin typeface="Segoe UI" panose="020B0502040204020203" pitchFamily="34" charset="0"/>
                <a:cs typeface="Segoe UI" panose="020B0502040204020203" pitchFamily="34" charset="0"/>
              </a:rPr>
              <a:t>(לא ביקשו להישפט)</a:t>
            </a:r>
          </a:p>
          <a:p>
            <a:pPr marL="0" marR="0" lvl="0" indent="0" algn="ctr" defTabSz="914400" rtl="1" eaLnBrk="1" fontAlgn="b"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ודיון בפועל</a:t>
            </a:r>
            <a:br>
              <a:rPr kumimoji="0" lang="en-US" sz="1400" b="1"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br>
            <a:r>
              <a:rPr kumimoji="0" lang="he-IL"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(ביקשו להישפט)</a:t>
            </a:r>
            <a:endParaRPr lang="he-IL" sz="1400" i="0" u="none" strike="noStrike" dirty="0">
              <a:solidFill>
                <a:srgbClr val="000000"/>
              </a:solidFill>
              <a:effectLst/>
              <a:latin typeface="Segoe UI" panose="020B0502040204020203" pitchFamily="34" charset="0"/>
              <a:cs typeface="Segoe UI" panose="020B0502040204020203" pitchFamily="34" charset="0"/>
            </a:endParaRPr>
          </a:p>
        </p:txBody>
      </p:sp>
      <p:sp>
        <p:nvSpPr>
          <p:cNvPr id="17" name="תיבת טקסט 16">
            <a:extLst>
              <a:ext uri="{FF2B5EF4-FFF2-40B4-BE49-F238E27FC236}">
                <a16:creationId xmlns:a16="http://schemas.microsoft.com/office/drawing/2014/main" id="{D91FAA6F-E031-E245-8447-F1EFAB91DCA4}"/>
              </a:ext>
            </a:extLst>
          </p:cNvPr>
          <p:cNvSpPr txBox="1"/>
          <p:nvPr/>
        </p:nvSpPr>
        <p:spPr>
          <a:xfrm>
            <a:off x="17070" y="4321570"/>
            <a:ext cx="1404000" cy="523220"/>
          </a:xfrm>
          <a:prstGeom prst="rect">
            <a:avLst/>
          </a:prstGeom>
          <a:noFill/>
        </p:spPr>
        <p:txBody>
          <a:bodyPr wrap="square">
            <a:spAutoFit/>
          </a:bodyPr>
          <a:lstStyle/>
          <a:p>
            <a:pPr algn="ctr" rtl="1" fontAlgn="b"/>
            <a:r>
              <a:rPr lang="he-IL" sz="1400" b="1" u="none" strike="noStrike" dirty="0">
                <a:effectLst/>
                <a:latin typeface="Segoe UI" panose="020B0502040204020203" pitchFamily="34" charset="0"/>
                <a:cs typeface="Segoe UI" panose="020B0502040204020203" pitchFamily="34" charset="0"/>
              </a:rPr>
              <a:t>לפי שנת </a:t>
            </a:r>
            <a:br>
              <a:rPr lang="en-US" sz="1400" b="1" u="none" strike="noStrike" dirty="0">
                <a:effectLst/>
                <a:latin typeface="Segoe UI" panose="020B0502040204020203" pitchFamily="34" charset="0"/>
                <a:cs typeface="Segoe UI" panose="020B0502040204020203" pitchFamily="34" charset="0"/>
              </a:rPr>
            </a:br>
            <a:r>
              <a:rPr lang="he-IL" sz="1400" b="1" u="none" strike="noStrike" dirty="0">
                <a:effectLst/>
                <a:latin typeface="Segoe UI" panose="020B0502040204020203" pitchFamily="34" charset="0"/>
                <a:cs typeface="Segoe UI" panose="020B0502040204020203" pitchFamily="34" charset="0"/>
              </a:rPr>
              <a:t>קבלת הדוח</a:t>
            </a:r>
            <a:endParaRPr lang="he-IL" sz="1400" b="1" i="0" u="none" strike="noStrike" dirty="0">
              <a:solidFill>
                <a:srgbClr val="000000"/>
              </a:solidFill>
              <a:effectLst/>
              <a:latin typeface="Segoe UI" panose="020B0502040204020203" pitchFamily="34" charset="0"/>
              <a:cs typeface="Segoe UI" panose="020B0502040204020203" pitchFamily="34" charset="0"/>
            </a:endParaRPr>
          </a:p>
        </p:txBody>
      </p:sp>
      <p:sp>
        <p:nvSpPr>
          <p:cNvPr id="4" name="Rectangle 2">
            <a:extLst>
              <a:ext uri="{FF2B5EF4-FFF2-40B4-BE49-F238E27FC236}">
                <a16:creationId xmlns:a16="http://schemas.microsoft.com/office/drawing/2014/main" id="{28D7FCEF-E125-1C34-61A9-A997C3C1421C}"/>
              </a:ext>
            </a:extLst>
          </p:cNvPr>
          <p:cNvSpPr/>
          <p:nvPr/>
        </p:nvSpPr>
        <p:spPr>
          <a:xfrm>
            <a:off x="2730500" y="224245"/>
            <a:ext cx="8957125" cy="8403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t"/>
          <a:lstStyle/>
          <a:p>
            <a:pPr lvl="0" algn="r" rtl="1">
              <a:defRPr/>
            </a:pPr>
            <a:r>
              <a:rPr lang="he-IL" sz="2800" b="1" kern="0" dirty="0">
                <a:solidFill>
                  <a:srgbClr val="104E88"/>
                </a:solidFill>
                <a:latin typeface="Segoe UI" panose="020B0502040204020203" pitchFamily="34" charset="0"/>
                <a:cs typeface="Segoe UI" panose="020B0502040204020203" pitchFamily="34" charset="0"/>
                <a:sym typeface="Arial"/>
              </a:rPr>
              <a:t>אופן קבלת הדוח </a:t>
            </a:r>
            <a:r>
              <a:rPr kumimoji="0" lang="he-IL" sz="2000" i="0" u="none" strike="noStrike" kern="0" cap="none" spc="0" normalizeH="0" baseline="0" noProof="0" dirty="0">
                <a:ln>
                  <a:noFill/>
                </a:ln>
                <a:solidFill>
                  <a:srgbClr val="104E88"/>
                </a:solidFill>
                <a:effectLst/>
                <a:uLnTx/>
                <a:uFillTx/>
                <a:latin typeface="Segoe UI" panose="020B0502040204020203" pitchFamily="34" charset="0"/>
                <a:ea typeface="+mn-ea"/>
                <a:cs typeface="Segoe UI" panose="020B0502040204020203" pitchFamily="34" charset="0"/>
                <a:sym typeface="Arial"/>
              </a:rPr>
              <a:t>| סגמנטציה</a:t>
            </a:r>
            <a:endParaRPr lang="he-IL" sz="2800" kern="0" dirty="0">
              <a:solidFill>
                <a:srgbClr val="104E88"/>
              </a:solidFill>
              <a:latin typeface="Segoe UI" panose="020B0502040204020203" pitchFamily="34" charset="0"/>
              <a:cs typeface="Segoe UI" panose="020B0502040204020203" pitchFamily="34" charset="0"/>
              <a:sym typeface="Arial"/>
            </a:endParaRPr>
          </a:p>
        </p:txBody>
      </p:sp>
      <p:sp>
        <p:nvSpPr>
          <p:cNvPr id="6" name="Rectangle: Rounded Corners 54">
            <a:hlinkClick r:id="" action="ppaction://noaction"/>
            <a:extLst>
              <a:ext uri="{FF2B5EF4-FFF2-40B4-BE49-F238E27FC236}">
                <a16:creationId xmlns:a16="http://schemas.microsoft.com/office/drawing/2014/main" id="{A3F3D963-4658-FEF5-4DD3-8528F930F002}"/>
              </a:ext>
            </a:extLst>
          </p:cNvPr>
          <p:cNvSpPr/>
          <p:nvPr/>
        </p:nvSpPr>
        <p:spPr>
          <a:xfrm>
            <a:off x="1418590" y="6568993"/>
            <a:ext cx="900000" cy="144000"/>
          </a:xfrm>
          <a:prstGeom prst="roundRect">
            <a:avLst>
              <a:gd name="adj" fmla="val 50000"/>
            </a:avLst>
          </a:prstGeom>
          <a:solidFill>
            <a:schemeClr val="bg1"/>
          </a:solidFill>
          <a:ln w="12700">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r" defTabSz="914400" rtl="1" eaLnBrk="1" latinLnBrk="0" hangingPunct="1">
              <a:defRPr sz="1800" kern="1200">
                <a:solidFill>
                  <a:schemeClr val="lt1"/>
                </a:solidFill>
                <a:latin typeface="+mn-lt"/>
                <a:ea typeface="+mn-ea"/>
                <a:cs typeface="+mn-cs"/>
              </a:defRPr>
            </a:lvl1pPr>
            <a:lvl2pPr marL="457200" algn="r" defTabSz="914400" rtl="1" eaLnBrk="1" latinLnBrk="0" hangingPunct="1">
              <a:defRPr sz="1800" kern="1200">
                <a:solidFill>
                  <a:schemeClr val="lt1"/>
                </a:solidFill>
                <a:latin typeface="+mn-lt"/>
                <a:ea typeface="+mn-ea"/>
                <a:cs typeface="+mn-cs"/>
              </a:defRPr>
            </a:lvl2pPr>
            <a:lvl3pPr marL="914400" algn="r" defTabSz="914400" rtl="1" eaLnBrk="1" latinLnBrk="0" hangingPunct="1">
              <a:defRPr sz="1800" kern="1200">
                <a:solidFill>
                  <a:schemeClr val="lt1"/>
                </a:solidFill>
                <a:latin typeface="+mn-lt"/>
                <a:ea typeface="+mn-ea"/>
                <a:cs typeface="+mn-cs"/>
              </a:defRPr>
            </a:lvl3pPr>
            <a:lvl4pPr marL="1371600" algn="r" defTabSz="914400" rtl="1" eaLnBrk="1" latinLnBrk="0" hangingPunct="1">
              <a:defRPr sz="1800" kern="1200">
                <a:solidFill>
                  <a:schemeClr val="lt1"/>
                </a:solidFill>
                <a:latin typeface="+mn-lt"/>
                <a:ea typeface="+mn-ea"/>
                <a:cs typeface="+mn-cs"/>
              </a:defRPr>
            </a:lvl4pPr>
            <a:lvl5pPr marL="1828800" algn="r" defTabSz="914400" rtl="1" eaLnBrk="1" latinLnBrk="0" hangingPunct="1">
              <a:defRPr sz="1800" kern="1200">
                <a:solidFill>
                  <a:schemeClr val="lt1"/>
                </a:solidFill>
                <a:latin typeface="+mn-lt"/>
                <a:ea typeface="+mn-ea"/>
                <a:cs typeface="+mn-cs"/>
              </a:defRPr>
            </a:lvl5pPr>
            <a:lvl6pPr marL="2286000" algn="r" defTabSz="914400" rtl="1" eaLnBrk="1" latinLnBrk="0" hangingPunct="1">
              <a:defRPr sz="1800" kern="1200">
                <a:solidFill>
                  <a:schemeClr val="lt1"/>
                </a:solidFill>
                <a:latin typeface="+mn-lt"/>
                <a:ea typeface="+mn-ea"/>
                <a:cs typeface="+mn-cs"/>
              </a:defRPr>
            </a:lvl6pPr>
            <a:lvl7pPr marL="2743200" algn="r" defTabSz="914400" rtl="1" eaLnBrk="1" latinLnBrk="0" hangingPunct="1">
              <a:defRPr sz="1800" kern="1200">
                <a:solidFill>
                  <a:schemeClr val="lt1"/>
                </a:solidFill>
                <a:latin typeface="+mn-lt"/>
                <a:ea typeface="+mn-ea"/>
                <a:cs typeface="+mn-cs"/>
              </a:defRPr>
            </a:lvl7pPr>
            <a:lvl8pPr marL="3200400" algn="r" defTabSz="914400" rtl="1" eaLnBrk="1" latinLnBrk="0" hangingPunct="1">
              <a:defRPr sz="1800" kern="1200">
                <a:solidFill>
                  <a:schemeClr val="lt1"/>
                </a:solidFill>
                <a:latin typeface="+mn-lt"/>
                <a:ea typeface="+mn-ea"/>
                <a:cs typeface="+mn-cs"/>
              </a:defRPr>
            </a:lvl8pPr>
            <a:lvl9pPr marL="3657600" algn="r" defTabSz="914400" rtl="1" eaLnBrk="1" latinLnBrk="0" hangingPunct="1">
              <a:defRPr sz="1800" kern="1200">
                <a:solidFill>
                  <a:schemeClr val="lt1"/>
                </a:solidFill>
                <a:latin typeface="+mn-lt"/>
                <a:ea typeface="+mn-ea"/>
                <a:cs typeface="+mn-cs"/>
              </a:defRPr>
            </a:lvl9pPr>
          </a:lstStyle>
          <a:p>
            <a:pPr marL="0" marR="0" lvl="0" indent="0" algn="ctr" defTabSz="914400" rtl="1" eaLnBrk="1" fontAlgn="base" latinLnBrk="0" hangingPunct="1">
              <a:lnSpc>
                <a:spcPct val="100000"/>
              </a:lnSpc>
              <a:spcBef>
                <a:spcPct val="0"/>
              </a:spcBef>
              <a:spcAft>
                <a:spcPct val="0"/>
              </a:spcAft>
              <a:buClrTx/>
              <a:buSzTx/>
              <a:buFontTx/>
              <a:buNone/>
              <a:tabLst/>
              <a:defRPr/>
            </a:pPr>
            <a:r>
              <a:rPr kumimoji="0" lang="he-IL" sz="1100" b="0" i="0" u="none" strike="noStrike" kern="1200" cap="none" spc="0" normalizeH="0" baseline="0" noProof="0" dirty="0">
                <a:ln>
                  <a:noFill/>
                </a:ln>
                <a:solidFill>
                  <a:schemeClr val="bg1">
                    <a:lumMod val="65000"/>
                  </a:schemeClr>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&lt;--- חזור</a:t>
            </a:r>
            <a:endParaRPr kumimoji="0" lang="en-IL" sz="1100" b="0" i="0" u="none" strike="noStrike" kern="1200" cap="none" spc="0" normalizeH="0" baseline="0" noProof="0" dirty="0">
              <a:ln>
                <a:noFill/>
              </a:ln>
              <a:solidFill>
                <a:schemeClr val="bg1">
                  <a:lumMod val="65000"/>
                </a:schemeClr>
              </a:solidFill>
              <a:effectLst/>
              <a:uLnTx/>
              <a:uFillTx/>
              <a:latin typeface="Segoe UI" panose="020B0502040204020203" pitchFamily="34" charset="0"/>
              <a:ea typeface="+mn-ea"/>
              <a:cs typeface="Segoe UI" panose="020B0502040204020203" pitchFamily="34" charset="0"/>
            </a:endParaRPr>
          </a:p>
        </p:txBody>
      </p:sp>
      <p:pic>
        <p:nvPicPr>
          <p:cNvPr id="18" name="תמונה 17">
            <a:extLst>
              <a:ext uri="{FF2B5EF4-FFF2-40B4-BE49-F238E27FC236}">
                <a16:creationId xmlns:a16="http://schemas.microsoft.com/office/drawing/2014/main" id="{A3F1C33D-9748-3824-CF43-F84D1E81AAC6}"/>
              </a:ext>
            </a:extLst>
          </p:cNvPr>
          <p:cNvPicPr>
            <a:picLocks noChangeAspect="1"/>
          </p:cNvPicPr>
          <p:nvPr/>
        </p:nvPicPr>
        <p:blipFill>
          <a:blip r:embed="rId4"/>
          <a:stretch>
            <a:fillRect/>
          </a:stretch>
        </p:blipFill>
        <p:spPr>
          <a:xfrm>
            <a:off x="6029998" y="6523026"/>
            <a:ext cx="2872989" cy="243861"/>
          </a:xfrm>
          <a:prstGeom prst="rect">
            <a:avLst/>
          </a:prstGeom>
        </p:spPr>
      </p:pic>
      <p:cxnSp>
        <p:nvCxnSpPr>
          <p:cNvPr id="20" name="מחבר ישר 19">
            <a:extLst>
              <a:ext uri="{FF2B5EF4-FFF2-40B4-BE49-F238E27FC236}">
                <a16:creationId xmlns:a16="http://schemas.microsoft.com/office/drawing/2014/main" id="{4A22786D-3AF9-4140-637A-2C0FA8D6C512}"/>
              </a:ext>
            </a:extLst>
          </p:cNvPr>
          <p:cNvCxnSpPr>
            <a:cxnSpLocks/>
          </p:cNvCxnSpPr>
          <p:nvPr/>
        </p:nvCxnSpPr>
        <p:spPr>
          <a:xfrm>
            <a:off x="9275764" y="1464741"/>
            <a:ext cx="0" cy="3672000"/>
          </a:xfrm>
          <a:prstGeom prst="line">
            <a:avLst/>
          </a:prstGeom>
          <a:ln>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21" name="מחבר ישר 20">
            <a:extLst>
              <a:ext uri="{FF2B5EF4-FFF2-40B4-BE49-F238E27FC236}">
                <a16:creationId xmlns:a16="http://schemas.microsoft.com/office/drawing/2014/main" id="{2BE41938-14D4-1224-CADE-489C863C7F33}"/>
              </a:ext>
            </a:extLst>
          </p:cNvPr>
          <p:cNvCxnSpPr>
            <a:cxnSpLocks/>
          </p:cNvCxnSpPr>
          <p:nvPr/>
        </p:nvCxnSpPr>
        <p:spPr>
          <a:xfrm>
            <a:off x="3870046" y="1464741"/>
            <a:ext cx="0" cy="3672000"/>
          </a:xfrm>
          <a:prstGeom prst="line">
            <a:avLst/>
          </a:prstGeom>
          <a:ln>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22" name="תיבת טקסט 21">
            <a:extLst>
              <a:ext uri="{FF2B5EF4-FFF2-40B4-BE49-F238E27FC236}">
                <a16:creationId xmlns:a16="http://schemas.microsoft.com/office/drawing/2014/main" id="{FE12EBFB-F7D2-C4DF-A989-6A5487F3A3F3}"/>
              </a:ext>
            </a:extLst>
          </p:cNvPr>
          <p:cNvSpPr txBox="1"/>
          <p:nvPr/>
        </p:nvSpPr>
        <p:spPr>
          <a:xfrm>
            <a:off x="1766904" y="1400978"/>
            <a:ext cx="1440000" cy="276999"/>
          </a:xfrm>
          <a:prstGeom prst="rect">
            <a:avLst/>
          </a:prstGeom>
          <a:noFill/>
        </p:spPr>
        <p:txBody>
          <a:bodyPr wrap="square">
            <a:spAutoFit/>
          </a:bodyPr>
          <a:lstStyle/>
          <a:p>
            <a:pPr algn="ctr" rtl="1" fontAlgn="ctr"/>
            <a:r>
              <a:rPr lang="he-IL" sz="1200" b="1" u="none" strike="noStrike" dirty="0">
                <a:effectLst/>
                <a:latin typeface="Segoe UI" panose="020B0502040204020203" pitchFamily="34" charset="0"/>
                <a:cs typeface="Segoe UI" panose="020B0502040204020203" pitchFamily="34" charset="0"/>
              </a:rPr>
              <a:t>מגזר יהודי</a:t>
            </a:r>
          </a:p>
        </p:txBody>
      </p:sp>
      <p:sp>
        <p:nvSpPr>
          <p:cNvPr id="23" name="תיבת טקסט 22">
            <a:extLst>
              <a:ext uri="{FF2B5EF4-FFF2-40B4-BE49-F238E27FC236}">
                <a16:creationId xmlns:a16="http://schemas.microsoft.com/office/drawing/2014/main" id="{789A9ECF-204C-AC4B-21FF-68241B8B2B10}"/>
              </a:ext>
            </a:extLst>
          </p:cNvPr>
          <p:cNvSpPr txBox="1"/>
          <p:nvPr/>
        </p:nvSpPr>
        <p:spPr>
          <a:xfrm>
            <a:off x="4493412" y="1400978"/>
            <a:ext cx="1440000" cy="276999"/>
          </a:xfrm>
          <a:prstGeom prst="rect">
            <a:avLst/>
          </a:prstGeom>
          <a:noFill/>
        </p:spPr>
        <p:txBody>
          <a:bodyPr wrap="square">
            <a:spAutoFit/>
          </a:bodyPr>
          <a:lstStyle/>
          <a:p>
            <a:pPr algn="ctr" rtl="1" fontAlgn="ctr"/>
            <a:r>
              <a:rPr lang="he-IL" sz="1200" b="1" u="none" strike="noStrike" dirty="0">
                <a:effectLst/>
                <a:latin typeface="Segoe UI" panose="020B0502040204020203" pitchFamily="34" charset="0"/>
                <a:cs typeface="Segoe UI" panose="020B0502040204020203" pitchFamily="34" charset="0"/>
              </a:rPr>
              <a:t>מגזר ערבי</a:t>
            </a:r>
          </a:p>
        </p:txBody>
      </p:sp>
      <p:sp>
        <p:nvSpPr>
          <p:cNvPr id="24" name="תיבת טקסט 23">
            <a:extLst>
              <a:ext uri="{FF2B5EF4-FFF2-40B4-BE49-F238E27FC236}">
                <a16:creationId xmlns:a16="http://schemas.microsoft.com/office/drawing/2014/main" id="{D6D94B36-CF0D-30B5-415C-43B853B2AB91}"/>
              </a:ext>
            </a:extLst>
          </p:cNvPr>
          <p:cNvSpPr txBox="1"/>
          <p:nvPr/>
        </p:nvSpPr>
        <p:spPr>
          <a:xfrm>
            <a:off x="7181587" y="1400978"/>
            <a:ext cx="1440000" cy="276999"/>
          </a:xfrm>
          <a:prstGeom prst="rect">
            <a:avLst/>
          </a:prstGeom>
          <a:noFill/>
        </p:spPr>
        <p:txBody>
          <a:bodyPr wrap="square">
            <a:spAutoFit/>
          </a:bodyPr>
          <a:lstStyle/>
          <a:p>
            <a:pPr algn="ctr" rtl="1" fontAlgn="ctr"/>
            <a:r>
              <a:rPr lang="he-IL" sz="1200" b="1" u="none" strike="noStrike" dirty="0">
                <a:effectLst/>
                <a:latin typeface="Segoe UI" panose="020B0502040204020203" pitchFamily="34" charset="0"/>
                <a:cs typeface="Segoe UI" panose="020B0502040204020203" pitchFamily="34" charset="0"/>
              </a:rPr>
              <a:t>מגזר יהודי</a:t>
            </a:r>
          </a:p>
        </p:txBody>
      </p:sp>
      <p:sp>
        <p:nvSpPr>
          <p:cNvPr id="25" name="תיבת טקסט 24">
            <a:extLst>
              <a:ext uri="{FF2B5EF4-FFF2-40B4-BE49-F238E27FC236}">
                <a16:creationId xmlns:a16="http://schemas.microsoft.com/office/drawing/2014/main" id="{17506E76-DF8D-8794-DA1B-AE51252AE7EE}"/>
              </a:ext>
            </a:extLst>
          </p:cNvPr>
          <p:cNvSpPr txBox="1"/>
          <p:nvPr/>
        </p:nvSpPr>
        <p:spPr>
          <a:xfrm>
            <a:off x="9908095" y="1400978"/>
            <a:ext cx="1440000" cy="276999"/>
          </a:xfrm>
          <a:prstGeom prst="rect">
            <a:avLst/>
          </a:prstGeom>
          <a:noFill/>
        </p:spPr>
        <p:txBody>
          <a:bodyPr wrap="square">
            <a:spAutoFit/>
          </a:bodyPr>
          <a:lstStyle/>
          <a:p>
            <a:pPr algn="ctr" rtl="1" fontAlgn="ctr"/>
            <a:r>
              <a:rPr lang="he-IL" sz="1200" b="1" u="none" strike="noStrike" dirty="0">
                <a:effectLst/>
                <a:latin typeface="Segoe UI" panose="020B0502040204020203" pitchFamily="34" charset="0"/>
                <a:cs typeface="Segoe UI" panose="020B0502040204020203" pitchFamily="34" charset="0"/>
              </a:rPr>
              <a:t>מגזר ערבי</a:t>
            </a:r>
          </a:p>
        </p:txBody>
      </p:sp>
    </p:spTree>
    <p:extLst>
      <p:ext uri="{BB962C8B-B14F-4D97-AF65-F5344CB8AC3E}">
        <p14:creationId xmlns:p14="http://schemas.microsoft.com/office/powerpoint/2010/main" val="18537348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59EAB6-AD05-E5AB-46F9-0ED9FA317C7B}"/>
            </a:ext>
          </a:extLst>
        </p:cNvPr>
        <p:cNvGrpSpPr/>
        <p:nvPr/>
      </p:nvGrpSpPr>
      <p:grpSpPr>
        <a:xfrm>
          <a:off x="0" y="0"/>
          <a:ext cx="0" cy="0"/>
          <a:chOff x="0" y="0"/>
          <a:chExt cx="0" cy="0"/>
        </a:xfrm>
      </p:grpSpPr>
      <p:sp>
        <p:nvSpPr>
          <p:cNvPr id="5" name="Rectangle: Rounded Corners 6">
            <a:extLst>
              <a:ext uri="{FF2B5EF4-FFF2-40B4-BE49-F238E27FC236}">
                <a16:creationId xmlns:a16="http://schemas.microsoft.com/office/drawing/2014/main" id="{2344B69F-60B0-1E58-495A-E05C698F4DBA}"/>
              </a:ext>
            </a:extLst>
          </p:cNvPr>
          <p:cNvSpPr/>
          <p:nvPr/>
        </p:nvSpPr>
        <p:spPr>
          <a:xfrm>
            <a:off x="6162589" y="3348062"/>
            <a:ext cx="5712725" cy="1281087"/>
          </a:xfrm>
          <a:prstGeom prst="roundRect">
            <a:avLst>
              <a:gd name="adj" fmla="val 28339"/>
            </a:avLst>
          </a:prstGeom>
          <a:gradFill flip="none" rotWithShape="1">
            <a:gsLst>
              <a:gs pos="0">
                <a:srgbClr val="1FC3BF"/>
              </a:gs>
              <a:gs pos="100000">
                <a:srgbClr val="0176B9"/>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20000"/>
              </a:lnSpc>
              <a:spcBef>
                <a:spcPts val="600"/>
              </a:spcBef>
              <a:spcAft>
                <a:spcPts val="0"/>
              </a:spcAft>
              <a:buClrTx/>
              <a:buSzTx/>
              <a:buFontTx/>
              <a:buNone/>
              <a:tabLst/>
              <a:defRPr/>
            </a:pPr>
            <a:endParaRPr kumimoji="0" lang="he-IL" sz="2400" b="1" i="0" u="none" strike="noStrike" kern="1200" cap="none" spc="0" normalizeH="0" baseline="0" noProof="0" dirty="0">
              <a:ln>
                <a:noFill/>
              </a:ln>
              <a:solidFill>
                <a:prstClr val="white"/>
              </a:solidFill>
              <a:effectLst/>
              <a:uLnTx/>
              <a:uFillTx/>
              <a:latin typeface="Calibri" panose="020F0502020204030204"/>
              <a:ea typeface="+mn-ea"/>
              <a:cs typeface="Segoe UI" panose="020B0502040204020203" pitchFamily="34" charset="0"/>
            </a:endParaRPr>
          </a:p>
        </p:txBody>
      </p:sp>
      <p:sp>
        <p:nvSpPr>
          <p:cNvPr id="6" name="Rectangle 5">
            <a:extLst>
              <a:ext uri="{FF2B5EF4-FFF2-40B4-BE49-F238E27FC236}">
                <a16:creationId xmlns:a16="http://schemas.microsoft.com/office/drawing/2014/main" id="{CE1799AA-AB93-75A1-5565-A9CE0F2F9B74}"/>
              </a:ext>
            </a:extLst>
          </p:cNvPr>
          <p:cNvSpPr/>
          <p:nvPr/>
        </p:nvSpPr>
        <p:spPr>
          <a:xfrm>
            <a:off x="6001820" y="2446395"/>
            <a:ext cx="5712725" cy="2667480"/>
          </a:xfrm>
          <a:prstGeom prst="rect">
            <a:avLst/>
          </a:prstGeom>
          <a:noFill/>
          <a:ln w="12700" cap="flat" cmpd="sng" algn="ctr">
            <a:noFill/>
            <a:prstDash val="solid"/>
            <a:miter lim="800000"/>
          </a:ln>
          <a:effectLst/>
        </p:spPr>
        <p:txBody>
          <a:bodyPr rtlCol="1" anchor="t"/>
          <a:lstStyle/>
          <a:p>
            <a:pPr marL="0" marR="0" lvl="0" indent="0" algn="r" defTabSz="914400" rtl="1" eaLnBrk="1" fontAlgn="auto" latinLnBrk="0" hangingPunct="1">
              <a:lnSpc>
                <a:spcPct val="200000"/>
              </a:lnSpc>
              <a:spcBef>
                <a:spcPts val="600"/>
              </a:spcBef>
              <a:spcAft>
                <a:spcPts val="0"/>
              </a:spcAft>
              <a:buClrTx/>
              <a:buSzTx/>
              <a:buFontTx/>
              <a:buNone/>
              <a:tabLst/>
              <a:defRPr/>
            </a:pPr>
            <a:r>
              <a:rPr kumimoji="0" lang="he-IL" sz="2000" b="0" i="0" u="none" strike="noStrike" kern="0" cap="none" spc="0" normalizeH="0" baseline="0" noProof="0" dirty="0">
                <a:ln>
                  <a:noFill/>
                </a:ln>
                <a:solidFill>
                  <a:prstClr val="white">
                    <a:lumMod val="65000"/>
                  </a:prstClr>
                </a:solidFill>
                <a:effectLst/>
                <a:uLnTx/>
                <a:uFillTx/>
                <a:latin typeface="Segoe UI" panose="020B0502040204020203" pitchFamily="34" charset="0"/>
                <a:ea typeface="+mn-ea"/>
                <a:cs typeface="Segoe UI" panose="020B0502040204020203" pitchFamily="34" charset="0"/>
              </a:rPr>
              <a:t>רקע – קבלת הדוח </a:t>
            </a:r>
            <a:r>
              <a:rPr kumimoji="0" lang="he-IL" sz="1800" b="0" i="0" u="none" strike="noStrike" kern="0" cap="none" spc="0" normalizeH="0" baseline="0" noProof="0" dirty="0">
                <a:ln>
                  <a:noFill/>
                </a:ln>
                <a:solidFill>
                  <a:prstClr val="white">
                    <a:lumMod val="65000"/>
                  </a:prstClr>
                </a:solidFill>
                <a:effectLst/>
                <a:uLnTx/>
                <a:uFillTx/>
                <a:latin typeface="Segoe UI" panose="020B0502040204020203" pitchFamily="34" charset="0"/>
                <a:ea typeface="+mn-ea"/>
                <a:cs typeface="Segoe UI" panose="020B0502040204020203" pitchFamily="34" charset="0"/>
              </a:rPr>
              <a:t>(תחילת התהליך)</a:t>
            </a:r>
          </a:p>
          <a:p>
            <a:pPr marL="0" marR="0" lvl="0" indent="0" algn="r" defTabSz="914400" rtl="1" eaLnBrk="1" fontAlgn="auto" latinLnBrk="0" hangingPunct="1">
              <a:lnSpc>
                <a:spcPct val="150000"/>
              </a:lnSpc>
              <a:spcBef>
                <a:spcPts val="600"/>
              </a:spcBef>
              <a:spcAft>
                <a:spcPts val="0"/>
              </a:spcAft>
              <a:buClrTx/>
              <a:buSzTx/>
              <a:buFontTx/>
              <a:buNone/>
              <a:tabLst/>
              <a:defRPr/>
            </a:pPr>
            <a:r>
              <a:rPr kumimoji="0" lang="he-IL" sz="3200" b="1" i="0" u="none" strike="noStrike" kern="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rPr>
              <a:t>הבנת הדוח, חלופות התגובה והתמודדות בפועל</a:t>
            </a:r>
          </a:p>
          <a:p>
            <a:pPr marL="0" marR="0" lvl="0" indent="0" algn="r" defTabSz="914400" rtl="1" eaLnBrk="1" fontAlgn="auto" latinLnBrk="0" hangingPunct="1">
              <a:lnSpc>
                <a:spcPct val="200000"/>
              </a:lnSpc>
              <a:spcBef>
                <a:spcPts val="600"/>
              </a:spcBef>
              <a:spcAft>
                <a:spcPts val="0"/>
              </a:spcAft>
              <a:buClrTx/>
              <a:buSzTx/>
              <a:buFontTx/>
              <a:buNone/>
              <a:tabLst/>
              <a:defRPr/>
            </a:pPr>
            <a:r>
              <a:rPr kumimoji="0" lang="he-IL" sz="2000" b="0" i="0" u="none" strike="noStrike" kern="0" cap="none" spc="0" normalizeH="0" baseline="0" noProof="0" dirty="0">
                <a:ln>
                  <a:noFill/>
                </a:ln>
                <a:solidFill>
                  <a:prstClr val="white">
                    <a:lumMod val="65000"/>
                  </a:prstClr>
                </a:solidFill>
                <a:effectLst/>
                <a:uLnTx/>
                <a:uFillTx/>
                <a:latin typeface="Segoe UI" panose="020B0502040204020203" pitchFamily="34" charset="0"/>
                <a:ea typeface="+mn-ea"/>
                <a:cs typeface="Segoe UI" panose="020B0502040204020203" pitchFamily="34" charset="0"/>
              </a:rPr>
              <a:t>ההליך המשפטי</a:t>
            </a:r>
          </a:p>
          <a:p>
            <a:pPr marL="0" marR="0" lvl="0" indent="0" algn="r" defTabSz="914400" rtl="1" eaLnBrk="1" fontAlgn="auto" latinLnBrk="0" hangingPunct="1">
              <a:lnSpc>
                <a:spcPct val="200000"/>
              </a:lnSpc>
              <a:spcBef>
                <a:spcPts val="600"/>
              </a:spcBef>
              <a:spcAft>
                <a:spcPts val="0"/>
              </a:spcAft>
              <a:buClrTx/>
              <a:buSzTx/>
              <a:buFontTx/>
              <a:buNone/>
              <a:tabLst/>
              <a:defRPr/>
            </a:pPr>
            <a:r>
              <a:rPr kumimoji="0" lang="he-IL" sz="2000" b="0" i="0" u="none" strike="noStrike" kern="0" cap="none" spc="0" normalizeH="0" baseline="0" noProof="0" dirty="0">
                <a:ln>
                  <a:noFill/>
                </a:ln>
                <a:solidFill>
                  <a:prstClr val="white">
                    <a:lumMod val="65000"/>
                  </a:prstClr>
                </a:solidFill>
                <a:effectLst/>
                <a:uLnTx/>
                <a:uFillTx/>
                <a:latin typeface="Segoe UI" panose="020B0502040204020203" pitchFamily="34" charset="0"/>
                <a:ea typeface="+mn-ea"/>
                <a:cs typeface="Segoe UI" panose="020B0502040204020203" pitchFamily="34" charset="0"/>
              </a:rPr>
              <a:t>שביעות רצון והמלצות </a:t>
            </a:r>
            <a:r>
              <a:rPr kumimoji="0" lang="he-IL" sz="1800" b="0" i="0" u="none" strike="noStrike" kern="0" cap="none" spc="0" normalizeH="0" baseline="0" noProof="0" dirty="0">
                <a:ln>
                  <a:noFill/>
                </a:ln>
                <a:solidFill>
                  <a:prstClr val="white">
                    <a:lumMod val="65000"/>
                  </a:prstClr>
                </a:solidFill>
                <a:effectLst/>
                <a:uLnTx/>
                <a:uFillTx/>
                <a:latin typeface="Segoe UI" panose="020B0502040204020203" pitchFamily="34" charset="0"/>
                <a:ea typeface="+mn-ea"/>
                <a:cs typeface="Segoe UI" panose="020B0502040204020203" pitchFamily="34" charset="0"/>
              </a:rPr>
              <a:t>(סיום התהליך)</a:t>
            </a:r>
          </a:p>
        </p:txBody>
      </p:sp>
      <p:pic>
        <p:nvPicPr>
          <p:cNvPr id="3" name="תמונה 2" descr="תמונה שמכילה טקסט, גופן, לוגו, סמל&#10;&#10;תוכן בינה מלאכותית גנרטיבית עשוי להיות שגוי.">
            <a:extLst>
              <a:ext uri="{FF2B5EF4-FFF2-40B4-BE49-F238E27FC236}">
                <a16:creationId xmlns:a16="http://schemas.microsoft.com/office/drawing/2014/main" id="{6273B2EB-6FE1-7FD2-BAF0-65C3757063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34200" y="1441752"/>
            <a:ext cx="4265824" cy="1061715"/>
          </a:xfrm>
          <a:prstGeom prst="rect">
            <a:avLst/>
          </a:prstGeom>
        </p:spPr>
      </p:pic>
    </p:spTree>
    <p:extLst>
      <p:ext uri="{BB962C8B-B14F-4D97-AF65-F5344CB8AC3E}">
        <p14:creationId xmlns:p14="http://schemas.microsoft.com/office/powerpoint/2010/main" val="13254840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F4B41A-51F5-1509-9148-EEBAF37BEC62}"/>
            </a:ext>
          </a:extLst>
        </p:cNvPr>
        <p:cNvGrpSpPr/>
        <p:nvPr/>
      </p:nvGrpSpPr>
      <p:grpSpPr>
        <a:xfrm>
          <a:off x="0" y="0"/>
          <a:ext cx="0" cy="0"/>
          <a:chOff x="0" y="0"/>
          <a:chExt cx="0" cy="0"/>
        </a:xfrm>
      </p:grpSpPr>
      <p:sp>
        <p:nvSpPr>
          <p:cNvPr id="15" name="Slide Number Placeholder 1">
            <a:extLst>
              <a:ext uri="{FF2B5EF4-FFF2-40B4-BE49-F238E27FC236}">
                <a16:creationId xmlns:a16="http://schemas.microsoft.com/office/drawing/2014/main" id="{7CC9ABAB-42A3-19A3-016D-89959CAF8DEC}"/>
              </a:ext>
            </a:extLst>
          </p:cNvPr>
          <p:cNvSpPr txBox="1">
            <a:spLocks/>
          </p:cNvSpPr>
          <p:nvPr/>
        </p:nvSpPr>
        <p:spPr>
          <a:xfrm>
            <a:off x="11541989" y="6473956"/>
            <a:ext cx="540000" cy="360000"/>
          </a:xfrm>
          <a:prstGeom prst="rect">
            <a:avLst/>
          </a:prstGeom>
          <a:noFill/>
          <a:ln w="12700" cap="flat" cmpd="sng" algn="ctr">
            <a:noFill/>
            <a:prstDash val="solid"/>
            <a:miter lim="800000"/>
          </a:ln>
          <a:effectLst/>
        </p:spPr>
        <p:txBody>
          <a:bodyPr rot="0" spcFirstLastPara="0" vertOverflow="overflow" horzOverflow="overflow" vert="horz" wrap="square" lIns="91440" tIns="45720" rIns="91440" bIns="45720" numCol="1" spcCol="0" rtlCol="1" fromWordArt="0" anchor="ctr" anchorCtr="0" forceAA="0" compatLnSpc="1">
            <a:prstTxWarp prst="textNoShape">
              <a:avLst/>
            </a:prstTxWarp>
            <a:noAutofit/>
          </a:bodyPr>
          <a:lstStyle>
            <a:defPPr>
              <a:defRPr lang="he-IL"/>
            </a:defPPr>
            <a:lvl1pPr marL="0" algn="l" defTabSz="914400" rtl="0" eaLnBrk="1" latinLnBrk="0" hangingPunct="1">
              <a:defRPr lang="he-IL" sz="1100" kern="1200" smtClean="0">
                <a:solidFill>
                  <a:schemeClr val="bg1">
                    <a:lumMod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r" rtl="1">
              <a:defRPr/>
            </a:pPr>
            <a:fld id="{7A91BF3F-E284-4570-AC28-CDAE2F1A1EA1}" type="slidenum">
              <a:rPr lang="he-IL" smtClean="0">
                <a:solidFill>
                  <a:prstClr val="white">
                    <a:lumMod val="75000"/>
                  </a:prstClr>
                </a:solidFill>
              </a:rPr>
              <a:pPr algn="r" rtl="1">
                <a:defRPr/>
              </a:pPr>
              <a:t>17</a:t>
            </a:fld>
            <a:endParaRPr lang="he-IL" dirty="0">
              <a:solidFill>
                <a:prstClr val="white">
                  <a:lumMod val="75000"/>
                </a:prstClr>
              </a:solidFill>
            </a:endParaRPr>
          </a:p>
        </p:txBody>
      </p:sp>
      <p:cxnSp>
        <p:nvCxnSpPr>
          <p:cNvPr id="2" name="Straight Connector 6">
            <a:extLst>
              <a:ext uri="{FF2B5EF4-FFF2-40B4-BE49-F238E27FC236}">
                <a16:creationId xmlns:a16="http://schemas.microsoft.com/office/drawing/2014/main" id="{6E29DD1B-72CC-0DCE-6E37-1B17212A2995}"/>
              </a:ext>
            </a:extLst>
          </p:cNvPr>
          <p:cNvCxnSpPr>
            <a:cxnSpLocks/>
          </p:cNvCxnSpPr>
          <p:nvPr/>
        </p:nvCxnSpPr>
        <p:spPr>
          <a:xfrm rot="16200000" flipV="1">
            <a:off x="6096000" y="-477029"/>
            <a:ext cx="0" cy="10800000"/>
          </a:xfrm>
          <a:prstGeom prst="line">
            <a:avLst/>
          </a:prstGeom>
          <a:ln w="25400" cap="rnd">
            <a:solidFill>
              <a:schemeClr val="bg1">
                <a:lumMod val="85000"/>
              </a:schemeClr>
            </a:solidFill>
            <a:round/>
          </a:ln>
        </p:spPr>
        <p:style>
          <a:lnRef idx="1">
            <a:schemeClr val="accent1"/>
          </a:lnRef>
          <a:fillRef idx="0">
            <a:schemeClr val="accent1"/>
          </a:fillRef>
          <a:effectRef idx="0">
            <a:schemeClr val="accent1"/>
          </a:effectRef>
          <a:fontRef idx="minor">
            <a:schemeClr val="tx1"/>
          </a:fontRef>
        </p:style>
      </p:cxnSp>
      <p:sp>
        <p:nvSpPr>
          <p:cNvPr id="3" name="Rectangle 6">
            <a:extLst>
              <a:ext uri="{FF2B5EF4-FFF2-40B4-BE49-F238E27FC236}">
                <a16:creationId xmlns:a16="http://schemas.microsoft.com/office/drawing/2014/main" id="{86FE967C-4339-6386-D4E3-57CDDBF3FA37}"/>
              </a:ext>
            </a:extLst>
          </p:cNvPr>
          <p:cNvSpPr/>
          <p:nvPr/>
        </p:nvSpPr>
        <p:spPr>
          <a:xfrm>
            <a:off x="296837" y="5123287"/>
            <a:ext cx="11785152" cy="1440000"/>
          </a:xfrm>
          <a:prstGeom prst="rect">
            <a:avLst/>
          </a:prstGeom>
        </p:spPr>
        <p:txBody>
          <a:bodyPr wrap="square" anchor="ctr">
            <a:noAutofit/>
          </a:bodyPr>
          <a:lstStyle/>
          <a:p>
            <a:pPr algn="ctr" rtl="1">
              <a:lnSpc>
                <a:spcPct val="150000"/>
              </a:lnSpc>
            </a:pPr>
            <a:r>
              <a:rPr lang="he-IL" sz="1400" b="1" dirty="0">
                <a:latin typeface="Segoe UI" panose="020B0502040204020203" pitchFamily="34" charset="0"/>
                <a:cs typeface="Segoe UI" panose="020B0502040204020203" pitchFamily="34" charset="0"/>
              </a:rPr>
              <a:t>הבנה טובה למדי של העבירה והעונש + הבנה סבירה של אפשרויות הפעולה. אבל....</a:t>
            </a:r>
          </a:p>
          <a:p>
            <a:pPr algn="ctr" rtl="1">
              <a:lnSpc>
                <a:spcPct val="150000"/>
              </a:lnSpc>
            </a:pPr>
            <a:r>
              <a:rPr lang="he-IL" sz="1400" b="1" dirty="0">
                <a:latin typeface="Segoe UI" panose="020B0502040204020203" pitchFamily="34" charset="0"/>
                <a:cs typeface="Segoe UI" panose="020B0502040204020203" pitchFamily="34" charset="0"/>
              </a:rPr>
              <a:t>תחושת המוצדקות של הדוח ותחושת היכולת להשמיע קול חלשות בהרבה, </a:t>
            </a:r>
            <a:r>
              <a:rPr lang="he-IL" sz="1400" dirty="0">
                <a:latin typeface="Segoe UI" panose="020B0502040204020203" pitchFamily="34" charset="0"/>
                <a:cs typeface="Segoe UI" panose="020B0502040204020203" pitchFamily="34" charset="0"/>
              </a:rPr>
              <a:t>יותר בקרב המבקשים להישפט ובמגזר היהודי.</a:t>
            </a:r>
          </a:p>
          <a:p>
            <a:pPr algn="ctr" rtl="1">
              <a:lnSpc>
                <a:spcPct val="150000"/>
              </a:lnSpc>
            </a:pPr>
            <a:r>
              <a:rPr lang="he-IL" sz="1400" b="1" dirty="0">
                <a:solidFill>
                  <a:srgbClr val="1D1C64"/>
                </a:solidFill>
                <a:latin typeface="Segoe UI" panose="020B0502040204020203" pitchFamily="34" charset="0"/>
                <a:cs typeface="Segoe UI" panose="020B0502040204020203" pitchFamily="34" charset="0"/>
              </a:rPr>
              <a:t>בתקשור הרפורמה לא מספיק להסביר "מה עושים" אלה לפעול לחיזוק תחושת הוגנות, שקיפות והזדמנות אמיתית לנאשמים להשמיע את קולם. מומלץ לשקול להטמיע בתחילת התהליך הדיגיטלי סרטון קצר בשפה יומיומית המפשט את המידע המשפטי ומסביר את החלופות</a:t>
            </a:r>
            <a:br>
              <a:rPr lang="en-US" sz="1400" b="1" dirty="0">
                <a:solidFill>
                  <a:srgbClr val="1D1C64"/>
                </a:solidFill>
                <a:latin typeface="Segoe UI" panose="020B0502040204020203" pitchFamily="34" charset="0"/>
                <a:cs typeface="Segoe UI" panose="020B0502040204020203" pitchFamily="34" charset="0"/>
              </a:rPr>
            </a:br>
            <a:r>
              <a:rPr lang="he-IL" sz="1400" b="1" dirty="0">
                <a:solidFill>
                  <a:srgbClr val="1D1C64"/>
                </a:solidFill>
                <a:latin typeface="Segoe UI" panose="020B0502040204020203" pitchFamily="34" charset="0"/>
                <a:cs typeface="Segoe UI" panose="020B0502040204020203" pitchFamily="34" charset="0"/>
              </a:rPr>
              <a:t>גם אם בסופו של דבר ההכרעה ברורה</a:t>
            </a:r>
            <a:r>
              <a:rPr lang="en-US" sz="1400" b="1" dirty="0">
                <a:solidFill>
                  <a:srgbClr val="1D1C64"/>
                </a:solidFill>
                <a:latin typeface="Segoe UI" panose="020B0502040204020203" pitchFamily="34" charset="0"/>
                <a:cs typeface="Segoe UI" panose="020B0502040204020203" pitchFamily="34" charset="0"/>
              </a:rPr>
              <a:t>.</a:t>
            </a:r>
            <a:br>
              <a:rPr lang="he-IL" sz="1400" b="1" dirty="0">
                <a:solidFill>
                  <a:srgbClr val="1D1C64"/>
                </a:solidFill>
                <a:latin typeface="Segoe UI" panose="020B0502040204020203" pitchFamily="34" charset="0"/>
                <a:cs typeface="Segoe UI" panose="020B0502040204020203" pitchFamily="34" charset="0"/>
              </a:rPr>
            </a:br>
            <a:r>
              <a:rPr lang="he-IL" sz="1400" dirty="0">
                <a:latin typeface="Segoe UI" panose="020B0502040204020203" pitchFamily="34" charset="0"/>
                <a:cs typeface="Segoe UI" panose="020B0502040204020203" pitchFamily="34" charset="0"/>
              </a:rPr>
              <a:t> </a:t>
            </a:r>
            <a:endParaRPr lang="en-US" sz="1400" dirty="0">
              <a:latin typeface="Segoe UI" panose="020B0502040204020203" pitchFamily="34" charset="0"/>
              <a:cs typeface="Segoe UI" panose="020B0502040204020203" pitchFamily="34" charset="0"/>
            </a:endParaRPr>
          </a:p>
        </p:txBody>
      </p:sp>
      <p:sp>
        <p:nvSpPr>
          <p:cNvPr id="11" name="Rectangle 28">
            <a:extLst>
              <a:ext uri="{FF2B5EF4-FFF2-40B4-BE49-F238E27FC236}">
                <a16:creationId xmlns:a16="http://schemas.microsoft.com/office/drawing/2014/main" id="{7922701B-E6C7-A96B-AC96-D1848BDF60EB}"/>
              </a:ext>
            </a:extLst>
          </p:cNvPr>
          <p:cNvSpPr/>
          <p:nvPr/>
        </p:nvSpPr>
        <p:spPr>
          <a:xfrm>
            <a:off x="1945341" y="6473005"/>
            <a:ext cx="9851293" cy="360000"/>
          </a:xfrm>
          <a:prstGeom prst="rect">
            <a:avLst/>
          </a:prstGeom>
          <a:noFill/>
          <a:ln>
            <a:noFill/>
          </a:ln>
        </p:spPr>
        <p:txBody>
          <a:bodyPr rot="0" spcFirstLastPara="0" vertOverflow="overflow" horzOverflow="overflow" vert="horz" wrap="square" lIns="91440" tIns="45720" rIns="91440" bIns="45720" numCol="1" spcCol="0" rtlCol="1" fromWordArt="0" anchor="ctr" anchorCtr="0" forceAA="0" compatLnSpc="1">
            <a:prstTxWarp prst="textNoShape">
              <a:avLst/>
            </a:prstTxWarp>
            <a:noAutofit/>
          </a:bodyPr>
          <a:lstStyle/>
          <a:p>
            <a:pPr lvl="0" algn="r" rtl="1">
              <a:defRPr/>
            </a:pPr>
            <a:r>
              <a:rPr lang="he-IL" sz="1000" dirty="0">
                <a:solidFill>
                  <a:prstClr val="white">
                    <a:lumMod val="65000"/>
                  </a:prstClr>
                </a:solidFill>
                <a:latin typeface="Segoe UI" panose="020B0502040204020203" pitchFamily="34" charset="0"/>
                <a:cs typeface="Segoe UI" panose="020B0502040204020203" pitchFamily="34" charset="0"/>
              </a:rPr>
              <a:t>"עד כמה הבנת או לא הבנת מה העבירה שבגינה קיבלת את הדוח ומה העונש?" | "עד כמה הבנת או לא הבנת את אפשרויות הפעולה השונות שעומדות לרשותך בנוגע לטיפול בדו"ח"</a:t>
            </a:r>
          </a:p>
          <a:p>
            <a:pPr lvl="0" algn="r" rtl="1">
              <a:defRPr/>
            </a:pPr>
            <a:r>
              <a:rPr lang="he-IL" sz="1000" dirty="0">
                <a:solidFill>
                  <a:prstClr val="white">
                    <a:lumMod val="65000"/>
                  </a:prstClr>
                </a:solidFill>
                <a:latin typeface="Segoe UI" panose="020B0502040204020203" pitchFamily="34" charset="0"/>
                <a:cs typeface="Segoe UI" panose="020B0502040204020203" pitchFamily="34" charset="0"/>
              </a:rPr>
              <a:t>"האם לדעתך הדו"ח היה מוצדק?" | "והאם הרגשת שיש לך אפשרות להשמיע את קולך או את גרסתך ביחס לדו"ח"</a:t>
            </a:r>
          </a:p>
        </p:txBody>
      </p:sp>
      <p:sp>
        <p:nvSpPr>
          <p:cNvPr id="14" name="Rectangle 3">
            <a:extLst>
              <a:ext uri="{FF2B5EF4-FFF2-40B4-BE49-F238E27FC236}">
                <a16:creationId xmlns:a16="http://schemas.microsoft.com/office/drawing/2014/main" id="{B9C38869-FB26-77A3-881C-AEE0E2574FCA}"/>
              </a:ext>
            </a:extLst>
          </p:cNvPr>
          <p:cNvSpPr/>
          <p:nvPr/>
        </p:nvSpPr>
        <p:spPr>
          <a:xfrm>
            <a:off x="1320802" y="191076"/>
            <a:ext cx="10614278" cy="5075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t"/>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0" cap="none" spc="0" normalizeH="0" baseline="0" noProof="0" dirty="0">
                <a:ln>
                  <a:noFill/>
                </a:ln>
                <a:solidFill>
                  <a:srgbClr val="104E88"/>
                </a:solidFill>
                <a:effectLst/>
                <a:uLnTx/>
                <a:uFillTx/>
                <a:latin typeface="Segoe UI" panose="020B0502040204020203" pitchFamily="34" charset="0"/>
                <a:cs typeface="Segoe UI" panose="020B0502040204020203" pitchFamily="34" charset="0"/>
                <a:sym typeface="Arial"/>
              </a:rPr>
              <a:t>תפיסות כלפי קבלת הדוח</a:t>
            </a:r>
          </a:p>
        </p:txBody>
      </p:sp>
      <p:graphicFrame>
        <p:nvGraphicFramePr>
          <p:cNvPr id="6" name="אובייקט 2">
            <a:extLst>
              <a:ext uri="{FF2B5EF4-FFF2-40B4-BE49-F238E27FC236}">
                <a16:creationId xmlns:a16="http://schemas.microsoft.com/office/drawing/2014/main" id="{F1583320-9C09-12F5-24E1-A5415422A6BA}"/>
              </a:ext>
            </a:extLst>
          </p:cNvPr>
          <p:cNvGraphicFramePr>
            <a:graphicFrameLocks noChangeAspect="1"/>
          </p:cNvGraphicFramePr>
          <p:nvPr>
            <p:extLst>
              <p:ext uri="{D42A27DB-BD31-4B8C-83A1-F6EECF244321}">
                <p14:modId xmlns:p14="http://schemas.microsoft.com/office/powerpoint/2010/main" val="2011131767"/>
              </p:ext>
            </p:extLst>
          </p:nvPr>
        </p:nvGraphicFramePr>
        <p:xfrm>
          <a:off x="44930" y="3232187"/>
          <a:ext cx="12037055" cy="1584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8" name="אובייקט 2">
            <a:extLst>
              <a:ext uri="{FF2B5EF4-FFF2-40B4-BE49-F238E27FC236}">
                <a16:creationId xmlns:a16="http://schemas.microsoft.com/office/drawing/2014/main" id="{6F4EACF7-E50C-8442-50A1-EA76548701CA}"/>
              </a:ext>
            </a:extLst>
          </p:cNvPr>
          <p:cNvGraphicFramePr>
            <a:graphicFrameLocks noChangeAspect="1"/>
          </p:cNvGraphicFramePr>
          <p:nvPr>
            <p:extLst>
              <p:ext uri="{D42A27DB-BD31-4B8C-83A1-F6EECF244321}">
                <p14:modId xmlns:p14="http://schemas.microsoft.com/office/powerpoint/2010/main" val="703338273"/>
              </p:ext>
            </p:extLst>
          </p:nvPr>
        </p:nvGraphicFramePr>
        <p:xfrm>
          <a:off x="44930" y="1523557"/>
          <a:ext cx="12037055" cy="1584000"/>
        </p:xfrm>
        <a:graphic>
          <a:graphicData uri="http://schemas.openxmlformats.org/drawingml/2006/chart">
            <c:chart xmlns:c="http://schemas.openxmlformats.org/drawingml/2006/chart" xmlns:r="http://schemas.openxmlformats.org/officeDocument/2006/relationships" r:id="rId4"/>
          </a:graphicData>
        </a:graphic>
      </p:graphicFrame>
      <p:sp>
        <p:nvSpPr>
          <p:cNvPr id="22" name="מלבן: פינות מעוגלות 21">
            <a:extLst>
              <a:ext uri="{FF2B5EF4-FFF2-40B4-BE49-F238E27FC236}">
                <a16:creationId xmlns:a16="http://schemas.microsoft.com/office/drawing/2014/main" id="{A9211B35-B11B-541E-A4C2-C56EF9349EFD}"/>
              </a:ext>
            </a:extLst>
          </p:cNvPr>
          <p:cNvSpPr/>
          <p:nvPr/>
        </p:nvSpPr>
        <p:spPr>
          <a:xfrm>
            <a:off x="296837" y="2881999"/>
            <a:ext cx="5148000" cy="1980000"/>
          </a:xfrm>
          <a:prstGeom prst="roundRect">
            <a:avLst/>
          </a:prstGeom>
          <a:noFill/>
          <a:ln>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4" name="מלבן: פינות מעוגלות 3">
            <a:extLst>
              <a:ext uri="{FF2B5EF4-FFF2-40B4-BE49-F238E27FC236}">
                <a16:creationId xmlns:a16="http://schemas.microsoft.com/office/drawing/2014/main" id="{A467EE2A-69EC-715E-0598-51F1B07F8039}"/>
              </a:ext>
            </a:extLst>
          </p:cNvPr>
          <p:cNvSpPr/>
          <p:nvPr/>
        </p:nvSpPr>
        <p:spPr>
          <a:xfrm>
            <a:off x="5624827" y="2881999"/>
            <a:ext cx="5148000" cy="1980000"/>
          </a:xfrm>
          <a:prstGeom prst="roundRect">
            <a:avLst/>
          </a:prstGeom>
          <a:noFill/>
          <a:ln>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5" name="מלבן: פינות מעוגלות 4">
            <a:extLst>
              <a:ext uri="{FF2B5EF4-FFF2-40B4-BE49-F238E27FC236}">
                <a16:creationId xmlns:a16="http://schemas.microsoft.com/office/drawing/2014/main" id="{C956996A-F1ED-DE5B-C769-BDEB81C4D1FA}"/>
              </a:ext>
            </a:extLst>
          </p:cNvPr>
          <p:cNvSpPr/>
          <p:nvPr/>
        </p:nvSpPr>
        <p:spPr>
          <a:xfrm>
            <a:off x="296837" y="1222919"/>
            <a:ext cx="5148000" cy="1584000"/>
          </a:xfrm>
          <a:prstGeom prst="roundRect">
            <a:avLst/>
          </a:prstGeom>
          <a:noFill/>
          <a:ln>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7" name="מלבן: פינות מעוגלות 6">
            <a:extLst>
              <a:ext uri="{FF2B5EF4-FFF2-40B4-BE49-F238E27FC236}">
                <a16:creationId xmlns:a16="http://schemas.microsoft.com/office/drawing/2014/main" id="{66945EDB-E78F-C09F-7EA6-945D97FB5B14}"/>
              </a:ext>
            </a:extLst>
          </p:cNvPr>
          <p:cNvSpPr/>
          <p:nvPr/>
        </p:nvSpPr>
        <p:spPr>
          <a:xfrm>
            <a:off x="5624827" y="1222919"/>
            <a:ext cx="5148000" cy="1584000"/>
          </a:xfrm>
          <a:prstGeom prst="roundRect">
            <a:avLst/>
          </a:prstGeom>
          <a:noFill/>
          <a:ln>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8" name="תיבת טקסט 7">
            <a:extLst>
              <a:ext uri="{FF2B5EF4-FFF2-40B4-BE49-F238E27FC236}">
                <a16:creationId xmlns:a16="http://schemas.microsoft.com/office/drawing/2014/main" id="{C9490692-0DBA-EFE1-BF90-2E0242B915DA}"/>
              </a:ext>
            </a:extLst>
          </p:cNvPr>
          <p:cNvSpPr txBox="1"/>
          <p:nvPr/>
        </p:nvSpPr>
        <p:spPr>
          <a:xfrm>
            <a:off x="538559" y="1216600"/>
            <a:ext cx="4680000" cy="288000"/>
          </a:xfrm>
          <a:prstGeom prst="rect">
            <a:avLst/>
          </a:prstGeom>
          <a:noFill/>
        </p:spPr>
        <p:txBody>
          <a:bodyPr wrap="square">
            <a:spAutoFit/>
          </a:bodyPr>
          <a:lstStyle/>
          <a:p>
            <a:pPr algn="ctr" rtl="1" fontAlgn="ctr"/>
            <a:r>
              <a:rPr lang="he-IL" sz="1200" b="1" dirty="0">
                <a:latin typeface="Segoe UI" panose="020B0502040204020203" pitchFamily="34" charset="0"/>
                <a:cs typeface="Segoe UI" panose="020B0502040204020203" pitchFamily="34" charset="0"/>
              </a:rPr>
              <a:t>תפיסת הדוח כמוצדק</a:t>
            </a:r>
            <a:endParaRPr lang="he-IL" sz="1200" b="1" u="none" strike="noStrike" dirty="0">
              <a:effectLst/>
              <a:latin typeface="Segoe UI" panose="020B0502040204020203" pitchFamily="34" charset="0"/>
              <a:cs typeface="Segoe UI" panose="020B0502040204020203" pitchFamily="34" charset="0"/>
            </a:endParaRPr>
          </a:p>
        </p:txBody>
      </p:sp>
      <p:sp>
        <p:nvSpPr>
          <p:cNvPr id="9" name="תיבת טקסט 8">
            <a:extLst>
              <a:ext uri="{FF2B5EF4-FFF2-40B4-BE49-F238E27FC236}">
                <a16:creationId xmlns:a16="http://schemas.microsoft.com/office/drawing/2014/main" id="{2CB7C174-3C68-8E79-B449-553F9BC08F23}"/>
              </a:ext>
            </a:extLst>
          </p:cNvPr>
          <p:cNvSpPr txBox="1"/>
          <p:nvPr/>
        </p:nvSpPr>
        <p:spPr>
          <a:xfrm>
            <a:off x="5818772" y="1216600"/>
            <a:ext cx="4680000" cy="288000"/>
          </a:xfrm>
          <a:prstGeom prst="rect">
            <a:avLst/>
          </a:prstGeom>
          <a:noFill/>
        </p:spPr>
        <p:txBody>
          <a:bodyPr wrap="square">
            <a:spAutoFit/>
          </a:bodyPr>
          <a:lstStyle/>
          <a:p>
            <a:pPr algn="ctr" rtl="1" fontAlgn="ctr"/>
            <a:r>
              <a:rPr lang="he-IL" sz="1200" b="1" dirty="0">
                <a:latin typeface="Segoe UI" panose="020B0502040204020203" pitchFamily="34" charset="0"/>
                <a:cs typeface="Segoe UI" panose="020B0502040204020203" pitchFamily="34" charset="0"/>
              </a:rPr>
              <a:t>אפשרות להשמיע את קולם</a:t>
            </a:r>
            <a:endParaRPr lang="he-IL" sz="1200" b="1" u="none" strike="noStrike" dirty="0">
              <a:effectLst/>
              <a:latin typeface="Segoe UI" panose="020B0502040204020203" pitchFamily="34" charset="0"/>
              <a:cs typeface="Segoe UI" panose="020B0502040204020203" pitchFamily="34" charset="0"/>
            </a:endParaRPr>
          </a:p>
        </p:txBody>
      </p:sp>
      <p:sp>
        <p:nvSpPr>
          <p:cNvPr id="12" name="תיבת טקסט 11">
            <a:extLst>
              <a:ext uri="{FF2B5EF4-FFF2-40B4-BE49-F238E27FC236}">
                <a16:creationId xmlns:a16="http://schemas.microsoft.com/office/drawing/2014/main" id="{C38A8902-4324-7689-CBFF-950ED771D987}"/>
              </a:ext>
            </a:extLst>
          </p:cNvPr>
          <p:cNvSpPr txBox="1"/>
          <p:nvPr/>
        </p:nvSpPr>
        <p:spPr>
          <a:xfrm>
            <a:off x="538556" y="2862374"/>
            <a:ext cx="4680000" cy="288000"/>
          </a:xfrm>
          <a:prstGeom prst="rect">
            <a:avLst/>
          </a:prstGeom>
          <a:noFill/>
        </p:spPr>
        <p:txBody>
          <a:bodyPr wrap="square">
            <a:spAutoFit/>
          </a:bodyPr>
          <a:lstStyle/>
          <a:p>
            <a:pPr algn="ctr" rtl="1" fontAlgn="ctr"/>
            <a:r>
              <a:rPr lang="he-IL" sz="1200" b="1" dirty="0">
                <a:latin typeface="Segoe UI" panose="020B0502040204020203" pitchFamily="34" charset="0"/>
                <a:cs typeface="Segoe UI" panose="020B0502040204020203" pitchFamily="34" charset="0"/>
              </a:rPr>
              <a:t>הבנת העבירה והעונש בגינה</a:t>
            </a:r>
            <a:endParaRPr lang="he-IL" sz="1200" b="1" u="none" strike="noStrike" dirty="0">
              <a:effectLst/>
              <a:latin typeface="Segoe UI" panose="020B0502040204020203" pitchFamily="34" charset="0"/>
              <a:cs typeface="Segoe UI" panose="020B0502040204020203" pitchFamily="34" charset="0"/>
            </a:endParaRPr>
          </a:p>
        </p:txBody>
      </p:sp>
      <p:sp>
        <p:nvSpPr>
          <p:cNvPr id="13" name="תיבת טקסט 12">
            <a:extLst>
              <a:ext uri="{FF2B5EF4-FFF2-40B4-BE49-F238E27FC236}">
                <a16:creationId xmlns:a16="http://schemas.microsoft.com/office/drawing/2014/main" id="{0D2362FC-9288-90CE-B6E8-06C231F7AEE4}"/>
              </a:ext>
            </a:extLst>
          </p:cNvPr>
          <p:cNvSpPr txBox="1"/>
          <p:nvPr/>
        </p:nvSpPr>
        <p:spPr>
          <a:xfrm>
            <a:off x="5818769" y="2862374"/>
            <a:ext cx="4680000" cy="288000"/>
          </a:xfrm>
          <a:prstGeom prst="rect">
            <a:avLst/>
          </a:prstGeom>
          <a:noFill/>
        </p:spPr>
        <p:txBody>
          <a:bodyPr wrap="square">
            <a:spAutoFit/>
          </a:bodyPr>
          <a:lstStyle/>
          <a:p>
            <a:pPr algn="ctr" rtl="1" fontAlgn="ctr"/>
            <a:r>
              <a:rPr lang="he-IL" sz="1200" b="1" dirty="0">
                <a:latin typeface="Segoe UI" panose="020B0502040204020203" pitchFamily="34" charset="0"/>
                <a:cs typeface="Segoe UI" panose="020B0502040204020203" pitchFamily="34" charset="0"/>
              </a:rPr>
              <a:t>הבנת אפשרויות הפעולה לטיפול בדוח </a:t>
            </a:r>
            <a:endParaRPr lang="he-IL" sz="1200" b="1" u="none" strike="noStrike" dirty="0">
              <a:effectLst/>
              <a:latin typeface="Segoe UI" panose="020B0502040204020203" pitchFamily="34" charset="0"/>
              <a:cs typeface="Segoe UI" panose="020B0502040204020203" pitchFamily="34" charset="0"/>
            </a:endParaRPr>
          </a:p>
        </p:txBody>
      </p:sp>
      <p:cxnSp>
        <p:nvCxnSpPr>
          <p:cNvPr id="10" name="מחבר ישר 9">
            <a:extLst>
              <a:ext uri="{FF2B5EF4-FFF2-40B4-BE49-F238E27FC236}">
                <a16:creationId xmlns:a16="http://schemas.microsoft.com/office/drawing/2014/main" id="{F35C9C3C-5386-FC6C-B333-0E244B0EEF71}"/>
              </a:ext>
            </a:extLst>
          </p:cNvPr>
          <p:cNvCxnSpPr>
            <a:cxnSpLocks/>
          </p:cNvCxnSpPr>
          <p:nvPr/>
        </p:nvCxnSpPr>
        <p:spPr>
          <a:xfrm>
            <a:off x="2846145" y="1484864"/>
            <a:ext cx="0" cy="1224000"/>
          </a:xfrm>
          <a:prstGeom prst="line">
            <a:avLst/>
          </a:prstGeom>
          <a:ln>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16" name="מחבר ישר 15">
            <a:extLst>
              <a:ext uri="{FF2B5EF4-FFF2-40B4-BE49-F238E27FC236}">
                <a16:creationId xmlns:a16="http://schemas.microsoft.com/office/drawing/2014/main" id="{EDDED4AF-120A-634C-975A-800487E1A470}"/>
              </a:ext>
            </a:extLst>
          </p:cNvPr>
          <p:cNvCxnSpPr>
            <a:cxnSpLocks/>
          </p:cNvCxnSpPr>
          <p:nvPr/>
        </p:nvCxnSpPr>
        <p:spPr>
          <a:xfrm>
            <a:off x="2846145" y="3143388"/>
            <a:ext cx="0" cy="1440000"/>
          </a:xfrm>
          <a:prstGeom prst="line">
            <a:avLst/>
          </a:prstGeom>
          <a:ln>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17" name="מחבר ישר 16">
            <a:extLst>
              <a:ext uri="{FF2B5EF4-FFF2-40B4-BE49-F238E27FC236}">
                <a16:creationId xmlns:a16="http://schemas.microsoft.com/office/drawing/2014/main" id="{02F5A98B-E76E-3661-7C56-3E738B1F3F7B}"/>
              </a:ext>
            </a:extLst>
          </p:cNvPr>
          <p:cNvCxnSpPr>
            <a:cxnSpLocks/>
          </p:cNvCxnSpPr>
          <p:nvPr/>
        </p:nvCxnSpPr>
        <p:spPr>
          <a:xfrm>
            <a:off x="8248871" y="1502791"/>
            <a:ext cx="0" cy="1224000"/>
          </a:xfrm>
          <a:prstGeom prst="line">
            <a:avLst/>
          </a:prstGeom>
          <a:ln>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19" name="מחבר ישר 18">
            <a:extLst>
              <a:ext uri="{FF2B5EF4-FFF2-40B4-BE49-F238E27FC236}">
                <a16:creationId xmlns:a16="http://schemas.microsoft.com/office/drawing/2014/main" id="{54F65C55-48F6-CDC5-0871-11A18330CED7}"/>
              </a:ext>
            </a:extLst>
          </p:cNvPr>
          <p:cNvCxnSpPr>
            <a:cxnSpLocks/>
          </p:cNvCxnSpPr>
          <p:nvPr/>
        </p:nvCxnSpPr>
        <p:spPr>
          <a:xfrm>
            <a:off x="8248871" y="3161315"/>
            <a:ext cx="0" cy="1440000"/>
          </a:xfrm>
          <a:prstGeom prst="line">
            <a:avLst/>
          </a:prstGeom>
          <a:ln>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5186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extLst>
    <p:ext uri="{6950BFC3-D8DA-4A85-94F7-54DA5524770B}">
      <p188:commentRel xmlns:p188="http://schemas.microsoft.com/office/powerpoint/2018/8/main" r:id="rId2"/>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6366F7-03EE-B30B-D6F2-622AC597C2D6}"/>
            </a:ext>
          </a:extLst>
        </p:cNvPr>
        <p:cNvGrpSpPr/>
        <p:nvPr/>
      </p:nvGrpSpPr>
      <p:grpSpPr>
        <a:xfrm>
          <a:off x="0" y="0"/>
          <a:ext cx="0" cy="0"/>
          <a:chOff x="0" y="0"/>
          <a:chExt cx="0" cy="0"/>
        </a:xfrm>
      </p:grpSpPr>
      <p:grpSp>
        <p:nvGrpSpPr>
          <p:cNvPr id="13" name="קבוצה 12">
            <a:extLst>
              <a:ext uri="{FF2B5EF4-FFF2-40B4-BE49-F238E27FC236}">
                <a16:creationId xmlns:a16="http://schemas.microsoft.com/office/drawing/2014/main" id="{D575F442-460E-D217-88B4-C40F96D963AE}"/>
              </a:ext>
            </a:extLst>
          </p:cNvPr>
          <p:cNvGrpSpPr/>
          <p:nvPr/>
        </p:nvGrpSpPr>
        <p:grpSpPr>
          <a:xfrm>
            <a:off x="376522" y="802566"/>
            <a:ext cx="6269506" cy="3346706"/>
            <a:chOff x="376522" y="802566"/>
            <a:chExt cx="6269506" cy="3346706"/>
          </a:xfrm>
        </p:grpSpPr>
        <p:graphicFrame>
          <p:nvGraphicFramePr>
            <p:cNvPr id="5" name="אובייקט 3">
              <a:extLst>
                <a:ext uri="{FF2B5EF4-FFF2-40B4-BE49-F238E27FC236}">
                  <a16:creationId xmlns:a16="http://schemas.microsoft.com/office/drawing/2014/main" id="{07826FEA-36CE-F0D0-6CC1-828AA8E41C98}"/>
                </a:ext>
              </a:extLst>
            </p:cNvPr>
            <p:cNvGraphicFramePr>
              <a:graphicFrameLocks noChangeAspect="1"/>
            </p:cNvGraphicFramePr>
            <p:nvPr>
              <p:extLst>
                <p:ext uri="{D42A27DB-BD31-4B8C-83A1-F6EECF244321}">
                  <p14:modId xmlns:p14="http://schemas.microsoft.com/office/powerpoint/2010/main" val="1844438313"/>
                </p:ext>
              </p:extLst>
            </p:nvPr>
          </p:nvGraphicFramePr>
          <p:xfrm>
            <a:off x="376522" y="1426030"/>
            <a:ext cx="6269506" cy="2723242"/>
          </p:xfrm>
          <a:graphic>
            <a:graphicData uri="http://schemas.openxmlformats.org/drawingml/2006/chart">
              <c:chart xmlns:c="http://schemas.openxmlformats.org/drawingml/2006/chart" xmlns:r="http://schemas.openxmlformats.org/officeDocument/2006/relationships" r:id="rId2"/>
            </a:graphicData>
          </a:graphic>
        </p:graphicFrame>
        <p:sp>
          <p:nvSpPr>
            <p:cNvPr id="11" name="תיבת טקסט 10">
              <a:extLst>
                <a:ext uri="{FF2B5EF4-FFF2-40B4-BE49-F238E27FC236}">
                  <a16:creationId xmlns:a16="http://schemas.microsoft.com/office/drawing/2014/main" id="{B4B7AFDB-9A1E-0A45-102F-E4706598F56D}"/>
                </a:ext>
              </a:extLst>
            </p:cNvPr>
            <p:cNvSpPr txBox="1"/>
            <p:nvPr/>
          </p:nvSpPr>
          <p:spPr>
            <a:xfrm>
              <a:off x="1450724" y="802566"/>
              <a:ext cx="3241525" cy="684803"/>
            </a:xfrm>
            <a:prstGeom prst="rect">
              <a:avLst/>
            </a:prstGeom>
            <a:noFill/>
          </p:spPr>
          <p:txBody>
            <a:bodyPr wrap="square">
              <a:spAutoFit/>
            </a:bodyPr>
            <a:lstStyle/>
            <a:p>
              <a:pPr algn="ctr" rtl="1" fontAlgn="b"/>
              <a:r>
                <a:rPr lang="he-IL" sz="1400" b="1" u="none" strike="noStrike" dirty="0">
                  <a:effectLst/>
                  <a:latin typeface="Segoe UI" panose="020B0502040204020203" pitchFamily="34" charset="0"/>
                  <a:cs typeface="Segoe UI" panose="020B0502040204020203" pitchFamily="34" charset="0"/>
                </a:rPr>
                <a:t>מודעות לאפשרויות המרת הדו"ח באזהרה או לבקש </a:t>
              </a:r>
              <a:r>
                <a:rPr lang="he-IL" sz="1400" b="1" dirty="0">
                  <a:latin typeface="Segoe UI" panose="020B0502040204020203" pitchFamily="34" charset="0"/>
                  <a:cs typeface="Segoe UI" panose="020B0502040204020203" pitchFamily="34" charset="0"/>
                </a:rPr>
                <a:t>להישפט</a:t>
              </a:r>
              <a:br>
                <a:rPr lang="en-US" sz="1050" u="none" strike="noStrike">
                  <a:effectLst/>
                  <a:latin typeface="Segoe UI" panose="020B0502040204020203" pitchFamily="34" charset="0"/>
                  <a:cs typeface="Segoe UI" panose="020B0502040204020203" pitchFamily="34" charset="0"/>
                </a:rPr>
              </a:br>
              <a:r>
                <a:rPr lang="he-IL" sz="1050" u="none" strike="noStrike">
                  <a:effectLst/>
                  <a:latin typeface="Segoe UI" panose="020B0502040204020203" pitchFamily="34" charset="0"/>
                  <a:cs typeface="Segoe UI" panose="020B0502040204020203" pitchFamily="34" charset="0"/>
                </a:rPr>
                <a:t>(לא </a:t>
              </a:r>
              <a:r>
                <a:rPr lang="he-IL" sz="1050" u="none" strike="noStrike" dirty="0">
                  <a:effectLst/>
                  <a:latin typeface="Segoe UI" panose="020B0502040204020203" pitchFamily="34" charset="0"/>
                  <a:cs typeface="Segoe UI" panose="020B0502040204020203" pitchFamily="34" charset="0"/>
                </a:rPr>
                <a:t>ביקשו להישפט)</a:t>
              </a:r>
              <a:endParaRPr lang="he-IL" sz="1400" i="0" u="none" strike="noStrike" dirty="0">
                <a:solidFill>
                  <a:srgbClr val="000000"/>
                </a:solidFill>
                <a:effectLst/>
                <a:latin typeface="Segoe UI" panose="020B0502040204020203" pitchFamily="34" charset="0"/>
                <a:cs typeface="Segoe UI" panose="020B0502040204020203" pitchFamily="34" charset="0"/>
              </a:endParaRPr>
            </a:p>
          </p:txBody>
        </p:sp>
        <p:sp>
          <p:nvSpPr>
            <p:cNvPr id="6" name="תיבת טקסט 5">
              <a:extLst>
                <a:ext uri="{FF2B5EF4-FFF2-40B4-BE49-F238E27FC236}">
                  <a16:creationId xmlns:a16="http://schemas.microsoft.com/office/drawing/2014/main" id="{F54625DF-0ACD-FC06-84CA-5EAB996207F3}"/>
                </a:ext>
              </a:extLst>
            </p:cNvPr>
            <p:cNvSpPr txBox="1"/>
            <p:nvPr/>
          </p:nvSpPr>
          <p:spPr>
            <a:xfrm>
              <a:off x="471146" y="2536600"/>
              <a:ext cx="726808" cy="369332"/>
            </a:xfrm>
            <a:prstGeom prst="rect">
              <a:avLst/>
            </a:prstGeom>
            <a:noFill/>
          </p:spPr>
          <p:txBody>
            <a:bodyPr wrap="square">
              <a:spAutoFit/>
            </a:bodyPr>
            <a:lstStyle/>
            <a:p>
              <a:pPr algn="r" rtl="1" fontAlgn="ctr"/>
              <a:r>
                <a:rPr lang="he-IL" b="1" i="1" dirty="0">
                  <a:solidFill>
                    <a:srgbClr val="156938"/>
                  </a:solidFill>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t>63</a:t>
              </a:r>
              <a:r>
                <a:rPr lang="he-IL" b="1" i="1" u="none" strike="noStrike" dirty="0">
                  <a:solidFill>
                    <a:srgbClr val="156938"/>
                  </a:solidFill>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t>%</a:t>
              </a:r>
            </a:p>
          </p:txBody>
        </p:sp>
        <p:sp>
          <p:nvSpPr>
            <p:cNvPr id="10" name="תיבת טקסט 9">
              <a:extLst>
                <a:ext uri="{FF2B5EF4-FFF2-40B4-BE49-F238E27FC236}">
                  <a16:creationId xmlns:a16="http://schemas.microsoft.com/office/drawing/2014/main" id="{F3315547-F5F5-C3FB-5138-BBB35F2B5077}"/>
                </a:ext>
              </a:extLst>
            </p:cNvPr>
            <p:cNvSpPr txBox="1"/>
            <p:nvPr/>
          </p:nvSpPr>
          <p:spPr>
            <a:xfrm>
              <a:off x="2978770" y="2536600"/>
              <a:ext cx="726808" cy="369332"/>
            </a:xfrm>
            <a:prstGeom prst="rect">
              <a:avLst/>
            </a:prstGeom>
            <a:noFill/>
          </p:spPr>
          <p:txBody>
            <a:bodyPr wrap="square">
              <a:spAutoFit/>
            </a:bodyPr>
            <a:lstStyle/>
            <a:p>
              <a:pPr algn="r" rtl="1" fontAlgn="ctr"/>
              <a:r>
                <a:rPr lang="he-IL" b="1" i="1" dirty="0">
                  <a:solidFill>
                    <a:srgbClr val="156938"/>
                  </a:solidFill>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t>62</a:t>
              </a:r>
              <a:r>
                <a:rPr lang="he-IL" b="1" i="1" u="none" strike="noStrike" dirty="0">
                  <a:solidFill>
                    <a:srgbClr val="156938"/>
                  </a:solidFill>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t>%</a:t>
              </a:r>
            </a:p>
          </p:txBody>
        </p:sp>
      </p:grpSp>
      <p:sp>
        <p:nvSpPr>
          <p:cNvPr id="15" name="Slide Number Placeholder 1">
            <a:extLst>
              <a:ext uri="{FF2B5EF4-FFF2-40B4-BE49-F238E27FC236}">
                <a16:creationId xmlns:a16="http://schemas.microsoft.com/office/drawing/2014/main" id="{1EB511D7-7B49-3C2A-9E4F-23B4B9B3C6BC}"/>
              </a:ext>
            </a:extLst>
          </p:cNvPr>
          <p:cNvSpPr txBox="1">
            <a:spLocks/>
          </p:cNvSpPr>
          <p:nvPr/>
        </p:nvSpPr>
        <p:spPr>
          <a:xfrm>
            <a:off x="11541989" y="6473956"/>
            <a:ext cx="540000" cy="360000"/>
          </a:xfrm>
          <a:prstGeom prst="rect">
            <a:avLst/>
          </a:prstGeom>
          <a:noFill/>
          <a:ln w="12700" cap="flat" cmpd="sng" algn="ctr">
            <a:noFill/>
            <a:prstDash val="solid"/>
            <a:miter lim="800000"/>
          </a:ln>
          <a:effectLst/>
        </p:spPr>
        <p:txBody>
          <a:bodyPr rot="0" spcFirstLastPara="0" vertOverflow="overflow" horzOverflow="overflow" vert="horz" wrap="square" lIns="91440" tIns="45720" rIns="91440" bIns="45720" numCol="1" spcCol="0" rtlCol="1" fromWordArt="0" anchor="ctr" anchorCtr="0" forceAA="0" compatLnSpc="1">
            <a:prstTxWarp prst="textNoShape">
              <a:avLst/>
            </a:prstTxWarp>
            <a:noAutofit/>
          </a:bodyPr>
          <a:lstStyle>
            <a:defPPr>
              <a:defRPr lang="he-IL"/>
            </a:defPPr>
            <a:lvl1pPr marL="0" algn="l" defTabSz="914400" rtl="0" eaLnBrk="1" latinLnBrk="0" hangingPunct="1">
              <a:defRPr lang="he-IL" sz="1100" kern="1200" smtClean="0">
                <a:solidFill>
                  <a:schemeClr val="bg1">
                    <a:lumMod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r" rtl="1">
              <a:defRPr/>
            </a:pPr>
            <a:fld id="{7A91BF3F-E284-4570-AC28-CDAE2F1A1EA1}" type="slidenum">
              <a:rPr lang="he-IL" smtClean="0">
                <a:solidFill>
                  <a:prstClr val="white">
                    <a:lumMod val="75000"/>
                  </a:prstClr>
                </a:solidFill>
              </a:rPr>
              <a:pPr algn="r" rtl="1">
                <a:defRPr/>
              </a:pPr>
              <a:t>18</a:t>
            </a:fld>
            <a:endParaRPr lang="he-IL" dirty="0">
              <a:solidFill>
                <a:prstClr val="white">
                  <a:lumMod val="75000"/>
                </a:prstClr>
              </a:solidFill>
            </a:endParaRPr>
          </a:p>
        </p:txBody>
      </p:sp>
      <p:cxnSp>
        <p:nvCxnSpPr>
          <p:cNvPr id="2" name="Straight Connector 6">
            <a:extLst>
              <a:ext uri="{FF2B5EF4-FFF2-40B4-BE49-F238E27FC236}">
                <a16:creationId xmlns:a16="http://schemas.microsoft.com/office/drawing/2014/main" id="{3A51F2E2-9220-8DA7-A506-53C448AC601C}"/>
              </a:ext>
            </a:extLst>
          </p:cNvPr>
          <p:cNvCxnSpPr>
            <a:cxnSpLocks/>
          </p:cNvCxnSpPr>
          <p:nvPr/>
        </p:nvCxnSpPr>
        <p:spPr>
          <a:xfrm rot="16200000" flipV="1">
            <a:off x="6096000" y="-1152611"/>
            <a:ext cx="0" cy="10800000"/>
          </a:xfrm>
          <a:prstGeom prst="line">
            <a:avLst/>
          </a:prstGeom>
          <a:ln w="25400" cap="rnd">
            <a:solidFill>
              <a:schemeClr val="bg1">
                <a:lumMod val="85000"/>
              </a:schemeClr>
            </a:solidFill>
            <a:round/>
          </a:ln>
        </p:spPr>
        <p:style>
          <a:lnRef idx="1">
            <a:schemeClr val="accent1"/>
          </a:lnRef>
          <a:fillRef idx="0">
            <a:schemeClr val="accent1"/>
          </a:fillRef>
          <a:effectRef idx="0">
            <a:schemeClr val="accent1"/>
          </a:effectRef>
          <a:fontRef idx="minor">
            <a:schemeClr val="tx1"/>
          </a:fontRef>
        </p:style>
      </p:cxnSp>
      <p:sp>
        <p:nvSpPr>
          <p:cNvPr id="3" name="Rectangle 6">
            <a:extLst>
              <a:ext uri="{FF2B5EF4-FFF2-40B4-BE49-F238E27FC236}">
                <a16:creationId xmlns:a16="http://schemas.microsoft.com/office/drawing/2014/main" id="{97E89913-6805-38C9-2FC6-0540607DB8FF}"/>
              </a:ext>
            </a:extLst>
          </p:cNvPr>
          <p:cNvSpPr/>
          <p:nvPr/>
        </p:nvSpPr>
        <p:spPr>
          <a:xfrm>
            <a:off x="471146" y="4570193"/>
            <a:ext cx="11517234" cy="1440000"/>
          </a:xfrm>
          <a:prstGeom prst="rect">
            <a:avLst/>
          </a:prstGeom>
        </p:spPr>
        <p:txBody>
          <a:bodyPr wrap="square" anchor="ctr">
            <a:noAutofit/>
          </a:bodyPr>
          <a:lstStyle/>
          <a:p>
            <a:pPr algn="ctr" rtl="1">
              <a:lnSpc>
                <a:spcPct val="150000"/>
              </a:lnSpc>
            </a:pPr>
            <a:r>
              <a:rPr lang="he-IL" sz="1600" b="1" dirty="0">
                <a:latin typeface="Segoe UI" panose="020B0502040204020203" pitchFamily="34" charset="0"/>
                <a:cs typeface="Segoe UI" panose="020B0502040204020203" pitchFamily="34" charset="0"/>
              </a:rPr>
              <a:t>חוסר ידע בולט לגבי החלופות הקיימות להתמודדות עם הדוחות -&gt; הרבה החלטות מתקבלות בלי מודעות מלאה לאפשרויות</a:t>
            </a:r>
            <a:r>
              <a:rPr lang="en-US" sz="1600" b="1" dirty="0">
                <a:latin typeface="Segoe UI" panose="020B0502040204020203" pitchFamily="34" charset="0"/>
                <a:cs typeface="Segoe UI" panose="020B0502040204020203" pitchFamily="34" charset="0"/>
              </a:rPr>
              <a:t>.</a:t>
            </a:r>
            <a:r>
              <a:rPr lang="he-IL" sz="1600" b="1" dirty="0">
                <a:latin typeface="Segoe UI" panose="020B0502040204020203" pitchFamily="34" charset="0"/>
                <a:cs typeface="Segoe UI" panose="020B0502040204020203" pitchFamily="34" charset="0"/>
              </a:rPr>
              <a:t>...</a:t>
            </a:r>
          </a:p>
          <a:p>
            <a:pPr algn="ctr" rtl="1">
              <a:lnSpc>
                <a:spcPct val="150000"/>
              </a:lnSpc>
            </a:pPr>
            <a:r>
              <a:rPr lang="he-IL" sz="1600" dirty="0">
                <a:latin typeface="Segoe UI" panose="020B0502040204020203" pitchFamily="34" charset="0"/>
                <a:cs typeface="Segoe UI" panose="020B0502040204020203" pitchFamily="34" charset="0"/>
              </a:rPr>
              <a:t>כשליש ממי שלא ביקש להישפט לא ידעו כלל על האפשרות להמרה/בקשה להישפט,</a:t>
            </a:r>
          </a:p>
          <a:p>
            <a:pPr algn="ctr" rtl="1">
              <a:lnSpc>
                <a:spcPct val="150000"/>
              </a:lnSpc>
            </a:pPr>
            <a:r>
              <a:rPr lang="he-IL" sz="1600" dirty="0">
                <a:latin typeface="Segoe UI" panose="020B0502040204020203" pitchFamily="34" charset="0"/>
                <a:cs typeface="Segoe UI" panose="020B0502040204020203" pitchFamily="34" charset="0"/>
              </a:rPr>
              <a:t> ומעל למחצית ממי שביקשו להישפט לא ידעו שאפשר לבקש המרה לאזהרה</a:t>
            </a:r>
            <a:r>
              <a:rPr lang="en-US" sz="1600" dirty="0">
                <a:latin typeface="Segoe UI" panose="020B0502040204020203" pitchFamily="34" charset="0"/>
                <a:cs typeface="Segoe UI" panose="020B0502040204020203" pitchFamily="34" charset="0"/>
              </a:rPr>
              <a:t>.</a:t>
            </a:r>
          </a:p>
          <a:p>
            <a:pPr algn="ctr" rtl="1">
              <a:lnSpc>
                <a:spcPct val="150000"/>
              </a:lnSpc>
            </a:pPr>
            <a:r>
              <a:rPr lang="en-US" sz="1600" b="1" dirty="0">
                <a:solidFill>
                  <a:srgbClr val="1D1C64"/>
                </a:solidFill>
                <a:latin typeface="Segoe UI" panose="020B0502040204020203" pitchFamily="34" charset="0"/>
                <a:cs typeface="Segoe UI" panose="020B0502040204020203" pitchFamily="34" charset="0"/>
              </a:rPr>
              <a:t> </a:t>
            </a:r>
            <a:r>
              <a:rPr lang="he-IL" sz="1600" b="1" dirty="0">
                <a:solidFill>
                  <a:srgbClr val="1D1C64"/>
                </a:solidFill>
                <a:latin typeface="Segoe UI" panose="020B0502040204020203" pitchFamily="34" charset="0"/>
                <a:cs typeface="Segoe UI" panose="020B0502040204020203" pitchFamily="34" charset="0"/>
              </a:rPr>
              <a:t>חשוב להבליט, לפשט ולהסביר למקבלי הדוחות על החלופות הקיימות באמצעות "מסך חובה" בתהליך הדיגיטלי לפני שהאזרח מגיש בקשה כלשהי -&gt; "חובת גילוי חלופות" כבסיס לתהליך הוגן</a:t>
            </a:r>
            <a:br>
              <a:rPr lang="en-US" sz="1600" b="1" dirty="0">
                <a:solidFill>
                  <a:srgbClr val="1D1C64"/>
                </a:solidFill>
                <a:latin typeface="Segoe UI" panose="020B0502040204020203" pitchFamily="34" charset="0"/>
                <a:cs typeface="Segoe UI" panose="020B0502040204020203" pitchFamily="34" charset="0"/>
              </a:rPr>
            </a:br>
            <a:r>
              <a:rPr lang="he-IL" sz="1600" b="1" dirty="0">
                <a:solidFill>
                  <a:srgbClr val="1D1C64"/>
                </a:solidFill>
                <a:latin typeface="Segoe UI" panose="020B0502040204020203" pitchFamily="34" charset="0"/>
                <a:cs typeface="Segoe UI" panose="020B0502040204020203" pitchFamily="34" charset="0"/>
              </a:rPr>
              <a:t>+ שילוב כפתור "בדיקת זכאות להמרת דוח באזהרה" לבולט ונגיש במסך הראשי של התהליך.</a:t>
            </a:r>
            <a:endParaRPr lang="en-US" sz="1600" b="1" dirty="0">
              <a:solidFill>
                <a:srgbClr val="1D1C64"/>
              </a:solidFill>
              <a:latin typeface="Segoe UI" panose="020B0502040204020203" pitchFamily="34" charset="0"/>
              <a:cs typeface="Segoe UI" panose="020B0502040204020203" pitchFamily="34" charset="0"/>
            </a:endParaRPr>
          </a:p>
        </p:txBody>
      </p:sp>
      <p:sp>
        <p:nvSpPr>
          <p:cNvPr id="4" name="Rectangle 3">
            <a:extLst>
              <a:ext uri="{FF2B5EF4-FFF2-40B4-BE49-F238E27FC236}">
                <a16:creationId xmlns:a16="http://schemas.microsoft.com/office/drawing/2014/main" id="{51A948A3-F988-45C8-EE52-20E5AB48FDB7}"/>
              </a:ext>
            </a:extLst>
          </p:cNvPr>
          <p:cNvSpPr/>
          <p:nvPr/>
        </p:nvSpPr>
        <p:spPr>
          <a:xfrm>
            <a:off x="1320802" y="191076"/>
            <a:ext cx="10614278" cy="5075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t"/>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0" cap="none" spc="0" normalizeH="0" baseline="0" noProof="0" dirty="0">
                <a:ln>
                  <a:noFill/>
                </a:ln>
                <a:solidFill>
                  <a:srgbClr val="104E88"/>
                </a:solidFill>
                <a:effectLst/>
                <a:uLnTx/>
                <a:uFillTx/>
                <a:latin typeface="Segoe UI" panose="020B0502040204020203" pitchFamily="34" charset="0"/>
                <a:cs typeface="Segoe UI" panose="020B0502040204020203" pitchFamily="34" charset="0"/>
                <a:sym typeface="Arial"/>
              </a:rPr>
              <a:t>מודעות להמרת הדוח</a:t>
            </a:r>
          </a:p>
        </p:txBody>
      </p:sp>
      <p:sp>
        <p:nvSpPr>
          <p:cNvPr id="8" name="Rectangle 28">
            <a:extLst>
              <a:ext uri="{FF2B5EF4-FFF2-40B4-BE49-F238E27FC236}">
                <a16:creationId xmlns:a16="http://schemas.microsoft.com/office/drawing/2014/main" id="{0085144D-F4C3-5036-92B8-F558D2E9BCFC}"/>
              </a:ext>
            </a:extLst>
          </p:cNvPr>
          <p:cNvSpPr/>
          <p:nvPr/>
        </p:nvSpPr>
        <p:spPr>
          <a:xfrm>
            <a:off x="2796634" y="6473005"/>
            <a:ext cx="9000000" cy="360000"/>
          </a:xfrm>
          <a:prstGeom prst="rect">
            <a:avLst/>
          </a:prstGeom>
          <a:noFill/>
          <a:ln>
            <a:noFill/>
          </a:ln>
        </p:spPr>
        <p:txBody>
          <a:bodyPr rot="0" spcFirstLastPara="0" vertOverflow="overflow" horzOverflow="overflow" vert="horz" wrap="square" lIns="91440" tIns="45720" rIns="91440" bIns="45720" numCol="1" spcCol="0" rtlCol="1" fromWordArt="0" anchor="ctr" anchorCtr="0" forceAA="0" compatLnSpc="1">
            <a:prstTxWarp prst="textNoShape">
              <a:avLst/>
            </a:prstTxWarp>
            <a:noAutofit/>
          </a:bodyPr>
          <a:lstStyle/>
          <a:p>
            <a:pPr lvl="0" algn="r" rtl="1">
              <a:defRPr/>
            </a:pPr>
            <a:r>
              <a:rPr lang="he-IL" sz="1000" dirty="0">
                <a:solidFill>
                  <a:prstClr val="white">
                    <a:lumMod val="65000"/>
                  </a:prstClr>
                </a:solidFill>
                <a:latin typeface="Segoe UI" panose="020B0502040204020203" pitchFamily="34" charset="0"/>
                <a:cs typeface="Segoe UI" panose="020B0502040204020203" pitchFamily="34" charset="0"/>
              </a:rPr>
              <a:t>"האם ידעת שהיה באפשרותך לבקש להמיר את הדו"ח באזהרה או לבקש להישפט?"</a:t>
            </a:r>
          </a:p>
          <a:p>
            <a:pPr lvl="0" algn="r" rtl="1">
              <a:defRPr/>
            </a:pPr>
            <a:r>
              <a:rPr lang="he-IL" sz="1000" dirty="0">
                <a:solidFill>
                  <a:prstClr val="white">
                    <a:lumMod val="65000"/>
                  </a:prstClr>
                </a:solidFill>
                <a:latin typeface="Segoe UI" panose="020B0502040204020203" pitchFamily="34" charset="0"/>
                <a:cs typeface="Segoe UI" panose="020B0502040204020203" pitchFamily="34" charset="0"/>
              </a:rPr>
              <a:t>"האם ידעת שהיה באפשרותך לבקש להמיר את הדו"ח באזהרה ולא להישפט?"</a:t>
            </a:r>
          </a:p>
        </p:txBody>
      </p:sp>
      <p:grpSp>
        <p:nvGrpSpPr>
          <p:cNvPr id="16" name="קבוצה 15">
            <a:extLst>
              <a:ext uri="{FF2B5EF4-FFF2-40B4-BE49-F238E27FC236}">
                <a16:creationId xmlns:a16="http://schemas.microsoft.com/office/drawing/2014/main" id="{FD02D68A-5096-7E24-AC38-81403A595CC0}"/>
              </a:ext>
            </a:extLst>
          </p:cNvPr>
          <p:cNvGrpSpPr/>
          <p:nvPr/>
        </p:nvGrpSpPr>
        <p:grpSpPr>
          <a:xfrm>
            <a:off x="6656147" y="802566"/>
            <a:ext cx="5425842" cy="3346706"/>
            <a:chOff x="6656147" y="802566"/>
            <a:chExt cx="5425842" cy="3346706"/>
          </a:xfrm>
        </p:grpSpPr>
        <p:graphicFrame>
          <p:nvGraphicFramePr>
            <p:cNvPr id="7" name="אובייקט 3">
              <a:extLst>
                <a:ext uri="{FF2B5EF4-FFF2-40B4-BE49-F238E27FC236}">
                  <a16:creationId xmlns:a16="http://schemas.microsoft.com/office/drawing/2014/main" id="{96DF5B0B-50F2-8527-133A-BFD387A2F5D6}"/>
                </a:ext>
              </a:extLst>
            </p:cNvPr>
            <p:cNvGraphicFramePr>
              <a:graphicFrameLocks noChangeAspect="1"/>
            </p:cNvGraphicFramePr>
            <p:nvPr>
              <p:extLst>
                <p:ext uri="{D42A27DB-BD31-4B8C-83A1-F6EECF244321}">
                  <p14:modId xmlns:p14="http://schemas.microsoft.com/office/powerpoint/2010/main" val="1991439335"/>
                </p:ext>
              </p:extLst>
            </p:nvPr>
          </p:nvGraphicFramePr>
          <p:xfrm>
            <a:off x="6715484" y="1426030"/>
            <a:ext cx="5366505" cy="2723242"/>
          </p:xfrm>
          <a:graphic>
            <a:graphicData uri="http://schemas.openxmlformats.org/drawingml/2006/chart">
              <c:chart xmlns:c="http://schemas.openxmlformats.org/drawingml/2006/chart" xmlns:r="http://schemas.openxmlformats.org/officeDocument/2006/relationships" r:id="rId3"/>
            </a:graphicData>
          </a:graphic>
        </p:graphicFrame>
        <p:cxnSp>
          <p:nvCxnSpPr>
            <p:cNvPr id="9" name="מחבר ישר 8">
              <a:extLst>
                <a:ext uri="{FF2B5EF4-FFF2-40B4-BE49-F238E27FC236}">
                  <a16:creationId xmlns:a16="http://schemas.microsoft.com/office/drawing/2014/main" id="{C4D75696-4E09-1E24-210C-493FBA09D9BF}"/>
                </a:ext>
              </a:extLst>
            </p:cNvPr>
            <p:cNvCxnSpPr>
              <a:cxnSpLocks/>
            </p:cNvCxnSpPr>
            <p:nvPr/>
          </p:nvCxnSpPr>
          <p:spPr>
            <a:xfrm>
              <a:off x="6656147" y="860881"/>
              <a:ext cx="0" cy="3240000"/>
            </a:xfrm>
            <a:prstGeom prst="line">
              <a:avLst/>
            </a:prstGeom>
            <a:ln>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14" name="תיבת טקסט 13">
              <a:extLst>
                <a:ext uri="{FF2B5EF4-FFF2-40B4-BE49-F238E27FC236}">
                  <a16:creationId xmlns:a16="http://schemas.microsoft.com/office/drawing/2014/main" id="{072BE7F4-5B9D-5A73-E00D-DDE875C0FA6C}"/>
                </a:ext>
              </a:extLst>
            </p:cNvPr>
            <p:cNvSpPr txBox="1"/>
            <p:nvPr/>
          </p:nvSpPr>
          <p:spPr>
            <a:xfrm>
              <a:off x="7625233" y="802566"/>
              <a:ext cx="3241525" cy="684803"/>
            </a:xfrm>
            <a:prstGeom prst="rect">
              <a:avLst/>
            </a:prstGeom>
            <a:noFill/>
          </p:spPr>
          <p:txBody>
            <a:bodyPr wrap="square">
              <a:spAutoFit/>
            </a:bodyPr>
            <a:lstStyle/>
            <a:p>
              <a:pPr algn="ctr" rtl="1" fontAlgn="b"/>
              <a:r>
                <a:rPr lang="he-IL" sz="1400" b="1" u="none" strike="noStrike" dirty="0">
                  <a:effectLst/>
                  <a:latin typeface="Segoe UI" panose="020B0502040204020203" pitchFamily="34" charset="0"/>
                  <a:cs typeface="Segoe UI" panose="020B0502040204020203" pitchFamily="34" charset="0"/>
                </a:rPr>
                <a:t>מודעות לאפשרויות המרת הדו"ח באזהרה ולא </a:t>
              </a:r>
              <a:r>
                <a:rPr lang="he-IL" sz="1400" b="1" dirty="0">
                  <a:latin typeface="Segoe UI" panose="020B0502040204020203" pitchFamily="34" charset="0"/>
                  <a:cs typeface="Segoe UI" panose="020B0502040204020203" pitchFamily="34" charset="0"/>
                </a:rPr>
                <a:t>להישפט</a:t>
              </a:r>
              <a:br>
                <a:rPr lang="en-US" sz="1050" u="none" strike="noStrike">
                  <a:effectLst/>
                  <a:latin typeface="Segoe UI" panose="020B0502040204020203" pitchFamily="34" charset="0"/>
                  <a:cs typeface="Segoe UI" panose="020B0502040204020203" pitchFamily="34" charset="0"/>
                </a:rPr>
              </a:br>
              <a:r>
                <a:rPr lang="he-IL" sz="1050" u="none" strike="noStrike">
                  <a:effectLst/>
                  <a:latin typeface="Segoe UI" panose="020B0502040204020203" pitchFamily="34" charset="0"/>
                  <a:cs typeface="Segoe UI" panose="020B0502040204020203" pitchFamily="34" charset="0"/>
                </a:rPr>
                <a:t>(ביקשו </a:t>
              </a:r>
              <a:r>
                <a:rPr lang="he-IL" sz="1050" u="none" strike="noStrike" dirty="0">
                  <a:effectLst/>
                  <a:latin typeface="Segoe UI" panose="020B0502040204020203" pitchFamily="34" charset="0"/>
                  <a:cs typeface="Segoe UI" panose="020B0502040204020203" pitchFamily="34" charset="0"/>
                </a:rPr>
                <a:t>להישפט)</a:t>
              </a:r>
              <a:endParaRPr lang="he-IL" sz="1400" i="0" u="none" strike="noStrike" dirty="0">
                <a:solidFill>
                  <a:srgbClr val="000000"/>
                </a:solidFill>
                <a:effectLst/>
                <a:latin typeface="Segoe UI" panose="020B0502040204020203" pitchFamily="34" charset="0"/>
                <a:cs typeface="Segoe UI" panose="020B0502040204020203" pitchFamily="34" charset="0"/>
              </a:endParaRPr>
            </a:p>
          </p:txBody>
        </p:sp>
      </p:grpSp>
      <p:sp>
        <p:nvSpPr>
          <p:cNvPr id="12" name="Rectangle: Rounded Corners 54">
            <a:hlinkClick r:id="" action="ppaction://noaction"/>
            <a:extLst>
              <a:ext uri="{FF2B5EF4-FFF2-40B4-BE49-F238E27FC236}">
                <a16:creationId xmlns:a16="http://schemas.microsoft.com/office/drawing/2014/main" id="{01D23E3D-0A74-6B4B-5880-ECA258C15636}"/>
              </a:ext>
            </a:extLst>
          </p:cNvPr>
          <p:cNvSpPr/>
          <p:nvPr/>
        </p:nvSpPr>
        <p:spPr>
          <a:xfrm>
            <a:off x="1418590" y="6568993"/>
            <a:ext cx="900000" cy="144000"/>
          </a:xfrm>
          <a:prstGeom prst="roundRect">
            <a:avLst>
              <a:gd name="adj" fmla="val 50000"/>
            </a:avLst>
          </a:prstGeom>
          <a:solidFill>
            <a:schemeClr val="bg1"/>
          </a:solidFill>
          <a:ln w="12700">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r" defTabSz="914400" rtl="1" eaLnBrk="1" latinLnBrk="0" hangingPunct="1">
              <a:defRPr sz="1800" kern="1200">
                <a:solidFill>
                  <a:schemeClr val="lt1"/>
                </a:solidFill>
                <a:latin typeface="+mn-lt"/>
                <a:ea typeface="+mn-ea"/>
                <a:cs typeface="+mn-cs"/>
              </a:defRPr>
            </a:lvl1pPr>
            <a:lvl2pPr marL="457200" algn="r" defTabSz="914400" rtl="1" eaLnBrk="1" latinLnBrk="0" hangingPunct="1">
              <a:defRPr sz="1800" kern="1200">
                <a:solidFill>
                  <a:schemeClr val="lt1"/>
                </a:solidFill>
                <a:latin typeface="+mn-lt"/>
                <a:ea typeface="+mn-ea"/>
                <a:cs typeface="+mn-cs"/>
              </a:defRPr>
            </a:lvl2pPr>
            <a:lvl3pPr marL="914400" algn="r" defTabSz="914400" rtl="1" eaLnBrk="1" latinLnBrk="0" hangingPunct="1">
              <a:defRPr sz="1800" kern="1200">
                <a:solidFill>
                  <a:schemeClr val="lt1"/>
                </a:solidFill>
                <a:latin typeface="+mn-lt"/>
                <a:ea typeface="+mn-ea"/>
                <a:cs typeface="+mn-cs"/>
              </a:defRPr>
            </a:lvl3pPr>
            <a:lvl4pPr marL="1371600" algn="r" defTabSz="914400" rtl="1" eaLnBrk="1" latinLnBrk="0" hangingPunct="1">
              <a:defRPr sz="1800" kern="1200">
                <a:solidFill>
                  <a:schemeClr val="lt1"/>
                </a:solidFill>
                <a:latin typeface="+mn-lt"/>
                <a:ea typeface="+mn-ea"/>
                <a:cs typeface="+mn-cs"/>
              </a:defRPr>
            </a:lvl4pPr>
            <a:lvl5pPr marL="1828800" algn="r" defTabSz="914400" rtl="1" eaLnBrk="1" latinLnBrk="0" hangingPunct="1">
              <a:defRPr sz="1800" kern="1200">
                <a:solidFill>
                  <a:schemeClr val="lt1"/>
                </a:solidFill>
                <a:latin typeface="+mn-lt"/>
                <a:ea typeface="+mn-ea"/>
                <a:cs typeface="+mn-cs"/>
              </a:defRPr>
            </a:lvl5pPr>
            <a:lvl6pPr marL="2286000" algn="r" defTabSz="914400" rtl="1" eaLnBrk="1" latinLnBrk="0" hangingPunct="1">
              <a:defRPr sz="1800" kern="1200">
                <a:solidFill>
                  <a:schemeClr val="lt1"/>
                </a:solidFill>
                <a:latin typeface="+mn-lt"/>
                <a:ea typeface="+mn-ea"/>
                <a:cs typeface="+mn-cs"/>
              </a:defRPr>
            </a:lvl6pPr>
            <a:lvl7pPr marL="2743200" algn="r" defTabSz="914400" rtl="1" eaLnBrk="1" latinLnBrk="0" hangingPunct="1">
              <a:defRPr sz="1800" kern="1200">
                <a:solidFill>
                  <a:schemeClr val="lt1"/>
                </a:solidFill>
                <a:latin typeface="+mn-lt"/>
                <a:ea typeface="+mn-ea"/>
                <a:cs typeface="+mn-cs"/>
              </a:defRPr>
            </a:lvl7pPr>
            <a:lvl8pPr marL="3200400" algn="r" defTabSz="914400" rtl="1" eaLnBrk="1" latinLnBrk="0" hangingPunct="1">
              <a:defRPr sz="1800" kern="1200">
                <a:solidFill>
                  <a:schemeClr val="lt1"/>
                </a:solidFill>
                <a:latin typeface="+mn-lt"/>
                <a:ea typeface="+mn-ea"/>
                <a:cs typeface="+mn-cs"/>
              </a:defRPr>
            </a:lvl8pPr>
            <a:lvl9pPr marL="3657600" algn="r" defTabSz="914400" rtl="1" eaLnBrk="1" latinLnBrk="0" hangingPunct="1">
              <a:defRPr sz="1800" kern="1200">
                <a:solidFill>
                  <a:schemeClr val="lt1"/>
                </a:solidFill>
                <a:latin typeface="+mn-lt"/>
                <a:ea typeface="+mn-ea"/>
                <a:cs typeface="+mn-cs"/>
              </a:defRPr>
            </a:lvl9pPr>
          </a:lstStyle>
          <a:p>
            <a:pPr marL="0" marR="0" lvl="0" indent="0" algn="ctr" defTabSz="914400" rtl="1" eaLnBrk="1" fontAlgn="base" latinLnBrk="0" hangingPunct="1">
              <a:lnSpc>
                <a:spcPct val="100000"/>
              </a:lnSpc>
              <a:spcBef>
                <a:spcPct val="0"/>
              </a:spcBef>
              <a:spcAft>
                <a:spcPct val="0"/>
              </a:spcAft>
              <a:buClrTx/>
              <a:buSzTx/>
              <a:buFontTx/>
              <a:buNone/>
              <a:tabLst/>
              <a:defRPr/>
            </a:pPr>
            <a:r>
              <a:rPr kumimoji="0" lang="he-IL" sz="1100" b="0" i="0" u="none" strike="noStrike" kern="1200" cap="none" spc="0" normalizeH="0" baseline="0" noProof="0" dirty="0">
                <a:ln>
                  <a:noFill/>
                </a:ln>
                <a:solidFill>
                  <a:schemeClr val="bg1">
                    <a:lumMod val="65000"/>
                  </a:schemeClr>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סגמנטציה</a:t>
            </a:r>
            <a:endParaRPr kumimoji="0" lang="en-IL" sz="1100" b="0" i="0" u="none" strike="noStrike" kern="1200" cap="none" spc="0" normalizeH="0" baseline="0" noProof="0" dirty="0">
              <a:ln>
                <a:noFill/>
              </a:ln>
              <a:solidFill>
                <a:schemeClr val="bg1">
                  <a:lumMod val="65000"/>
                </a:schemeClr>
              </a:solidFill>
              <a:effectLst/>
              <a:uLnTx/>
              <a:uFillTx/>
              <a:latin typeface="Segoe UI" panose="020B0502040204020203" pitchFamily="34" charset="0"/>
              <a:ea typeface="+mn-ea"/>
              <a:cs typeface="Segoe UI" panose="020B0502040204020203" pitchFamily="34" charset="0"/>
            </a:endParaRPr>
          </a:p>
        </p:txBody>
      </p:sp>
    </p:spTree>
    <p:extLst>
      <p:ext uri="{BB962C8B-B14F-4D97-AF65-F5344CB8AC3E}">
        <p14:creationId xmlns:p14="http://schemas.microsoft.com/office/powerpoint/2010/main" val="59660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fade">
                                      <p:cBhvr>
                                        <p:cTn id="18"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Effect transition="in" filter="fade">
                                      <p:cBhvr>
                                        <p:cTn id="23"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5018974-C3F8-616A-062B-E9B36406DC3C}"/>
            </a:ext>
          </a:extLst>
        </p:cNvPr>
        <p:cNvGrpSpPr/>
        <p:nvPr/>
      </p:nvGrpSpPr>
      <p:grpSpPr>
        <a:xfrm>
          <a:off x="0" y="0"/>
          <a:ext cx="0" cy="0"/>
          <a:chOff x="0" y="0"/>
          <a:chExt cx="0" cy="0"/>
        </a:xfrm>
      </p:grpSpPr>
      <p:graphicFrame>
        <p:nvGraphicFramePr>
          <p:cNvPr id="17" name="אובייקט 3">
            <a:extLst>
              <a:ext uri="{FF2B5EF4-FFF2-40B4-BE49-F238E27FC236}">
                <a16:creationId xmlns:a16="http://schemas.microsoft.com/office/drawing/2014/main" id="{B65E6F92-222E-14E2-9A2F-D95FD6E3F8DD}"/>
              </a:ext>
            </a:extLst>
          </p:cNvPr>
          <p:cNvGraphicFramePr>
            <a:graphicFrameLocks noChangeAspect="1"/>
          </p:cNvGraphicFramePr>
          <p:nvPr>
            <p:extLst>
              <p:ext uri="{D42A27DB-BD31-4B8C-83A1-F6EECF244321}">
                <p14:modId xmlns:p14="http://schemas.microsoft.com/office/powerpoint/2010/main" val="707172275"/>
              </p:ext>
            </p:extLst>
          </p:nvPr>
        </p:nvGraphicFramePr>
        <p:xfrm>
          <a:off x="509873" y="3042430"/>
          <a:ext cx="11634502" cy="207350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אובייקט 3">
            <a:extLst>
              <a:ext uri="{FF2B5EF4-FFF2-40B4-BE49-F238E27FC236}">
                <a16:creationId xmlns:a16="http://schemas.microsoft.com/office/drawing/2014/main" id="{603D4C2F-E1C8-C565-C4FD-AE063C6BA786}"/>
              </a:ext>
            </a:extLst>
          </p:cNvPr>
          <p:cNvGraphicFramePr>
            <a:graphicFrameLocks noChangeAspect="1"/>
          </p:cNvGraphicFramePr>
          <p:nvPr>
            <p:extLst>
              <p:ext uri="{D42A27DB-BD31-4B8C-83A1-F6EECF244321}">
                <p14:modId xmlns:p14="http://schemas.microsoft.com/office/powerpoint/2010/main" val="66764202"/>
              </p:ext>
            </p:extLst>
          </p:nvPr>
        </p:nvGraphicFramePr>
        <p:xfrm>
          <a:off x="509873" y="1428750"/>
          <a:ext cx="11634502" cy="2073505"/>
        </p:xfrm>
        <a:graphic>
          <a:graphicData uri="http://schemas.openxmlformats.org/drawingml/2006/chart">
            <c:chart xmlns:c="http://schemas.openxmlformats.org/drawingml/2006/chart" xmlns:r="http://schemas.openxmlformats.org/officeDocument/2006/relationships" r:id="rId4"/>
          </a:graphicData>
        </a:graphic>
      </p:graphicFrame>
      <p:sp>
        <p:nvSpPr>
          <p:cNvPr id="15" name="Slide Number Placeholder 1">
            <a:extLst>
              <a:ext uri="{FF2B5EF4-FFF2-40B4-BE49-F238E27FC236}">
                <a16:creationId xmlns:a16="http://schemas.microsoft.com/office/drawing/2014/main" id="{52C905E3-6B0A-0BB0-49F0-07C74EFF09D5}"/>
              </a:ext>
            </a:extLst>
          </p:cNvPr>
          <p:cNvSpPr txBox="1">
            <a:spLocks/>
          </p:cNvSpPr>
          <p:nvPr/>
        </p:nvSpPr>
        <p:spPr>
          <a:xfrm>
            <a:off x="11541989" y="6473956"/>
            <a:ext cx="540000" cy="360000"/>
          </a:xfrm>
          <a:prstGeom prst="rect">
            <a:avLst/>
          </a:prstGeom>
          <a:noFill/>
          <a:ln w="12700" cap="flat" cmpd="sng" algn="ctr">
            <a:noFill/>
            <a:prstDash val="solid"/>
            <a:miter lim="800000"/>
          </a:ln>
          <a:effectLst/>
        </p:spPr>
        <p:txBody>
          <a:bodyPr rot="0" spcFirstLastPara="0" vertOverflow="overflow" horzOverflow="overflow" vert="horz" wrap="square" lIns="91440" tIns="45720" rIns="91440" bIns="45720" numCol="1" spcCol="0" rtlCol="1" fromWordArt="0" anchor="ctr" anchorCtr="0" forceAA="0" compatLnSpc="1">
            <a:prstTxWarp prst="textNoShape">
              <a:avLst/>
            </a:prstTxWarp>
            <a:noAutofit/>
          </a:bodyPr>
          <a:lstStyle>
            <a:defPPr>
              <a:defRPr lang="he-IL"/>
            </a:defPPr>
            <a:lvl1pPr marL="0" algn="l" defTabSz="914400" rtl="0" eaLnBrk="1" latinLnBrk="0" hangingPunct="1">
              <a:defRPr lang="he-IL" sz="1100" kern="1200" smtClean="0">
                <a:solidFill>
                  <a:schemeClr val="bg1">
                    <a:lumMod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r" rtl="1">
              <a:defRPr/>
            </a:pPr>
            <a:fld id="{7A91BF3F-E284-4570-AC28-CDAE2F1A1EA1}" type="slidenum">
              <a:rPr lang="he-IL" smtClean="0">
                <a:solidFill>
                  <a:prstClr val="white">
                    <a:lumMod val="75000"/>
                  </a:prstClr>
                </a:solidFill>
              </a:rPr>
              <a:pPr algn="r" rtl="1">
                <a:defRPr/>
              </a:pPr>
              <a:t>19</a:t>
            </a:fld>
            <a:endParaRPr lang="he-IL" dirty="0">
              <a:solidFill>
                <a:prstClr val="white">
                  <a:lumMod val="75000"/>
                </a:prstClr>
              </a:solidFill>
            </a:endParaRPr>
          </a:p>
        </p:txBody>
      </p:sp>
      <p:cxnSp>
        <p:nvCxnSpPr>
          <p:cNvPr id="2" name="Straight Connector 6">
            <a:extLst>
              <a:ext uri="{FF2B5EF4-FFF2-40B4-BE49-F238E27FC236}">
                <a16:creationId xmlns:a16="http://schemas.microsoft.com/office/drawing/2014/main" id="{7F7C4E71-6A8D-9898-23F6-8B2EBCE4A6D8}"/>
              </a:ext>
            </a:extLst>
          </p:cNvPr>
          <p:cNvCxnSpPr>
            <a:cxnSpLocks/>
          </p:cNvCxnSpPr>
          <p:nvPr/>
        </p:nvCxnSpPr>
        <p:spPr>
          <a:xfrm rot="16200000" flipV="1">
            <a:off x="6141989" y="-262429"/>
            <a:ext cx="0" cy="10800000"/>
          </a:xfrm>
          <a:prstGeom prst="line">
            <a:avLst/>
          </a:prstGeom>
          <a:ln w="25400" cap="rnd">
            <a:solidFill>
              <a:schemeClr val="bg1">
                <a:lumMod val="85000"/>
              </a:schemeClr>
            </a:solidFill>
            <a:round/>
          </a:ln>
        </p:spPr>
        <p:style>
          <a:lnRef idx="1">
            <a:schemeClr val="accent1"/>
          </a:lnRef>
          <a:fillRef idx="0">
            <a:schemeClr val="accent1"/>
          </a:fillRef>
          <a:effectRef idx="0">
            <a:schemeClr val="accent1"/>
          </a:effectRef>
          <a:fontRef idx="minor">
            <a:schemeClr val="tx1"/>
          </a:fontRef>
        </p:style>
      </p:cxnSp>
      <p:sp>
        <p:nvSpPr>
          <p:cNvPr id="3" name="Rectangle 6">
            <a:extLst>
              <a:ext uri="{FF2B5EF4-FFF2-40B4-BE49-F238E27FC236}">
                <a16:creationId xmlns:a16="http://schemas.microsoft.com/office/drawing/2014/main" id="{F0045738-6F54-F426-3148-52A04DA17C46}"/>
              </a:ext>
            </a:extLst>
          </p:cNvPr>
          <p:cNvSpPr/>
          <p:nvPr/>
        </p:nvSpPr>
        <p:spPr>
          <a:xfrm>
            <a:off x="523298" y="5216069"/>
            <a:ext cx="11627270" cy="1232882"/>
          </a:xfrm>
          <a:prstGeom prst="rect">
            <a:avLst/>
          </a:prstGeom>
        </p:spPr>
        <p:txBody>
          <a:bodyPr wrap="square" anchor="ctr">
            <a:noAutofit/>
          </a:bodyPr>
          <a:lstStyle/>
          <a:p>
            <a:pPr algn="ctr" rtl="1">
              <a:lnSpc>
                <a:spcPct val="150000"/>
              </a:lnSpc>
            </a:pPr>
            <a:r>
              <a:rPr lang="he-IL" sz="1600" dirty="0">
                <a:latin typeface="Segoe UI" panose="020B0502040204020203" pitchFamily="34" charset="0"/>
                <a:cs typeface="Segoe UI" panose="020B0502040204020203" pitchFamily="34" charset="0"/>
              </a:rPr>
              <a:t>המודעות לחלופות נמוכה יותר בשני המגזרים בקרב נשים, אצל מי שקיבלו דוח לא פיזית ואצל מי שכבר שילמו. גילאית מודעות נמוכה יותר בגילאי הביניים במגזר הערבי וצעירים במגזר היהודי</a:t>
            </a:r>
            <a:endParaRPr lang="en-US" sz="1600" dirty="0">
              <a:latin typeface="Segoe UI" panose="020B0502040204020203" pitchFamily="34" charset="0"/>
              <a:cs typeface="Segoe UI" panose="020B0502040204020203" pitchFamily="34" charset="0"/>
            </a:endParaRPr>
          </a:p>
          <a:p>
            <a:pPr algn="ctr" rtl="1">
              <a:lnSpc>
                <a:spcPct val="150000"/>
              </a:lnSpc>
            </a:pPr>
            <a:r>
              <a:rPr lang="he-IL" sz="1600" b="1" dirty="0">
                <a:solidFill>
                  <a:srgbClr val="1D1C64"/>
                </a:solidFill>
                <a:latin typeface="Segoe UI" panose="020B0502040204020203" pitchFamily="34" charset="0"/>
                <a:cs typeface="Segoe UI" panose="020B0502040204020203" pitchFamily="34" charset="0"/>
              </a:rPr>
              <a:t>מומלץ להציף מסר ממוקד על החלופות במסלולים לא-פיזיים ובקבוצות דמוגרפיות אחרות עם מודעות חלשה יותר</a:t>
            </a:r>
            <a:r>
              <a:rPr lang="en-US" sz="1600" b="1" dirty="0">
                <a:solidFill>
                  <a:srgbClr val="1D1C64"/>
                </a:solidFill>
                <a:latin typeface="Segoe UI" panose="020B0502040204020203" pitchFamily="34" charset="0"/>
                <a:cs typeface="Segoe UI" panose="020B0502040204020203" pitchFamily="34" charset="0"/>
              </a:rPr>
              <a:t>.</a:t>
            </a:r>
            <a:endParaRPr lang="en-US" sz="1600" dirty="0">
              <a:latin typeface="Segoe UI" panose="020B0502040204020203" pitchFamily="34" charset="0"/>
              <a:cs typeface="Segoe UI" panose="020B0502040204020203" pitchFamily="34" charset="0"/>
            </a:endParaRPr>
          </a:p>
        </p:txBody>
      </p:sp>
      <p:sp>
        <p:nvSpPr>
          <p:cNvPr id="4" name="Rectangle 3">
            <a:extLst>
              <a:ext uri="{FF2B5EF4-FFF2-40B4-BE49-F238E27FC236}">
                <a16:creationId xmlns:a16="http://schemas.microsoft.com/office/drawing/2014/main" id="{C1AE8765-9BBA-45CF-1203-588F9A54E4E2}"/>
              </a:ext>
            </a:extLst>
          </p:cNvPr>
          <p:cNvSpPr/>
          <p:nvPr/>
        </p:nvSpPr>
        <p:spPr>
          <a:xfrm>
            <a:off x="1135079" y="191076"/>
            <a:ext cx="10800001" cy="5075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t"/>
          <a:lstStyle/>
          <a:p>
            <a:pPr lvl="0" algn="r" rtl="1">
              <a:defRPr/>
            </a:pPr>
            <a:r>
              <a:rPr kumimoji="0" lang="he-IL" sz="2800" b="1" i="0" u="none" strike="noStrike" kern="0" cap="none" spc="0" normalizeH="0" baseline="0" noProof="0" dirty="0">
                <a:ln>
                  <a:noFill/>
                </a:ln>
                <a:solidFill>
                  <a:srgbClr val="104E88"/>
                </a:solidFill>
                <a:effectLst/>
                <a:uLnTx/>
                <a:uFillTx/>
                <a:latin typeface="Segoe UI" panose="020B0502040204020203" pitchFamily="34" charset="0"/>
                <a:cs typeface="Segoe UI" panose="020B0502040204020203" pitchFamily="34" charset="0"/>
                <a:sym typeface="Arial"/>
              </a:rPr>
              <a:t>מודעות </a:t>
            </a:r>
            <a:r>
              <a:rPr lang="he-IL" sz="2800" b="1" kern="0" dirty="0">
                <a:solidFill>
                  <a:srgbClr val="104E88"/>
                </a:solidFill>
                <a:latin typeface="Segoe UI" panose="020B0502040204020203" pitchFamily="34" charset="0"/>
                <a:cs typeface="Segoe UI" panose="020B0502040204020203" pitchFamily="34" charset="0"/>
              </a:rPr>
              <a:t>לאפשרויות המרת הדו"ח באזהרה/בקשה להישפט</a:t>
            </a:r>
            <a:r>
              <a:rPr kumimoji="0" lang="he-IL" sz="2800" b="1" i="0" u="none" strike="noStrike" kern="0" cap="none" spc="0" normalizeH="0" baseline="0" noProof="0" dirty="0">
                <a:ln>
                  <a:noFill/>
                </a:ln>
                <a:solidFill>
                  <a:srgbClr val="104E88"/>
                </a:solidFill>
                <a:effectLst/>
                <a:uLnTx/>
                <a:uFillTx/>
                <a:latin typeface="Segoe UI" panose="020B0502040204020203" pitchFamily="34" charset="0"/>
                <a:ea typeface="+mn-ea"/>
                <a:cs typeface="Segoe UI" panose="020B0502040204020203" pitchFamily="34" charset="0"/>
                <a:sym typeface="Arial"/>
              </a:rPr>
              <a:t> </a:t>
            </a:r>
            <a:r>
              <a:rPr kumimoji="0" lang="he-IL" sz="2000" b="0" i="0" u="none" strike="noStrike" kern="0" cap="none" spc="0" normalizeH="0" baseline="0" noProof="0" dirty="0">
                <a:ln>
                  <a:noFill/>
                </a:ln>
                <a:solidFill>
                  <a:srgbClr val="104E88"/>
                </a:solidFill>
                <a:effectLst/>
                <a:uLnTx/>
                <a:uFillTx/>
                <a:latin typeface="Segoe UI" panose="020B0502040204020203" pitchFamily="34" charset="0"/>
                <a:ea typeface="+mn-ea"/>
                <a:cs typeface="Segoe UI" panose="020B0502040204020203" pitchFamily="34" charset="0"/>
                <a:sym typeface="Arial"/>
              </a:rPr>
              <a:t>| סגמנטציה</a:t>
            </a:r>
            <a:r>
              <a:rPr lang="he-IL" sz="2800" b="1" kern="0" dirty="0">
                <a:solidFill>
                  <a:srgbClr val="104E88"/>
                </a:solidFill>
                <a:latin typeface="Segoe UI" panose="020B0502040204020203" pitchFamily="34" charset="0"/>
                <a:cs typeface="Segoe UI" panose="020B0502040204020203" pitchFamily="34" charset="0"/>
              </a:rPr>
              <a:t> </a:t>
            </a:r>
            <a:br>
              <a:rPr lang="en-US" sz="2800" b="1" kern="0" dirty="0">
                <a:solidFill>
                  <a:srgbClr val="104E88"/>
                </a:solidFill>
                <a:latin typeface="Segoe UI" panose="020B0502040204020203" pitchFamily="34" charset="0"/>
                <a:cs typeface="Segoe UI" panose="020B0502040204020203" pitchFamily="34" charset="0"/>
              </a:rPr>
            </a:br>
            <a:r>
              <a:rPr lang="he-IL" sz="1600" kern="0" dirty="0">
                <a:solidFill>
                  <a:srgbClr val="104E88"/>
                </a:solidFill>
                <a:latin typeface="Segoe UI" panose="020B0502040204020203" pitchFamily="34" charset="0"/>
                <a:cs typeface="Segoe UI" panose="020B0502040204020203" pitchFamily="34" charset="0"/>
                <a:sym typeface="Arial"/>
              </a:rPr>
              <a:t>בקרב מי שביקשו לא להישפט</a:t>
            </a:r>
            <a:endParaRPr lang="he-IL" sz="2800" b="1" kern="0" dirty="0">
              <a:solidFill>
                <a:srgbClr val="104E88"/>
              </a:solidFill>
              <a:latin typeface="Segoe UI" panose="020B0502040204020203" pitchFamily="34" charset="0"/>
              <a:cs typeface="Segoe UI" panose="020B0502040204020203" pitchFamily="34" charset="0"/>
              <a:sym typeface="Arial"/>
            </a:endParaRPr>
          </a:p>
        </p:txBody>
      </p:sp>
      <p:sp>
        <p:nvSpPr>
          <p:cNvPr id="8" name="Rectangle 28">
            <a:extLst>
              <a:ext uri="{FF2B5EF4-FFF2-40B4-BE49-F238E27FC236}">
                <a16:creationId xmlns:a16="http://schemas.microsoft.com/office/drawing/2014/main" id="{330F8867-FB25-D2D1-DDE4-429B951B0828}"/>
              </a:ext>
            </a:extLst>
          </p:cNvPr>
          <p:cNvSpPr/>
          <p:nvPr/>
        </p:nvSpPr>
        <p:spPr>
          <a:xfrm>
            <a:off x="2796634" y="6473005"/>
            <a:ext cx="9000000" cy="360000"/>
          </a:xfrm>
          <a:prstGeom prst="rect">
            <a:avLst/>
          </a:prstGeom>
          <a:noFill/>
          <a:ln>
            <a:noFill/>
          </a:ln>
        </p:spPr>
        <p:txBody>
          <a:bodyPr rot="0" spcFirstLastPara="0" vertOverflow="overflow" horzOverflow="overflow" vert="horz" wrap="square" lIns="91440" tIns="45720" rIns="91440" bIns="45720" numCol="1" spcCol="0" rtlCol="1" fromWordArt="0" anchor="ctr" anchorCtr="0" forceAA="0" compatLnSpc="1">
            <a:prstTxWarp prst="textNoShape">
              <a:avLst/>
            </a:prstTxWarp>
            <a:noAutofit/>
          </a:bodyPr>
          <a:lstStyle/>
          <a:p>
            <a:pPr lvl="0" algn="r" rtl="1">
              <a:defRPr/>
            </a:pPr>
            <a:r>
              <a:rPr lang="he-IL" sz="1000" dirty="0">
                <a:solidFill>
                  <a:prstClr val="white">
                    <a:lumMod val="65000"/>
                  </a:prstClr>
                </a:solidFill>
                <a:latin typeface="Segoe UI" panose="020B0502040204020203" pitchFamily="34" charset="0"/>
                <a:cs typeface="Segoe UI" panose="020B0502040204020203" pitchFamily="34" charset="0"/>
              </a:rPr>
              <a:t>"האם ידעת שהיה באפשרותך לבקש להמיר את הדו"ח באזהרה או לבקש להישפט?"</a:t>
            </a:r>
          </a:p>
        </p:txBody>
      </p:sp>
      <p:pic>
        <p:nvPicPr>
          <p:cNvPr id="16" name="תמונה 15">
            <a:extLst>
              <a:ext uri="{FF2B5EF4-FFF2-40B4-BE49-F238E27FC236}">
                <a16:creationId xmlns:a16="http://schemas.microsoft.com/office/drawing/2014/main" id="{96656AE1-2652-4731-9F97-43775AD3C5E8}"/>
              </a:ext>
            </a:extLst>
          </p:cNvPr>
          <p:cNvPicPr>
            <a:picLocks noChangeAspect="1"/>
          </p:cNvPicPr>
          <p:nvPr/>
        </p:nvPicPr>
        <p:blipFill>
          <a:blip r:embed="rId5"/>
          <a:stretch>
            <a:fillRect/>
          </a:stretch>
        </p:blipFill>
        <p:spPr>
          <a:xfrm>
            <a:off x="3729171" y="6576798"/>
            <a:ext cx="3353091" cy="152413"/>
          </a:xfrm>
          <a:prstGeom prst="rect">
            <a:avLst/>
          </a:prstGeom>
        </p:spPr>
      </p:pic>
      <p:cxnSp>
        <p:nvCxnSpPr>
          <p:cNvPr id="18" name="מחבר ישר 17">
            <a:extLst>
              <a:ext uri="{FF2B5EF4-FFF2-40B4-BE49-F238E27FC236}">
                <a16:creationId xmlns:a16="http://schemas.microsoft.com/office/drawing/2014/main" id="{87B0F8F9-7B4D-9748-85BF-F42C1B8655B3}"/>
              </a:ext>
            </a:extLst>
          </p:cNvPr>
          <p:cNvCxnSpPr>
            <a:cxnSpLocks/>
          </p:cNvCxnSpPr>
          <p:nvPr/>
        </p:nvCxnSpPr>
        <p:spPr>
          <a:xfrm>
            <a:off x="9580322" y="1159331"/>
            <a:ext cx="0" cy="3960000"/>
          </a:xfrm>
          <a:prstGeom prst="line">
            <a:avLst/>
          </a:prstGeom>
          <a:ln w="1270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19" name="מחבר ישר 18">
            <a:extLst>
              <a:ext uri="{FF2B5EF4-FFF2-40B4-BE49-F238E27FC236}">
                <a16:creationId xmlns:a16="http://schemas.microsoft.com/office/drawing/2014/main" id="{B11E1574-566B-C0B7-5C62-0278FEE8ECBA}"/>
              </a:ext>
            </a:extLst>
          </p:cNvPr>
          <p:cNvCxnSpPr>
            <a:cxnSpLocks/>
          </p:cNvCxnSpPr>
          <p:nvPr/>
        </p:nvCxnSpPr>
        <p:spPr>
          <a:xfrm>
            <a:off x="6960947" y="1159331"/>
            <a:ext cx="0" cy="3960000"/>
          </a:xfrm>
          <a:prstGeom prst="line">
            <a:avLst/>
          </a:prstGeom>
          <a:ln w="1270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20" name="מחבר ישר 19">
            <a:extLst>
              <a:ext uri="{FF2B5EF4-FFF2-40B4-BE49-F238E27FC236}">
                <a16:creationId xmlns:a16="http://schemas.microsoft.com/office/drawing/2014/main" id="{5FF4451C-7A25-AE12-B9A3-B716C2ACB637}"/>
              </a:ext>
            </a:extLst>
          </p:cNvPr>
          <p:cNvCxnSpPr>
            <a:cxnSpLocks/>
          </p:cNvCxnSpPr>
          <p:nvPr/>
        </p:nvCxnSpPr>
        <p:spPr>
          <a:xfrm>
            <a:off x="3303347" y="1159331"/>
            <a:ext cx="0" cy="3960000"/>
          </a:xfrm>
          <a:prstGeom prst="line">
            <a:avLst/>
          </a:prstGeom>
          <a:ln w="1270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21" name="מחבר ישר 20">
            <a:extLst>
              <a:ext uri="{FF2B5EF4-FFF2-40B4-BE49-F238E27FC236}">
                <a16:creationId xmlns:a16="http://schemas.microsoft.com/office/drawing/2014/main" id="{1C1AEB06-8A87-E327-4AB4-B2AE2DAE3066}"/>
              </a:ext>
            </a:extLst>
          </p:cNvPr>
          <p:cNvCxnSpPr>
            <a:cxnSpLocks/>
          </p:cNvCxnSpPr>
          <p:nvPr/>
        </p:nvCxnSpPr>
        <p:spPr>
          <a:xfrm>
            <a:off x="2065097" y="1376456"/>
            <a:ext cx="0" cy="3672000"/>
          </a:xfrm>
          <a:prstGeom prst="line">
            <a:avLst/>
          </a:prstGeom>
          <a:ln w="635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22" name="מחבר ישר 21">
            <a:extLst>
              <a:ext uri="{FF2B5EF4-FFF2-40B4-BE49-F238E27FC236}">
                <a16:creationId xmlns:a16="http://schemas.microsoft.com/office/drawing/2014/main" id="{7B65DE87-B402-6E7C-EB68-3FD2E7235C18}"/>
              </a:ext>
            </a:extLst>
          </p:cNvPr>
          <p:cNvCxnSpPr>
            <a:cxnSpLocks/>
          </p:cNvCxnSpPr>
          <p:nvPr/>
        </p:nvCxnSpPr>
        <p:spPr>
          <a:xfrm>
            <a:off x="4541597" y="1376456"/>
            <a:ext cx="0" cy="3672000"/>
          </a:xfrm>
          <a:prstGeom prst="line">
            <a:avLst/>
          </a:prstGeom>
          <a:ln w="635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23" name="מחבר ישר 22">
            <a:extLst>
              <a:ext uri="{FF2B5EF4-FFF2-40B4-BE49-F238E27FC236}">
                <a16:creationId xmlns:a16="http://schemas.microsoft.com/office/drawing/2014/main" id="{27466139-BCAC-4B7C-BD1A-CA28D63B89DD}"/>
              </a:ext>
            </a:extLst>
          </p:cNvPr>
          <p:cNvCxnSpPr>
            <a:cxnSpLocks/>
          </p:cNvCxnSpPr>
          <p:nvPr/>
        </p:nvCxnSpPr>
        <p:spPr>
          <a:xfrm>
            <a:off x="5722697" y="1376456"/>
            <a:ext cx="0" cy="3672000"/>
          </a:xfrm>
          <a:prstGeom prst="line">
            <a:avLst/>
          </a:prstGeom>
          <a:ln w="635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24" name="מחבר ישר 23">
            <a:extLst>
              <a:ext uri="{FF2B5EF4-FFF2-40B4-BE49-F238E27FC236}">
                <a16:creationId xmlns:a16="http://schemas.microsoft.com/office/drawing/2014/main" id="{66D53E1B-EBEC-EB36-00E0-B7CFF278CC16}"/>
              </a:ext>
            </a:extLst>
          </p:cNvPr>
          <p:cNvCxnSpPr>
            <a:cxnSpLocks/>
          </p:cNvCxnSpPr>
          <p:nvPr/>
        </p:nvCxnSpPr>
        <p:spPr>
          <a:xfrm>
            <a:off x="8208722" y="1376456"/>
            <a:ext cx="0" cy="3672000"/>
          </a:xfrm>
          <a:prstGeom prst="line">
            <a:avLst/>
          </a:prstGeom>
          <a:ln w="635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25" name="מחבר ישר 24">
            <a:extLst>
              <a:ext uri="{FF2B5EF4-FFF2-40B4-BE49-F238E27FC236}">
                <a16:creationId xmlns:a16="http://schemas.microsoft.com/office/drawing/2014/main" id="{8EBDF734-C26D-DAAE-8A2E-071A7E081706}"/>
              </a:ext>
            </a:extLst>
          </p:cNvPr>
          <p:cNvCxnSpPr>
            <a:cxnSpLocks/>
          </p:cNvCxnSpPr>
          <p:nvPr/>
        </p:nvCxnSpPr>
        <p:spPr>
          <a:xfrm>
            <a:off x="10656647" y="1376456"/>
            <a:ext cx="0" cy="3672000"/>
          </a:xfrm>
          <a:prstGeom prst="line">
            <a:avLst/>
          </a:prstGeom>
          <a:ln w="635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26" name="תיבת טקסט 25">
            <a:extLst>
              <a:ext uri="{FF2B5EF4-FFF2-40B4-BE49-F238E27FC236}">
                <a16:creationId xmlns:a16="http://schemas.microsoft.com/office/drawing/2014/main" id="{36D5AE9A-019D-9C76-F872-0654DA644BA0}"/>
              </a:ext>
            </a:extLst>
          </p:cNvPr>
          <p:cNvSpPr txBox="1"/>
          <p:nvPr/>
        </p:nvSpPr>
        <p:spPr>
          <a:xfrm>
            <a:off x="1364148" y="1072561"/>
            <a:ext cx="1440000" cy="276999"/>
          </a:xfrm>
          <a:prstGeom prst="rect">
            <a:avLst/>
          </a:prstGeom>
          <a:noFill/>
        </p:spPr>
        <p:txBody>
          <a:bodyPr wrap="square">
            <a:spAutoFit/>
          </a:bodyPr>
          <a:lstStyle/>
          <a:p>
            <a:pPr algn="ctr" rtl="1" fontAlgn="ctr"/>
            <a:r>
              <a:rPr lang="he-IL" sz="1200" b="1" u="none" strike="noStrike" dirty="0">
                <a:effectLst/>
                <a:latin typeface="Segoe UI" panose="020B0502040204020203" pitchFamily="34" charset="0"/>
                <a:cs typeface="Segoe UI" panose="020B0502040204020203" pitchFamily="34" charset="0"/>
              </a:rPr>
              <a:t>מגדר</a:t>
            </a:r>
          </a:p>
        </p:txBody>
      </p:sp>
      <p:sp>
        <p:nvSpPr>
          <p:cNvPr id="27" name="תיבת טקסט 26">
            <a:extLst>
              <a:ext uri="{FF2B5EF4-FFF2-40B4-BE49-F238E27FC236}">
                <a16:creationId xmlns:a16="http://schemas.microsoft.com/office/drawing/2014/main" id="{4BC1F6C6-FEA0-ED59-D08D-C7B14064F500}"/>
              </a:ext>
            </a:extLst>
          </p:cNvPr>
          <p:cNvSpPr txBox="1"/>
          <p:nvPr/>
        </p:nvSpPr>
        <p:spPr>
          <a:xfrm>
            <a:off x="4444623" y="1072561"/>
            <a:ext cx="1440000" cy="276999"/>
          </a:xfrm>
          <a:prstGeom prst="rect">
            <a:avLst/>
          </a:prstGeom>
          <a:noFill/>
        </p:spPr>
        <p:txBody>
          <a:bodyPr wrap="square">
            <a:spAutoFit/>
          </a:bodyPr>
          <a:lstStyle/>
          <a:p>
            <a:pPr algn="ctr" rtl="1" fontAlgn="ctr"/>
            <a:r>
              <a:rPr lang="he-IL" sz="1200" b="1" u="none" strike="noStrike" dirty="0">
                <a:effectLst/>
                <a:latin typeface="Segoe UI" panose="020B0502040204020203" pitchFamily="34" charset="0"/>
                <a:cs typeface="Segoe UI" panose="020B0502040204020203" pitchFamily="34" charset="0"/>
              </a:rPr>
              <a:t>גיל</a:t>
            </a:r>
          </a:p>
        </p:txBody>
      </p:sp>
      <p:sp>
        <p:nvSpPr>
          <p:cNvPr id="28" name="תיבת טקסט 27">
            <a:extLst>
              <a:ext uri="{FF2B5EF4-FFF2-40B4-BE49-F238E27FC236}">
                <a16:creationId xmlns:a16="http://schemas.microsoft.com/office/drawing/2014/main" id="{B8587CCD-6EA2-516B-A530-2E301051BC79}"/>
              </a:ext>
            </a:extLst>
          </p:cNvPr>
          <p:cNvSpPr txBox="1"/>
          <p:nvPr/>
        </p:nvSpPr>
        <p:spPr>
          <a:xfrm>
            <a:off x="7422047" y="1072561"/>
            <a:ext cx="1440000" cy="276999"/>
          </a:xfrm>
          <a:prstGeom prst="rect">
            <a:avLst/>
          </a:prstGeom>
          <a:noFill/>
        </p:spPr>
        <p:txBody>
          <a:bodyPr wrap="square">
            <a:spAutoFit/>
          </a:bodyPr>
          <a:lstStyle/>
          <a:p>
            <a:pPr algn="ctr" rtl="1" fontAlgn="ctr"/>
            <a:r>
              <a:rPr lang="he-IL" sz="1200" b="1" u="none" strike="noStrike" dirty="0">
                <a:effectLst/>
                <a:latin typeface="Segoe UI" panose="020B0502040204020203" pitchFamily="34" charset="0"/>
                <a:cs typeface="Segoe UI" panose="020B0502040204020203" pitchFamily="34" charset="0"/>
              </a:rPr>
              <a:t>אופן קבלת הדוח</a:t>
            </a:r>
          </a:p>
        </p:txBody>
      </p:sp>
      <p:sp>
        <p:nvSpPr>
          <p:cNvPr id="29" name="תיבת טקסט 28">
            <a:extLst>
              <a:ext uri="{FF2B5EF4-FFF2-40B4-BE49-F238E27FC236}">
                <a16:creationId xmlns:a16="http://schemas.microsoft.com/office/drawing/2014/main" id="{77B4F5D5-464B-8368-371D-86BBC573FB98}"/>
              </a:ext>
            </a:extLst>
          </p:cNvPr>
          <p:cNvSpPr txBox="1"/>
          <p:nvPr/>
        </p:nvSpPr>
        <p:spPr>
          <a:xfrm>
            <a:off x="9927122" y="1072561"/>
            <a:ext cx="1440000" cy="276999"/>
          </a:xfrm>
          <a:prstGeom prst="rect">
            <a:avLst/>
          </a:prstGeom>
          <a:noFill/>
        </p:spPr>
        <p:txBody>
          <a:bodyPr wrap="square">
            <a:spAutoFit/>
          </a:bodyPr>
          <a:lstStyle/>
          <a:p>
            <a:pPr algn="ctr" rtl="1" fontAlgn="ctr"/>
            <a:r>
              <a:rPr lang="he-IL" sz="1200" b="1" u="none" strike="noStrike" dirty="0">
                <a:effectLst/>
                <a:latin typeface="Segoe UI" panose="020B0502040204020203" pitchFamily="34" charset="0"/>
                <a:cs typeface="Segoe UI" panose="020B0502040204020203" pitchFamily="34" charset="0"/>
              </a:rPr>
              <a:t>תשלום קנס</a:t>
            </a:r>
          </a:p>
        </p:txBody>
      </p:sp>
      <p:sp>
        <p:nvSpPr>
          <p:cNvPr id="30" name="Rectangle: Rounded Corners 54">
            <a:hlinkClick r:id="" action="ppaction://noaction"/>
            <a:extLst>
              <a:ext uri="{FF2B5EF4-FFF2-40B4-BE49-F238E27FC236}">
                <a16:creationId xmlns:a16="http://schemas.microsoft.com/office/drawing/2014/main" id="{AC67ADEE-7CC4-5BE4-782E-1815E3C39529}"/>
              </a:ext>
            </a:extLst>
          </p:cNvPr>
          <p:cNvSpPr/>
          <p:nvPr/>
        </p:nvSpPr>
        <p:spPr>
          <a:xfrm>
            <a:off x="1418590" y="6568993"/>
            <a:ext cx="900000" cy="144000"/>
          </a:xfrm>
          <a:prstGeom prst="roundRect">
            <a:avLst>
              <a:gd name="adj" fmla="val 50000"/>
            </a:avLst>
          </a:prstGeom>
          <a:solidFill>
            <a:schemeClr val="bg1"/>
          </a:solidFill>
          <a:ln w="12700">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r" defTabSz="914400" rtl="1" eaLnBrk="1" latinLnBrk="0" hangingPunct="1">
              <a:defRPr sz="1800" kern="1200">
                <a:solidFill>
                  <a:schemeClr val="lt1"/>
                </a:solidFill>
                <a:latin typeface="+mn-lt"/>
                <a:ea typeface="+mn-ea"/>
                <a:cs typeface="+mn-cs"/>
              </a:defRPr>
            </a:lvl1pPr>
            <a:lvl2pPr marL="457200" algn="r" defTabSz="914400" rtl="1" eaLnBrk="1" latinLnBrk="0" hangingPunct="1">
              <a:defRPr sz="1800" kern="1200">
                <a:solidFill>
                  <a:schemeClr val="lt1"/>
                </a:solidFill>
                <a:latin typeface="+mn-lt"/>
                <a:ea typeface="+mn-ea"/>
                <a:cs typeface="+mn-cs"/>
              </a:defRPr>
            </a:lvl2pPr>
            <a:lvl3pPr marL="914400" algn="r" defTabSz="914400" rtl="1" eaLnBrk="1" latinLnBrk="0" hangingPunct="1">
              <a:defRPr sz="1800" kern="1200">
                <a:solidFill>
                  <a:schemeClr val="lt1"/>
                </a:solidFill>
                <a:latin typeface="+mn-lt"/>
                <a:ea typeface="+mn-ea"/>
                <a:cs typeface="+mn-cs"/>
              </a:defRPr>
            </a:lvl3pPr>
            <a:lvl4pPr marL="1371600" algn="r" defTabSz="914400" rtl="1" eaLnBrk="1" latinLnBrk="0" hangingPunct="1">
              <a:defRPr sz="1800" kern="1200">
                <a:solidFill>
                  <a:schemeClr val="lt1"/>
                </a:solidFill>
                <a:latin typeface="+mn-lt"/>
                <a:ea typeface="+mn-ea"/>
                <a:cs typeface="+mn-cs"/>
              </a:defRPr>
            </a:lvl4pPr>
            <a:lvl5pPr marL="1828800" algn="r" defTabSz="914400" rtl="1" eaLnBrk="1" latinLnBrk="0" hangingPunct="1">
              <a:defRPr sz="1800" kern="1200">
                <a:solidFill>
                  <a:schemeClr val="lt1"/>
                </a:solidFill>
                <a:latin typeface="+mn-lt"/>
                <a:ea typeface="+mn-ea"/>
                <a:cs typeface="+mn-cs"/>
              </a:defRPr>
            </a:lvl5pPr>
            <a:lvl6pPr marL="2286000" algn="r" defTabSz="914400" rtl="1" eaLnBrk="1" latinLnBrk="0" hangingPunct="1">
              <a:defRPr sz="1800" kern="1200">
                <a:solidFill>
                  <a:schemeClr val="lt1"/>
                </a:solidFill>
                <a:latin typeface="+mn-lt"/>
                <a:ea typeface="+mn-ea"/>
                <a:cs typeface="+mn-cs"/>
              </a:defRPr>
            </a:lvl6pPr>
            <a:lvl7pPr marL="2743200" algn="r" defTabSz="914400" rtl="1" eaLnBrk="1" latinLnBrk="0" hangingPunct="1">
              <a:defRPr sz="1800" kern="1200">
                <a:solidFill>
                  <a:schemeClr val="lt1"/>
                </a:solidFill>
                <a:latin typeface="+mn-lt"/>
                <a:ea typeface="+mn-ea"/>
                <a:cs typeface="+mn-cs"/>
              </a:defRPr>
            </a:lvl7pPr>
            <a:lvl8pPr marL="3200400" algn="r" defTabSz="914400" rtl="1" eaLnBrk="1" latinLnBrk="0" hangingPunct="1">
              <a:defRPr sz="1800" kern="1200">
                <a:solidFill>
                  <a:schemeClr val="lt1"/>
                </a:solidFill>
                <a:latin typeface="+mn-lt"/>
                <a:ea typeface="+mn-ea"/>
                <a:cs typeface="+mn-cs"/>
              </a:defRPr>
            </a:lvl8pPr>
            <a:lvl9pPr marL="3657600" algn="r" defTabSz="914400" rtl="1" eaLnBrk="1" latinLnBrk="0" hangingPunct="1">
              <a:defRPr sz="1800" kern="1200">
                <a:solidFill>
                  <a:schemeClr val="lt1"/>
                </a:solidFill>
                <a:latin typeface="+mn-lt"/>
                <a:ea typeface="+mn-ea"/>
                <a:cs typeface="+mn-cs"/>
              </a:defRPr>
            </a:lvl9pPr>
          </a:lstStyle>
          <a:p>
            <a:pPr marL="0" marR="0" lvl="0" indent="0" algn="ctr" defTabSz="914400" rtl="1" eaLnBrk="1" fontAlgn="base" latinLnBrk="0" hangingPunct="1">
              <a:lnSpc>
                <a:spcPct val="100000"/>
              </a:lnSpc>
              <a:spcBef>
                <a:spcPct val="0"/>
              </a:spcBef>
              <a:spcAft>
                <a:spcPct val="0"/>
              </a:spcAft>
              <a:buClrTx/>
              <a:buSzTx/>
              <a:buFontTx/>
              <a:buNone/>
              <a:tabLst/>
              <a:defRPr/>
            </a:pPr>
            <a:r>
              <a:rPr kumimoji="0" lang="he-IL" sz="1100" b="0" i="0" u="none" strike="noStrike" kern="1200" cap="none" spc="0" normalizeH="0" baseline="0" noProof="0" dirty="0">
                <a:ln>
                  <a:noFill/>
                </a:ln>
                <a:solidFill>
                  <a:schemeClr val="bg1">
                    <a:lumMod val="65000"/>
                  </a:schemeClr>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&lt;--- חזור</a:t>
            </a:r>
            <a:endParaRPr kumimoji="0" lang="en-IL" sz="1100" b="0" i="0" u="none" strike="noStrike" kern="1200" cap="none" spc="0" normalizeH="0" baseline="0" noProof="0" dirty="0">
              <a:ln>
                <a:noFill/>
              </a:ln>
              <a:solidFill>
                <a:schemeClr val="bg1">
                  <a:lumMod val="65000"/>
                </a:schemeClr>
              </a:solidFill>
              <a:effectLst/>
              <a:uLnTx/>
              <a:uFillTx/>
              <a:latin typeface="Segoe UI" panose="020B0502040204020203" pitchFamily="34" charset="0"/>
              <a:ea typeface="+mn-ea"/>
              <a:cs typeface="Segoe UI" panose="020B0502040204020203" pitchFamily="34" charset="0"/>
            </a:endParaRPr>
          </a:p>
        </p:txBody>
      </p:sp>
      <p:sp>
        <p:nvSpPr>
          <p:cNvPr id="31" name="תיבת טקסט 30">
            <a:extLst>
              <a:ext uri="{FF2B5EF4-FFF2-40B4-BE49-F238E27FC236}">
                <a16:creationId xmlns:a16="http://schemas.microsoft.com/office/drawing/2014/main" id="{447AC19E-48E7-8BB4-8FB5-924439E1F082}"/>
              </a:ext>
            </a:extLst>
          </p:cNvPr>
          <p:cNvSpPr txBox="1"/>
          <p:nvPr/>
        </p:nvSpPr>
        <p:spPr>
          <a:xfrm>
            <a:off x="180398" y="3888704"/>
            <a:ext cx="720000" cy="307777"/>
          </a:xfrm>
          <a:prstGeom prst="rect">
            <a:avLst/>
          </a:prstGeom>
          <a:noFill/>
        </p:spPr>
        <p:txBody>
          <a:bodyPr wrap="square">
            <a:spAutoFit/>
          </a:bodyPr>
          <a:lstStyle/>
          <a:p>
            <a:pPr algn="ctr" rtl="1" fontAlgn="ctr"/>
            <a:r>
              <a:rPr lang="he-IL" sz="1400" b="1" u="none" strike="noStrike" dirty="0">
                <a:effectLst/>
                <a:latin typeface="Segoe UI" panose="020B0502040204020203" pitchFamily="34" charset="0"/>
                <a:cs typeface="Segoe UI" panose="020B0502040204020203" pitchFamily="34" charset="0"/>
              </a:rPr>
              <a:t>מגזר יהודי</a:t>
            </a:r>
          </a:p>
        </p:txBody>
      </p:sp>
      <p:sp>
        <p:nvSpPr>
          <p:cNvPr id="32" name="תיבת טקסט 31">
            <a:extLst>
              <a:ext uri="{FF2B5EF4-FFF2-40B4-BE49-F238E27FC236}">
                <a16:creationId xmlns:a16="http://schemas.microsoft.com/office/drawing/2014/main" id="{8B07E5C5-7244-D06D-4EF5-5AB3895401AD}"/>
              </a:ext>
            </a:extLst>
          </p:cNvPr>
          <p:cNvSpPr txBox="1"/>
          <p:nvPr/>
        </p:nvSpPr>
        <p:spPr>
          <a:xfrm>
            <a:off x="180398" y="1968772"/>
            <a:ext cx="720000" cy="307777"/>
          </a:xfrm>
          <a:prstGeom prst="rect">
            <a:avLst/>
          </a:prstGeom>
          <a:noFill/>
        </p:spPr>
        <p:txBody>
          <a:bodyPr wrap="square">
            <a:spAutoFit/>
          </a:bodyPr>
          <a:lstStyle/>
          <a:p>
            <a:pPr algn="ctr" rtl="1" fontAlgn="ctr"/>
            <a:r>
              <a:rPr lang="he-IL" sz="1400" b="1" u="none" strike="noStrike" dirty="0">
                <a:effectLst/>
                <a:latin typeface="Segoe UI" panose="020B0502040204020203" pitchFamily="34" charset="0"/>
                <a:cs typeface="Segoe UI" panose="020B0502040204020203" pitchFamily="34" charset="0"/>
              </a:rPr>
              <a:t>מגזר ערבי</a:t>
            </a:r>
          </a:p>
        </p:txBody>
      </p:sp>
    </p:spTree>
    <p:extLst>
      <p:ext uri="{BB962C8B-B14F-4D97-AF65-F5344CB8AC3E}">
        <p14:creationId xmlns:p14="http://schemas.microsoft.com/office/powerpoint/2010/main" val="31974446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extLst>
    <p:ext uri="{6950BFC3-D8DA-4A85-94F7-54DA5524770B}">
      <p188:commentRel xmlns:p188="http://schemas.microsoft.com/office/powerpoint/2018/8/main" r:id="rId2"/>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517887-CCF1-B86D-8A27-431D5347C587}"/>
            </a:ext>
          </a:extLst>
        </p:cNvPr>
        <p:cNvGrpSpPr/>
        <p:nvPr/>
      </p:nvGrpSpPr>
      <p:grpSpPr>
        <a:xfrm>
          <a:off x="0" y="0"/>
          <a:ext cx="0" cy="0"/>
          <a:chOff x="0" y="0"/>
          <a:chExt cx="0" cy="0"/>
        </a:xfrm>
      </p:grpSpPr>
      <p:graphicFrame>
        <p:nvGraphicFramePr>
          <p:cNvPr id="5" name="אובייקט 3">
            <a:extLst>
              <a:ext uri="{FF2B5EF4-FFF2-40B4-BE49-F238E27FC236}">
                <a16:creationId xmlns:a16="http://schemas.microsoft.com/office/drawing/2014/main" id="{C6675E0A-6AA2-C306-FE0A-BB962CBB0FD5}"/>
              </a:ext>
            </a:extLst>
          </p:cNvPr>
          <p:cNvGraphicFramePr>
            <a:graphicFrameLocks noChangeAspect="1"/>
          </p:cNvGraphicFramePr>
          <p:nvPr>
            <p:extLst>
              <p:ext uri="{D42A27DB-BD31-4B8C-83A1-F6EECF244321}">
                <p14:modId xmlns:p14="http://schemas.microsoft.com/office/powerpoint/2010/main" val="2599291097"/>
              </p:ext>
            </p:extLst>
          </p:nvPr>
        </p:nvGraphicFramePr>
        <p:xfrm>
          <a:off x="547857" y="1426029"/>
          <a:ext cx="11534127" cy="2880000"/>
        </p:xfrm>
        <a:graphic>
          <a:graphicData uri="http://schemas.openxmlformats.org/drawingml/2006/chart">
            <c:chart xmlns:c="http://schemas.openxmlformats.org/drawingml/2006/chart" xmlns:r="http://schemas.openxmlformats.org/officeDocument/2006/relationships" r:id="rId2"/>
          </a:graphicData>
        </a:graphic>
      </p:graphicFrame>
      <p:sp>
        <p:nvSpPr>
          <p:cNvPr id="15" name="Slide Number Placeholder 1">
            <a:extLst>
              <a:ext uri="{FF2B5EF4-FFF2-40B4-BE49-F238E27FC236}">
                <a16:creationId xmlns:a16="http://schemas.microsoft.com/office/drawing/2014/main" id="{D6F9512C-125D-377B-2F20-7D1470E9A071}"/>
              </a:ext>
            </a:extLst>
          </p:cNvPr>
          <p:cNvSpPr txBox="1">
            <a:spLocks/>
          </p:cNvSpPr>
          <p:nvPr/>
        </p:nvSpPr>
        <p:spPr>
          <a:xfrm>
            <a:off x="11541989" y="6473956"/>
            <a:ext cx="540000" cy="360000"/>
          </a:xfrm>
          <a:prstGeom prst="rect">
            <a:avLst/>
          </a:prstGeom>
          <a:noFill/>
          <a:ln w="12700" cap="flat" cmpd="sng" algn="ctr">
            <a:noFill/>
            <a:prstDash val="solid"/>
            <a:miter lim="800000"/>
          </a:ln>
          <a:effectLst/>
        </p:spPr>
        <p:txBody>
          <a:bodyPr rot="0" spcFirstLastPara="0" vertOverflow="overflow" horzOverflow="overflow" vert="horz" wrap="square" lIns="91440" tIns="45720" rIns="91440" bIns="45720" numCol="1" spcCol="0" rtlCol="1" fromWordArt="0" anchor="ctr" anchorCtr="0" forceAA="0" compatLnSpc="1">
            <a:prstTxWarp prst="textNoShape">
              <a:avLst/>
            </a:prstTxWarp>
            <a:noAutofit/>
          </a:bodyPr>
          <a:lstStyle>
            <a:defPPr>
              <a:defRPr lang="he-IL"/>
            </a:defPPr>
            <a:lvl1pPr marL="0" algn="l" defTabSz="914400" rtl="0" eaLnBrk="1" latinLnBrk="0" hangingPunct="1">
              <a:defRPr lang="he-IL" sz="1100" kern="1200" smtClean="0">
                <a:solidFill>
                  <a:schemeClr val="bg1">
                    <a:lumMod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r" rtl="1">
              <a:defRPr/>
            </a:pPr>
            <a:fld id="{7A91BF3F-E284-4570-AC28-CDAE2F1A1EA1}" type="slidenum">
              <a:rPr lang="he-IL" smtClean="0">
                <a:solidFill>
                  <a:prstClr val="white">
                    <a:lumMod val="75000"/>
                  </a:prstClr>
                </a:solidFill>
              </a:rPr>
              <a:pPr algn="r" rtl="1">
                <a:defRPr/>
              </a:pPr>
              <a:t>20</a:t>
            </a:fld>
            <a:endParaRPr lang="he-IL" dirty="0">
              <a:solidFill>
                <a:prstClr val="white">
                  <a:lumMod val="75000"/>
                </a:prstClr>
              </a:solidFill>
            </a:endParaRPr>
          </a:p>
        </p:txBody>
      </p:sp>
      <p:cxnSp>
        <p:nvCxnSpPr>
          <p:cNvPr id="2" name="Straight Connector 6">
            <a:extLst>
              <a:ext uri="{FF2B5EF4-FFF2-40B4-BE49-F238E27FC236}">
                <a16:creationId xmlns:a16="http://schemas.microsoft.com/office/drawing/2014/main" id="{0DC2216D-3468-AADF-B5A2-F7989275D9DB}"/>
              </a:ext>
            </a:extLst>
          </p:cNvPr>
          <p:cNvCxnSpPr>
            <a:cxnSpLocks/>
          </p:cNvCxnSpPr>
          <p:nvPr/>
        </p:nvCxnSpPr>
        <p:spPr>
          <a:xfrm rot="16200000" flipV="1">
            <a:off x="6096000" y="-1052221"/>
            <a:ext cx="0" cy="10800000"/>
          </a:xfrm>
          <a:prstGeom prst="line">
            <a:avLst/>
          </a:prstGeom>
          <a:ln w="25400" cap="rnd">
            <a:solidFill>
              <a:schemeClr val="bg1">
                <a:lumMod val="85000"/>
              </a:schemeClr>
            </a:solidFill>
            <a:round/>
          </a:ln>
        </p:spPr>
        <p:style>
          <a:lnRef idx="1">
            <a:schemeClr val="accent1"/>
          </a:lnRef>
          <a:fillRef idx="0">
            <a:schemeClr val="accent1"/>
          </a:fillRef>
          <a:effectRef idx="0">
            <a:schemeClr val="accent1"/>
          </a:effectRef>
          <a:fontRef idx="minor">
            <a:schemeClr val="tx1"/>
          </a:fontRef>
        </p:style>
      </p:cxnSp>
      <p:sp>
        <p:nvSpPr>
          <p:cNvPr id="3" name="Rectangle 6">
            <a:extLst>
              <a:ext uri="{FF2B5EF4-FFF2-40B4-BE49-F238E27FC236}">
                <a16:creationId xmlns:a16="http://schemas.microsoft.com/office/drawing/2014/main" id="{D3758B0C-A8B9-1C1B-BD81-590C1E5E27FF}"/>
              </a:ext>
            </a:extLst>
          </p:cNvPr>
          <p:cNvSpPr/>
          <p:nvPr/>
        </p:nvSpPr>
        <p:spPr>
          <a:xfrm>
            <a:off x="439004" y="4389528"/>
            <a:ext cx="11642980" cy="1440000"/>
          </a:xfrm>
          <a:prstGeom prst="rect">
            <a:avLst/>
          </a:prstGeom>
        </p:spPr>
        <p:txBody>
          <a:bodyPr wrap="square" anchor="ctr">
            <a:noAutofit/>
          </a:bodyPr>
          <a:lstStyle/>
          <a:p>
            <a:pPr algn="ctr" rtl="1">
              <a:lnSpc>
                <a:spcPct val="150000"/>
              </a:lnSpc>
            </a:pPr>
            <a:r>
              <a:rPr lang="he-IL" sz="1600" dirty="0">
                <a:latin typeface="Segoe UI" panose="020B0502040204020203" pitchFamily="34" charset="0"/>
                <a:cs typeface="Segoe UI" panose="020B0502040204020203" pitchFamily="34" charset="0"/>
              </a:rPr>
              <a:t>מרבית מי שלא ביקשו להישפט לא חשו צורך בעורך דין, </a:t>
            </a:r>
            <a:r>
              <a:rPr lang="he-IL" sz="1600" b="1" dirty="0">
                <a:latin typeface="Segoe UI" panose="020B0502040204020203" pitchFamily="34" charset="0"/>
                <a:cs typeface="Segoe UI" panose="020B0502040204020203" pitchFamily="34" charset="0"/>
              </a:rPr>
              <a:t>אבל אצל מי שביקשו להישפט הצורך הנתפס גבוה- </a:t>
            </a:r>
            <a:r>
              <a:rPr lang="he-IL" sz="1600" dirty="0">
                <a:latin typeface="Segoe UI" panose="020B0502040204020203" pitchFamily="34" charset="0"/>
                <a:cs typeface="Segoe UI" panose="020B0502040204020203" pitchFamily="34" charset="0"/>
              </a:rPr>
              <a:t>במיוחד במגזר הערבי.; המחיר וחוסר הידיעה כיצד להתייעץ הם חסמים מרכזיים</a:t>
            </a:r>
            <a:r>
              <a:rPr lang="en-US" sz="1600" dirty="0">
                <a:latin typeface="Segoe UI" panose="020B0502040204020203" pitchFamily="34" charset="0"/>
                <a:cs typeface="Segoe UI" panose="020B0502040204020203" pitchFamily="34" charset="0"/>
              </a:rPr>
              <a:t>.</a:t>
            </a:r>
          </a:p>
          <a:p>
            <a:pPr algn="ctr" rtl="1">
              <a:lnSpc>
                <a:spcPct val="150000"/>
              </a:lnSpc>
            </a:pPr>
            <a:r>
              <a:rPr lang="en-US" sz="1400" dirty="0">
                <a:latin typeface="Segoe UI" panose="020B0502040204020203" pitchFamily="34" charset="0"/>
                <a:cs typeface="Segoe UI" panose="020B0502040204020203" pitchFamily="34" charset="0"/>
              </a:rPr>
              <a:t> </a:t>
            </a:r>
            <a:r>
              <a:rPr lang="he-IL" sz="1600" b="1" dirty="0">
                <a:solidFill>
                  <a:srgbClr val="1D1C64"/>
                </a:solidFill>
                <a:latin typeface="Segoe UI" panose="020B0502040204020203" pitchFamily="34" charset="0"/>
                <a:cs typeface="Segoe UI" panose="020B0502040204020203" pitchFamily="34" charset="0"/>
              </a:rPr>
              <a:t>במסגרת הנגשת ופישוט התהליך מומלץ לשלב בבית הדין הדיגיטלי "מדריך עצמי" של ממשק שאלות ותשובות</a:t>
            </a:r>
            <a:r>
              <a:rPr lang="en-US" sz="1200" b="1" dirty="0">
                <a:solidFill>
                  <a:srgbClr val="1D1C64"/>
                </a:solidFill>
                <a:latin typeface="Segoe UI" panose="020B0502040204020203" pitchFamily="34" charset="0"/>
                <a:cs typeface="Segoe UI" panose="020B0502040204020203" pitchFamily="34" charset="0"/>
              </a:rPr>
              <a:t> (FAQ) </a:t>
            </a:r>
            <a:r>
              <a:rPr lang="he-IL" sz="1600" b="1">
                <a:solidFill>
                  <a:srgbClr val="1D1C64"/>
                </a:solidFill>
                <a:latin typeface="Segoe UI" panose="020B0502040204020203" pitchFamily="34" charset="0"/>
                <a:cs typeface="Segoe UI" panose="020B0502040204020203" pitchFamily="34" charset="0"/>
              </a:rPr>
              <a:t>וצ'אט סיוע להורדת החשש לניהול התהליך ללא ייצוג משפטי + הסרת חסם העלות, בפרט עבור המגזר הערבי שמציג פער נגישות גדול יותר</a:t>
            </a:r>
            <a:r>
              <a:rPr lang="en-US" sz="1600" b="1">
                <a:solidFill>
                  <a:srgbClr val="1D1C64"/>
                </a:solidFill>
                <a:latin typeface="Segoe UI" panose="020B0502040204020203" pitchFamily="34" charset="0"/>
                <a:cs typeface="Segoe UI" panose="020B0502040204020203" pitchFamily="34" charset="0"/>
              </a:rPr>
              <a:t>.</a:t>
            </a:r>
            <a:endParaRPr lang="en-US" sz="1400" b="1" dirty="0">
              <a:solidFill>
                <a:srgbClr val="1D1C64"/>
              </a:solidFill>
              <a:latin typeface="Segoe UI" panose="020B0502040204020203" pitchFamily="34" charset="0"/>
              <a:cs typeface="Segoe UI" panose="020B0502040204020203" pitchFamily="34" charset="0"/>
            </a:endParaRPr>
          </a:p>
        </p:txBody>
      </p:sp>
      <p:cxnSp>
        <p:nvCxnSpPr>
          <p:cNvPr id="9" name="מחבר ישר 8">
            <a:extLst>
              <a:ext uri="{FF2B5EF4-FFF2-40B4-BE49-F238E27FC236}">
                <a16:creationId xmlns:a16="http://schemas.microsoft.com/office/drawing/2014/main" id="{2A0D1452-EB5D-4D8C-DBA6-74FC47E60BDE}"/>
              </a:ext>
            </a:extLst>
          </p:cNvPr>
          <p:cNvCxnSpPr>
            <a:cxnSpLocks/>
          </p:cNvCxnSpPr>
          <p:nvPr/>
        </p:nvCxnSpPr>
        <p:spPr>
          <a:xfrm>
            <a:off x="5777604" y="1025981"/>
            <a:ext cx="0" cy="3240000"/>
          </a:xfrm>
          <a:prstGeom prst="line">
            <a:avLst/>
          </a:prstGeom>
          <a:ln>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12" name="תיבת טקסט 11">
            <a:extLst>
              <a:ext uri="{FF2B5EF4-FFF2-40B4-BE49-F238E27FC236}">
                <a16:creationId xmlns:a16="http://schemas.microsoft.com/office/drawing/2014/main" id="{602513C2-7F1D-8185-B2D3-A85ADC504E77}"/>
              </a:ext>
            </a:extLst>
          </p:cNvPr>
          <p:cNvSpPr txBox="1"/>
          <p:nvPr/>
        </p:nvSpPr>
        <p:spPr>
          <a:xfrm>
            <a:off x="2247667" y="1151513"/>
            <a:ext cx="2520000" cy="307777"/>
          </a:xfrm>
          <a:prstGeom prst="rect">
            <a:avLst/>
          </a:prstGeom>
          <a:noFill/>
        </p:spPr>
        <p:txBody>
          <a:bodyPr wrap="square">
            <a:spAutoFit/>
          </a:bodyPr>
          <a:lstStyle/>
          <a:p>
            <a:pPr algn="ctr" rtl="1" fontAlgn="ctr"/>
            <a:r>
              <a:rPr lang="he-IL" sz="1400" b="1" u="none" strike="noStrike" dirty="0">
                <a:effectLst/>
                <a:latin typeface="Segoe UI" panose="020B0502040204020203" pitchFamily="34" charset="0"/>
                <a:cs typeface="Segoe UI" panose="020B0502040204020203" pitchFamily="34" charset="0"/>
              </a:rPr>
              <a:t>לא ביקשו להישפט</a:t>
            </a:r>
          </a:p>
        </p:txBody>
      </p:sp>
      <p:sp>
        <p:nvSpPr>
          <p:cNvPr id="13" name="תיבת טקסט 12">
            <a:extLst>
              <a:ext uri="{FF2B5EF4-FFF2-40B4-BE49-F238E27FC236}">
                <a16:creationId xmlns:a16="http://schemas.microsoft.com/office/drawing/2014/main" id="{0816348D-8D50-5BD0-65B7-A345F44F4C29}"/>
              </a:ext>
            </a:extLst>
          </p:cNvPr>
          <p:cNvSpPr txBox="1"/>
          <p:nvPr/>
        </p:nvSpPr>
        <p:spPr>
          <a:xfrm>
            <a:off x="7426473" y="1110353"/>
            <a:ext cx="2520000" cy="307777"/>
          </a:xfrm>
          <a:prstGeom prst="rect">
            <a:avLst/>
          </a:prstGeom>
          <a:noFill/>
        </p:spPr>
        <p:txBody>
          <a:bodyPr wrap="square">
            <a:spAutoFit/>
          </a:bodyPr>
          <a:lstStyle/>
          <a:p>
            <a:pPr algn="ctr" rtl="1" fontAlgn="b"/>
            <a:r>
              <a:rPr lang="he-IL" sz="1400" b="1" u="none" strike="noStrike" dirty="0">
                <a:effectLst/>
                <a:latin typeface="Segoe UI" panose="020B0502040204020203" pitchFamily="34" charset="0"/>
                <a:cs typeface="Segoe UI" panose="020B0502040204020203" pitchFamily="34" charset="0"/>
              </a:rPr>
              <a:t>ביקשו להישפט</a:t>
            </a:r>
            <a:endParaRPr lang="he-IL" sz="1400" b="1" i="0" u="none" strike="noStrike" dirty="0">
              <a:solidFill>
                <a:srgbClr val="000000"/>
              </a:solidFill>
              <a:effectLst/>
              <a:latin typeface="Segoe UI" panose="020B0502040204020203" pitchFamily="34" charset="0"/>
              <a:cs typeface="Segoe UI" panose="020B0502040204020203" pitchFamily="34" charset="0"/>
            </a:endParaRPr>
          </a:p>
        </p:txBody>
      </p:sp>
      <p:sp>
        <p:nvSpPr>
          <p:cNvPr id="4" name="Rectangle 3">
            <a:extLst>
              <a:ext uri="{FF2B5EF4-FFF2-40B4-BE49-F238E27FC236}">
                <a16:creationId xmlns:a16="http://schemas.microsoft.com/office/drawing/2014/main" id="{16DFAD52-A8AA-61C4-D631-6643AEAD3019}"/>
              </a:ext>
            </a:extLst>
          </p:cNvPr>
          <p:cNvSpPr/>
          <p:nvPr/>
        </p:nvSpPr>
        <p:spPr>
          <a:xfrm>
            <a:off x="1320802" y="191076"/>
            <a:ext cx="10614278" cy="5075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t"/>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0" cap="none" spc="0" normalizeH="0" baseline="0" noProof="0" dirty="0">
                <a:ln>
                  <a:noFill/>
                </a:ln>
                <a:solidFill>
                  <a:srgbClr val="104E88"/>
                </a:solidFill>
                <a:effectLst/>
                <a:uLnTx/>
                <a:uFillTx/>
                <a:latin typeface="Segoe UI" panose="020B0502040204020203" pitchFamily="34" charset="0"/>
                <a:cs typeface="Segoe UI" panose="020B0502040204020203" pitchFamily="34" charset="0"/>
                <a:sym typeface="Arial"/>
              </a:rPr>
              <a:t>התייעצות עם עורך דין</a:t>
            </a:r>
          </a:p>
        </p:txBody>
      </p:sp>
      <p:sp>
        <p:nvSpPr>
          <p:cNvPr id="6" name="Rectangle 28">
            <a:extLst>
              <a:ext uri="{FF2B5EF4-FFF2-40B4-BE49-F238E27FC236}">
                <a16:creationId xmlns:a16="http://schemas.microsoft.com/office/drawing/2014/main" id="{A5F121DF-1B7C-40EE-45A1-06EE08BC1672}"/>
              </a:ext>
            </a:extLst>
          </p:cNvPr>
          <p:cNvSpPr/>
          <p:nvPr/>
        </p:nvSpPr>
        <p:spPr>
          <a:xfrm>
            <a:off x="1320802" y="6473956"/>
            <a:ext cx="10531248" cy="360000"/>
          </a:xfrm>
          <a:prstGeom prst="rect">
            <a:avLst/>
          </a:prstGeom>
          <a:noFill/>
          <a:ln>
            <a:noFill/>
          </a:ln>
        </p:spPr>
        <p:txBody>
          <a:bodyPr rot="0" spcFirstLastPara="0" vertOverflow="overflow" horzOverflow="overflow" vert="horz" wrap="square" lIns="91440" tIns="45720" rIns="91440" bIns="45720" numCol="1" spcCol="0" rtlCol="1" fromWordArt="0" anchor="ctr" anchorCtr="0" forceAA="0" compatLnSpc="1">
            <a:prstTxWarp prst="textNoShape">
              <a:avLst/>
            </a:prstTxWarp>
            <a:noAutofit/>
          </a:bodyPr>
          <a:lstStyle/>
          <a:p>
            <a:pPr lvl="0" algn="r" rtl="1">
              <a:defRPr/>
            </a:pPr>
            <a:r>
              <a:rPr lang="he-IL" sz="1000" dirty="0">
                <a:solidFill>
                  <a:prstClr val="white">
                    <a:lumMod val="65000"/>
                  </a:prstClr>
                </a:solidFill>
                <a:latin typeface="Segoe UI" panose="020B0502040204020203" pitchFamily="34" charset="0"/>
                <a:cs typeface="Segoe UI" panose="020B0502040204020203" pitchFamily="34" charset="0"/>
              </a:rPr>
              <a:t>"האם לאחר שקיבלת את הדו"ח חשת צורך בליווי או התייעצות של עורך דין?"</a:t>
            </a:r>
          </a:p>
        </p:txBody>
      </p:sp>
      <p:sp>
        <p:nvSpPr>
          <p:cNvPr id="7" name="תיבת טקסט 6">
            <a:extLst>
              <a:ext uri="{FF2B5EF4-FFF2-40B4-BE49-F238E27FC236}">
                <a16:creationId xmlns:a16="http://schemas.microsoft.com/office/drawing/2014/main" id="{4232154A-D322-9977-3F76-688C670B0750}"/>
              </a:ext>
            </a:extLst>
          </p:cNvPr>
          <p:cNvSpPr txBox="1"/>
          <p:nvPr/>
        </p:nvSpPr>
        <p:spPr>
          <a:xfrm>
            <a:off x="593994" y="3085058"/>
            <a:ext cx="726808" cy="369332"/>
          </a:xfrm>
          <a:prstGeom prst="rect">
            <a:avLst/>
          </a:prstGeom>
          <a:noFill/>
        </p:spPr>
        <p:txBody>
          <a:bodyPr wrap="square">
            <a:spAutoFit/>
          </a:bodyPr>
          <a:lstStyle/>
          <a:p>
            <a:pPr algn="r" rtl="1" fontAlgn="ctr"/>
            <a:r>
              <a:rPr lang="he-IL" b="1" i="1" dirty="0">
                <a:solidFill>
                  <a:srgbClr val="156938"/>
                </a:solidFill>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t>29</a:t>
            </a:r>
            <a:r>
              <a:rPr lang="he-IL" b="1" i="1" u="none" strike="noStrike" dirty="0">
                <a:solidFill>
                  <a:srgbClr val="156938"/>
                </a:solidFill>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t>%</a:t>
            </a:r>
          </a:p>
        </p:txBody>
      </p:sp>
      <p:sp>
        <p:nvSpPr>
          <p:cNvPr id="8" name="תיבת טקסט 7">
            <a:extLst>
              <a:ext uri="{FF2B5EF4-FFF2-40B4-BE49-F238E27FC236}">
                <a16:creationId xmlns:a16="http://schemas.microsoft.com/office/drawing/2014/main" id="{19464AAB-9EFE-CCF6-AADD-1015C13FE859}"/>
              </a:ext>
            </a:extLst>
          </p:cNvPr>
          <p:cNvSpPr txBox="1"/>
          <p:nvPr/>
        </p:nvSpPr>
        <p:spPr>
          <a:xfrm>
            <a:off x="3079176" y="3059668"/>
            <a:ext cx="726808" cy="369332"/>
          </a:xfrm>
          <a:prstGeom prst="rect">
            <a:avLst/>
          </a:prstGeom>
          <a:noFill/>
        </p:spPr>
        <p:txBody>
          <a:bodyPr wrap="square">
            <a:spAutoFit/>
          </a:bodyPr>
          <a:lstStyle/>
          <a:p>
            <a:pPr algn="r" rtl="1" fontAlgn="ctr"/>
            <a:r>
              <a:rPr lang="he-IL" b="1" i="1" dirty="0">
                <a:solidFill>
                  <a:srgbClr val="156938"/>
                </a:solidFill>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t>29</a:t>
            </a:r>
            <a:r>
              <a:rPr lang="he-IL" b="1" i="1" u="none" strike="noStrike" dirty="0">
                <a:solidFill>
                  <a:srgbClr val="156938"/>
                </a:solidFill>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t>%</a:t>
            </a:r>
          </a:p>
        </p:txBody>
      </p:sp>
      <p:sp>
        <p:nvSpPr>
          <p:cNvPr id="14" name="תיבת טקסט 13">
            <a:extLst>
              <a:ext uri="{FF2B5EF4-FFF2-40B4-BE49-F238E27FC236}">
                <a16:creationId xmlns:a16="http://schemas.microsoft.com/office/drawing/2014/main" id="{E87D45C0-B0AE-DDC1-7EB7-0C8E838F6D50}"/>
              </a:ext>
            </a:extLst>
          </p:cNvPr>
          <p:cNvSpPr txBox="1"/>
          <p:nvPr/>
        </p:nvSpPr>
        <p:spPr>
          <a:xfrm>
            <a:off x="5712841" y="2403740"/>
            <a:ext cx="726808" cy="369332"/>
          </a:xfrm>
          <a:prstGeom prst="rect">
            <a:avLst/>
          </a:prstGeom>
          <a:noFill/>
        </p:spPr>
        <p:txBody>
          <a:bodyPr wrap="square">
            <a:spAutoFit/>
          </a:bodyPr>
          <a:lstStyle/>
          <a:p>
            <a:pPr algn="r" rtl="1" fontAlgn="ctr"/>
            <a:r>
              <a:rPr lang="he-IL" b="1" i="1" dirty="0">
                <a:solidFill>
                  <a:srgbClr val="156938"/>
                </a:solidFill>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t>55</a:t>
            </a:r>
            <a:r>
              <a:rPr lang="he-IL" b="1" i="1" u="none" strike="noStrike" dirty="0">
                <a:solidFill>
                  <a:srgbClr val="156938"/>
                </a:solidFill>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t>%</a:t>
            </a:r>
          </a:p>
        </p:txBody>
      </p:sp>
      <p:sp>
        <p:nvSpPr>
          <p:cNvPr id="16" name="תיבת טקסט 15">
            <a:extLst>
              <a:ext uri="{FF2B5EF4-FFF2-40B4-BE49-F238E27FC236}">
                <a16:creationId xmlns:a16="http://schemas.microsoft.com/office/drawing/2014/main" id="{34C9C431-289B-E11E-A435-BB1E860A2533}"/>
              </a:ext>
            </a:extLst>
          </p:cNvPr>
          <p:cNvSpPr txBox="1"/>
          <p:nvPr/>
        </p:nvSpPr>
        <p:spPr>
          <a:xfrm>
            <a:off x="8198023" y="2010795"/>
            <a:ext cx="726808" cy="369332"/>
          </a:xfrm>
          <a:prstGeom prst="rect">
            <a:avLst/>
          </a:prstGeom>
          <a:noFill/>
        </p:spPr>
        <p:txBody>
          <a:bodyPr wrap="square">
            <a:spAutoFit/>
          </a:bodyPr>
          <a:lstStyle/>
          <a:p>
            <a:pPr algn="r" rtl="1" fontAlgn="ctr"/>
            <a:r>
              <a:rPr lang="he-IL" b="1" i="1" dirty="0">
                <a:solidFill>
                  <a:srgbClr val="156938"/>
                </a:solidFill>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t>72</a:t>
            </a:r>
            <a:r>
              <a:rPr lang="he-IL" b="1" i="1" u="none" strike="noStrike" dirty="0">
                <a:solidFill>
                  <a:srgbClr val="156938"/>
                </a:solidFill>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t>%</a:t>
            </a:r>
          </a:p>
        </p:txBody>
      </p:sp>
      <p:sp>
        <p:nvSpPr>
          <p:cNvPr id="10" name="Rectangle: Rounded Corners 54">
            <a:hlinkClick r:id="" action="ppaction://noaction"/>
            <a:extLst>
              <a:ext uri="{FF2B5EF4-FFF2-40B4-BE49-F238E27FC236}">
                <a16:creationId xmlns:a16="http://schemas.microsoft.com/office/drawing/2014/main" id="{A8A5E6F4-74A3-979B-7AE2-54B0E0A0CEC8}"/>
              </a:ext>
            </a:extLst>
          </p:cNvPr>
          <p:cNvSpPr/>
          <p:nvPr/>
        </p:nvSpPr>
        <p:spPr>
          <a:xfrm>
            <a:off x="1418590" y="6568993"/>
            <a:ext cx="900000" cy="144000"/>
          </a:xfrm>
          <a:prstGeom prst="roundRect">
            <a:avLst>
              <a:gd name="adj" fmla="val 50000"/>
            </a:avLst>
          </a:prstGeom>
          <a:solidFill>
            <a:schemeClr val="bg1"/>
          </a:solidFill>
          <a:ln w="12700">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r" defTabSz="914400" rtl="1" eaLnBrk="1" latinLnBrk="0" hangingPunct="1">
              <a:defRPr sz="1800" kern="1200">
                <a:solidFill>
                  <a:schemeClr val="lt1"/>
                </a:solidFill>
                <a:latin typeface="+mn-lt"/>
                <a:ea typeface="+mn-ea"/>
                <a:cs typeface="+mn-cs"/>
              </a:defRPr>
            </a:lvl1pPr>
            <a:lvl2pPr marL="457200" algn="r" defTabSz="914400" rtl="1" eaLnBrk="1" latinLnBrk="0" hangingPunct="1">
              <a:defRPr sz="1800" kern="1200">
                <a:solidFill>
                  <a:schemeClr val="lt1"/>
                </a:solidFill>
                <a:latin typeface="+mn-lt"/>
                <a:ea typeface="+mn-ea"/>
                <a:cs typeface="+mn-cs"/>
              </a:defRPr>
            </a:lvl2pPr>
            <a:lvl3pPr marL="914400" algn="r" defTabSz="914400" rtl="1" eaLnBrk="1" latinLnBrk="0" hangingPunct="1">
              <a:defRPr sz="1800" kern="1200">
                <a:solidFill>
                  <a:schemeClr val="lt1"/>
                </a:solidFill>
                <a:latin typeface="+mn-lt"/>
                <a:ea typeface="+mn-ea"/>
                <a:cs typeface="+mn-cs"/>
              </a:defRPr>
            </a:lvl3pPr>
            <a:lvl4pPr marL="1371600" algn="r" defTabSz="914400" rtl="1" eaLnBrk="1" latinLnBrk="0" hangingPunct="1">
              <a:defRPr sz="1800" kern="1200">
                <a:solidFill>
                  <a:schemeClr val="lt1"/>
                </a:solidFill>
                <a:latin typeface="+mn-lt"/>
                <a:ea typeface="+mn-ea"/>
                <a:cs typeface="+mn-cs"/>
              </a:defRPr>
            </a:lvl4pPr>
            <a:lvl5pPr marL="1828800" algn="r" defTabSz="914400" rtl="1" eaLnBrk="1" latinLnBrk="0" hangingPunct="1">
              <a:defRPr sz="1800" kern="1200">
                <a:solidFill>
                  <a:schemeClr val="lt1"/>
                </a:solidFill>
                <a:latin typeface="+mn-lt"/>
                <a:ea typeface="+mn-ea"/>
                <a:cs typeface="+mn-cs"/>
              </a:defRPr>
            </a:lvl5pPr>
            <a:lvl6pPr marL="2286000" algn="r" defTabSz="914400" rtl="1" eaLnBrk="1" latinLnBrk="0" hangingPunct="1">
              <a:defRPr sz="1800" kern="1200">
                <a:solidFill>
                  <a:schemeClr val="lt1"/>
                </a:solidFill>
                <a:latin typeface="+mn-lt"/>
                <a:ea typeface="+mn-ea"/>
                <a:cs typeface="+mn-cs"/>
              </a:defRPr>
            </a:lvl6pPr>
            <a:lvl7pPr marL="2743200" algn="r" defTabSz="914400" rtl="1" eaLnBrk="1" latinLnBrk="0" hangingPunct="1">
              <a:defRPr sz="1800" kern="1200">
                <a:solidFill>
                  <a:schemeClr val="lt1"/>
                </a:solidFill>
                <a:latin typeface="+mn-lt"/>
                <a:ea typeface="+mn-ea"/>
                <a:cs typeface="+mn-cs"/>
              </a:defRPr>
            </a:lvl7pPr>
            <a:lvl8pPr marL="3200400" algn="r" defTabSz="914400" rtl="1" eaLnBrk="1" latinLnBrk="0" hangingPunct="1">
              <a:defRPr sz="1800" kern="1200">
                <a:solidFill>
                  <a:schemeClr val="lt1"/>
                </a:solidFill>
                <a:latin typeface="+mn-lt"/>
                <a:ea typeface="+mn-ea"/>
                <a:cs typeface="+mn-cs"/>
              </a:defRPr>
            </a:lvl8pPr>
            <a:lvl9pPr marL="3657600" algn="r" defTabSz="914400" rtl="1" eaLnBrk="1" latinLnBrk="0" hangingPunct="1">
              <a:defRPr sz="1800" kern="1200">
                <a:solidFill>
                  <a:schemeClr val="lt1"/>
                </a:solidFill>
                <a:latin typeface="+mn-lt"/>
                <a:ea typeface="+mn-ea"/>
                <a:cs typeface="+mn-cs"/>
              </a:defRPr>
            </a:lvl9pPr>
          </a:lstStyle>
          <a:p>
            <a:pPr marL="0" marR="0" lvl="0" indent="0" algn="ctr" defTabSz="914400" rtl="1" eaLnBrk="1" fontAlgn="base" latinLnBrk="0" hangingPunct="1">
              <a:lnSpc>
                <a:spcPct val="100000"/>
              </a:lnSpc>
              <a:spcBef>
                <a:spcPct val="0"/>
              </a:spcBef>
              <a:spcAft>
                <a:spcPct val="0"/>
              </a:spcAft>
              <a:buClrTx/>
              <a:buSzTx/>
              <a:buFontTx/>
              <a:buNone/>
              <a:tabLst/>
              <a:defRPr/>
            </a:pPr>
            <a:r>
              <a:rPr kumimoji="0" lang="he-IL" sz="1100" b="0" i="0" u="none" strike="noStrike" kern="1200" cap="none" spc="0" normalizeH="0" baseline="0" noProof="0" dirty="0">
                <a:ln>
                  <a:noFill/>
                </a:ln>
                <a:solidFill>
                  <a:schemeClr val="bg1">
                    <a:lumMod val="65000"/>
                  </a:schemeClr>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סגמנטציה</a:t>
            </a:r>
            <a:endParaRPr kumimoji="0" lang="en-IL" sz="1100" b="0" i="0" u="none" strike="noStrike" kern="1200" cap="none" spc="0" normalizeH="0" baseline="0" noProof="0" dirty="0">
              <a:ln>
                <a:noFill/>
              </a:ln>
              <a:solidFill>
                <a:schemeClr val="bg1">
                  <a:lumMod val="65000"/>
                </a:schemeClr>
              </a:solidFill>
              <a:effectLst/>
              <a:uLnTx/>
              <a:uFillTx/>
              <a:latin typeface="Segoe UI" panose="020B0502040204020203" pitchFamily="34" charset="0"/>
              <a:ea typeface="+mn-ea"/>
              <a:cs typeface="Segoe UI" panose="020B0502040204020203" pitchFamily="34" charset="0"/>
            </a:endParaRPr>
          </a:p>
        </p:txBody>
      </p:sp>
    </p:spTree>
    <p:extLst>
      <p:ext uri="{BB962C8B-B14F-4D97-AF65-F5344CB8AC3E}">
        <p14:creationId xmlns:p14="http://schemas.microsoft.com/office/powerpoint/2010/main" val="27289589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C178861-4F4F-9EB5-A278-DF657FE7F9AD}"/>
            </a:ext>
          </a:extLst>
        </p:cNvPr>
        <p:cNvGrpSpPr/>
        <p:nvPr/>
      </p:nvGrpSpPr>
      <p:grpSpPr>
        <a:xfrm>
          <a:off x="0" y="0"/>
          <a:ext cx="0" cy="0"/>
          <a:chOff x="0" y="0"/>
          <a:chExt cx="0" cy="0"/>
        </a:xfrm>
      </p:grpSpPr>
      <p:graphicFrame>
        <p:nvGraphicFramePr>
          <p:cNvPr id="5" name="אובייקט 3">
            <a:extLst>
              <a:ext uri="{FF2B5EF4-FFF2-40B4-BE49-F238E27FC236}">
                <a16:creationId xmlns:a16="http://schemas.microsoft.com/office/drawing/2014/main" id="{77D8B063-0F6A-F0CA-08AF-B38E28DAD05D}"/>
              </a:ext>
            </a:extLst>
          </p:cNvPr>
          <p:cNvGraphicFramePr>
            <a:graphicFrameLocks noChangeAspect="1"/>
          </p:cNvGraphicFramePr>
          <p:nvPr>
            <p:extLst>
              <p:ext uri="{D42A27DB-BD31-4B8C-83A1-F6EECF244321}">
                <p14:modId xmlns:p14="http://schemas.microsoft.com/office/powerpoint/2010/main" val="3331644662"/>
              </p:ext>
            </p:extLst>
          </p:nvPr>
        </p:nvGraphicFramePr>
        <p:xfrm>
          <a:off x="741987" y="1321254"/>
          <a:ext cx="11340002" cy="1152000"/>
        </p:xfrm>
        <a:graphic>
          <a:graphicData uri="http://schemas.openxmlformats.org/drawingml/2006/chart">
            <c:chart xmlns:c="http://schemas.openxmlformats.org/drawingml/2006/chart" xmlns:r="http://schemas.openxmlformats.org/officeDocument/2006/relationships" r:id="rId3"/>
          </a:graphicData>
        </a:graphic>
      </p:graphicFrame>
      <p:sp>
        <p:nvSpPr>
          <p:cNvPr id="15" name="Slide Number Placeholder 1">
            <a:extLst>
              <a:ext uri="{FF2B5EF4-FFF2-40B4-BE49-F238E27FC236}">
                <a16:creationId xmlns:a16="http://schemas.microsoft.com/office/drawing/2014/main" id="{28D59A4E-3541-69CF-89F4-F9904714B9B6}"/>
              </a:ext>
            </a:extLst>
          </p:cNvPr>
          <p:cNvSpPr txBox="1">
            <a:spLocks/>
          </p:cNvSpPr>
          <p:nvPr/>
        </p:nvSpPr>
        <p:spPr>
          <a:xfrm>
            <a:off x="11541989" y="6473956"/>
            <a:ext cx="540000" cy="360000"/>
          </a:xfrm>
          <a:prstGeom prst="rect">
            <a:avLst/>
          </a:prstGeom>
          <a:noFill/>
          <a:ln w="12700" cap="flat" cmpd="sng" algn="ctr">
            <a:noFill/>
            <a:prstDash val="solid"/>
            <a:miter lim="800000"/>
          </a:ln>
          <a:effectLst/>
        </p:spPr>
        <p:txBody>
          <a:bodyPr rot="0" spcFirstLastPara="0" vertOverflow="overflow" horzOverflow="overflow" vert="horz" wrap="square" lIns="91440" tIns="45720" rIns="91440" bIns="45720" numCol="1" spcCol="0" rtlCol="1" fromWordArt="0" anchor="ctr" anchorCtr="0" forceAA="0" compatLnSpc="1">
            <a:prstTxWarp prst="textNoShape">
              <a:avLst/>
            </a:prstTxWarp>
            <a:noAutofit/>
          </a:bodyPr>
          <a:lstStyle>
            <a:defPPr>
              <a:defRPr lang="he-IL"/>
            </a:defPPr>
            <a:lvl1pPr marL="0" algn="l" defTabSz="914400" rtl="0" eaLnBrk="1" latinLnBrk="0" hangingPunct="1">
              <a:defRPr lang="he-IL" sz="1100" kern="1200" smtClean="0">
                <a:solidFill>
                  <a:schemeClr val="bg1">
                    <a:lumMod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r" rtl="1">
              <a:defRPr/>
            </a:pPr>
            <a:fld id="{7A91BF3F-E284-4570-AC28-CDAE2F1A1EA1}" type="slidenum">
              <a:rPr lang="he-IL" smtClean="0">
                <a:solidFill>
                  <a:prstClr val="white">
                    <a:lumMod val="75000"/>
                  </a:prstClr>
                </a:solidFill>
              </a:rPr>
              <a:pPr algn="r" rtl="1">
                <a:defRPr/>
              </a:pPr>
              <a:t>21</a:t>
            </a:fld>
            <a:endParaRPr lang="he-IL" dirty="0">
              <a:solidFill>
                <a:prstClr val="white">
                  <a:lumMod val="75000"/>
                </a:prstClr>
              </a:solidFill>
            </a:endParaRPr>
          </a:p>
        </p:txBody>
      </p:sp>
      <p:cxnSp>
        <p:nvCxnSpPr>
          <p:cNvPr id="2" name="Straight Connector 6">
            <a:extLst>
              <a:ext uri="{FF2B5EF4-FFF2-40B4-BE49-F238E27FC236}">
                <a16:creationId xmlns:a16="http://schemas.microsoft.com/office/drawing/2014/main" id="{077788EE-DB03-3915-F2CB-186849435CE5}"/>
              </a:ext>
            </a:extLst>
          </p:cNvPr>
          <p:cNvCxnSpPr>
            <a:cxnSpLocks/>
          </p:cNvCxnSpPr>
          <p:nvPr/>
        </p:nvCxnSpPr>
        <p:spPr>
          <a:xfrm rot="16200000" flipV="1">
            <a:off x="6141989" y="-312638"/>
            <a:ext cx="0" cy="10800000"/>
          </a:xfrm>
          <a:prstGeom prst="line">
            <a:avLst/>
          </a:prstGeom>
          <a:ln w="25400" cap="rnd">
            <a:solidFill>
              <a:schemeClr val="bg1">
                <a:lumMod val="85000"/>
              </a:schemeClr>
            </a:solidFill>
            <a:round/>
          </a:ln>
        </p:spPr>
        <p:style>
          <a:lnRef idx="1">
            <a:schemeClr val="accent1"/>
          </a:lnRef>
          <a:fillRef idx="0">
            <a:schemeClr val="accent1"/>
          </a:fillRef>
          <a:effectRef idx="0">
            <a:schemeClr val="accent1"/>
          </a:effectRef>
          <a:fontRef idx="minor">
            <a:schemeClr val="tx1"/>
          </a:fontRef>
        </p:style>
      </p:cxnSp>
      <p:sp>
        <p:nvSpPr>
          <p:cNvPr id="3" name="Rectangle 6">
            <a:extLst>
              <a:ext uri="{FF2B5EF4-FFF2-40B4-BE49-F238E27FC236}">
                <a16:creationId xmlns:a16="http://schemas.microsoft.com/office/drawing/2014/main" id="{0DED58FE-39AF-7352-5057-34FE7AAB919C}"/>
              </a:ext>
            </a:extLst>
          </p:cNvPr>
          <p:cNvSpPr/>
          <p:nvPr/>
        </p:nvSpPr>
        <p:spPr>
          <a:xfrm>
            <a:off x="741987" y="4949737"/>
            <a:ext cx="11256150" cy="1440000"/>
          </a:xfrm>
          <a:prstGeom prst="rect">
            <a:avLst/>
          </a:prstGeom>
        </p:spPr>
        <p:txBody>
          <a:bodyPr wrap="square" anchor="ctr">
            <a:noAutofit/>
          </a:bodyPr>
          <a:lstStyle/>
          <a:p>
            <a:pPr algn="ctr" rtl="1">
              <a:lnSpc>
                <a:spcPct val="150000"/>
              </a:lnSpc>
            </a:pPr>
            <a:r>
              <a:rPr lang="he-IL" sz="1600" dirty="0">
                <a:latin typeface="Segoe UI" panose="020B0502040204020203" pitchFamily="34" charset="0"/>
                <a:cs typeface="Segoe UI" panose="020B0502040204020203" pitchFamily="34" charset="0"/>
              </a:rPr>
              <a:t>הצורך בליווי משפטי גבוה יותר מרבית הנשים, צעירים ומקבלי יותר מדוח אחד. מקבוצות הגיל ובקרב מי שקיבלו 2+ דוחות</a:t>
            </a:r>
            <a:r>
              <a:rPr lang="en-US" sz="1600" dirty="0">
                <a:latin typeface="Segoe UI" panose="020B0502040204020203" pitchFamily="34" charset="0"/>
                <a:cs typeface="Segoe UI" panose="020B0502040204020203" pitchFamily="34" charset="0"/>
              </a:rPr>
              <a:t>.</a:t>
            </a:r>
            <a:endParaRPr lang="he-IL" sz="1600">
              <a:latin typeface="Segoe UI" panose="020B0502040204020203" pitchFamily="34" charset="0"/>
              <a:cs typeface="Segoe UI" panose="020B0502040204020203" pitchFamily="34" charset="0"/>
            </a:endParaRPr>
          </a:p>
          <a:p>
            <a:pPr algn="ctr" rtl="1">
              <a:lnSpc>
                <a:spcPct val="150000"/>
              </a:lnSpc>
            </a:pPr>
            <a:r>
              <a:rPr lang="en-US" sz="1600">
                <a:latin typeface="Segoe UI" panose="020B0502040204020203" pitchFamily="34" charset="0"/>
                <a:cs typeface="Segoe UI" panose="020B0502040204020203" pitchFamily="34" charset="0"/>
              </a:rPr>
              <a:t> </a:t>
            </a:r>
            <a:r>
              <a:rPr lang="he-IL" sz="1600" b="1" dirty="0">
                <a:solidFill>
                  <a:srgbClr val="1D1C64"/>
                </a:solidFill>
                <a:latin typeface="Segoe UI" panose="020B0502040204020203" pitchFamily="34" charset="0"/>
                <a:cs typeface="Segoe UI" panose="020B0502040204020203" pitchFamily="34" charset="0"/>
              </a:rPr>
              <a:t>חשוב לזהות מראש פרופילים "עתירי מורכבות" ולתת להם תמיכה יזומה באמצעות "סיוע משפטי קהילתי" דיגיטלי מובנה בפלטפורמת בית הדין או חלופה דומה שתתמקד, המתמקד בנהגים חוזרים ובצעירים ממגזרים חסרי-נגישות</a:t>
            </a:r>
            <a:r>
              <a:rPr lang="en-US" sz="1600" b="1" dirty="0">
                <a:solidFill>
                  <a:srgbClr val="1D1C64"/>
                </a:solidFill>
                <a:latin typeface="Segoe UI" panose="020B0502040204020203" pitchFamily="34" charset="0"/>
                <a:cs typeface="Segoe UI" panose="020B0502040204020203" pitchFamily="34" charset="0"/>
              </a:rPr>
              <a:t>.</a:t>
            </a:r>
          </a:p>
        </p:txBody>
      </p:sp>
      <p:cxnSp>
        <p:nvCxnSpPr>
          <p:cNvPr id="9" name="מחבר ישר 8">
            <a:extLst>
              <a:ext uri="{FF2B5EF4-FFF2-40B4-BE49-F238E27FC236}">
                <a16:creationId xmlns:a16="http://schemas.microsoft.com/office/drawing/2014/main" id="{8D0FABDB-4FFF-B4EC-B981-C9858CB30918}"/>
              </a:ext>
            </a:extLst>
          </p:cNvPr>
          <p:cNvCxnSpPr>
            <a:cxnSpLocks/>
          </p:cNvCxnSpPr>
          <p:nvPr/>
        </p:nvCxnSpPr>
        <p:spPr>
          <a:xfrm>
            <a:off x="6472929" y="871601"/>
            <a:ext cx="0" cy="4140000"/>
          </a:xfrm>
          <a:prstGeom prst="line">
            <a:avLst/>
          </a:prstGeom>
          <a:ln>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12" name="תיבת טקסט 11">
            <a:extLst>
              <a:ext uri="{FF2B5EF4-FFF2-40B4-BE49-F238E27FC236}">
                <a16:creationId xmlns:a16="http://schemas.microsoft.com/office/drawing/2014/main" id="{58F2AD6A-7536-29A2-B281-9AAB9E9183E3}"/>
              </a:ext>
            </a:extLst>
          </p:cNvPr>
          <p:cNvSpPr txBox="1"/>
          <p:nvPr/>
        </p:nvSpPr>
        <p:spPr>
          <a:xfrm>
            <a:off x="2495317" y="780038"/>
            <a:ext cx="2520000" cy="307777"/>
          </a:xfrm>
          <a:prstGeom prst="rect">
            <a:avLst/>
          </a:prstGeom>
          <a:noFill/>
        </p:spPr>
        <p:txBody>
          <a:bodyPr wrap="square">
            <a:spAutoFit/>
          </a:bodyPr>
          <a:lstStyle/>
          <a:p>
            <a:pPr algn="ctr" rtl="1" fontAlgn="ctr"/>
            <a:r>
              <a:rPr lang="he-IL" sz="1400" b="1" u="none" strike="noStrike" dirty="0">
                <a:effectLst/>
                <a:latin typeface="Segoe UI" panose="020B0502040204020203" pitchFamily="34" charset="0"/>
                <a:cs typeface="Segoe UI" panose="020B0502040204020203" pitchFamily="34" charset="0"/>
              </a:rPr>
              <a:t>לא ביקשו להישפט</a:t>
            </a:r>
          </a:p>
        </p:txBody>
      </p:sp>
      <p:sp>
        <p:nvSpPr>
          <p:cNvPr id="13" name="תיבת טקסט 12">
            <a:extLst>
              <a:ext uri="{FF2B5EF4-FFF2-40B4-BE49-F238E27FC236}">
                <a16:creationId xmlns:a16="http://schemas.microsoft.com/office/drawing/2014/main" id="{44F4200B-AB2E-1E9E-E5DC-6A90AC3CAAE2}"/>
              </a:ext>
            </a:extLst>
          </p:cNvPr>
          <p:cNvSpPr txBox="1"/>
          <p:nvPr/>
        </p:nvSpPr>
        <p:spPr>
          <a:xfrm>
            <a:off x="7921773" y="738878"/>
            <a:ext cx="2520000" cy="307777"/>
          </a:xfrm>
          <a:prstGeom prst="rect">
            <a:avLst/>
          </a:prstGeom>
          <a:noFill/>
        </p:spPr>
        <p:txBody>
          <a:bodyPr wrap="square">
            <a:spAutoFit/>
          </a:bodyPr>
          <a:lstStyle/>
          <a:p>
            <a:pPr algn="ctr" rtl="1" fontAlgn="b"/>
            <a:r>
              <a:rPr lang="he-IL" sz="1400" b="1" u="none" strike="noStrike" dirty="0">
                <a:effectLst/>
                <a:latin typeface="Segoe UI" panose="020B0502040204020203" pitchFamily="34" charset="0"/>
                <a:cs typeface="Segoe UI" panose="020B0502040204020203" pitchFamily="34" charset="0"/>
              </a:rPr>
              <a:t>ביקשו להישפט</a:t>
            </a:r>
            <a:endParaRPr lang="he-IL" sz="1400" b="1" i="0" u="none" strike="noStrike" dirty="0">
              <a:solidFill>
                <a:srgbClr val="000000"/>
              </a:solidFill>
              <a:effectLst/>
              <a:latin typeface="Segoe UI" panose="020B0502040204020203" pitchFamily="34" charset="0"/>
              <a:cs typeface="Segoe UI" panose="020B0502040204020203" pitchFamily="34" charset="0"/>
            </a:endParaRPr>
          </a:p>
        </p:txBody>
      </p:sp>
      <p:sp>
        <p:nvSpPr>
          <p:cNvPr id="4" name="Rectangle 3">
            <a:extLst>
              <a:ext uri="{FF2B5EF4-FFF2-40B4-BE49-F238E27FC236}">
                <a16:creationId xmlns:a16="http://schemas.microsoft.com/office/drawing/2014/main" id="{43AFBF47-29CE-051C-594D-B672F611175C}"/>
              </a:ext>
            </a:extLst>
          </p:cNvPr>
          <p:cNvSpPr/>
          <p:nvPr/>
        </p:nvSpPr>
        <p:spPr>
          <a:xfrm>
            <a:off x="1320802" y="191076"/>
            <a:ext cx="10614278" cy="5075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t"/>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0" cap="none" spc="0" normalizeH="0" baseline="0" noProof="0" dirty="0">
                <a:ln>
                  <a:noFill/>
                </a:ln>
                <a:solidFill>
                  <a:srgbClr val="104E88"/>
                </a:solidFill>
                <a:effectLst/>
                <a:uLnTx/>
                <a:uFillTx/>
                <a:latin typeface="Segoe UI" panose="020B0502040204020203" pitchFamily="34" charset="0"/>
                <a:cs typeface="Segoe UI" panose="020B0502040204020203" pitchFamily="34" charset="0"/>
                <a:sym typeface="Arial"/>
              </a:rPr>
              <a:t>התייעצות עם עורך </a:t>
            </a:r>
            <a:r>
              <a:rPr kumimoji="0" lang="he-IL" sz="2000" b="0" i="0" u="none" strike="noStrike" kern="0" cap="none" spc="0" normalizeH="0" baseline="0" noProof="0" dirty="0">
                <a:ln>
                  <a:noFill/>
                </a:ln>
                <a:solidFill>
                  <a:srgbClr val="104E88"/>
                </a:solidFill>
                <a:effectLst/>
                <a:uLnTx/>
                <a:uFillTx/>
                <a:latin typeface="Segoe UI" panose="020B0502040204020203" pitchFamily="34" charset="0"/>
                <a:ea typeface="+mn-ea"/>
                <a:cs typeface="Segoe UI" panose="020B0502040204020203" pitchFamily="34" charset="0"/>
                <a:sym typeface="Arial"/>
              </a:rPr>
              <a:t>| סגמנטציה</a:t>
            </a:r>
            <a:endParaRPr kumimoji="0" lang="he-IL" sz="2800" b="1" i="0" u="none" strike="noStrike" kern="0" cap="none" spc="0" normalizeH="0" baseline="0" noProof="0" dirty="0">
              <a:ln>
                <a:noFill/>
              </a:ln>
              <a:solidFill>
                <a:srgbClr val="104E88"/>
              </a:solidFill>
              <a:effectLst/>
              <a:uLnTx/>
              <a:uFillTx/>
              <a:latin typeface="Segoe UI" panose="020B0502040204020203" pitchFamily="34" charset="0"/>
              <a:cs typeface="Segoe UI" panose="020B0502040204020203" pitchFamily="34" charset="0"/>
              <a:sym typeface="Arial"/>
            </a:endParaRPr>
          </a:p>
        </p:txBody>
      </p:sp>
      <p:sp>
        <p:nvSpPr>
          <p:cNvPr id="6" name="Rectangle 28">
            <a:extLst>
              <a:ext uri="{FF2B5EF4-FFF2-40B4-BE49-F238E27FC236}">
                <a16:creationId xmlns:a16="http://schemas.microsoft.com/office/drawing/2014/main" id="{5EADD819-7306-FDA4-EABD-BEF4CA56CCB6}"/>
              </a:ext>
            </a:extLst>
          </p:cNvPr>
          <p:cNvSpPr/>
          <p:nvPr/>
        </p:nvSpPr>
        <p:spPr>
          <a:xfrm>
            <a:off x="1320802" y="6473956"/>
            <a:ext cx="10531248" cy="360000"/>
          </a:xfrm>
          <a:prstGeom prst="rect">
            <a:avLst/>
          </a:prstGeom>
          <a:noFill/>
          <a:ln>
            <a:noFill/>
          </a:ln>
        </p:spPr>
        <p:txBody>
          <a:bodyPr rot="0" spcFirstLastPara="0" vertOverflow="overflow" horzOverflow="overflow" vert="horz" wrap="square" lIns="91440" tIns="45720" rIns="91440" bIns="45720" numCol="1" spcCol="0" rtlCol="1" fromWordArt="0" anchor="ctr" anchorCtr="0" forceAA="0" compatLnSpc="1">
            <a:prstTxWarp prst="textNoShape">
              <a:avLst/>
            </a:prstTxWarp>
            <a:noAutofit/>
          </a:bodyPr>
          <a:lstStyle/>
          <a:p>
            <a:pPr lvl="0" algn="r" rtl="1">
              <a:defRPr/>
            </a:pPr>
            <a:r>
              <a:rPr lang="he-IL" sz="1000" dirty="0">
                <a:solidFill>
                  <a:prstClr val="white">
                    <a:lumMod val="65000"/>
                  </a:prstClr>
                </a:solidFill>
                <a:latin typeface="Segoe UI" panose="020B0502040204020203" pitchFamily="34" charset="0"/>
                <a:cs typeface="Segoe UI" panose="020B0502040204020203" pitchFamily="34" charset="0"/>
              </a:rPr>
              <a:t>"האם לאחר שקיבלת את הדו"ח חשת צורך בליווי או התייעצות של עורך דין?"</a:t>
            </a:r>
          </a:p>
        </p:txBody>
      </p:sp>
      <p:sp>
        <p:nvSpPr>
          <p:cNvPr id="10" name="Rectangle: Rounded Corners 54">
            <a:hlinkClick r:id="" action="ppaction://noaction"/>
            <a:extLst>
              <a:ext uri="{FF2B5EF4-FFF2-40B4-BE49-F238E27FC236}">
                <a16:creationId xmlns:a16="http://schemas.microsoft.com/office/drawing/2014/main" id="{13954773-901B-CC1E-A759-A9DBDFF34AB2}"/>
              </a:ext>
            </a:extLst>
          </p:cNvPr>
          <p:cNvSpPr/>
          <p:nvPr/>
        </p:nvSpPr>
        <p:spPr>
          <a:xfrm>
            <a:off x="1418590" y="6568993"/>
            <a:ext cx="900000" cy="144000"/>
          </a:xfrm>
          <a:prstGeom prst="roundRect">
            <a:avLst>
              <a:gd name="adj" fmla="val 50000"/>
            </a:avLst>
          </a:prstGeom>
          <a:solidFill>
            <a:schemeClr val="bg1"/>
          </a:solidFill>
          <a:ln w="12700">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r" defTabSz="914400" rtl="1" eaLnBrk="1" latinLnBrk="0" hangingPunct="1">
              <a:defRPr sz="1800" kern="1200">
                <a:solidFill>
                  <a:schemeClr val="lt1"/>
                </a:solidFill>
                <a:latin typeface="+mn-lt"/>
                <a:ea typeface="+mn-ea"/>
                <a:cs typeface="+mn-cs"/>
              </a:defRPr>
            </a:lvl1pPr>
            <a:lvl2pPr marL="457200" algn="r" defTabSz="914400" rtl="1" eaLnBrk="1" latinLnBrk="0" hangingPunct="1">
              <a:defRPr sz="1800" kern="1200">
                <a:solidFill>
                  <a:schemeClr val="lt1"/>
                </a:solidFill>
                <a:latin typeface="+mn-lt"/>
                <a:ea typeface="+mn-ea"/>
                <a:cs typeface="+mn-cs"/>
              </a:defRPr>
            </a:lvl2pPr>
            <a:lvl3pPr marL="914400" algn="r" defTabSz="914400" rtl="1" eaLnBrk="1" latinLnBrk="0" hangingPunct="1">
              <a:defRPr sz="1800" kern="1200">
                <a:solidFill>
                  <a:schemeClr val="lt1"/>
                </a:solidFill>
                <a:latin typeface="+mn-lt"/>
                <a:ea typeface="+mn-ea"/>
                <a:cs typeface="+mn-cs"/>
              </a:defRPr>
            </a:lvl3pPr>
            <a:lvl4pPr marL="1371600" algn="r" defTabSz="914400" rtl="1" eaLnBrk="1" latinLnBrk="0" hangingPunct="1">
              <a:defRPr sz="1800" kern="1200">
                <a:solidFill>
                  <a:schemeClr val="lt1"/>
                </a:solidFill>
                <a:latin typeface="+mn-lt"/>
                <a:ea typeface="+mn-ea"/>
                <a:cs typeface="+mn-cs"/>
              </a:defRPr>
            </a:lvl4pPr>
            <a:lvl5pPr marL="1828800" algn="r" defTabSz="914400" rtl="1" eaLnBrk="1" latinLnBrk="0" hangingPunct="1">
              <a:defRPr sz="1800" kern="1200">
                <a:solidFill>
                  <a:schemeClr val="lt1"/>
                </a:solidFill>
                <a:latin typeface="+mn-lt"/>
                <a:ea typeface="+mn-ea"/>
                <a:cs typeface="+mn-cs"/>
              </a:defRPr>
            </a:lvl5pPr>
            <a:lvl6pPr marL="2286000" algn="r" defTabSz="914400" rtl="1" eaLnBrk="1" latinLnBrk="0" hangingPunct="1">
              <a:defRPr sz="1800" kern="1200">
                <a:solidFill>
                  <a:schemeClr val="lt1"/>
                </a:solidFill>
                <a:latin typeface="+mn-lt"/>
                <a:ea typeface="+mn-ea"/>
                <a:cs typeface="+mn-cs"/>
              </a:defRPr>
            </a:lvl6pPr>
            <a:lvl7pPr marL="2743200" algn="r" defTabSz="914400" rtl="1" eaLnBrk="1" latinLnBrk="0" hangingPunct="1">
              <a:defRPr sz="1800" kern="1200">
                <a:solidFill>
                  <a:schemeClr val="lt1"/>
                </a:solidFill>
                <a:latin typeface="+mn-lt"/>
                <a:ea typeface="+mn-ea"/>
                <a:cs typeface="+mn-cs"/>
              </a:defRPr>
            </a:lvl7pPr>
            <a:lvl8pPr marL="3200400" algn="r" defTabSz="914400" rtl="1" eaLnBrk="1" latinLnBrk="0" hangingPunct="1">
              <a:defRPr sz="1800" kern="1200">
                <a:solidFill>
                  <a:schemeClr val="lt1"/>
                </a:solidFill>
                <a:latin typeface="+mn-lt"/>
                <a:ea typeface="+mn-ea"/>
                <a:cs typeface="+mn-cs"/>
              </a:defRPr>
            </a:lvl8pPr>
            <a:lvl9pPr marL="3657600" algn="r" defTabSz="914400" rtl="1" eaLnBrk="1" latinLnBrk="0" hangingPunct="1">
              <a:defRPr sz="1800" kern="1200">
                <a:solidFill>
                  <a:schemeClr val="lt1"/>
                </a:solidFill>
                <a:latin typeface="+mn-lt"/>
                <a:ea typeface="+mn-ea"/>
                <a:cs typeface="+mn-cs"/>
              </a:defRPr>
            </a:lvl9pPr>
          </a:lstStyle>
          <a:p>
            <a:pPr marL="0" marR="0" lvl="0" indent="0" algn="ctr" defTabSz="914400" rtl="1" eaLnBrk="1" fontAlgn="base" latinLnBrk="0" hangingPunct="1">
              <a:lnSpc>
                <a:spcPct val="100000"/>
              </a:lnSpc>
              <a:spcBef>
                <a:spcPct val="0"/>
              </a:spcBef>
              <a:spcAft>
                <a:spcPct val="0"/>
              </a:spcAft>
              <a:buClrTx/>
              <a:buSzTx/>
              <a:buFontTx/>
              <a:buNone/>
              <a:tabLst/>
              <a:defRPr/>
            </a:pPr>
            <a:r>
              <a:rPr kumimoji="0" lang="he-IL" sz="1100" b="0" i="0" u="none" strike="noStrike" kern="1200" cap="none" spc="0" normalizeH="0" baseline="0" noProof="0" dirty="0">
                <a:ln>
                  <a:noFill/>
                </a:ln>
                <a:solidFill>
                  <a:schemeClr val="bg1">
                    <a:lumMod val="65000"/>
                  </a:schemeClr>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&lt;--- חזור</a:t>
            </a:r>
            <a:endParaRPr kumimoji="0" lang="en-IL" sz="1100" b="0" i="0" u="none" strike="noStrike" kern="1200" cap="none" spc="0" normalizeH="0" baseline="0" noProof="0" dirty="0">
              <a:ln>
                <a:noFill/>
              </a:ln>
              <a:solidFill>
                <a:schemeClr val="bg1">
                  <a:lumMod val="65000"/>
                </a:schemeClr>
              </a:solidFill>
              <a:effectLst/>
              <a:uLnTx/>
              <a:uFillTx/>
              <a:latin typeface="Segoe UI" panose="020B0502040204020203" pitchFamily="34" charset="0"/>
              <a:ea typeface="+mn-ea"/>
              <a:cs typeface="Segoe UI" panose="020B0502040204020203" pitchFamily="34" charset="0"/>
            </a:endParaRPr>
          </a:p>
        </p:txBody>
      </p:sp>
      <p:pic>
        <p:nvPicPr>
          <p:cNvPr id="20" name="תמונה 19">
            <a:extLst>
              <a:ext uri="{FF2B5EF4-FFF2-40B4-BE49-F238E27FC236}">
                <a16:creationId xmlns:a16="http://schemas.microsoft.com/office/drawing/2014/main" id="{B1BD9FF1-C540-537D-27A1-AD9DDE0B417A}"/>
              </a:ext>
            </a:extLst>
          </p:cNvPr>
          <p:cNvPicPr>
            <a:picLocks noChangeAspect="1"/>
          </p:cNvPicPr>
          <p:nvPr/>
        </p:nvPicPr>
        <p:blipFill>
          <a:blip r:embed="rId4"/>
          <a:stretch>
            <a:fillRect/>
          </a:stretch>
        </p:blipFill>
        <p:spPr>
          <a:xfrm>
            <a:off x="3257972" y="6510700"/>
            <a:ext cx="4168501" cy="312447"/>
          </a:xfrm>
          <a:prstGeom prst="rect">
            <a:avLst/>
          </a:prstGeom>
        </p:spPr>
      </p:pic>
      <p:graphicFrame>
        <p:nvGraphicFramePr>
          <p:cNvPr id="21" name="אובייקט 3">
            <a:extLst>
              <a:ext uri="{FF2B5EF4-FFF2-40B4-BE49-F238E27FC236}">
                <a16:creationId xmlns:a16="http://schemas.microsoft.com/office/drawing/2014/main" id="{5E6F7DBF-6227-48BA-BA33-D18F34D3372A}"/>
              </a:ext>
            </a:extLst>
          </p:cNvPr>
          <p:cNvGraphicFramePr>
            <a:graphicFrameLocks noChangeAspect="1"/>
          </p:cNvGraphicFramePr>
          <p:nvPr>
            <p:extLst>
              <p:ext uri="{D42A27DB-BD31-4B8C-83A1-F6EECF244321}">
                <p14:modId xmlns:p14="http://schemas.microsoft.com/office/powerpoint/2010/main" val="3935895180"/>
              </p:ext>
            </p:extLst>
          </p:nvPr>
        </p:nvGraphicFramePr>
        <p:xfrm>
          <a:off x="741987" y="2613994"/>
          <a:ext cx="11340002" cy="115200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2" name="אובייקט 3">
            <a:extLst>
              <a:ext uri="{FF2B5EF4-FFF2-40B4-BE49-F238E27FC236}">
                <a16:creationId xmlns:a16="http://schemas.microsoft.com/office/drawing/2014/main" id="{03C13CEA-763D-0B17-00F8-6D1E786E578A}"/>
              </a:ext>
            </a:extLst>
          </p:cNvPr>
          <p:cNvGraphicFramePr>
            <a:graphicFrameLocks noChangeAspect="1"/>
          </p:cNvGraphicFramePr>
          <p:nvPr>
            <p:extLst>
              <p:ext uri="{D42A27DB-BD31-4B8C-83A1-F6EECF244321}">
                <p14:modId xmlns:p14="http://schemas.microsoft.com/office/powerpoint/2010/main" val="2162011635"/>
              </p:ext>
            </p:extLst>
          </p:nvPr>
        </p:nvGraphicFramePr>
        <p:xfrm>
          <a:off x="741987" y="3836137"/>
          <a:ext cx="11340002" cy="1152000"/>
        </p:xfrm>
        <a:graphic>
          <a:graphicData uri="http://schemas.openxmlformats.org/drawingml/2006/chart">
            <c:chart xmlns:c="http://schemas.openxmlformats.org/drawingml/2006/chart" xmlns:r="http://schemas.openxmlformats.org/officeDocument/2006/relationships" r:id="rId6"/>
          </a:graphicData>
        </a:graphic>
      </p:graphicFrame>
      <p:cxnSp>
        <p:nvCxnSpPr>
          <p:cNvPr id="23" name="מחבר ישר 22">
            <a:extLst>
              <a:ext uri="{FF2B5EF4-FFF2-40B4-BE49-F238E27FC236}">
                <a16:creationId xmlns:a16="http://schemas.microsoft.com/office/drawing/2014/main" id="{FE4EE9F0-0DDD-D062-3B63-B14EC35B052A}"/>
              </a:ext>
            </a:extLst>
          </p:cNvPr>
          <p:cNvCxnSpPr>
            <a:cxnSpLocks/>
          </p:cNvCxnSpPr>
          <p:nvPr/>
        </p:nvCxnSpPr>
        <p:spPr>
          <a:xfrm>
            <a:off x="9294814" y="1231601"/>
            <a:ext cx="0" cy="3780000"/>
          </a:xfrm>
          <a:prstGeom prst="line">
            <a:avLst/>
          </a:prstGeom>
          <a:ln>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24" name="מחבר ישר 23">
            <a:extLst>
              <a:ext uri="{FF2B5EF4-FFF2-40B4-BE49-F238E27FC236}">
                <a16:creationId xmlns:a16="http://schemas.microsoft.com/office/drawing/2014/main" id="{7FDAFC81-0739-F5E4-B5F1-50D04E71ECC8}"/>
              </a:ext>
            </a:extLst>
          </p:cNvPr>
          <p:cNvCxnSpPr>
            <a:cxnSpLocks/>
          </p:cNvCxnSpPr>
          <p:nvPr/>
        </p:nvCxnSpPr>
        <p:spPr>
          <a:xfrm>
            <a:off x="3679546" y="1231601"/>
            <a:ext cx="0" cy="3780000"/>
          </a:xfrm>
          <a:prstGeom prst="line">
            <a:avLst/>
          </a:prstGeom>
          <a:ln>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25" name="תיבת טקסט 24">
            <a:extLst>
              <a:ext uri="{FF2B5EF4-FFF2-40B4-BE49-F238E27FC236}">
                <a16:creationId xmlns:a16="http://schemas.microsoft.com/office/drawing/2014/main" id="{B486204E-B3D8-3B3F-A404-96E721B52740}"/>
              </a:ext>
            </a:extLst>
          </p:cNvPr>
          <p:cNvSpPr txBox="1"/>
          <p:nvPr/>
        </p:nvSpPr>
        <p:spPr>
          <a:xfrm>
            <a:off x="1376379" y="1066238"/>
            <a:ext cx="1440000" cy="276999"/>
          </a:xfrm>
          <a:prstGeom prst="rect">
            <a:avLst/>
          </a:prstGeom>
          <a:noFill/>
        </p:spPr>
        <p:txBody>
          <a:bodyPr wrap="square">
            <a:spAutoFit/>
          </a:bodyPr>
          <a:lstStyle/>
          <a:p>
            <a:pPr algn="ctr" rtl="1" fontAlgn="ctr"/>
            <a:r>
              <a:rPr lang="he-IL" sz="1200" b="1" u="none" strike="noStrike" dirty="0">
                <a:effectLst/>
                <a:latin typeface="Segoe UI" panose="020B0502040204020203" pitchFamily="34" charset="0"/>
                <a:cs typeface="Segoe UI" panose="020B0502040204020203" pitchFamily="34" charset="0"/>
              </a:rPr>
              <a:t>מגזר יהודי</a:t>
            </a:r>
          </a:p>
        </p:txBody>
      </p:sp>
      <p:sp>
        <p:nvSpPr>
          <p:cNvPr id="26" name="תיבת טקסט 25">
            <a:extLst>
              <a:ext uri="{FF2B5EF4-FFF2-40B4-BE49-F238E27FC236}">
                <a16:creationId xmlns:a16="http://schemas.microsoft.com/office/drawing/2014/main" id="{D95BD153-C7D4-6179-A488-05A06B36E810}"/>
              </a:ext>
            </a:extLst>
          </p:cNvPr>
          <p:cNvSpPr txBox="1"/>
          <p:nvPr/>
        </p:nvSpPr>
        <p:spPr>
          <a:xfrm>
            <a:off x="4398162" y="1066238"/>
            <a:ext cx="1440000" cy="276999"/>
          </a:xfrm>
          <a:prstGeom prst="rect">
            <a:avLst/>
          </a:prstGeom>
          <a:noFill/>
        </p:spPr>
        <p:txBody>
          <a:bodyPr wrap="square">
            <a:spAutoFit/>
          </a:bodyPr>
          <a:lstStyle/>
          <a:p>
            <a:pPr algn="ctr" rtl="1" fontAlgn="ctr"/>
            <a:r>
              <a:rPr lang="he-IL" sz="1200" b="1" u="none" strike="noStrike" dirty="0">
                <a:effectLst/>
                <a:latin typeface="Segoe UI" panose="020B0502040204020203" pitchFamily="34" charset="0"/>
                <a:cs typeface="Segoe UI" panose="020B0502040204020203" pitchFamily="34" charset="0"/>
              </a:rPr>
              <a:t>מגזר ערבי</a:t>
            </a:r>
          </a:p>
        </p:txBody>
      </p:sp>
      <p:sp>
        <p:nvSpPr>
          <p:cNvPr id="27" name="תיבת טקסט 26">
            <a:extLst>
              <a:ext uri="{FF2B5EF4-FFF2-40B4-BE49-F238E27FC236}">
                <a16:creationId xmlns:a16="http://schemas.microsoft.com/office/drawing/2014/main" id="{A896E7EB-677C-D601-D303-A0751E7BBF92}"/>
              </a:ext>
            </a:extLst>
          </p:cNvPr>
          <p:cNvSpPr txBox="1"/>
          <p:nvPr/>
        </p:nvSpPr>
        <p:spPr>
          <a:xfrm>
            <a:off x="7238737" y="1066238"/>
            <a:ext cx="1440000" cy="276999"/>
          </a:xfrm>
          <a:prstGeom prst="rect">
            <a:avLst/>
          </a:prstGeom>
          <a:noFill/>
        </p:spPr>
        <p:txBody>
          <a:bodyPr wrap="square">
            <a:spAutoFit/>
          </a:bodyPr>
          <a:lstStyle/>
          <a:p>
            <a:pPr algn="ctr" rtl="1" fontAlgn="ctr"/>
            <a:r>
              <a:rPr lang="he-IL" sz="1200" b="1" u="none" strike="noStrike" dirty="0">
                <a:effectLst/>
                <a:latin typeface="Segoe UI" panose="020B0502040204020203" pitchFamily="34" charset="0"/>
                <a:cs typeface="Segoe UI" panose="020B0502040204020203" pitchFamily="34" charset="0"/>
              </a:rPr>
              <a:t>מגזר יהודי</a:t>
            </a:r>
          </a:p>
        </p:txBody>
      </p:sp>
      <p:sp>
        <p:nvSpPr>
          <p:cNvPr id="28" name="תיבת טקסט 27">
            <a:extLst>
              <a:ext uri="{FF2B5EF4-FFF2-40B4-BE49-F238E27FC236}">
                <a16:creationId xmlns:a16="http://schemas.microsoft.com/office/drawing/2014/main" id="{B3D8AB70-B5D8-1C34-8BFB-EBA7AE0F4A14}"/>
              </a:ext>
            </a:extLst>
          </p:cNvPr>
          <p:cNvSpPr txBox="1"/>
          <p:nvPr/>
        </p:nvSpPr>
        <p:spPr>
          <a:xfrm>
            <a:off x="10012870" y="1066238"/>
            <a:ext cx="1440000" cy="276999"/>
          </a:xfrm>
          <a:prstGeom prst="rect">
            <a:avLst/>
          </a:prstGeom>
          <a:noFill/>
        </p:spPr>
        <p:txBody>
          <a:bodyPr wrap="square">
            <a:spAutoFit/>
          </a:bodyPr>
          <a:lstStyle/>
          <a:p>
            <a:pPr algn="ctr" rtl="1" fontAlgn="ctr"/>
            <a:r>
              <a:rPr lang="he-IL" sz="1200" b="1" u="none" strike="noStrike" dirty="0">
                <a:effectLst/>
                <a:latin typeface="Segoe UI" panose="020B0502040204020203" pitchFamily="34" charset="0"/>
                <a:cs typeface="Segoe UI" panose="020B0502040204020203" pitchFamily="34" charset="0"/>
              </a:rPr>
              <a:t>מגזר ערבי</a:t>
            </a:r>
          </a:p>
        </p:txBody>
      </p:sp>
      <p:sp>
        <p:nvSpPr>
          <p:cNvPr id="29" name="תיבת טקסט 28">
            <a:extLst>
              <a:ext uri="{FF2B5EF4-FFF2-40B4-BE49-F238E27FC236}">
                <a16:creationId xmlns:a16="http://schemas.microsoft.com/office/drawing/2014/main" id="{9291EFDD-884D-02B2-494E-FAE3DF42B973}"/>
              </a:ext>
            </a:extLst>
          </p:cNvPr>
          <p:cNvSpPr txBox="1"/>
          <p:nvPr/>
        </p:nvSpPr>
        <p:spPr>
          <a:xfrm>
            <a:off x="35000" y="3965785"/>
            <a:ext cx="1040764" cy="523220"/>
          </a:xfrm>
          <a:prstGeom prst="rect">
            <a:avLst/>
          </a:prstGeom>
          <a:noFill/>
        </p:spPr>
        <p:txBody>
          <a:bodyPr wrap="square">
            <a:spAutoFit/>
          </a:bodyPr>
          <a:lstStyle/>
          <a:p>
            <a:pPr algn="ctr" rtl="1" fontAlgn="b"/>
            <a:r>
              <a:rPr lang="he-IL" sz="1400" b="1" u="none" strike="noStrike" dirty="0">
                <a:effectLst/>
                <a:latin typeface="Segoe UI" panose="020B0502040204020203" pitchFamily="34" charset="0"/>
                <a:cs typeface="Segoe UI" panose="020B0502040204020203" pitchFamily="34" charset="0"/>
              </a:rPr>
              <a:t>כמות דוחות</a:t>
            </a:r>
            <a:endParaRPr lang="he-IL" sz="1400" b="1" i="0" u="none" strike="noStrike" dirty="0">
              <a:solidFill>
                <a:srgbClr val="000000"/>
              </a:solidFill>
              <a:effectLst/>
              <a:latin typeface="Segoe UI" panose="020B0502040204020203" pitchFamily="34" charset="0"/>
              <a:cs typeface="Segoe UI" panose="020B0502040204020203" pitchFamily="34" charset="0"/>
            </a:endParaRPr>
          </a:p>
        </p:txBody>
      </p:sp>
      <p:sp>
        <p:nvSpPr>
          <p:cNvPr id="30" name="תיבת טקסט 29">
            <a:extLst>
              <a:ext uri="{FF2B5EF4-FFF2-40B4-BE49-F238E27FC236}">
                <a16:creationId xmlns:a16="http://schemas.microsoft.com/office/drawing/2014/main" id="{93EF30A1-F2C9-1121-AC5B-F1AB7035BB2C}"/>
              </a:ext>
            </a:extLst>
          </p:cNvPr>
          <p:cNvSpPr txBox="1"/>
          <p:nvPr/>
        </p:nvSpPr>
        <p:spPr>
          <a:xfrm>
            <a:off x="35000" y="2906888"/>
            <a:ext cx="1040764" cy="307777"/>
          </a:xfrm>
          <a:prstGeom prst="rect">
            <a:avLst/>
          </a:prstGeom>
          <a:noFill/>
        </p:spPr>
        <p:txBody>
          <a:bodyPr wrap="square">
            <a:spAutoFit/>
          </a:bodyPr>
          <a:lstStyle/>
          <a:p>
            <a:pPr algn="ctr" rtl="1" fontAlgn="b"/>
            <a:r>
              <a:rPr lang="he-IL" sz="1400" b="1" u="none" strike="noStrike" dirty="0">
                <a:effectLst/>
                <a:latin typeface="Segoe UI" panose="020B0502040204020203" pitchFamily="34" charset="0"/>
                <a:cs typeface="Segoe UI" panose="020B0502040204020203" pitchFamily="34" charset="0"/>
              </a:rPr>
              <a:t>מגדר</a:t>
            </a:r>
            <a:endParaRPr lang="he-IL" sz="1400" b="1" i="0" u="none" strike="noStrike" dirty="0">
              <a:solidFill>
                <a:srgbClr val="000000"/>
              </a:solidFill>
              <a:effectLst/>
              <a:latin typeface="Segoe UI" panose="020B0502040204020203" pitchFamily="34" charset="0"/>
              <a:cs typeface="Segoe UI" panose="020B0502040204020203" pitchFamily="34" charset="0"/>
            </a:endParaRPr>
          </a:p>
        </p:txBody>
      </p:sp>
      <p:sp>
        <p:nvSpPr>
          <p:cNvPr id="31" name="תיבת טקסט 30">
            <a:extLst>
              <a:ext uri="{FF2B5EF4-FFF2-40B4-BE49-F238E27FC236}">
                <a16:creationId xmlns:a16="http://schemas.microsoft.com/office/drawing/2014/main" id="{7F8A7660-8BDE-3A8F-8CF4-1B7DA8E97F4A}"/>
              </a:ext>
            </a:extLst>
          </p:cNvPr>
          <p:cNvSpPr txBox="1"/>
          <p:nvPr/>
        </p:nvSpPr>
        <p:spPr>
          <a:xfrm>
            <a:off x="35000" y="1624372"/>
            <a:ext cx="1040764" cy="307777"/>
          </a:xfrm>
          <a:prstGeom prst="rect">
            <a:avLst/>
          </a:prstGeom>
          <a:noFill/>
        </p:spPr>
        <p:txBody>
          <a:bodyPr wrap="square">
            <a:spAutoFit/>
          </a:bodyPr>
          <a:lstStyle/>
          <a:p>
            <a:pPr algn="ctr" rtl="1" fontAlgn="b"/>
            <a:r>
              <a:rPr lang="he-IL" sz="1400" b="1" u="none" strike="noStrike" dirty="0">
                <a:effectLst/>
                <a:latin typeface="Segoe UI" panose="020B0502040204020203" pitchFamily="34" charset="0"/>
                <a:cs typeface="Segoe UI" panose="020B0502040204020203" pitchFamily="34" charset="0"/>
              </a:rPr>
              <a:t>גיל</a:t>
            </a:r>
            <a:endParaRPr lang="he-IL" sz="1400" b="1" i="0" u="none" strike="noStrike" dirty="0">
              <a:solidFill>
                <a:srgbClr val="000000"/>
              </a:solidFill>
              <a:effectLst/>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8540381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extLst>
    <p:ext uri="{6950BFC3-D8DA-4A85-94F7-54DA5524770B}">
      <p188:commentRel xmlns:p188="http://schemas.microsoft.com/office/powerpoint/2018/8/main" r:id="rId2"/>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14C881-AF9E-F807-6683-72CF39F521E9}"/>
            </a:ext>
          </a:extLst>
        </p:cNvPr>
        <p:cNvGrpSpPr/>
        <p:nvPr/>
      </p:nvGrpSpPr>
      <p:grpSpPr>
        <a:xfrm>
          <a:off x="0" y="0"/>
          <a:ext cx="0" cy="0"/>
          <a:chOff x="0" y="0"/>
          <a:chExt cx="0" cy="0"/>
        </a:xfrm>
      </p:grpSpPr>
      <p:sp>
        <p:nvSpPr>
          <p:cNvPr id="15" name="Slide Number Placeholder 1">
            <a:extLst>
              <a:ext uri="{FF2B5EF4-FFF2-40B4-BE49-F238E27FC236}">
                <a16:creationId xmlns:a16="http://schemas.microsoft.com/office/drawing/2014/main" id="{0E0BDA9C-2A83-88BA-ED36-ED148DA5905D}"/>
              </a:ext>
            </a:extLst>
          </p:cNvPr>
          <p:cNvSpPr txBox="1">
            <a:spLocks/>
          </p:cNvSpPr>
          <p:nvPr/>
        </p:nvSpPr>
        <p:spPr>
          <a:xfrm>
            <a:off x="11541989" y="6473956"/>
            <a:ext cx="540000" cy="360000"/>
          </a:xfrm>
          <a:prstGeom prst="rect">
            <a:avLst/>
          </a:prstGeom>
          <a:noFill/>
          <a:ln w="12700" cap="flat" cmpd="sng" algn="ctr">
            <a:noFill/>
            <a:prstDash val="solid"/>
            <a:miter lim="800000"/>
          </a:ln>
          <a:effectLst/>
        </p:spPr>
        <p:txBody>
          <a:bodyPr rot="0" spcFirstLastPara="0" vertOverflow="overflow" horzOverflow="overflow" vert="horz" wrap="square" lIns="91440" tIns="45720" rIns="91440" bIns="45720" numCol="1" spcCol="0" rtlCol="1" fromWordArt="0" anchor="ctr" anchorCtr="0" forceAA="0" compatLnSpc="1">
            <a:prstTxWarp prst="textNoShape">
              <a:avLst/>
            </a:prstTxWarp>
            <a:noAutofit/>
          </a:bodyPr>
          <a:lstStyle>
            <a:defPPr>
              <a:defRPr lang="he-IL"/>
            </a:defPPr>
            <a:lvl1pPr marL="0" algn="l" defTabSz="914400" rtl="0" eaLnBrk="1" latinLnBrk="0" hangingPunct="1">
              <a:defRPr lang="he-IL" sz="1100" kern="1200" smtClean="0">
                <a:solidFill>
                  <a:schemeClr val="bg1">
                    <a:lumMod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r" rtl="1">
              <a:defRPr/>
            </a:pPr>
            <a:fld id="{7A91BF3F-E284-4570-AC28-CDAE2F1A1EA1}" type="slidenum">
              <a:rPr lang="he-IL" smtClean="0">
                <a:solidFill>
                  <a:prstClr val="white">
                    <a:lumMod val="75000"/>
                  </a:prstClr>
                </a:solidFill>
              </a:rPr>
              <a:pPr algn="r" rtl="1">
                <a:defRPr/>
              </a:pPr>
              <a:t>22</a:t>
            </a:fld>
            <a:endParaRPr lang="he-IL" dirty="0">
              <a:solidFill>
                <a:prstClr val="white">
                  <a:lumMod val="75000"/>
                </a:prstClr>
              </a:solidFill>
            </a:endParaRPr>
          </a:p>
        </p:txBody>
      </p:sp>
      <p:cxnSp>
        <p:nvCxnSpPr>
          <p:cNvPr id="2" name="Straight Connector 6">
            <a:extLst>
              <a:ext uri="{FF2B5EF4-FFF2-40B4-BE49-F238E27FC236}">
                <a16:creationId xmlns:a16="http://schemas.microsoft.com/office/drawing/2014/main" id="{C1FD36AC-8C41-1E9E-1F4D-7349D863CE0C}"/>
              </a:ext>
            </a:extLst>
          </p:cNvPr>
          <p:cNvCxnSpPr>
            <a:cxnSpLocks/>
          </p:cNvCxnSpPr>
          <p:nvPr/>
        </p:nvCxnSpPr>
        <p:spPr>
          <a:xfrm rot="16200000" flipV="1">
            <a:off x="6096000" y="-976021"/>
            <a:ext cx="0" cy="10800000"/>
          </a:xfrm>
          <a:prstGeom prst="line">
            <a:avLst/>
          </a:prstGeom>
          <a:ln w="25400" cap="rnd">
            <a:solidFill>
              <a:schemeClr val="bg1">
                <a:lumMod val="85000"/>
              </a:schemeClr>
            </a:solidFill>
            <a:round/>
          </a:ln>
        </p:spPr>
        <p:style>
          <a:lnRef idx="1">
            <a:schemeClr val="accent1"/>
          </a:lnRef>
          <a:fillRef idx="0">
            <a:schemeClr val="accent1"/>
          </a:fillRef>
          <a:effectRef idx="0">
            <a:schemeClr val="accent1"/>
          </a:effectRef>
          <a:fontRef idx="minor">
            <a:schemeClr val="tx1"/>
          </a:fontRef>
        </p:style>
      </p:cxnSp>
      <p:sp>
        <p:nvSpPr>
          <p:cNvPr id="3" name="Rectangle 6">
            <a:extLst>
              <a:ext uri="{FF2B5EF4-FFF2-40B4-BE49-F238E27FC236}">
                <a16:creationId xmlns:a16="http://schemas.microsoft.com/office/drawing/2014/main" id="{0066A636-5311-1B94-E3E2-3F2C8D3C0050}"/>
              </a:ext>
            </a:extLst>
          </p:cNvPr>
          <p:cNvSpPr/>
          <p:nvPr/>
        </p:nvSpPr>
        <p:spPr>
          <a:xfrm>
            <a:off x="342900" y="4574655"/>
            <a:ext cx="11849100" cy="1440000"/>
          </a:xfrm>
          <a:prstGeom prst="rect">
            <a:avLst/>
          </a:prstGeom>
        </p:spPr>
        <p:txBody>
          <a:bodyPr wrap="square" anchor="ctr">
            <a:noAutofit/>
          </a:bodyPr>
          <a:lstStyle/>
          <a:p>
            <a:pPr algn="ctr" rtl="1">
              <a:lnSpc>
                <a:spcPct val="150000"/>
              </a:lnSpc>
            </a:pPr>
            <a:r>
              <a:rPr lang="he-IL" sz="1600" b="1" dirty="0">
                <a:latin typeface="Segoe UI" panose="020B0502040204020203" pitchFamily="34" charset="0"/>
                <a:cs typeface="Segoe UI" panose="020B0502040204020203" pitchFamily="34" charset="0"/>
              </a:rPr>
              <a:t>פער מגזרי קיצוני בשיעור מבקשי המרת הדוח לאזהרה: </a:t>
            </a:r>
            <a:r>
              <a:rPr lang="he-IL" sz="1600" dirty="0">
                <a:latin typeface="Segoe UI" panose="020B0502040204020203" pitchFamily="34" charset="0"/>
                <a:cs typeface="Segoe UI" panose="020B0502040204020203" pitchFamily="34" charset="0"/>
              </a:rPr>
              <a:t>30% בלבד מהערבים מול שיעור יותר מכפול של 64% מהיהודים.</a:t>
            </a:r>
          </a:p>
          <a:p>
            <a:pPr algn="ctr" rtl="1">
              <a:lnSpc>
                <a:spcPct val="150000"/>
              </a:lnSpc>
            </a:pPr>
            <a:r>
              <a:rPr lang="he-IL" sz="1600" b="1" dirty="0">
                <a:latin typeface="Segoe UI" panose="020B0502040204020203" pitchFamily="34" charset="0"/>
                <a:cs typeface="Segoe UI" panose="020B0502040204020203" pitchFamily="34" charset="0"/>
              </a:rPr>
              <a:t>החסמים לבקשת הישפטות</a:t>
            </a:r>
            <a:r>
              <a:rPr lang="he-IL" sz="1600" dirty="0">
                <a:latin typeface="Segoe UI" panose="020B0502040204020203" pitchFamily="34" charset="0"/>
                <a:cs typeface="Segoe UI" panose="020B0502040204020203" pitchFamily="34" charset="0"/>
              </a:rPr>
              <a:t>: בעיקר חסם תפיסתי של חוסר אמון בתועלת </a:t>
            </a:r>
            <a:r>
              <a:rPr lang="he-IL" sz="1400" dirty="0">
                <a:latin typeface="Segoe UI" panose="020B0502040204020203" pitchFamily="34" charset="0"/>
                <a:cs typeface="Segoe UI" panose="020B0502040204020203" pitchFamily="34" charset="0"/>
              </a:rPr>
              <a:t>(או חשש שיוביל להחמרה....) </a:t>
            </a:r>
            <a:r>
              <a:rPr lang="he-IL" sz="1600" dirty="0">
                <a:latin typeface="Segoe UI" panose="020B0502040204020203" pitchFamily="34" charset="0"/>
                <a:cs typeface="Segoe UI" panose="020B0502040204020203" pitchFamily="34" charset="0"/>
              </a:rPr>
              <a:t>וחסם נגישות של מורכבות התהליך.</a:t>
            </a:r>
          </a:p>
          <a:p>
            <a:pPr algn="ctr" rtl="1">
              <a:lnSpc>
                <a:spcPct val="150000"/>
              </a:lnSpc>
            </a:pPr>
            <a:r>
              <a:rPr lang="en-US" sz="1600">
                <a:latin typeface="Segoe UI" panose="020B0502040204020203" pitchFamily="34" charset="0"/>
                <a:cs typeface="Segoe UI" panose="020B0502040204020203" pitchFamily="34" charset="0"/>
              </a:rPr>
              <a:t> </a:t>
            </a:r>
            <a:r>
              <a:rPr lang="he-IL" sz="1600" b="1" dirty="0">
                <a:solidFill>
                  <a:srgbClr val="1D1C64"/>
                </a:solidFill>
                <a:latin typeface="Segoe UI" panose="020B0502040204020203" pitchFamily="34" charset="0"/>
                <a:cs typeface="Segoe UI" panose="020B0502040204020203" pitchFamily="34" charset="0"/>
              </a:rPr>
              <a:t>חשוב להדגיש הן את הפשטות בתהליך והן את הכדאיות להשתמש בזכות שלהם להמרת הדוח – בייחוד המגזר </a:t>
            </a:r>
            <a:r>
              <a:rPr lang="he-IL" sz="1600" b="1">
                <a:solidFill>
                  <a:srgbClr val="1D1C64"/>
                </a:solidFill>
                <a:latin typeface="Segoe UI" panose="020B0502040204020203" pitchFamily="34" charset="0"/>
                <a:cs typeface="Segoe UI" panose="020B0502040204020203" pitchFamily="34" charset="0"/>
              </a:rPr>
              <a:t>הערבי.</a:t>
            </a:r>
          </a:p>
          <a:p>
            <a:pPr algn="ctr" rtl="1">
              <a:lnSpc>
                <a:spcPct val="150000"/>
              </a:lnSpc>
            </a:pPr>
            <a:r>
              <a:rPr lang="he-IL" sz="1600" b="1" dirty="0">
                <a:solidFill>
                  <a:srgbClr val="1D1C64"/>
                </a:solidFill>
                <a:latin typeface="Segoe UI" panose="020B0502040204020203" pitchFamily="34" charset="0"/>
                <a:cs typeface="Segoe UI" panose="020B0502040204020203" pitchFamily="34" charset="0"/>
              </a:rPr>
              <a:t>דרך פרסום נתוני אחוזי הצלחה ריאליים של "כמה קיבלו הקלה" + הסבר ופישוט תהליך הבקשה שלב אחרי שלב או לחלופין</a:t>
            </a:r>
            <a:br>
              <a:rPr lang="he-IL" sz="1600" b="1" dirty="0">
                <a:solidFill>
                  <a:srgbClr val="1D1C64"/>
                </a:solidFill>
                <a:latin typeface="Segoe UI" panose="020B0502040204020203" pitchFamily="34" charset="0"/>
                <a:cs typeface="Segoe UI" panose="020B0502040204020203" pitchFamily="34" charset="0"/>
              </a:rPr>
            </a:br>
            <a:r>
              <a:rPr lang="he-IL" sz="1600" b="1" dirty="0">
                <a:solidFill>
                  <a:srgbClr val="1D1C64"/>
                </a:solidFill>
                <a:latin typeface="Segoe UI" panose="020B0502040204020203" pitchFamily="34" charset="0"/>
                <a:cs typeface="Segoe UI" panose="020B0502040204020203" pitchFamily="34" charset="0"/>
              </a:rPr>
              <a:t> לאפשר הגשת בקשה דיגיטלית להמרה לאזהרה ב"קליק אחד" מבוסס על בדיקת תנאי סף אוטומטית במערכת</a:t>
            </a:r>
            <a:r>
              <a:rPr lang="en-US" sz="1600" b="1" dirty="0">
                <a:solidFill>
                  <a:srgbClr val="1D1C64"/>
                </a:solidFill>
                <a:latin typeface="Segoe UI" panose="020B0502040204020203" pitchFamily="34" charset="0"/>
                <a:cs typeface="Segoe UI" panose="020B0502040204020203" pitchFamily="34" charset="0"/>
              </a:rPr>
              <a:t>.</a:t>
            </a:r>
          </a:p>
        </p:txBody>
      </p:sp>
      <p:sp>
        <p:nvSpPr>
          <p:cNvPr id="4" name="Rectangle 3">
            <a:extLst>
              <a:ext uri="{FF2B5EF4-FFF2-40B4-BE49-F238E27FC236}">
                <a16:creationId xmlns:a16="http://schemas.microsoft.com/office/drawing/2014/main" id="{EABD2C49-61A8-0D19-A2FB-62D5F42C9E78}"/>
              </a:ext>
            </a:extLst>
          </p:cNvPr>
          <p:cNvSpPr/>
          <p:nvPr/>
        </p:nvSpPr>
        <p:spPr>
          <a:xfrm>
            <a:off x="1320802" y="191076"/>
            <a:ext cx="10614278" cy="5075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t"/>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0" cap="none" spc="0" normalizeH="0" baseline="0" noProof="0" dirty="0">
                <a:ln>
                  <a:noFill/>
                </a:ln>
                <a:solidFill>
                  <a:srgbClr val="104E88"/>
                </a:solidFill>
                <a:effectLst/>
                <a:uLnTx/>
                <a:uFillTx/>
                <a:latin typeface="Segoe UI" panose="020B0502040204020203" pitchFamily="34" charset="0"/>
                <a:cs typeface="Segoe UI" panose="020B0502040204020203" pitchFamily="34" charset="0"/>
                <a:sym typeface="Arial"/>
              </a:rPr>
              <a:t>המרת הדוח וחסמי הישפטות</a:t>
            </a:r>
          </a:p>
        </p:txBody>
      </p:sp>
      <p:graphicFrame>
        <p:nvGraphicFramePr>
          <p:cNvPr id="7" name="אובייקט 3">
            <a:extLst>
              <a:ext uri="{FF2B5EF4-FFF2-40B4-BE49-F238E27FC236}">
                <a16:creationId xmlns:a16="http://schemas.microsoft.com/office/drawing/2014/main" id="{69DB5E19-92B2-5B88-E214-953FBBC8B2CA}"/>
              </a:ext>
            </a:extLst>
          </p:cNvPr>
          <p:cNvGraphicFramePr>
            <a:graphicFrameLocks noChangeAspect="1"/>
          </p:cNvGraphicFramePr>
          <p:nvPr>
            <p:extLst>
              <p:ext uri="{D42A27DB-BD31-4B8C-83A1-F6EECF244321}">
                <p14:modId xmlns:p14="http://schemas.microsoft.com/office/powerpoint/2010/main" val="1270738181"/>
              </p:ext>
            </p:extLst>
          </p:nvPr>
        </p:nvGraphicFramePr>
        <p:xfrm>
          <a:off x="682240" y="1426030"/>
          <a:ext cx="5366505" cy="2880000"/>
        </p:xfrm>
        <a:graphic>
          <a:graphicData uri="http://schemas.openxmlformats.org/drawingml/2006/chart">
            <c:chart xmlns:c="http://schemas.openxmlformats.org/drawingml/2006/chart" xmlns:r="http://schemas.openxmlformats.org/officeDocument/2006/relationships" r:id="rId2"/>
          </a:graphicData>
        </a:graphic>
      </p:graphicFrame>
      <p:sp>
        <p:nvSpPr>
          <p:cNvPr id="8" name="Rectangle 28">
            <a:extLst>
              <a:ext uri="{FF2B5EF4-FFF2-40B4-BE49-F238E27FC236}">
                <a16:creationId xmlns:a16="http://schemas.microsoft.com/office/drawing/2014/main" id="{2C084D0C-A7E0-EFE4-91CE-F03ABA62D642}"/>
              </a:ext>
            </a:extLst>
          </p:cNvPr>
          <p:cNvSpPr/>
          <p:nvPr/>
        </p:nvSpPr>
        <p:spPr>
          <a:xfrm>
            <a:off x="2796634" y="6473005"/>
            <a:ext cx="9000000" cy="360000"/>
          </a:xfrm>
          <a:prstGeom prst="rect">
            <a:avLst/>
          </a:prstGeom>
          <a:noFill/>
          <a:ln>
            <a:noFill/>
          </a:ln>
        </p:spPr>
        <p:txBody>
          <a:bodyPr rot="0" spcFirstLastPara="0" vertOverflow="overflow" horzOverflow="overflow" vert="horz" wrap="square" lIns="91440" tIns="45720" rIns="91440" bIns="45720" numCol="1" spcCol="0" rtlCol="1" fromWordArt="0" anchor="ctr" anchorCtr="0" forceAA="0" compatLnSpc="1">
            <a:prstTxWarp prst="textNoShape">
              <a:avLst/>
            </a:prstTxWarp>
            <a:noAutofit/>
          </a:bodyPr>
          <a:lstStyle/>
          <a:p>
            <a:pPr lvl="0" algn="r" rtl="1">
              <a:defRPr/>
            </a:pPr>
            <a:r>
              <a:rPr lang="he-IL" sz="1000" dirty="0">
                <a:solidFill>
                  <a:prstClr val="white">
                    <a:lumMod val="65000"/>
                  </a:prstClr>
                </a:solidFill>
                <a:latin typeface="Segoe UI" panose="020B0502040204020203" pitchFamily="34" charset="0"/>
                <a:cs typeface="Segoe UI" panose="020B0502040204020203" pitchFamily="34" charset="0"/>
              </a:rPr>
              <a:t>"האם ביקשת להמיר את הדו"ח לאזהרה?"</a:t>
            </a:r>
          </a:p>
          <a:p>
            <a:pPr lvl="0" algn="r" rtl="1">
              <a:defRPr/>
            </a:pPr>
            <a:r>
              <a:rPr lang="he-IL" sz="1000" dirty="0">
                <a:solidFill>
                  <a:prstClr val="white">
                    <a:lumMod val="65000"/>
                  </a:prstClr>
                </a:solidFill>
                <a:latin typeface="Segoe UI" panose="020B0502040204020203" pitchFamily="34" charset="0"/>
                <a:cs typeface="Segoe UI" panose="020B0502040204020203" pitchFamily="34" charset="0"/>
              </a:rPr>
              <a:t>"ומדוע לא ביקשת להישפט?"</a:t>
            </a:r>
          </a:p>
        </p:txBody>
      </p:sp>
      <p:grpSp>
        <p:nvGrpSpPr>
          <p:cNvPr id="5" name="קבוצה 4">
            <a:extLst>
              <a:ext uri="{FF2B5EF4-FFF2-40B4-BE49-F238E27FC236}">
                <a16:creationId xmlns:a16="http://schemas.microsoft.com/office/drawing/2014/main" id="{DD6D24DC-9AE0-937D-E369-04A372F5E0EE}"/>
              </a:ext>
            </a:extLst>
          </p:cNvPr>
          <p:cNvGrpSpPr/>
          <p:nvPr/>
        </p:nvGrpSpPr>
        <p:grpSpPr>
          <a:xfrm>
            <a:off x="6237047" y="904163"/>
            <a:ext cx="5907581" cy="3401867"/>
            <a:chOff x="6237047" y="904163"/>
            <a:chExt cx="5907581" cy="3401867"/>
          </a:xfrm>
        </p:grpSpPr>
        <p:cxnSp>
          <p:nvCxnSpPr>
            <p:cNvPr id="9" name="מחבר ישר 8">
              <a:extLst>
                <a:ext uri="{FF2B5EF4-FFF2-40B4-BE49-F238E27FC236}">
                  <a16:creationId xmlns:a16="http://schemas.microsoft.com/office/drawing/2014/main" id="{DBC523DC-CBE9-57D1-F0E5-916053DB4394}"/>
                </a:ext>
              </a:extLst>
            </p:cNvPr>
            <p:cNvCxnSpPr>
              <a:cxnSpLocks/>
            </p:cNvCxnSpPr>
            <p:nvPr/>
          </p:nvCxnSpPr>
          <p:spPr>
            <a:xfrm>
              <a:off x="6237047" y="1025981"/>
              <a:ext cx="0" cy="3240000"/>
            </a:xfrm>
            <a:prstGeom prst="line">
              <a:avLst/>
            </a:prstGeom>
            <a:ln>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13" name="תיבת טקסט 12">
              <a:extLst>
                <a:ext uri="{FF2B5EF4-FFF2-40B4-BE49-F238E27FC236}">
                  <a16:creationId xmlns:a16="http://schemas.microsoft.com/office/drawing/2014/main" id="{E2818733-8D03-4DE7-1B66-C45B28B50689}"/>
                </a:ext>
              </a:extLst>
            </p:cNvPr>
            <p:cNvSpPr txBox="1"/>
            <p:nvPr/>
          </p:nvSpPr>
          <p:spPr>
            <a:xfrm>
              <a:off x="7964356" y="904163"/>
              <a:ext cx="3241525" cy="630942"/>
            </a:xfrm>
            <a:prstGeom prst="rect">
              <a:avLst/>
            </a:prstGeom>
            <a:noFill/>
          </p:spPr>
          <p:txBody>
            <a:bodyPr wrap="square">
              <a:spAutoFit/>
            </a:bodyPr>
            <a:lstStyle/>
            <a:p>
              <a:pPr algn="ctr" rtl="1" fontAlgn="b"/>
              <a:r>
                <a:rPr lang="he-IL" sz="1400" b="1" u="none" strike="noStrike" dirty="0">
                  <a:effectLst/>
                  <a:latin typeface="Segoe UI" panose="020B0502040204020203" pitchFamily="34" charset="0"/>
                  <a:cs typeface="Segoe UI" panose="020B0502040204020203" pitchFamily="34" charset="0"/>
                </a:rPr>
                <a:t>חסמי בקשה להישפט</a:t>
              </a:r>
              <a:br>
                <a:rPr lang="en-US" sz="1050" u="none" strike="noStrike">
                  <a:effectLst/>
                  <a:latin typeface="Segoe UI" panose="020B0502040204020203" pitchFamily="34" charset="0"/>
                  <a:cs typeface="Segoe UI" panose="020B0502040204020203" pitchFamily="34" charset="0"/>
                </a:rPr>
              </a:br>
              <a:r>
                <a:rPr lang="he-IL" sz="1050" u="none" strike="noStrike">
                  <a:effectLst/>
                  <a:latin typeface="Segoe UI" panose="020B0502040204020203" pitchFamily="34" charset="0"/>
                  <a:cs typeface="Segoe UI" panose="020B0502040204020203" pitchFamily="34" charset="0"/>
                </a:rPr>
                <a:t>(לא </a:t>
              </a:r>
              <a:r>
                <a:rPr lang="he-IL" sz="1050" u="none" strike="noStrike" dirty="0">
                  <a:effectLst/>
                  <a:latin typeface="Segoe UI" panose="020B0502040204020203" pitchFamily="34" charset="0"/>
                  <a:cs typeface="Segoe UI" panose="020B0502040204020203" pitchFamily="34" charset="0"/>
                </a:rPr>
                <a:t>ביקשו </a:t>
              </a:r>
              <a:r>
                <a:rPr lang="he-IL" sz="1050" u="none" strike="noStrike">
                  <a:effectLst/>
                  <a:latin typeface="Segoe UI" panose="020B0502040204020203" pitchFamily="34" charset="0"/>
                  <a:cs typeface="Segoe UI" panose="020B0502040204020203" pitchFamily="34" charset="0"/>
                </a:rPr>
                <a:t>להישפט </a:t>
              </a:r>
              <a:br>
                <a:rPr lang="en-US" sz="1050" u="none" strike="noStrike">
                  <a:effectLst/>
                  <a:latin typeface="Segoe UI" panose="020B0502040204020203" pitchFamily="34" charset="0"/>
                  <a:cs typeface="Segoe UI" panose="020B0502040204020203" pitchFamily="34" charset="0"/>
                </a:rPr>
              </a:br>
              <a:r>
                <a:rPr lang="he-IL" sz="1050" u="none" strike="noStrike">
                  <a:effectLst/>
                  <a:latin typeface="Segoe UI" panose="020B0502040204020203" pitchFamily="34" charset="0"/>
                  <a:cs typeface="Segoe UI" panose="020B0502040204020203" pitchFamily="34" charset="0"/>
                </a:rPr>
                <a:t>שמודעים לאפשרות </a:t>
              </a:r>
              <a:r>
                <a:rPr lang="he-IL" sz="1050" u="none" strike="noStrike" dirty="0">
                  <a:effectLst/>
                  <a:latin typeface="Segoe UI" panose="020B0502040204020203" pitchFamily="34" charset="0"/>
                  <a:cs typeface="Segoe UI" panose="020B0502040204020203" pitchFamily="34" charset="0"/>
                </a:rPr>
                <a:t>להישפט)</a:t>
              </a:r>
              <a:endParaRPr lang="he-IL" sz="1400" i="0" u="none" strike="noStrike" dirty="0">
                <a:solidFill>
                  <a:srgbClr val="000000"/>
                </a:solidFill>
                <a:effectLst/>
                <a:latin typeface="Segoe UI" panose="020B0502040204020203" pitchFamily="34" charset="0"/>
                <a:cs typeface="Segoe UI" panose="020B0502040204020203" pitchFamily="34" charset="0"/>
              </a:endParaRPr>
            </a:p>
          </p:txBody>
        </p:sp>
        <p:graphicFrame>
          <p:nvGraphicFramePr>
            <p:cNvPr id="6" name="Chart 5">
              <a:extLst>
                <a:ext uri="{FF2B5EF4-FFF2-40B4-BE49-F238E27FC236}">
                  <a16:creationId xmlns:a16="http://schemas.microsoft.com/office/drawing/2014/main" id="{5B2E1C74-9E41-01B6-713F-300CAB7CB144}"/>
                </a:ext>
              </a:extLst>
            </p:cNvPr>
            <p:cNvGraphicFramePr/>
            <p:nvPr>
              <p:extLst>
                <p:ext uri="{D42A27DB-BD31-4B8C-83A1-F6EECF244321}">
                  <p14:modId xmlns:p14="http://schemas.microsoft.com/office/powerpoint/2010/main" val="3692765542"/>
                </p:ext>
              </p:extLst>
            </p:nvPr>
          </p:nvGraphicFramePr>
          <p:xfrm>
            <a:off x="6577277" y="1426030"/>
            <a:ext cx="5567351" cy="2880000"/>
          </p:xfrm>
          <a:graphic>
            <a:graphicData uri="http://schemas.openxmlformats.org/drawingml/2006/chart">
              <c:chart xmlns:c="http://schemas.openxmlformats.org/drawingml/2006/chart" xmlns:r="http://schemas.openxmlformats.org/officeDocument/2006/relationships" r:id="rId3"/>
            </a:graphicData>
          </a:graphic>
        </p:graphicFrame>
      </p:grpSp>
      <p:sp>
        <p:nvSpPr>
          <p:cNvPr id="11" name="תיבת טקסט 10">
            <a:extLst>
              <a:ext uri="{FF2B5EF4-FFF2-40B4-BE49-F238E27FC236}">
                <a16:creationId xmlns:a16="http://schemas.microsoft.com/office/drawing/2014/main" id="{B47AE827-4A0A-C088-F2B6-AB34AD8076E1}"/>
              </a:ext>
            </a:extLst>
          </p:cNvPr>
          <p:cNvSpPr txBox="1"/>
          <p:nvPr/>
        </p:nvSpPr>
        <p:spPr>
          <a:xfrm>
            <a:off x="1450724" y="904163"/>
            <a:ext cx="3241525" cy="630942"/>
          </a:xfrm>
          <a:prstGeom prst="rect">
            <a:avLst/>
          </a:prstGeom>
          <a:noFill/>
        </p:spPr>
        <p:txBody>
          <a:bodyPr wrap="square">
            <a:spAutoFit/>
          </a:bodyPr>
          <a:lstStyle/>
          <a:p>
            <a:pPr algn="ctr" rtl="1" fontAlgn="b"/>
            <a:r>
              <a:rPr lang="he-IL" sz="1400" b="1" u="none" strike="noStrike" dirty="0">
                <a:effectLst/>
                <a:latin typeface="Segoe UI" panose="020B0502040204020203" pitchFamily="34" charset="0"/>
                <a:cs typeface="Segoe UI" panose="020B0502040204020203" pitchFamily="34" charset="0"/>
              </a:rPr>
              <a:t>בקשה להמרת הדו"ח לאזהרה</a:t>
            </a:r>
            <a:br>
              <a:rPr lang="en-US" sz="1050" u="none" strike="noStrike">
                <a:effectLst/>
                <a:latin typeface="Segoe UI" panose="020B0502040204020203" pitchFamily="34" charset="0"/>
                <a:cs typeface="Segoe UI" panose="020B0502040204020203" pitchFamily="34" charset="0"/>
              </a:rPr>
            </a:br>
            <a:r>
              <a:rPr lang="he-IL" sz="1050" u="none" strike="noStrike">
                <a:effectLst/>
                <a:latin typeface="Segoe UI" panose="020B0502040204020203" pitchFamily="34" charset="0"/>
                <a:cs typeface="Segoe UI" panose="020B0502040204020203" pitchFamily="34" charset="0"/>
              </a:rPr>
              <a:t>(</a:t>
            </a:r>
            <a:r>
              <a:rPr lang="he-IL" sz="1050">
                <a:latin typeface="Segoe UI" panose="020B0502040204020203" pitchFamily="34" charset="0"/>
                <a:cs typeface="Segoe UI" panose="020B0502040204020203" pitchFamily="34" charset="0"/>
              </a:rPr>
              <a:t>לא ביקשו להישפט </a:t>
            </a:r>
            <a:br>
              <a:rPr lang="en-US" sz="1050">
                <a:latin typeface="Segoe UI" panose="020B0502040204020203" pitchFamily="34" charset="0"/>
                <a:cs typeface="Segoe UI" panose="020B0502040204020203" pitchFamily="34" charset="0"/>
              </a:rPr>
            </a:br>
            <a:r>
              <a:rPr lang="he-IL" sz="1050">
                <a:latin typeface="Segoe UI" panose="020B0502040204020203" pitchFamily="34" charset="0"/>
                <a:cs typeface="Segoe UI" panose="020B0502040204020203" pitchFamily="34" charset="0"/>
              </a:rPr>
              <a:t>ש</a:t>
            </a:r>
            <a:r>
              <a:rPr lang="he-IL" sz="1050" u="none" strike="noStrike">
                <a:effectLst/>
                <a:latin typeface="Segoe UI" panose="020B0502040204020203" pitchFamily="34" charset="0"/>
                <a:cs typeface="Segoe UI" panose="020B0502040204020203" pitchFamily="34" charset="0"/>
              </a:rPr>
              <a:t>מודעים לאפשרות </a:t>
            </a:r>
            <a:r>
              <a:rPr lang="he-IL" sz="1050" u="none" strike="noStrike" dirty="0">
                <a:effectLst/>
                <a:latin typeface="Segoe UI" panose="020B0502040204020203" pitchFamily="34" charset="0"/>
                <a:cs typeface="Segoe UI" panose="020B0502040204020203" pitchFamily="34" charset="0"/>
              </a:rPr>
              <a:t>המרת הדו"ח באזהרה)</a:t>
            </a:r>
            <a:endParaRPr lang="he-IL" sz="1400" i="0" u="none" strike="noStrike" dirty="0">
              <a:solidFill>
                <a:srgbClr val="000000"/>
              </a:solidFill>
              <a:effectLst/>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6570893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6756B6-50CB-2555-F6A6-2CFFF54EEC52}"/>
            </a:ext>
          </a:extLst>
        </p:cNvPr>
        <p:cNvGrpSpPr/>
        <p:nvPr/>
      </p:nvGrpSpPr>
      <p:grpSpPr>
        <a:xfrm>
          <a:off x="0" y="0"/>
          <a:ext cx="0" cy="0"/>
          <a:chOff x="0" y="0"/>
          <a:chExt cx="0" cy="0"/>
        </a:xfrm>
      </p:grpSpPr>
      <p:sp>
        <p:nvSpPr>
          <p:cNvPr id="15" name="Slide Number Placeholder 1">
            <a:extLst>
              <a:ext uri="{FF2B5EF4-FFF2-40B4-BE49-F238E27FC236}">
                <a16:creationId xmlns:a16="http://schemas.microsoft.com/office/drawing/2014/main" id="{FB3554D2-1F35-3563-E0F4-A33C42DDBE66}"/>
              </a:ext>
            </a:extLst>
          </p:cNvPr>
          <p:cNvSpPr txBox="1">
            <a:spLocks/>
          </p:cNvSpPr>
          <p:nvPr/>
        </p:nvSpPr>
        <p:spPr>
          <a:xfrm>
            <a:off x="11541989" y="6473956"/>
            <a:ext cx="540000" cy="360000"/>
          </a:xfrm>
          <a:prstGeom prst="rect">
            <a:avLst/>
          </a:prstGeom>
          <a:noFill/>
          <a:ln w="12700" cap="flat" cmpd="sng" algn="ctr">
            <a:noFill/>
            <a:prstDash val="solid"/>
            <a:miter lim="800000"/>
          </a:ln>
          <a:effectLst/>
        </p:spPr>
        <p:txBody>
          <a:bodyPr rot="0" spcFirstLastPara="0" vertOverflow="overflow" horzOverflow="overflow" vert="horz" wrap="square" lIns="91440" tIns="45720" rIns="91440" bIns="45720" numCol="1" spcCol="0" rtlCol="1" fromWordArt="0" anchor="ctr" anchorCtr="0" forceAA="0" compatLnSpc="1">
            <a:prstTxWarp prst="textNoShape">
              <a:avLst/>
            </a:prstTxWarp>
            <a:noAutofit/>
          </a:bodyPr>
          <a:lstStyle>
            <a:defPPr>
              <a:defRPr lang="he-IL"/>
            </a:defPPr>
            <a:lvl1pPr marL="0" algn="l" defTabSz="914400" rtl="0" eaLnBrk="1" latinLnBrk="0" hangingPunct="1">
              <a:defRPr lang="he-IL" sz="1100" kern="1200" smtClean="0">
                <a:solidFill>
                  <a:schemeClr val="bg1">
                    <a:lumMod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r" rtl="1">
              <a:defRPr/>
            </a:pPr>
            <a:fld id="{7A91BF3F-E284-4570-AC28-CDAE2F1A1EA1}" type="slidenum">
              <a:rPr lang="he-IL" smtClean="0">
                <a:solidFill>
                  <a:prstClr val="white">
                    <a:lumMod val="75000"/>
                  </a:prstClr>
                </a:solidFill>
              </a:rPr>
              <a:pPr algn="r" rtl="1">
                <a:defRPr/>
              </a:pPr>
              <a:t>23</a:t>
            </a:fld>
            <a:endParaRPr lang="he-IL" dirty="0">
              <a:solidFill>
                <a:prstClr val="white">
                  <a:lumMod val="75000"/>
                </a:prstClr>
              </a:solidFill>
            </a:endParaRPr>
          </a:p>
        </p:txBody>
      </p:sp>
      <p:cxnSp>
        <p:nvCxnSpPr>
          <p:cNvPr id="2" name="Straight Connector 6">
            <a:extLst>
              <a:ext uri="{FF2B5EF4-FFF2-40B4-BE49-F238E27FC236}">
                <a16:creationId xmlns:a16="http://schemas.microsoft.com/office/drawing/2014/main" id="{367C77EC-508E-0429-3110-08D4B040F200}"/>
              </a:ext>
            </a:extLst>
          </p:cNvPr>
          <p:cNvCxnSpPr>
            <a:cxnSpLocks/>
          </p:cNvCxnSpPr>
          <p:nvPr/>
        </p:nvCxnSpPr>
        <p:spPr>
          <a:xfrm rot="10800000" flipV="1">
            <a:off x="6337898" y="1514930"/>
            <a:ext cx="0" cy="4680000"/>
          </a:xfrm>
          <a:prstGeom prst="line">
            <a:avLst/>
          </a:prstGeom>
          <a:ln w="25400" cap="rnd">
            <a:solidFill>
              <a:schemeClr val="bg1">
                <a:lumMod val="85000"/>
              </a:schemeClr>
            </a:solidFill>
            <a:round/>
          </a:ln>
        </p:spPr>
        <p:style>
          <a:lnRef idx="1">
            <a:schemeClr val="accent1"/>
          </a:lnRef>
          <a:fillRef idx="0">
            <a:schemeClr val="accent1"/>
          </a:fillRef>
          <a:effectRef idx="0">
            <a:schemeClr val="accent1"/>
          </a:effectRef>
          <a:fontRef idx="minor">
            <a:schemeClr val="tx1"/>
          </a:fontRef>
        </p:style>
      </p:cxnSp>
      <p:sp>
        <p:nvSpPr>
          <p:cNvPr id="3" name="Rectangle 6">
            <a:extLst>
              <a:ext uri="{FF2B5EF4-FFF2-40B4-BE49-F238E27FC236}">
                <a16:creationId xmlns:a16="http://schemas.microsoft.com/office/drawing/2014/main" id="{3DDA674B-C98B-F7C0-06A3-ED8962BC98FB}"/>
              </a:ext>
            </a:extLst>
          </p:cNvPr>
          <p:cNvSpPr/>
          <p:nvPr/>
        </p:nvSpPr>
        <p:spPr>
          <a:xfrm>
            <a:off x="6337898" y="1305112"/>
            <a:ext cx="5744090" cy="4984406"/>
          </a:xfrm>
          <a:prstGeom prst="rect">
            <a:avLst/>
          </a:prstGeom>
        </p:spPr>
        <p:txBody>
          <a:bodyPr wrap="square" anchor="ctr">
            <a:noAutofit/>
          </a:bodyPr>
          <a:lstStyle/>
          <a:p>
            <a:pPr algn="ctr" rtl="1">
              <a:lnSpc>
                <a:spcPct val="150000"/>
              </a:lnSpc>
            </a:pPr>
            <a:r>
              <a:rPr lang="he-IL" sz="1600" b="1" dirty="0">
                <a:latin typeface="Segoe UI" panose="020B0502040204020203" pitchFamily="34" charset="0"/>
                <a:cs typeface="Segoe UI" panose="020B0502040204020203" pitchFamily="34" charset="0"/>
              </a:rPr>
              <a:t>מרבית אלו שלא ביקשו להישפט שילמו בפועל את הקנס, במיוחד במגזר הערבי -&gt; ציות גבוה.</a:t>
            </a:r>
          </a:p>
          <a:p>
            <a:pPr algn="ctr" rtl="1">
              <a:lnSpc>
                <a:spcPct val="150000"/>
              </a:lnSpc>
            </a:pPr>
            <a:r>
              <a:rPr lang="he-IL" sz="1600" dirty="0">
                <a:latin typeface="Segoe UI" panose="020B0502040204020203" pitchFamily="34" charset="0"/>
                <a:cs typeface="Segoe UI" panose="020B0502040204020203" pitchFamily="34" charset="0"/>
              </a:rPr>
              <a:t>ובתוך כך 18% מהיהודים לא שילמו....</a:t>
            </a:r>
            <a:br>
              <a:rPr lang="en-US" sz="1600" dirty="0">
                <a:latin typeface="Segoe UI" panose="020B0502040204020203" pitchFamily="34" charset="0"/>
                <a:cs typeface="Segoe UI" panose="020B0502040204020203" pitchFamily="34" charset="0"/>
              </a:rPr>
            </a:br>
            <a:r>
              <a:rPr lang="he-IL" sz="1600" dirty="0">
                <a:latin typeface="Segoe UI" panose="020B0502040204020203" pitchFamily="34" charset="0"/>
                <a:cs typeface="Segoe UI" panose="020B0502040204020203" pitchFamily="34" charset="0"/>
              </a:rPr>
              <a:t> </a:t>
            </a:r>
            <a:r>
              <a:rPr lang="he-IL" sz="1600" b="1" dirty="0">
                <a:latin typeface="Segoe UI" panose="020B0502040204020203" pitchFamily="34" charset="0"/>
                <a:cs typeface="Segoe UI" panose="020B0502040204020203" pitchFamily="34" charset="0"/>
              </a:rPr>
              <a:t>מדובר בשיעור לא מבוטל שדורש הבנה האם הוחמץ?</a:t>
            </a:r>
            <a:endParaRPr lang="en-US" sz="1600" b="1" dirty="0">
              <a:latin typeface="Segoe UI" panose="020B0502040204020203" pitchFamily="34" charset="0"/>
              <a:cs typeface="Segoe UI" panose="020B0502040204020203" pitchFamily="34" charset="0"/>
            </a:endParaRPr>
          </a:p>
          <a:p>
            <a:pPr algn="ctr" rtl="1">
              <a:lnSpc>
                <a:spcPct val="150000"/>
              </a:lnSpc>
            </a:pPr>
            <a:br>
              <a:rPr lang="en-US" sz="1600" dirty="0">
                <a:latin typeface="Segoe UI" panose="020B0502040204020203" pitchFamily="34" charset="0"/>
                <a:cs typeface="Segoe UI" panose="020B0502040204020203" pitchFamily="34" charset="0"/>
              </a:rPr>
            </a:br>
            <a:r>
              <a:rPr lang="he-IL" b="1" dirty="0">
                <a:solidFill>
                  <a:srgbClr val="1D1C64"/>
                </a:solidFill>
                <a:latin typeface="Segoe UI" panose="020B0502040204020203" pitchFamily="34" charset="0"/>
                <a:cs typeface="Segoe UI" panose="020B0502040204020203" pitchFamily="34" charset="0"/>
              </a:rPr>
              <a:t>מכיוון תשלום הקנס התשלום סוגר מהר את התהליך...</a:t>
            </a:r>
          </a:p>
          <a:p>
            <a:pPr algn="ctr" rtl="1">
              <a:lnSpc>
                <a:spcPct val="150000"/>
              </a:lnSpc>
            </a:pPr>
            <a:r>
              <a:rPr lang="he-IL" sz="1600" b="1" dirty="0">
                <a:solidFill>
                  <a:srgbClr val="1D1C64"/>
                </a:solidFill>
                <a:latin typeface="Segoe UI" panose="020B0502040204020203" pitchFamily="34" charset="0"/>
                <a:cs typeface="Segoe UI" panose="020B0502040204020203" pitchFamily="34" charset="0"/>
              </a:rPr>
              <a:t>מומלץ</a:t>
            </a:r>
            <a:r>
              <a:rPr lang="en-US" sz="1600" b="1" dirty="0">
                <a:solidFill>
                  <a:srgbClr val="1D1C64"/>
                </a:solidFill>
                <a:latin typeface="Segoe UI" panose="020B0502040204020203" pitchFamily="34" charset="0"/>
                <a:cs typeface="Segoe UI" panose="020B0502040204020203" pitchFamily="34" charset="0"/>
              </a:rPr>
              <a:t> </a:t>
            </a:r>
            <a:r>
              <a:rPr lang="he-IL" sz="1600" b="1" dirty="0">
                <a:solidFill>
                  <a:srgbClr val="1D1C64"/>
                </a:solidFill>
                <a:latin typeface="Segoe UI" panose="020B0502040204020203" pitchFamily="34" charset="0"/>
                <a:cs typeface="Segoe UI" panose="020B0502040204020203" pitchFamily="34" charset="0"/>
              </a:rPr>
              <a:t>לבנות מנגנון תזכורת לאחר 14/30 יום מקבלת הדוח</a:t>
            </a:r>
            <a:br>
              <a:rPr lang="en-US" sz="1600" b="1">
                <a:solidFill>
                  <a:srgbClr val="1D1C64"/>
                </a:solidFill>
                <a:latin typeface="Segoe UI" panose="020B0502040204020203" pitchFamily="34" charset="0"/>
                <a:cs typeface="Segoe UI" panose="020B0502040204020203" pitchFamily="34" charset="0"/>
              </a:rPr>
            </a:br>
            <a:r>
              <a:rPr lang="he-IL" b="1">
                <a:solidFill>
                  <a:srgbClr val="1D1C64"/>
                </a:solidFill>
                <a:latin typeface="Segoe UI" panose="020B0502040204020203" pitchFamily="34" charset="0"/>
                <a:cs typeface="Segoe UI" panose="020B0502040204020203" pitchFamily="34" charset="0"/>
              </a:rPr>
              <a:t> </a:t>
            </a:r>
            <a:r>
              <a:rPr lang="he-IL" sz="1400" dirty="0">
                <a:solidFill>
                  <a:srgbClr val="1D1C64"/>
                </a:solidFill>
                <a:latin typeface="Segoe UI" panose="020B0502040204020203" pitchFamily="34" charset="0"/>
                <a:cs typeface="Segoe UI" panose="020B0502040204020203" pitchFamily="34" charset="0"/>
              </a:rPr>
              <a:t>(או חלופות זמן אחרות) </a:t>
            </a:r>
            <a:r>
              <a:rPr lang="he-IL" sz="1600" b="1" dirty="0">
                <a:solidFill>
                  <a:srgbClr val="1D1C64"/>
                </a:solidFill>
                <a:latin typeface="Segoe UI" panose="020B0502040204020203" pitchFamily="34" charset="0"/>
                <a:cs typeface="Segoe UI" panose="020B0502040204020203" pitchFamily="34" charset="0"/>
              </a:rPr>
              <a:t>עם קישור ישיר לתשלום</a:t>
            </a:r>
            <a:br>
              <a:rPr lang="en-US" sz="1600" b="1">
                <a:solidFill>
                  <a:srgbClr val="1D1C64"/>
                </a:solidFill>
                <a:latin typeface="Segoe UI" panose="020B0502040204020203" pitchFamily="34" charset="0"/>
                <a:cs typeface="Segoe UI" panose="020B0502040204020203" pitchFamily="34" charset="0"/>
              </a:rPr>
            </a:br>
            <a:r>
              <a:rPr lang="he-IL" sz="1600" b="1">
                <a:solidFill>
                  <a:srgbClr val="1D1C64"/>
                </a:solidFill>
                <a:latin typeface="Segoe UI" panose="020B0502040204020203" pitchFamily="34" charset="0"/>
                <a:cs typeface="Segoe UI" panose="020B0502040204020203" pitchFamily="34" charset="0"/>
              </a:rPr>
              <a:t>לסגירת </a:t>
            </a:r>
            <a:r>
              <a:rPr lang="he-IL" sz="1600" b="1" dirty="0">
                <a:solidFill>
                  <a:srgbClr val="1D1C64"/>
                </a:solidFill>
                <a:latin typeface="Segoe UI" panose="020B0502040204020203" pitchFamily="34" charset="0"/>
                <a:cs typeface="Segoe UI" panose="020B0502040204020203" pitchFamily="34" charset="0"/>
              </a:rPr>
              <a:t>פער ה-18% </a:t>
            </a:r>
            <a:r>
              <a:rPr lang="he-IL" sz="1600" b="1">
                <a:solidFill>
                  <a:srgbClr val="1D1C64"/>
                </a:solidFill>
                <a:latin typeface="Segoe UI" panose="020B0502040204020203" pitchFamily="34" charset="0"/>
                <a:cs typeface="Segoe UI" panose="020B0502040204020203" pitchFamily="34" charset="0"/>
              </a:rPr>
              <a:t>שלא שילמו </a:t>
            </a:r>
            <a:br>
              <a:rPr lang="en-US" sz="1600" b="1">
                <a:solidFill>
                  <a:srgbClr val="1D1C64"/>
                </a:solidFill>
                <a:latin typeface="Segoe UI" panose="020B0502040204020203" pitchFamily="34" charset="0"/>
                <a:cs typeface="Segoe UI" panose="020B0502040204020203" pitchFamily="34" charset="0"/>
              </a:rPr>
            </a:br>
            <a:r>
              <a:rPr lang="he-IL" sz="1600" b="1">
                <a:solidFill>
                  <a:srgbClr val="1D1C64"/>
                </a:solidFill>
                <a:latin typeface="Segoe UI" panose="020B0502040204020203" pitchFamily="34" charset="0"/>
                <a:cs typeface="Segoe UI" panose="020B0502040204020203" pitchFamily="34" charset="0"/>
              </a:rPr>
              <a:t>ולעידוד </a:t>
            </a:r>
            <a:r>
              <a:rPr lang="he-IL" sz="1600" b="1" dirty="0">
                <a:solidFill>
                  <a:srgbClr val="1D1C64"/>
                </a:solidFill>
                <a:latin typeface="Segoe UI" panose="020B0502040204020203" pitchFamily="34" charset="0"/>
                <a:cs typeface="Segoe UI" panose="020B0502040204020203" pitchFamily="34" charset="0"/>
              </a:rPr>
              <a:t>תשלום הקנס טרם צבירת ריביות</a:t>
            </a:r>
            <a:r>
              <a:rPr lang="en-US" sz="1600" b="1" dirty="0">
                <a:solidFill>
                  <a:srgbClr val="1D1C64"/>
                </a:solidFill>
                <a:latin typeface="Segoe UI" panose="020B0502040204020203" pitchFamily="34" charset="0"/>
                <a:cs typeface="Segoe UI" panose="020B0502040204020203" pitchFamily="34" charset="0"/>
              </a:rPr>
              <a:t>.</a:t>
            </a:r>
          </a:p>
        </p:txBody>
      </p:sp>
      <p:sp>
        <p:nvSpPr>
          <p:cNvPr id="4" name="Rectangle 3">
            <a:extLst>
              <a:ext uri="{FF2B5EF4-FFF2-40B4-BE49-F238E27FC236}">
                <a16:creationId xmlns:a16="http://schemas.microsoft.com/office/drawing/2014/main" id="{03A0D283-7640-DB06-A615-94EABC04C1E8}"/>
              </a:ext>
            </a:extLst>
          </p:cNvPr>
          <p:cNvSpPr/>
          <p:nvPr/>
        </p:nvSpPr>
        <p:spPr>
          <a:xfrm>
            <a:off x="1320802" y="191076"/>
            <a:ext cx="10614278" cy="5075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t"/>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0" cap="none" spc="0" normalizeH="0" baseline="0" noProof="0" dirty="0">
                <a:ln>
                  <a:noFill/>
                </a:ln>
                <a:solidFill>
                  <a:srgbClr val="104E88"/>
                </a:solidFill>
                <a:effectLst/>
                <a:uLnTx/>
                <a:uFillTx/>
                <a:latin typeface="Segoe UI" panose="020B0502040204020203" pitchFamily="34" charset="0"/>
                <a:cs typeface="Segoe UI" panose="020B0502040204020203" pitchFamily="34" charset="0"/>
                <a:sym typeface="Arial"/>
              </a:rPr>
              <a:t>תשלום הקנס בפועל</a:t>
            </a:r>
            <a:br>
              <a:rPr kumimoji="0" lang="en-US" sz="2800" b="0" i="0" u="none" strike="noStrike" kern="0" cap="none" spc="0" normalizeH="0" baseline="0" noProof="0" dirty="0">
                <a:ln>
                  <a:noFill/>
                </a:ln>
                <a:solidFill>
                  <a:srgbClr val="104E88"/>
                </a:solidFill>
                <a:effectLst/>
                <a:uLnTx/>
                <a:uFillTx/>
                <a:latin typeface="Segoe UI" panose="020B0502040204020203" pitchFamily="34" charset="0"/>
                <a:cs typeface="Segoe UI" panose="020B0502040204020203" pitchFamily="34" charset="0"/>
                <a:sym typeface="Arial"/>
              </a:rPr>
            </a:br>
            <a:r>
              <a:rPr kumimoji="0" lang="he-IL" sz="1600" b="0" i="0" u="none" strike="noStrike" kern="0" cap="none" spc="0" normalizeH="0" baseline="0" noProof="0" dirty="0">
                <a:ln>
                  <a:noFill/>
                </a:ln>
                <a:solidFill>
                  <a:srgbClr val="104E88"/>
                </a:solidFill>
                <a:effectLst/>
                <a:uLnTx/>
                <a:uFillTx/>
                <a:latin typeface="Segoe UI" panose="020B0502040204020203" pitchFamily="34" charset="0"/>
                <a:ea typeface="+mn-ea"/>
                <a:cs typeface="Segoe UI" panose="020B0502040204020203" pitchFamily="34" charset="0"/>
                <a:sym typeface="Arial"/>
              </a:rPr>
              <a:t>בקרב מי שביקשו לא להישפט</a:t>
            </a:r>
            <a:endParaRPr kumimoji="0" lang="he-IL" sz="2800" b="0" i="0" u="none" strike="noStrike" kern="0" cap="none" spc="0" normalizeH="0" baseline="0" noProof="0" dirty="0">
              <a:ln>
                <a:noFill/>
              </a:ln>
              <a:solidFill>
                <a:srgbClr val="104E88"/>
              </a:solidFill>
              <a:effectLst/>
              <a:uLnTx/>
              <a:uFillTx/>
              <a:latin typeface="Segoe UI" panose="020B0502040204020203" pitchFamily="34" charset="0"/>
              <a:cs typeface="Segoe UI" panose="020B0502040204020203" pitchFamily="34" charset="0"/>
              <a:sym typeface="Arial"/>
            </a:endParaRPr>
          </a:p>
        </p:txBody>
      </p:sp>
      <p:graphicFrame>
        <p:nvGraphicFramePr>
          <p:cNvPr id="7" name="אובייקט 3">
            <a:extLst>
              <a:ext uri="{FF2B5EF4-FFF2-40B4-BE49-F238E27FC236}">
                <a16:creationId xmlns:a16="http://schemas.microsoft.com/office/drawing/2014/main" id="{A6267D28-D532-02D7-925B-81AA371EC9E3}"/>
              </a:ext>
            </a:extLst>
          </p:cNvPr>
          <p:cNvGraphicFramePr>
            <a:graphicFrameLocks noChangeAspect="1"/>
          </p:cNvGraphicFramePr>
          <p:nvPr>
            <p:extLst>
              <p:ext uri="{D42A27DB-BD31-4B8C-83A1-F6EECF244321}">
                <p14:modId xmlns:p14="http://schemas.microsoft.com/office/powerpoint/2010/main" val="1840155959"/>
              </p:ext>
            </p:extLst>
          </p:nvPr>
        </p:nvGraphicFramePr>
        <p:xfrm>
          <a:off x="-165101" y="1391560"/>
          <a:ext cx="6567096" cy="4320000"/>
        </p:xfrm>
        <a:graphic>
          <a:graphicData uri="http://schemas.openxmlformats.org/drawingml/2006/chart">
            <c:chart xmlns:c="http://schemas.openxmlformats.org/drawingml/2006/chart" xmlns:r="http://schemas.openxmlformats.org/officeDocument/2006/relationships" r:id="rId2"/>
          </a:graphicData>
        </a:graphic>
      </p:graphicFrame>
      <p:sp>
        <p:nvSpPr>
          <p:cNvPr id="8" name="Rectangle 28">
            <a:extLst>
              <a:ext uri="{FF2B5EF4-FFF2-40B4-BE49-F238E27FC236}">
                <a16:creationId xmlns:a16="http://schemas.microsoft.com/office/drawing/2014/main" id="{FAB6E6EA-DA84-F946-04E6-E11FDE36EB5B}"/>
              </a:ext>
            </a:extLst>
          </p:cNvPr>
          <p:cNvSpPr/>
          <p:nvPr/>
        </p:nvSpPr>
        <p:spPr>
          <a:xfrm>
            <a:off x="2796634" y="6473005"/>
            <a:ext cx="9000000" cy="360000"/>
          </a:xfrm>
          <a:prstGeom prst="rect">
            <a:avLst/>
          </a:prstGeom>
          <a:noFill/>
          <a:ln>
            <a:noFill/>
          </a:ln>
        </p:spPr>
        <p:txBody>
          <a:bodyPr rot="0" spcFirstLastPara="0" vertOverflow="overflow" horzOverflow="overflow" vert="horz" wrap="square" lIns="91440" tIns="45720" rIns="91440" bIns="45720" numCol="1" spcCol="0" rtlCol="1" fromWordArt="0" anchor="ctr" anchorCtr="0" forceAA="0" compatLnSpc="1">
            <a:prstTxWarp prst="textNoShape">
              <a:avLst/>
            </a:prstTxWarp>
            <a:noAutofit/>
          </a:bodyPr>
          <a:lstStyle/>
          <a:p>
            <a:pPr lvl="0" algn="r" rtl="1">
              <a:defRPr/>
            </a:pPr>
            <a:r>
              <a:rPr lang="he-IL" sz="1000" dirty="0">
                <a:solidFill>
                  <a:prstClr val="white">
                    <a:lumMod val="65000"/>
                  </a:prstClr>
                </a:solidFill>
                <a:latin typeface="Segoe UI" panose="020B0502040204020203" pitchFamily="34" charset="0"/>
                <a:cs typeface="Segoe UI" panose="020B0502040204020203" pitchFamily="34" charset="0"/>
              </a:rPr>
              <a:t>"והאם בפועל שילמת את הקנס שבדו"ח?"</a:t>
            </a:r>
          </a:p>
        </p:txBody>
      </p:sp>
    </p:spTree>
    <p:extLst>
      <p:ext uri="{BB962C8B-B14F-4D97-AF65-F5344CB8AC3E}">
        <p14:creationId xmlns:p14="http://schemas.microsoft.com/office/powerpoint/2010/main" val="5051859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EDE63-808F-2A19-2DDF-307FFFF49FA3}"/>
            </a:ext>
          </a:extLst>
        </p:cNvPr>
        <p:cNvGrpSpPr/>
        <p:nvPr/>
      </p:nvGrpSpPr>
      <p:grpSpPr>
        <a:xfrm>
          <a:off x="0" y="0"/>
          <a:ext cx="0" cy="0"/>
          <a:chOff x="0" y="0"/>
          <a:chExt cx="0" cy="0"/>
        </a:xfrm>
      </p:grpSpPr>
      <p:sp>
        <p:nvSpPr>
          <p:cNvPr id="4" name="Rectangle: Rounded Corners 6">
            <a:extLst>
              <a:ext uri="{FF2B5EF4-FFF2-40B4-BE49-F238E27FC236}">
                <a16:creationId xmlns:a16="http://schemas.microsoft.com/office/drawing/2014/main" id="{E0AF404B-1974-8FCA-13E1-FB3DC293E656}"/>
              </a:ext>
            </a:extLst>
          </p:cNvPr>
          <p:cNvSpPr/>
          <p:nvPr/>
        </p:nvSpPr>
        <p:spPr>
          <a:xfrm>
            <a:off x="8324849" y="4129113"/>
            <a:ext cx="3445689" cy="720000"/>
          </a:xfrm>
          <a:prstGeom prst="roundRect">
            <a:avLst>
              <a:gd name="adj" fmla="val 28339"/>
            </a:avLst>
          </a:prstGeom>
          <a:gradFill flip="none" rotWithShape="1">
            <a:gsLst>
              <a:gs pos="0">
                <a:srgbClr val="1FC3BF"/>
              </a:gs>
              <a:gs pos="100000">
                <a:srgbClr val="0176B9"/>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20000"/>
              </a:lnSpc>
              <a:spcBef>
                <a:spcPts val="600"/>
              </a:spcBef>
              <a:spcAft>
                <a:spcPts val="0"/>
              </a:spcAft>
              <a:buClrTx/>
              <a:buSzTx/>
              <a:buFontTx/>
              <a:buNone/>
              <a:tabLst/>
              <a:defRPr/>
            </a:pPr>
            <a:endParaRPr kumimoji="0" lang="he-IL" sz="2400" b="1" i="0" u="none" strike="noStrike" kern="1200" cap="none" spc="0" normalizeH="0" baseline="0" noProof="0" dirty="0">
              <a:ln>
                <a:noFill/>
              </a:ln>
              <a:solidFill>
                <a:prstClr val="white"/>
              </a:solidFill>
              <a:effectLst/>
              <a:uLnTx/>
              <a:uFillTx/>
              <a:latin typeface="Calibri" panose="020F0502020204030204"/>
              <a:ea typeface="+mn-ea"/>
              <a:cs typeface="Segoe UI" panose="020B0502040204020203" pitchFamily="34" charset="0"/>
            </a:endParaRPr>
          </a:p>
        </p:txBody>
      </p:sp>
      <p:sp>
        <p:nvSpPr>
          <p:cNvPr id="6" name="Rectangle 5">
            <a:extLst>
              <a:ext uri="{FF2B5EF4-FFF2-40B4-BE49-F238E27FC236}">
                <a16:creationId xmlns:a16="http://schemas.microsoft.com/office/drawing/2014/main" id="{3078FCF6-878F-A0FB-6B59-043A24520CFE}"/>
              </a:ext>
            </a:extLst>
          </p:cNvPr>
          <p:cNvSpPr/>
          <p:nvPr/>
        </p:nvSpPr>
        <p:spPr>
          <a:xfrm>
            <a:off x="6058970" y="2484495"/>
            <a:ext cx="5712725" cy="2667480"/>
          </a:xfrm>
          <a:prstGeom prst="rect">
            <a:avLst/>
          </a:prstGeom>
          <a:noFill/>
          <a:ln w="12700" cap="flat" cmpd="sng" algn="ctr">
            <a:noFill/>
            <a:prstDash val="solid"/>
            <a:miter lim="800000"/>
          </a:ln>
          <a:effectLst/>
        </p:spPr>
        <p:txBody>
          <a:bodyPr rtlCol="1" anchor="t"/>
          <a:lstStyle/>
          <a:p>
            <a:pPr marL="0" marR="0" lvl="0" indent="0" algn="r" defTabSz="914400" rtl="1" eaLnBrk="1" fontAlgn="auto" latinLnBrk="0" hangingPunct="1">
              <a:lnSpc>
                <a:spcPct val="200000"/>
              </a:lnSpc>
              <a:spcBef>
                <a:spcPts val="600"/>
              </a:spcBef>
              <a:spcAft>
                <a:spcPts val="0"/>
              </a:spcAft>
              <a:buClrTx/>
              <a:buSzTx/>
              <a:buFontTx/>
              <a:buNone/>
              <a:tabLst/>
              <a:defRPr/>
            </a:pPr>
            <a:r>
              <a:rPr kumimoji="0" lang="he-IL" sz="2000" b="0" i="0" u="none" strike="noStrike" kern="0" cap="none" spc="0" normalizeH="0" baseline="0" noProof="0" dirty="0">
                <a:ln>
                  <a:noFill/>
                </a:ln>
                <a:solidFill>
                  <a:prstClr val="white">
                    <a:lumMod val="65000"/>
                  </a:prstClr>
                </a:solidFill>
                <a:effectLst/>
                <a:uLnTx/>
                <a:uFillTx/>
                <a:latin typeface="Segoe UI" panose="020B0502040204020203" pitchFamily="34" charset="0"/>
                <a:ea typeface="+mn-ea"/>
                <a:cs typeface="Segoe UI" panose="020B0502040204020203" pitchFamily="34" charset="0"/>
              </a:rPr>
              <a:t>רקע – קבלת הדוח </a:t>
            </a:r>
            <a:r>
              <a:rPr kumimoji="0" lang="he-IL" sz="1800" b="0" i="0" u="none" strike="noStrike" kern="0" cap="none" spc="0" normalizeH="0" baseline="0" noProof="0" dirty="0">
                <a:ln>
                  <a:noFill/>
                </a:ln>
                <a:solidFill>
                  <a:prstClr val="white">
                    <a:lumMod val="65000"/>
                  </a:prstClr>
                </a:solidFill>
                <a:effectLst/>
                <a:uLnTx/>
                <a:uFillTx/>
                <a:latin typeface="Segoe UI" panose="020B0502040204020203" pitchFamily="34" charset="0"/>
                <a:ea typeface="+mn-ea"/>
                <a:cs typeface="Segoe UI" panose="020B0502040204020203" pitchFamily="34" charset="0"/>
              </a:rPr>
              <a:t>(תחילת התהליך)</a:t>
            </a:r>
          </a:p>
          <a:p>
            <a:pPr marL="0" marR="0" lvl="0" indent="0" algn="r" defTabSz="914400" rtl="1" eaLnBrk="1" fontAlgn="auto" latinLnBrk="0" hangingPunct="1">
              <a:lnSpc>
                <a:spcPct val="200000"/>
              </a:lnSpc>
              <a:spcBef>
                <a:spcPts val="600"/>
              </a:spcBef>
              <a:spcAft>
                <a:spcPts val="0"/>
              </a:spcAft>
              <a:buClrTx/>
              <a:buSzTx/>
              <a:buFontTx/>
              <a:buNone/>
              <a:tabLst/>
              <a:defRPr/>
            </a:pPr>
            <a:r>
              <a:rPr kumimoji="0" lang="he-IL" sz="2000" b="0" i="0" u="none" strike="noStrike" kern="0" cap="none" spc="0" normalizeH="0" baseline="0" noProof="0" dirty="0">
                <a:ln>
                  <a:noFill/>
                </a:ln>
                <a:solidFill>
                  <a:prstClr val="white">
                    <a:lumMod val="65000"/>
                  </a:prstClr>
                </a:solidFill>
                <a:effectLst/>
                <a:uLnTx/>
                <a:uFillTx/>
                <a:latin typeface="Segoe UI" panose="020B0502040204020203" pitchFamily="34" charset="0"/>
                <a:ea typeface="+mn-ea"/>
                <a:cs typeface="Segoe UI" panose="020B0502040204020203" pitchFamily="34" charset="0"/>
              </a:rPr>
              <a:t>הבנת הדוח, חלופות התגובה והתמודדות בפועל</a:t>
            </a:r>
          </a:p>
          <a:p>
            <a:pPr marL="0" marR="0" lvl="0" indent="0" algn="r" defTabSz="914400" rtl="1" eaLnBrk="1" fontAlgn="auto" latinLnBrk="0" hangingPunct="1">
              <a:lnSpc>
                <a:spcPct val="200000"/>
              </a:lnSpc>
              <a:spcBef>
                <a:spcPts val="600"/>
              </a:spcBef>
              <a:spcAft>
                <a:spcPts val="0"/>
              </a:spcAft>
              <a:buClrTx/>
              <a:buSzTx/>
              <a:buFontTx/>
              <a:buNone/>
              <a:tabLst/>
              <a:defRPr/>
            </a:pPr>
            <a:r>
              <a:rPr kumimoji="0" lang="he-IL" sz="3200" b="1" i="0" u="none" strike="noStrike" kern="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rPr>
              <a:t>ההליך המשפטי</a:t>
            </a:r>
          </a:p>
          <a:p>
            <a:pPr marL="0" marR="0" lvl="0" indent="0" algn="r" defTabSz="914400" rtl="1" eaLnBrk="1" fontAlgn="auto" latinLnBrk="0" hangingPunct="1">
              <a:lnSpc>
                <a:spcPct val="200000"/>
              </a:lnSpc>
              <a:spcBef>
                <a:spcPts val="600"/>
              </a:spcBef>
              <a:spcAft>
                <a:spcPts val="0"/>
              </a:spcAft>
              <a:buClrTx/>
              <a:buSzTx/>
              <a:buFontTx/>
              <a:buNone/>
              <a:tabLst/>
              <a:defRPr/>
            </a:pPr>
            <a:r>
              <a:rPr kumimoji="0" lang="he-IL" sz="2000" b="0" i="0" u="none" strike="noStrike" kern="0" cap="none" spc="0" normalizeH="0" baseline="0" noProof="0" dirty="0">
                <a:ln>
                  <a:noFill/>
                </a:ln>
                <a:solidFill>
                  <a:prstClr val="white">
                    <a:lumMod val="65000"/>
                  </a:prstClr>
                </a:solidFill>
                <a:effectLst/>
                <a:uLnTx/>
                <a:uFillTx/>
                <a:latin typeface="Segoe UI" panose="020B0502040204020203" pitchFamily="34" charset="0"/>
                <a:ea typeface="+mn-ea"/>
                <a:cs typeface="Segoe UI" panose="020B0502040204020203" pitchFamily="34" charset="0"/>
              </a:rPr>
              <a:t>שביעות רצון והמלצות </a:t>
            </a:r>
            <a:r>
              <a:rPr kumimoji="0" lang="he-IL" sz="1800" b="0" i="0" u="none" strike="noStrike" kern="0" cap="none" spc="0" normalizeH="0" baseline="0" noProof="0" dirty="0">
                <a:ln>
                  <a:noFill/>
                </a:ln>
                <a:solidFill>
                  <a:prstClr val="white">
                    <a:lumMod val="65000"/>
                  </a:prstClr>
                </a:solidFill>
                <a:effectLst/>
                <a:uLnTx/>
                <a:uFillTx/>
                <a:latin typeface="Segoe UI" panose="020B0502040204020203" pitchFamily="34" charset="0"/>
                <a:ea typeface="+mn-ea"/>
                <a:cs typeface="Segoe UI" panose="020B0502040204020203" pitchFamily="34" charset="0"/>
              </a:rPr>
              <a:t>(סיום התהליך)</a:t>
            </a:r>
          </a:p>
        </p:txBody>
      </p:sp>
      <p:pic>
        <p:nvPicPr>
          <p:cNvPr id="3" name="תמונה 2" descr="תמונה שמכילה טקסט, גופן, לוגו, סמל&#10;&#10;תוכן בינה מלאכותית גנרטיבית עשוי להיות שגוי.">
            <a:extLst>
              <a:ext uri="{FF2B5EF4-FFF2-40B4-BE49-F238E27FC236}">
                <a16:creationId xmlns:a16="http://schemas.microsoft.com/office/drawing/2014/main" id="{92233B11-B3B6-8907-54BE-E54208EC1B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34200" y="1441752"/>
            <a:ext cx="4265824" cy="1061715"/>
          </a:xfrm>
          <a:prstGeom prst="rect">
            <a:avLst/>
          </a:prstGeom>
        </p:spPr>
      </p:pic>
    </p:spTree>
    <p:extLst>
      <p:ext uri="{BB962C8B-B14F-4D97-AF65-F5344CB8AC3E}">
        <p14:creationId xmlns:p14="http://schemas.microsoft.com/office/powerpoint/2010/main" val="3001255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9FF22-0659-83FE-1CD5-A6861C624C9F}"/>
            </a:ext>
          </a:extLst>
        </p:cNvPr>
        <p:cNvGrpSpPr/>
        <p:nvPr/>
      </p:nvGrpSpPr>
      <p:grpSpPr>
        <a:xfrm>
          <a:off x="0" y="0"/>
          <a:ext cx="0" cy="0"/>
          <a:chOff x="0" y="0"/>
          <a:chExt cx="0" cy="0"/>
        </a:xfrm>
      </p:grpSpPr>
      <p:grpSp>
        <p:nvGrpSpPr>
          <p:cNvPr id="12" name="קבוצה 11">
            <a:extLst>
              <a:ext uri="{FF2B5EF4-FFF2-40B4-BE49-F238E27FC236}">
                <a16:creationId xmlns:a16="http://schemas.microsoft.com/office/drawing/2014/main" id="{65785A5C-7F7A-ADDA-1A0F-61786C8CB13A}"/>
              </a:ext>
            </a:extLst>
          </p:cNvPr>
          <p:cNvGrpSpPr/>
          <p:nvPr/>
        </p:nvGrpSpPr>
        <p:grpSpPr>
          <a:xfrm>
            <a:off x="8250" y="1196266"/>
            <a:ext cx="5972691" cy="3262907"/>
            <a:chOff x="8250" y="1196266"/>
            <a:chExt cx="5972691" cy="3262907"/>
          </a:xfrm>
        </p:grpSpPr>
        <p:sp>
          <p:nvSpPr>
            <p:cNvPr id="11" name="תיבת טקסט 10">
              <a:extLst>
                <a:ext uri="{FF2B5EF4-FFF2-40B4-BE49-F238E27FC236}">
                  <a16:creationId xmlns:a16="http://schemas.microsoft.com/office/drawing/2014/main" id="{C4D4F97B-11B5-BC02-F401-3CFC4279DB98}"/>
                </a:ext>
              </a:extLst>
            </p:cNvPr>
            <p:cNvSpPr txBox="1"/>
            <p:nvPr/>
          </p:nvSpPr>
          <p:spPr>
            <a:xfrm>
              <a:off x="917324" y="1196266"/>
              <a:ext cx="3241525" cy="523220"/>
            </a:xfrm>
            <a:prstGeom prst="rect">
              <a:avLst/>
            </a:prstGeom>
            <a:noFill/>
          </p:spPr>
          <p:txBody>
            <a:bodyPr wrap="square">
              <a:spAutoFit/>
            </a:bodyPr>
            <a:lstStyle/>
            <a:p>
              <a:pPr algn="ctr" rtl="1" fontAlgn="b"/>
              <a:r>
                <a:rPr lang="he-IL" sz="1400" b="1" u="none" strike="noStrike" dirty="0">
                  <a:effectLst/>
                  <a:latin typeface="Segoe UI" panose="020B0502040204020203" pitchFamily="34" charset="0"/>
                  <a:cs typeface="Segoe UI" panose="020B0502040204020203" pitchFamily="34" charset="0"/>
                </a:rPr>
                <a:t>תפיסת מידת בהירות תהליך</a:t>
              </a:r>
              <a:br>
                <a:rPr lang="en-US" sz="1400" b="1" u="none" strike="noStrike" dirty="0">
                  <a:effectLst/>
                  <a:latin typeface="Segoe UI" panose="020B0502040204020203" pitchFamily="34" charset="0"/>
                  <a:cs typeface="Segoe UI" panose="020B0502040204020203" pitchFamily="34" charset="0"/>
                </a:rPr>
              </a:br>
              <a:r>
                <a:rPr lang="he-IL" sz="1400" b="1" u="none" strike="noStrike" dirty="0">
                  <a:effectLst/>
                  <a:latin typeface="Segoe UI" panose="020B0502040204020203" pitchFamily="34" charset="0"/>
                  <a:cs typeface="Segoe UI" panose="020B0502040204020203" pitchFamily="34" charset="0"/>
                </a:rPr>
                <a:t>הגשת הבקשה להישפט</a:t>
              </a:r>
              <a:endParaRPr lang="he-IL" sz="1400" i="0" u="none" strike="noStrike" dirty="0">
                <a:solidFill>
                  <a:srgbClr val="000000"/>
                </a:solidFill>
                <a:effectLst/>
                <a:latin typeface="Segoe UI" panose="020B0502040204020203" pitchFamily="34" charset="0"/>
                <a:cs typeface="Segoe UI" panose="020B0502040204020203" pitchFamily="34" charset="0"/>
              </a:endParaRPr>
            </a:p>
          </p:txBody>
        </p:sp>
        <p:graphicFrame>
          <p:nvGraphicFramePr>
            <p:cNvPr id="6" name="אובייקט 2">
              <a:extLst>
                <a:ext uri="{FF2B5EF4-FFF2-40B4-BE49-F238E27FC236}">
                  <a16:creationId xmlns:a16="http://schemas.microsoft.com/office/drawing/2014/main" id="{2426F160-E87B-F5AE-ACAE-C59996EA563C}"/>
                </a:ext>
              </a:extLst>
            </p:cNvPr>
            <p:cNvGraphicFramePr>
              <a:graphicFrameLocks noChangeAspect="1"/>
            </p:cNvGraphicFramePr>
            <p:nvPr>
              <p:extLst>
                <p:ext uri="{D42A27DB-BD31-4B8C-83A1-F6EECF244321}">
                  <p14:modId xmlns:p14="http://schemas.microsoft.com/office/powerpoint/2010/main" val="1190246661"/>
                </p:ext>
              </p:extLst>
            </p:nvPr>
          </p:nvGraphicFramePr>
          <p:xfrm>
            <a:off x="8250" y="1333765"/>
            <a:ext cx="5972691" cy="3125408"/>
          </p:xfrm>
          <a:graphic>
            <a:graphicData uri="http://schemas.openxmlformats.org/drawingml/2006/chart">
              <c:chart xmlns:c="http://schemas.openxmlformats.org/drawingml/2006/chart" xmlns:r="http://schemas.openxmlformats.org/officeDocument/2006/relationships" r:id="rId2"/>
            </a:graphicData>
          </a:graphic>
        </p:graphicFrame>
      </p:grpSp>
      <p:sp>
        <p:nvSpPr>
          <p:cNvPr id="15" name="Slide Number Placeholder 1">
            <a:extLst>
              <a:ext uri="{FF2B5EF4-FFF2-40B4-BE49-F238E27FC236}">
                <a16:creationId xmlns:a16="http://schemas.microsoft.com/office/drawing/2014/main" id="{E5A9F376-B484-463D-0A90-1F40F2B8E5B6}"/>
              </a:ext>
            </a:extLst>
          </p:cNvPr>
          <p:cNvSpPr txBox="1">
            <a:spLocks/>
          </p:cNvSpPr>
          <p:nvPr/>
        </p:nvSpPr>
        <p:spPr>
          <a:xfrm>
            <a:off x="11541989" y="6473956"/>
            <a:ext cx="540000" cy="360000"/>
          </a:xfrm>
          <a:prstGeom prst="rect">
            <a:avLst/>
          </a:prstGeom>
          <a:noFill/>
          <a:ln w="12700" cap="flat" cmpd="sng" algn="ctr">
            <a:noFill/>
            <a:prstDash val="solid"/>
            <a:miter lim="800000"/>
          </a:ln>
          <a:effectLst/>
        </p:spPr>
        <p:txBody>
          <a:bodyPr rot="0" spcFirstLastPara="0" vertOverflow="overflow" horzOverflow="overflow" vert="horz" wrap="square" lIns="91440" tIns="45720" rIns="91440" bIns="45720" numCol="1" spcCol="0" rtlCol="1" fromWordArt="0" anchor="ctr" anchorCtr="0" forceAA="0" compatLnSpc="1">
            <a:prstTxWarp prst="textNoShape">
              <a:avLst/>
            </a:prstTxWarp>
            <a:noAutofit/>
          </a:bodyPr>
          <a:lstStyle>
            <a:defPPr>
              <a:defRPr lang="he-IL"/>
            </a:defPPr>
            <a:lvl1pPr marL="0" algn="l" defTabSz="914400" rtl="0" eaLnBrk="1" latinLnBrk="0" hangingPunct="1">
              <a:defRPr lang="he-IL" sz="1100" kern="1200" smtClean="0">
                <a:solidFill>
                  <a:schemeClr val="bg1">
                    <a:lumMod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r" rtl="1">
              <a:defRPr/>
            </a:pPr>
            <a:fld id="{7A91BF3F-E284-4570-AC28-CDAE2F1A1EA1}" type="slidenum">
              <a:rPr lang="he-IL" smtClean="0">
                <a:solidFill>
                  <a:prstClr val="white">
                    <a:lumMod val="75000"/>
                  </a:prstClr>
                </a:solidFill>
              </a:rPr>
              <a:pPr algn="r" rtl="1">
                <a:defRPr/>
              </a:pPr>
              <a:t>25</a:t>
            </a:fld>
            <a:endParaRPr lang="he-IL" dirty="0">
              <a:solidFill>
                <a:prstClr val="white">
                  <a:lumMod val="75000"/>
                </a:prstClr>
              </a:solidFill>
            </a:endParaRPr>
          </a:p>
        </p:txBody>
      </p:sp>
      <p:cxnSp>
        <p:nvCxnSpPr>
          <p:cNvPr id="2" name="Straight Connector 6">
            <a:extLst>
              <a:ext uri="{FF2B5EF4-FFF2-40B4-BE49-F238E27FC236}">
                <a16:creationId xmlns:a16="http://schemas.microsoft.com/office/drawing/2014/main" id="{C3975138-2477-BBC0-D490-686FDAD61F52}"/>
              </a:ext>
            </a:extLst>
          </p:cNvPr>
          <p:cNvCxnSpPr>
            <a:cxnSpLocks/>
          </p:cNvCxnSpPr>
          <p:nvPr/>
        </p:nvCxnSpPr>
        <p:spPr>
          <a:xfrm rot="16200000" flipV="1">
            <a:off x="6096000" y="-849021"/>
            <a:ext cx="0" cy="10800000"/>
          </a:xfrm>
          <a:prstGeom prst="line">
            <a:avLst/>
          </a:prstGeom>
          <a:ln w="25400" cap="rnd">
            <a:solidFill>
              <a:schemeClr val="bg1">
                <a:lumMod val="85000"/>
              </a:schemeClr>
            </a:solidFill>
            <a:round/>
          </a:ln>
        </p:spPr>
        <p:style>
          <a:lnRef idx="1">
            <a:schemeClr val="accent1"/>
          </a:lnRef>
          <a:fillRef idx="0">
            <a:schemeClr val="accent1"/>
          </a:fillRef>
          <a:effectRef idx="0">
            <a:schemeClr val="accent1"/>
          </a:effectRef>
          <a:fontRef idx="minor">
            <a:schemeClr val="tx1"/>
          </a:fontRef>
        </p:style>
      </p:cxnSp>
      <p:sp>
        <p:nvSpPr>
          <p:cNvPr id="3" name="Rectangle 6">
            <a:extLst>
              <a:ext uri="{FF2B5EF4-FFF2-40B4-BE49-F238E27FC236}">
                <a16:creationId xmlns:a16="http://schemas.microsoft.com/office/drawing/2014/main" id="{898C1F06-0E18-4B1B-A4E1-77CC4FE47DF9}"/>
              </a:ext>
            </a:extLst>
          </p:cNvPr>
          <p:cNvSpPr/>
          <p:nvPr/>
        </p:nvSpPr>
        <p:spPr>
          <a:xfrm>
            <a:off x="105047" y="4706723"/>
            <a:ext cx="11751788" cy="1440000"/>
          </a:xfrm>
          <a:prstGeom prst="rect">
            <a:avLst/>
          </a:prstGeom>
        </p:spPr>
        <p:txBody>
          <a:bodyPr wrap="square" anchor="ctr">
            <a:noAutofit/>
          </a:bodyPr>
          <a:lstStyle/>
          <a:p>
            <a:pPr algn="ctr" rtl="1">
              <a:lnSpc>
                <a:spcPct val="150000"/>
              </a:lnSpc>
            </a:pPr>
            <a:r>
              <a:rPr lang="he-IL" sz="1600" b="1" dirty="0">
                <a:latin typeface="Segoe UI" panose="020B0502040204020203" pitchFamily="34" charset="0"/>
                <a:cs typeface="Segoe UI" panose="020B0502040204020203" pitchFamily="34" charset="0"/>
              </a:rPr>
              <a:t>תהליך הגשת הבקשה להישפט נתפס ברור רק ברמה חלקית -&gt; חסם קריטי בניהול התהליך...</a:t>
            </a:r>
          </a:p>
          <a:p>
            <a:pPr algn="ctr" rtl="1">
              <a:lnSpc>
                <a:spcPct val="150000"/>
              </a:lnSpc>
            </a:pPr>
            <a:r>
              <a:rPr lang="he-IL" sz="1600" dirty="0">
                <a:latin typeface="Segoe UI" panose="020B0502040204020203" pitchFamily="34" charset="0"/>
                <a:cs typeface="Segoe UI" panose="020B0502040204020203" pitchFamily="34" charset="0"/>
              </a:rPr>
              <a:t>כמחצית תופסים את בהירות תהליך הגשת הבקשה במידה מועטה ובינונית בלבד </a:t>
            </a:r>
            <a:r>
              <a:rPr lang="he-IL" sz="1200" dirty="0">
                <a:latin typeface="Segoe UI" panose="020B0502040204020203" pitchFamily="34" charset="0"/>
                <a:cs typeface="Segoe UI" panose="020B0502040204020203" pitchFamily="34" charset="0"/>
              </a:rPr>
              <a:t>(יותר במגזר הערבי)</a:t>
            </a:r>
          </a:p>
          <a:p>
            <a:pPr algn="ctr" rtl="1">
              <a:lnSpc>
                <a:spcPct val="150000"/>
              </a:lnSpc>
            </a:pPr>
            <a:r>
              <a:rPr lang="he-IL" sz="1200" dirty="0">
                <a:latin typeface="Segoe UI" panose="020B0502040204020203" pitchFamily="34" charset="0"/>
                <a:cs typeface="Segoe UI" panose="020B0502040204020203" pitchFamily="34" charset="0"/>
              </a:rPr>
              <a:t> </a:t>
            </a:r>
            <a:r>
              <a:rPr lang="he-IL" sz="1600" dirty="0">
                <a:latin typeface="Segoe UI" panose="020B0502040204020203" pitchFamily="34" charset="0"/>
                <a:cs typeface="Segoe UI" panose="020B0502040204020203" pitchFamily="34" charset="0"/>
              </a:rPr>
              <a:t>וכרבע עד שליש לא ידעו איך לעקוב אחרי הסטטוס לאחר הגשת הבקשה + כמחצית מה"יודעים" ציינו רק באופן חלקי*חוסר בהירות</a:t>
            </a:r>
            <a:r>
              <a:rPr lang="en-US" sz="1600" dirty="0">
                <a:latin typeface="Segoe UI" panose="020B0502040204020203" pitchFamily="34" charset="0"/>
                <a:cs typeface="Segoe UI" panose="020B0502040204020203" pitchFamily="34" charset="0"/>
              </a:rPr>
              <a:t>.</a:t>
            </a:r>
          </a:p>
          <a:p>
            <a:pPr algn="ctr" rtl="1">
              <a:lnSpc>
                <a:spcPct val="150000"/>
              </a:lnSpc>
            </a:pPr>
            <a:r>
              <a:rPr lang="en-US" sz="1600" dirty="0">
                <a:latin typeface="Segoe UI" panose="020B0502040204020203" pitchFamily="34" charset="0"/>
                <a:cs typeface="Segoe UI" panose="020B0502040204020203" pitchFamily="34" charset="0"/>
              </a:rPr>
              <a:t> </a:t>
            </a:r>
            <a:r>
              <a:rPr lang="he-IL" sz="1600" b="1" dirty="0">
                <a:solidFill>
                  <a:srgbClr val="1D1C64"/>
                </a:solidFill>
                <a:latin typeface="Segoe UI" panose="020B0502040204020203" pitchFamily="34" charset="0"/>
                <a:cs typeface="Segoe UI" panose="020B0502040204020203" pitchFamily="34" charset="0"/>
              </a:rPr>
              <a:t>בית הדין הדיגיטלי חייב לכלול "דף סטטוס" בזמן-אמת לתהליך:  מעקב הזמנה, אישור קבלה, צפי זמנים והסבר </a:t>
            </a:r>
            <a:br>
              <a:rPr lang="en-US" sz="1600" b="1" dirty="0">
                <a:solidFill>
                  <a:srgbClr val="1D1C64"/>
                </a:solidFill>
                <a:latin typeface="Segoe UI" panose="020B0502040204020203" pitchFamily="34" charset="0"/>
                <a:cs typeface="Segoe UI" panose="020B0502040204020203" pitchFamily="34" charset="0"/>
              </a:rPr>
            </a:br>
            <a:r>
              <a:rPr lang="he-IL" sz="1600" b="1" dirty="0">
                <a:solidFill>
                  <a:srgbClr val="1D1C64"/>
                </a:solidFill>
                <a:latin typeface="Segoe UI" panose="020B0502040204020203" pitchFamily="34" charset="0"/>
                <a:cs typeface="Segoe UI" panose="020B0502040204020203" pitchFamily="34" charset="0"/>
              </a:rPr>
              <a:t>"מה קורה עכשיו</a:t>
            </a:r>
            <a:r>
              <a:rPr lang="en-US" sz="1600" b="1" dirty="0">
                <a:solidFill>
                  <a:srgbClr val="1D1C64"/>
                </a:solidFill>
                <a:latin typeface="Segoe UI" panose="020B0502040204020203" pitchFamily="34" charset="0"/>
                <a:cs typeface="Segoe UI" panose="020B0502040204020203" pitchFamily="34" charset="0"/>
              </a:rPr>
              <a:t>"</a:t>
            </a:r>
            <a:r>
              <a:rPr lang="he-IL" sz="1600" b="1" dirty="0">
                <a:solidFill>
                  <a:srgbClr val="1D1C64"/>
                </a:solidFill>
                <a:latin typeface="Segoe UI" panose="020B0502040204020203" pitchFamily="34" charset="0"/>
                <a:cs typeface="Segoe UI" panose="020B0502040204020203" pitchFamily="34" charset="0"/>
              </a:rPr>
              <a:t> </a:t>
            </a:r>
            <a:r>
              <a:rPr lang="en-US" sz="1600" b="1" dirty="0">
                <a:solidFill>
                  <a:srgbClr val="1D1C64"/>
                </a:solidFill>
                <a:latin typeface="Segoe UI" panose="020B0502040204020203" pitchFamily="34" charset="0"/>
                <a:cs typeface="Segoe UI" panose="020B0502040204020203" pitchFamily="34" charset="0"/>
              </a:rPr>
              <a:t> </a:t>
            </a:r>
            <a:r>
              <a:rPr lang="he-IL" sz="1600" b="1" dirty="0">
                <a:solidFill>
                  <a:srgbClr val="1D1C64"/>
                </a:solidFill>
                <a:latin typeface="Segoe UI" panose="020B0502040204020203" pitchFamily="34" charset="0"/>
                <a:cs typeface="Segoe UI" panose="020B0502040204020203" pitchFamily="34" charset="0"/>
              </a:rPr>
              <a:t>כדי למנוע חרדה ונטישה של התהליך שמלווה גם ככה בחוסר בהירות וחשש.</a:t>
            </a:r>
            <a:endParaRPr lang="en-US" sz="1600" b="1" dirty="0">
              <a:solidFill>
                <a:srgbClr val="1D1C64"/>
              </a:solidFill>
              <a:latin typeface="Segoe UI" panose="020B0502040204020203" pitchFamily="34" charset="0"/>
              <a:cs typeface="Segoe UI" panose="020B0502040204020203" pitchFamily="34" charset="0"/>
            </a:endParaRPr>
          </a:p>
        </p:txBody>
      </p:sp>
      <p:sp>
        <p:nvSpPr>
          <p:cNvPr id="4" name="Rectangle 3">
            <a:extLst>
              <a:ext uri="{FF2B5EF4-FFF2-40B4-BE49-F238E27FC236}">
                <a16:creationId xmlns:a16="http://schemas.microsoft.com/office/drawing/2014/main" id="{C4DF8F2D-6679-E892-9BAF-65AC0613C865}"/>
              </a:ext>
            </a:extLst>
          </p:cNvPr>
          <p:cNvSpPr/>
          <p:nvPr/>
        </p:nvSpPr>
        <p:spPr>
          <a:xfrm>
            <a:off x="709299" y="191076"/>
            <a:ext cx="11301982" cy="5075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t"/>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700" b="1" i="0" u="none" strike="noStrike" kern="0" cap="none" spc="0" normalizeH="0" baseline="0" noProof="0" dirty="0">
                <a:ln>
                  <a:noFill/>
                </a:ln>
                <a:solidFill>
                  <a:srgbClr val="104E88"/>
                </a:solidFill>
                <a:effectLst/>
                <a:uLnTx/>
                <a:uFillTx/>
                <a:latin typeface="Segoe UI" panose="020B0502040204020203" pitchFamily="34" charset="0"/>
                <a:cs typeface="Segoe UI" panose="020B0502040204020203" pitchFamily="34" charset="0"/>
                <a:sym typeface="Arial"/>
              </a:rPr>
              <a:t>בהירות תהליך הגשת הבקשה להישפט ומודעות מעקב סטטוס הבקשה</a:t>
            </a:r>
            <a:br>
              <a:rPr kumimoji="0" lang="en-US" sz="2800" b="0" i="0" u="none" strike="noStrike" kern="0" cap="none" spc="0" normalizeH="0" baseline="0" noProof="0" dirty="0">
                <a:ln>
                  <a:noFill/>
                </a:ln>
                <a:solidFill>
                  <a:srgbClr val="104E88"/>
                </a:solidFill>
                <a:effectLst/>
                <a:uLnTx/>
                <a:uFillTx/>
                <a:latin typeface="Segoe UI" panose="020B0502040204020203" pitchFamily="34" charset="0"/>
                <a:cs typeface="Segoe UI" panose="020B0502040204020203" pitchFamily="34" charset="0"/>
                <a:sym typeface="Arial"/>
              </a:rPr>
            </a:br>
            <a:r>
              <a:rPr lang="he-IL" sz="1600" kern="0" dirty="0">
                <a:solidFill>
                  <a:srgbClr val="104E88"/>
                </a:solidFill>
                <a:latin typeface="Segoe UI" panose="020B0502040204020203" pitchFamily="34" charset="0"/>
                <a:cs typeface="Segoe UI" panose="020B0502040204020203" pitchFamily="34" charset="0"/>
                <a:sym typeface="Arial"/>
              </a:rPr>
              <a:t>בקרב מי שביקשו </a:t>
            </a:r>
            <a:r>
              <a:rPr kumimoji="0" lang="he-IL" sz="1600" b="0" i="0" u="none" strike="noStrike" kern="0" cap="none" spc="0" normalizeH="0" baseline="0" noProof="0" dirty="0">
                <a:ln>
                  <a:noFill/>
                </a:ln>
                <a:solidFill>
                  <a:srgbClr val="104E88"/>
                </a:solidFill>
                <a:effectLst/>
                <a:uLnTx/>
                <a:uFillTx/>
                <a:latin typeface="Segoe UI" panose="020B0502040204020203" pitchFamily="34" charset="0"/>
                <a:cs typeface="Segoe UI" panose="020B0502040204020203" pitchFamily="34" charset="0"/>
                <a:sym typeface="Arial"/>
              </a:rPr>
              <a:t>להישפט</a:t>
            </a:r>
            <a:endParaRPr kumimoji="0" lang="he-IL" sz="2800" b="0" i="0" u="none" strike="noStrike" kern="0" cap="none" spc="0" normalizeH="0" baseline="0" noProof="0" dirty="0">
              <a:ln>
                <a:noFill/>
              </a:ln>
              <a:solidFill>
                <a:srgbClr val="104E88"/>
              </a:solidFill>
              <a:effectLst/>
              <a:uLnTx/>
              <a:uFillTx/>
              <a:latin typeface="Segoe UI" panose="020B0502040204020203" pitchFamily="34" charset="0"/>
              <a:cs typeface="Segoe UI" panose="020B0502040204020203" pitchFamily="34" charset="0"/>
              <a:sym typeface="Arial"/>
            </a:endParaRPr>
          </a:p>
        </p:txBody>
      </p:sp>
      <p:sp>
        <p:nvSpPr>
          <p:cNvPr id="8" name="Rectangle 28">
            <a:extLst>
              <a:ext uri="{FF2B5EF4-FFF2-40B4-BE49-F238E27FC236}">
                <a16:creationId xmlns:a16="http://schemas.microsoft.com/office/drawing/2014/main" id="{525AE66C-2631-2065-F12A-EE9DC062B19E}"/>
              </a:ext>
            </a:extLst>
          </p:cNvPr>
          <p:cNvSpPr/>
          <p:nvPr/>
        </p:nvSpPr>
        <p:spPr>
          <a:xfrm>
            <a:off x="2796634" y="6473005"/>
            <a:ext cx="9000000" cy="360000"/>
          </a:xfrm>
          <a:prstGeom prst="rect">
            <a:avLst/>
          </a:prstGeom>
          <a:noFill/>
          <a:ln>
            <a:noFill/>
          </a:ln>
        </p:spPr>
        <p:txBody>
          <a:bodyPr rot="0" spcFirstLastPara="0" vertOverflow="overflow" horzOverflow="overflow" vert="horz" wrap="square" lIns="91440" tIns="45720" rIns="91440" bIns="45720" numCol="1" spcCol="0" rtlCol="1" fromWordArt="0" anchor="ctr" anchorCtr="0" forceAA="0" compatLnSpc="1">
            <a:prstTxWarp prst="textNoShape">
              <a:avLst/>
            </a:prstTxWarp>
            <a:noAutofit/>
          </a:bodyPr>
          <a:lstStyle/>
          <a:p>
            <a:pPr lvl="0" algn="r" rtl="1">
              <a:defRPr/>
            </a:pPr>
            <a:r>
              <a:rPr lang="he-IL" sz="1000" dirty="0">
                <a:solidFill>
                  <a:prstClr val="white">
                    <a:lumMod val="65000"/>
                  </a:prstClr>
                </a:solidFill>
                <a:latin typeface="Segoe UI" panose="020B0502040204020203" pitchFamily="34" charset="0"/>
                <a:cs typeface="Segoe UI" panose="020B0502040204020203" pitchFamily="34" charset="0"/>
              </a:rPr>
              <a:t>"באיזו מידה תהליך הגשת הבקשה להישפט היה ברור לך?"</a:t>
            </a:r>
          </a:p>
          <a:p>
            <a:pPr lvl="0" algn="r" rtl="1">
              <a:defRPr/>
            </a:pPr>
            <a:r>
              <a:rPr lang="he-IL" sz="1000" dirty="0">
                <a:solidFill>
                  <a:prstClr val="white">
                    <a:lumMod val="65000"/>
                  </a:prstClr>
                </a:solidFill>
                <a:latin typeface="Segoe UI" panose="020B0502040204020203" pitchFamily="34" charset="0"/>
                <a:cs typeface="Segoe UI" panose="020B0502040204020203" pitchFamily="34" charset="0"/>
              </a:rPr>
              <a:t>"האם ידעת כיצד לעקוב אחרי סטטוס הבקשה שהגשת להישפט?"</a:t>
            </a:r>
          </a:p>
        </p:txBody>
      </p:sp>
      <p:grpSp>
        <p:nvGrpSpPr>
          <p:cNvPr id="13" name="קבוצה 12">
            <a:extLst>
              <a:ext uri="{FF2B5EF4-FFF2-40B4-BE49-F238E27FC236}">
                <a16:creationId xmlns:a16="http://schemas.microsoft.com/office/drawing/2014/main" id="{E20A403E-EEBA-B02C-5709-22E9F6B8DE19}"/>
              </a:ext>
            </a:extLst>
          </p:cNvPr>
          <p:cNvGrpSpPr/>
          <p:nvPr/>
        </p:nvGrpSpPr>
        <p:grpSpPr>
          <a:xfrm>
            <a:off x="5723856" y="1025981"/>
            <a:ext cx="6269506" cy="3433192"/>
            <a:chOff x="5723856" y="1025981"/>
            <a:chExt cx="6269506" cy="3433192"/>
          </a:xfrm>
        </p:grpSpPr>
        <p:graphicFrame>
          <p:nvGraphicFramePr>
            <p:cNvPr id="5" name="אובייקט 3">
              <a:extLst>
                <a:ext uri="{FF2B5EF4-FFF2-40B4-BE49-F238E27FC236}">
                  <a16:creationId xmlns:a16="http://schemas.microsoft.com/office/drawing/2014/main" id="{EDDD6D60-D4B7-AC61-987D-5E4E1BF59CE4}"/>
                </a:ext>
              </a:extLst>
            </p:cNvPr>
            <p:cNvGraphicFramePr>
              <a:graphicFrameLocks noChangeAspect="1"/>
            </p:cNvGraphicFramePr>
            <p:nvPr>
              <p:extLst>
                <p:ext uri="{D42A27DB-BD31-4B8C-83A1-F6EECF244321}">
                  <p14:modId xmlns:p14="http://schemas.microsoft.com/office/powerpoint/2010/main" val="1905508252"/>
                </p:ext>
              </p:extLst>
            </p:nvPr>
          </p:nvGraphicFramePr>
          <p:xfrm>
            <a:off x="5723856" y="1579173"/>
            <a:ext cx="6269506" cy="2880000"/>
          </p:xfrm>
          <a:graphic>
            <a:graphicData uri="http://schemas.openxmlformats.org/drawingml/2006/chart">
              <c:chart xmlns:c="http://schemas.openxmlformats.org/drawingml/2006/chart" xmlns:r="http://schemas.openxmlformats.org/officeDocument/2006/relationships" r:id="rId3"/>
            </a:graphicData>
          </a:graphic>
        </p:graphicFrame>
        <p:cxnSp>
          <p:nvCxnSpPr>
            <p:cNvPr id="9" name="מחבר ישר 8">
              <a:extLst>
                <a:ext uri="{FF2B5EF4-FFF2-40B4-BE49-F238E27FC236}">
                  <a16:creationId xmlns:a16="http://schemas.microsoft.com/office/drawing/2014/main" id="{85A7D454-CFA9-32FF-735E-C06D792016B3}"/>
                </a:ext>
              </a:extLst>
            </p:cNvPr>
            <p:cNvCxnSpPr>
              <a:cxnSpLocks/>
            </p:cNvCxnSpPr>
            <p:nvPr/>
          </p:nvCxnSpPr>
          <p:spPr>
            <a:xfrm>
              <a:off x="5822427" y="1025981"/>
              <a:ext cx="0" cy="3240000"/>
            </a:xfrm>
            <a:prstGeom prst="line">
              <a:avLst/>
            </a:prstGeom>
            <a:ln>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14" name="תיבת טקסט 13">
              <a:extLst>
                <a:ext uri="{FF2B5EF4-FFF2-40B4-BE49-F238E27FC236}">
                  <a16:creationId xmlns:a16="http://schemas.microsoft.com/office/drawing/2014/main" id="{299B29E0-89B8-B1AC-44A0-3C7338FCD9C2}"/>
                </a:ext>
              </a:extLst>
            </p:cNvPr>
            <p:cNvSpPr txBox="1"/>
            <p:nvPr/>
          </p:nvSpPr>
          <p:spPr>
            <a:xfrm>
              <a:off x="6837833" y="1196266"/>
              <a:ext cx="3241525" cy="523220"/>
            </a:xfrm>
            <a:prstGeom prst="rect">
              <a:avLst/>
            </a:prstGeom>
            <a:noFill/>
          </p:spPr>
          <p:txBody>
            <a:bodyPr wrap="square">
              <a:spAutoFit/>
            </a:bodyPr>
            <a:lstStyle/>
            <a:p>
              <a:pPr algn="ctr" rtl="1" fontAlgn="b"/>
              <a:r>
                <a:rPr lang="he-IL" sz="1400" b="1" u="none" strike="noStrike" dirty="0">
                  <a:effectLst/>
                  <a:latin typeface="Segoe UI" panose="020B0502040204020203" pitchFamily="34" charset="0"/>
                  <a:cs typeface="Segoe UI" panose="020B0502040204020203" pitchFamily="34" charset="0"/>
                </a:rPr>
                <a:t>מודעות מעקב אחרי</a:t>
              </a:r>
              <a:br>
                <a:rPr lang="en-US" sz="1400" b="1" u="none" strike="noStrike" dirty="0">
                  <a:effectLst/>
                  <a:latin typeface="Segoe UI" panose="020B0502040204020203" pitchFamily="34" charset="0"/>
                  <a:cs typeface="Segoe UI" panose="020B0502040204020203" pitchFamily="34" charset="0"/>
                </a:rPr>
              </a:br>
              <a:r>
                <a:rPr lang="he-IL" sz="1400" b="1" u="none" strike="noStrike" dirty="0">
                  <a:effectLst/>
                  <a:latin typeface="Segoe UI" panose="020B0502040204020203" pitchFamily="34" charset="0"/>
                  <a:cs typeface="Segoe UI" panose="020B0502040204020203" pitchFamily="34" charset="0"/>
                </a:rPr>
                <a:t>סטטוס הבקשה </a:t>
              </a:r>
              <a:r>
                <a:rPr lang="he-IL" sz="1400" b="1" dirty="0">
                  <a:latin typeface="Segoe UI" panose="020B0502040204020203" pitchFamily="34" charset="0"/>
                  <a:cs typeface="Segoe UI" panose="020B0502040204020203" pitchFamily="34" charset="0"/>
                </a:rPr>
                <a:t>להישפט</a:t>
              </a:r>
              <a:endParaRPr lang="he-IL" sz="1400" i="0" u="none" strike="noStrike" dirty="0">
                <a:solidFill>
                  <a:srgbClr val="000000"/>
                </a:solidFill>
                <a:effectLst/>
                <a:latin typeface="Segoe UI" panose="020B0502040204020203" pitchFamily="34" charset="0"/>
                <a:cs typeface="Segoe UI" panose="020B0502040204020203" pitchFamily="34" charset="0"/>
              </a:endParaRPr>
            </a:p>
          </p:txBody>
        </p:sp>
        <p:sp>
          <p:nvSpPr>
            <p:cNvPr id="7" name="תיבת טקסט 6">
              <a:extLst>
                <a:ext uri="{FF2B5EF4-FFF2-40B4-BE49-F238E27FC236}">
                  <a16:creationId xmlns:a16="http://schemas.microsoft.com/office/drawing/2014/main" id="{9C261A93-1DEA-6660-2A5C-A69E110B25C6}"/>
                </a:ext>
              </a:extLst>
            </p:cNvPr>
            <p:cNvSpPr txBox="1"/>
            <p:nvPr/>
          </p:nvSpPr>
          <p:spPr>
            <a:xfrm>
              <a:off x="5786609" y="2485391"/>
              <a:ext cx="726808" cy="369332"/>
            </a:xfrm>
            <a:prstGeom prst="rect">
              <a:avLst/>
            </a:prstGeom>
            <a:noFill/>
          </p:spPr>
          <p:txBody>
            <a:bodyPr wrap="square">
              <a:spAutoFit/>
            </a:bodyPr>
            <a:lstStyle/>
            <a:p>
              <a:pPr algn="r" rtl="1" fontAlgn="ctr"/>
              <a:r>
                <a:rPr lang="he-IL" b="1" i="1" dirty="0">
                  <a:solidFill>
                    <a:srgbClr val="156938"/>
                  </a:solidFill>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t>70</a:t>
              </a:r>
              <a:r>
                <a:rPr lang="he-IL" b="1" i="1" u="none" strike="noStrike" dirty="0">
                  <a:solidFill>
                    <a:srgbClr val="156938"/>
                  </a:solidFill>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t>%</a:t>
              </a:r>
            </a:p>
          </p:txBody>
        </p:sp>
        <p:sp>
          <p:nvSpPr>
            <p:cNvPr id="10" name="תיבת טקסט 9">
              <a:extLst>
                <a:ext uri="{FF2B5EF4-FFF2-40B4-BE49-F238E27FC236}">
                  <a16:creationId xmlns:a16="http://schemas.microsoft.com/office/drawing/2014/main" id="{3DEC5DAC-B886-C8A8-8836-3619939C6565}"/>
                </a:ext>
              </a:extLst>
            </p:cNvPr>
            <p:cNvSpPr txBox="1"/>
            <p:nvPr/>
          </p:nvSpPr>
          <p:spPr>
            <a:xfrm>
              <a:off x="8260343" y="2415365"/>
              <a:ext cx="726808" cy="369332"/>
            </a:xfrm>
            <a:prstGeom prst="rect">
              <a:avLst/>
            </a:prstGeom>
            <a:noFill/>
          </p:spPr>
          <p:txBody>
            <a:bodyPr wrap="square">
              <a:spAutoFit/>
            </a:bodyPr>
            <a:lstStyle/>
            <a:p>
              <a:pPr algn="r" rtl="1" fontAlgn="ctr"/>
              <a:r>
                <a:rPr lang="he-IL" b="1" i="1" dirty="0">
                  <a:solidFill>
                    <a:srgbClr val="156938"/>
                  </a:solidFill>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t>74</a:t>
              </a:r>
              <a:r>
                <a:rPr lang="he-IL" b="1" i="1" u="none" strike="noStrike" dirty="0">
                  <a:solidFill>
                    <a:srgbClr val="156938"/>
                  </a:solidFill>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t>%</a:t>
              </a:r>
            </a:p>
          </p:txBody>
        </p:sp>
      </p:grpSp>
    </p:spTree>
    <p:extLst>
      <p:ext uri="{BB962C8B-B14F-4D97-AF65-F5344CB8AC3E}">
        <p14:creationId xmlns:p14="http://schemas.microsoft.com/office/powerpoint/2010/main" val="1359503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Effect transition="in" filter="fade">
                                      <p:cBhvr>
                                        <p:cTn id="23"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C56B11-FA54-C304-0CEA-AA0D8DB4BB89}"/>
            </a:ext>
          </a:extLst>
        </p:cNvPr>
        <p:cNvGrpSpPr/>
        <p:nvPr/>
      </p:nvGrpSpPr>
      <p:grpSpPr>
        <a:xfrm>
          <a:off x="0" y="0"/>
          <a:ext cx="0" cy="0"/>
          <a:chOff x="0" y="0"/>
          <a:chExt cx="0" cy="0"/>
        </a:xfrm>
      </p:grpSpPr>
      <p:sp>
        <p:nvSpPr>
          <p:cNvPr id="15" name="Slide Number Placeholder 1">
            <a:extLst>
              <a:ext uri="{FF2B5EF4-FFF2-40B4-BE49-F238E27FC236}">
                <a16:creationId xmlns:a16="http://schemas.microsoft.com/office/drawing/2014/main" id="{4815EB96-1C78-35B1-EA18-08ECFED7E64F}"/>
              </a:ext>
            </a:extLst>
          </p:cNvPr>
          <p:cNvSpPr txBox="1">
            <a:spLocks/>
          </p:cNvSpPr>
          <p:nvPr/>
        </p:nvSpPr>
        <p:spPr>
          <a:xfrm>
            <a:off x="11541989" y="6473956"/>
            <a:ext cx="540000" cy="360000"/>
          </a:xfrm>
          <a:prstGeom prst="rect">
            <a:avLst/>
          </a:prstGeom>
          <a:noFill/>
          <a:ln w="12700" cap="flat" cmpd="sng" algn="ctr">
            <a:noFill/>
            <a:prstDash val="solid"/>
            <a:miter lim="800000"/>
          </a:ln>
          <a:effectLst/>
        </p:spPr>
        <p:txBody>
          <a:bodyPr rot="0" spcFirstLastPara="0" vertOverflow="overflow" horzOverflow="overflow" vert="horz" wrap="square" lIns="91440" tIns="45720" rIns="91440" bIns="45720" numCol="1" spcCol="0" rtlCol="1" fromWordArt="0" anchor="ctr" anchorCtr="0" forceAA="0" compatLnSpc="1">
            <a:prstTxWarp prst="textNoShape">
              <a:avLst/>
            </a:prstTxWarp>
            <a:noAutofit/>
          </a:bodyPr>
          <a:lstStyle>
            <a:defPPr>
              <a:defRPr lang="he-IL"/>
            </a:defPPr>
            <a:lvl1pPr marL="0" algn="l" defTabSz="914400" rtl="0" eaLnBrk="1" latinLnBrk="0" hangingPunct="1">
              <a:defRPr lang="he-IL" sz="1100" kern="1200" smtClean="0">
                <a:solidFill>
                  <a:schemeClr val="bg1">
                    <a:lumMod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r" rtl="1">
              <a:defRPr/>
            </a:pPr>
            <a:fld id="{7A91BF3F-E284-4570-AC28-CDAE2F1A1EA1}" type="slidenum">
              <a:rPr lang="he-IL" smtClean="0">
                <a:solidFill>
                  <a:prstClr val="white">
                    <a:lumMod val="75000"/>
                  </a:prstClr>
                </a:solidFill>
              </a:rPr>
              <a:pPr algn="r" rtl="1">
                <a:defRPr/>
              </a:pPr>
              <a:t>26</a:t>
            </a:fld>
            <a:endParaRPr lang="he-IL" dirty="0">
              <a:solidFill>
                <a:prstClr val="white">
                  <a:lumMod val="75000"/>
                </a:prstClr>
              </a:solidFill>
            </a:endParaRPr>
          </a:p>
        </p:txBody>
      </p:sp>
      <p:cxnSp>
        <p:nvCxnSpPr>
          <p:cNvPr id="2" name="Straight Connector 6">
            <a:extLst>
              <a:ext uri="{FF2B5EF4-FFF2-40B4-BE49-F238E27FC236}">
                <a16:creationId xmlns:a16="http://schemas.microsoft.com/office/drawing/2014/main" id="{63A4C7DA-8147-FE86-F006-31EDA2F10063}"/>
              </a:ext>
            </a:extLst>
          </p:cNvPr>
          <p:cNvCxnSpPr>
            <a:cxnSpLocks/>
          </p:cNvCxnSpPr>
          <p:nvPr/>
        </p:nvCxnSpPr>
        <p:spPr>
          <a:xfrm rot="16200000" flipV="1">
            <a:off x="6096000" y="-645821"/>
            <a:ext cx="0" cy="10800000"/>
          </a:xfrm>
          <a:prstGeom prst="line">
            <a:avLst/>
          </a:prstGeom>
          <a:ln w="25400" cap="rnd">
            <a:solidFill>
              <a:schemeClr val="bg1">
                <a:lumMod val="85000"/>
              </a:schemeClr>
            </a:solidFill>
            <a:round/>
          </a:ln>
        </p:spPr>
        <p:style>
          <a:lnRef idx="1">
            <a:schemeClr val="accent1"/>
          </a:lnRef>
          <a:fillRef idx="0">
            <a:schemeClr val="accent1"/>
          </a:fillRef>
          <a:effectRef idx="0">
            <a:schemeClr val="accent1"/>
          </a:effectRef>
          <a:fontRef idx="minor">
            <a:schemeClr val="tx1"/>
          </a:fontRef>
        </p:style>
      </p:cxnSp>
      <p:sp>
        <p:nvSpPr>
          <p:cNvPr id="3" name="Rectangle 6">
            <a:extLst>
              <a:ext uri="{FF2B5EF4-FFF2-40B4-BE49-F238E27FC236}">
                <a16:creationId xmlns:a16="http://schemas.microsoft.com/office/drawing/2014/main" id="{DE1C7B8F-A777-6366-3F04-5D864484A43D}"/>
              </a:ext>
            </a:extLst>
          </p:cNvPr>
          <p:cNvSpPr/>
          <p:nvPr/>
        </p:nvSpPr>
        <p:spPr>
          <a:xfrm>
            <a:off x="495300" y="5015596"/>
            <a:ext cx="11572595" cy="1440000"/>
          </a:xfrm>
          <a:prstGeom prst="rect">
            <a:avLst/>
          </a:prstGeom>
        </p:spPr>
        <p:txBody>
          <a:bodyPr wrap="square" anchor="ctr">
            <a:noAutofit/>
          </a:bodyPr>
          <a:lstStyle/>
          <a:p>
            <a:pPr algn="ctr" rtl="1">
              <a:lnSpc>
                <a:spcPct val="150000"/>
              </a:lnSpc>
            </a:pPr>
            <a:r>
              <a:rPr lang="he-IL" sz="1600" dirty="0">
                <a:latin typeface="Segoe UI" panose="020B0502040204020203" pitchFamily="34" charset="0"/>
                <a:cs typeface="Segoe UI" panose="020B0502040204020203" pitchFamily="34" charset="0"/>
              </a:rPr>
              <a:t>מרבית המבקשים להישפט לא ביקשו כלל לקבל ראיות </a:t>
            </a:r>
            <a:r>
              <a:rPr lang="he-IL" sz="1600" b="1" dirty="0">
                <a:latin typeface="Segoe UI" panose="020B0502040204020203" pitchFamily="34" charset="0"/>
                <a:cs typeface="Segoe UI" panose="020B0502040204020203" pitchFamily="34" charset="0"/>
              </a:rPr>
              <a:t>כשבפועל כשליש בלבד ביקשו לקבל ראיות נוספות בנוגע לתיק שלהם.</a:t>
            </a:r>
          </a:p>
          <a:p>
            <a:pPr algn="ctr" rtl="1">
              <a:lnSpc>
                <a:spcPct val="150000"/>
              </a:lnSpc>
            </a:pPr>
            <a:r>
              <a:rPr lang="he-IL" sz="1600" dirty="0">
                <a:latin typeface="Segoe UI" panose="020B0502040204020203" pitchFamily="34" charset="0"/>
                <a:cs typeface="Segoe UI" panose="020B0502040204020203" pitchFamily="34" charset="0"/>
              </a:rPr>
              <a:t> </a:t>
            </a:r>
            <a:r>
              <a:rPr lang="he-IL" sz="1600" b="1" dirty="0">
                <a:latin typeface="Segoe UI" panose="020B0502040204020203" pitchFamily="34" charset="0"/>
                <a:cs typeface="Segoe UI" panose="020B0502040204020203" pitchFamily="34" charset="0"/>
              </a:rPr>
              <a:t>רוב המבקשים קיבלו את הראיות הנוספות שביקשו </a:t>
            </a:r>
            <a:r>
              <a:rPr lang="he-IL" sz="1400" dirty="0">
                <a:latin typeface="Segoe UI" panose="020B0502040204020203" pitchFamily="34" charset="0"/>
                <a:cs typeface="Segoe UI" panose="020B0502040204020203" pitchFamily="34" charset="0"/>
              </a:rPr>
              <a:t>(יותר במגזר הערבי) </a:t>
            </a:r>
            <a:r>
              <a:rPr lang="he-IL" sz="1600" dirty="0">
                <a:latin typeface="Segoe UI" panose="020B0502040204020203" pitchFamily="34" charset="0"/>
                <a:cs typeface="Segoe UI" panose="020B0502040204020203" pitchFamily="34" charset="0"/>
              </a:rPr>
              <a:t>כשבשני המגזרים קיבלו יותר ראיות באופן חלקי ממלא. </a:t>
            </a:r>
          </a:p>
          <a:p>
            <a:pPr algn="ctr" rtl="1">
              <a:lnSpc>
                <a:spcPct val="150000"/>
              </a:lnSpc>
            </a:pPr>
            <a:r>
              <a:rPr lang="he-IL" sz="1600" dirty="0">
                <a:latin typeface="Segoe UI" panose="020B0502040204020203" pitchFamily="34" charset="0"/>
                <a:cs typeface="Segoe UI" panose="020B0502040204020203" pitchFamily="34" charset="0"/>
              </a:rPr>
              <a:t>-&gt; שיעור גבוה של 3 מכל 4 ציינו </a:t>
            </a:r>
            <a:r>
              <a:rPr lang="he-IL" sz="1600" b="1" dirty="0">
                <a:latin typeface="Segoe UI" panose="020B0502040204020203" pitchFamily="34" charset="0"/>
                <a:cs typeface="Segoe UI" panose="020B0502040204020203" pitchFamily="34" charset="0"/>
              </a:rPr>
              <a:t>שנתקלו במידה בינונית ורבה של קשיים </a:t>
            </a:r>
            <a:r>
              <a:rPr lang="he-IL" sz="1600" dirty="0">
                <a:latin typeface="Segoe UI" panose="020B0502040204020203" pitchFamily="34" charset="0"/>
                <a:cs typeface="Segoe UI" panose="020B0502040204020203" pitchFamily="34" charset="0"/>
              </a:rPr>
              <a:t>בתהליך קבלת הראיות </a:t>
            </a:r>
            <a:r>
              <a:rPr lang="he-IL" sz="1400" dirty="0">
                <a:latin typeface="Segoe UI" panose="020B0502040204020203" pitchFamily="34" charset="0"/>
                <a:cs typeface="Segoe UI" panose="020B0502040204020203" pitchFamily="34" charset="0"/>
              </a:rPr>
              <a:t>(יותר במידה רבה במגזר היהודי) .</a:t>
            </a:r>
          </a:p>
          <a:p>
            <a:pPr algn="ctr" rtl="1">
              <a:lnSpc>
                <a:spcPct val="150000"/>
              </a:lnSpc>
            </a:pPr>
            <a:r>
              <a:rPr lang="he-IL" sz="1600" b="1" dirty="0">
                <a:solidFill>
                  <a:srgbClr val="1D1C64"/>
                </a:solidFill>
                <a:latin typeface="Segoe UI" panose="020B0502040204020203" pitchFamily="34" charset="0"/>
                <a:cs typeface="Segoe UI" panose="020B0502040204020203" pitchFamily="34" charset="0"/>
              </a:rPr>
              <a:t>מומלץ להפוך את תהליך קבלת הראיות את הראיות </a:t>
            </a:r>
            <a:r>
              <a:rPr lang="he-IL" sz="1600" b="1" dirty="0" err="1">
                <a:solidFill>
                  <a:srgbClr val="1D1C64"/>
                </a:solidFill>
                <a:latin typeface="Segoe UI" panose="020B0502040204020203" pitchFamily="34" charset="0"/>
                <a:cs typeface="Segoe UI" panose="020B0502040204020203" pitchFamily="34" charset="0"/>
              </a:rPr>
              <a:t>לגיש</a:t>
            </a:r>
            <a:r>
              <a:rPr lang="he-IL" sz="1600" b="1" dirty="0">
                <a:solidFill>
                  <a:srgbClr val="1D1C64"/>
                </a:solidFill>
                <a:latin typeface="Segoe UI" panose="020B0502040204020203" pitchFamily="34" charset="0"/>
                <a:cs typeface="Segoe UI" panose="020B0502040204020203" pitchFamily="34" charset="0"/>
              </a:rPr>
              <a:t> ודיגיטלי עם</a:t>
            </a:r>
            <a:r>
              <a:rPr lang="en-US" sz="1600" b="1" dirty="0">
                <a:solidFill>
                  <a:srgbClr val="1D1C64"/>
                </a:solidFill>
                <a:latin typeface="Segoe UI" panose="020B0502040204020203" pitchFamily="34" charset="0"/>
                <a:cs typeface="Segoe UI" panose="020B0502040204020203" pitchFamily="34" charset="0"/>
              </a:rPr>
              <a:t> SLA </a:t>
            </a:r>
            <a:r>
              <a:rPr lang="he-IL" sz="1600" b="1" dirty="0">
                <a:solidFill>
                  <a:srgbClr val="1D1C64"/>
                </a:solidFill>
                <a:latin typeface="Segoe UI" panose="020B0502040204020203" pitchFamily="34" charset="0"/>
                <a:cs typeface="Segoe UI" panose="020B0502040204020203" pitchFamily="34" charset="0"/>
              </a:rPr>
              <a:t>ברור, כדי לצמצם תחושת הסתרה ובירוקרטיה, </a:t>
            </a:r>
            <a:br>
              <a:rPr lang="en-US" sz="1600" b="1" dirty="0">
                <a:solidFill>
                  <a:srgbClr val="1D1C64"/>
                </a:solidFill>
                <a:latin typeface="Segoe UI" panose="020B0502040204020203" pitchFamily="34" charset="0"/>
                <a:cs typeface="Segoe UI" panose="020B0502040204020203" pitchFamily="34" charset="0"/>
              </a:rPr>
            </a:br>
            <a:r>
              <a:rPr lang="he-IL" sz="1600" b="1" dirty="0">
                <a:solidFill>
                  <a:srgbClr val="1D1C64"/>
                </a:solidFill>
                <a:latin typeface="Segoe UI" panose="020B0502040204020203" pitchFamily="34" charset="0"/>
                <a:cs typeface="Segoe UI" panose="020B0502040204020203" pitchFamily="34" charset="0"/>
              </a:rPr>
              <a:t>או להנגיש את הראיות באופן שקוף ואוטומטי בתוך האזור האישי, מבלי שהאזרח יידרש לבקש אותן אקטיבית</a:t>
            </a:r>
            <a:r>
              <a:rPr lang="en-US" sz="1600" b="1" dirty="0">
                <a:solidFill>
                  <a:srgbClr val="1D1C64"/>
                </a:solidFill>
                <a:latin typeface="Segoe UI" panose="020B0502040204020203" pitchFamily="34" charset="0"/>
                <a:cs typeface="Segoe UI" panose="020B0502040204020203" pitchFamily="34" charset="0"/>
              </a:rPr>
              <a:t>.</a:t>
            </a:r>
            <a:r>
              <a:rPr lang="he-IL" sz="1600" b="1" dirty="0">
                <a:solidFill>
                  <a:srgbClr val="1D1C64"/>
                </a:solidFill>
                <a:latin typeface="Segoe UI" panose="020B0502040204020203" pitchFamily="34" charset="0"/>
                <a:cs typeface="Segoe UI" panose="020B0502040204020203" pitchFamily="34" charset="0"/>
              </a:rPr>
              <a:t> </a:t>
            </a:r>
            <a:br>
              <a:rPr lang="he-IL" sz="1600" b="1" dirty="0">
                <a:solidFill>
                  <a:srgbClr val="1D1C64"/>
                </a:solidFill>
                <a:latin typeface="Segoe UI" panose="020B0502040204020203" pitchFamily="34" charset="0"/>
                <a:cs typeface="Segoe UI" panose="020B0502040204020203" pitchFamily="34" charset="0"/>
              </a:rPr>
            </a:br>
            <a:r>
              <a:rPr lang="he-IL" sz="1600" b="1" dirty="0">
                <a:solidFill>
                  <a:srgbClr val="1D1C64"/>
                </a:solidFill>
                <a:latin typeface="Segoe UI" panose="020B0502040204020203" pitchFamily="34" charset="0"/>
                <a:cs typeface="Segoe UI" panose="020B0502040204020203" pitchFamily="34" charset="0"/>
              </a:rPr>
              <a:t> </a:t>
            </a:r>
            <a:endParaRPr lang="en-US" sz="1600" b="1" dirty="0">
              <a:solidFill>
                <a:srgbClr val="1D1C64"/>
              </a:solidFill>
              <a:latin typeface="Segoe UI" panose="020B0502040204020203" pitchFamily="34" charset="0"/>
              <a:cs typeface="Segoe UI" panose="020B0502040204020203" pitchFamily="34" charset="0"/>
            </a:endParaRPr>
          </a:p>
        </p:txBody>
      </p:sp>
      <p:sp>
        <p:nvSpPr>
          <p:cNvPr id="4" name="Rectangle 3">
            <a:extLst>
              <a:ext uri="{FF2B5EF4-FFF2-40B4-BE49-F238E27FC236}">
                <a16:creationId xmlns:a16="http://schemas.microsoft.com/office/drawing/2014/main" id="{57FF16C5-6C8B-AAB5-6B03-08981DCCB8D4}"/>
              </a:ext>
            </a:extLst>
          </p:cNvPr>
          <p:cNvSpPr/>
          <p:nvPr/>
        </p:nvSpPr>
        <p:spPr>
          <a:xfrm>
            <a:off x="1054101" y="191076"/>
            <a:ext cx="10957179" cy="5075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t"/>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0" cap="none" spc="0" normalizeH="0" baseline="0" noProof="0" dirty="0">
                <a:ln>
                  <a:noFill/>
                </a:ln>
                <a:solidFill>
                  <a:srgbClr val="104E88"/>
                </a:solidFill>
                <a:effectLst/>
                <a:uLnTx/>
                <a:uFillTx/>
                <a:latin typeface="Segoe UI" panose="020B0502040204020203" pitchFamily="34" charset="0"/>
                <a:cs typeface="Segoe UI" panose="020B0502040204020203" pitchFamily="34" charset="0"/>
                <a:sym typeface="Arial"/>
              </a:rPr>
              <a:t>ראיות</a:t>
            </a:r>
            <a:br>
              <a:rPr kumimoji="0" lang="en-US" sz="2800" b="0" i="0" u="none" strike="noStrike" kern="0" cap="none" spc="0" normalizeH="0" baseline="0" noProof="0" dirty="0">
                <a:ln>
                  <a:noFill/>
                </a:ln>
                <a:solidFill>
                  <a:srgbClr val="104E88"/>
                </a:solidFill>
                <a:effectLst/>
                <a:uLnTx/>
                <a:uFillTx/>
                <a:latin typeface="Segoe UI" panose="020B0502040204020203" pitchFamily="34" charset="0"/>
                <a:cs typeface="Segoe UI" panose="020B0502040204020203" pitchFamily="34" charset="0"/>
                <a:sym typeface="Arial"/>
              </a:rPr>
            </a:br>
            <a:r>
              <a:rPr kumimoji="0" lang="he-IL" sz="1600" b="0" i="0" u="none" strike="noStrike" kern="0" cap="none" spc="0" normalizeH="0" baseline="0" noProof="0" dirty="0">
                <a:ln>
                  <a:noFill/>
                </a:ln>
                <a:solidFill>
                  <a:srgbClr val="104E88"/>
                </a:solidFill>
                <a:effectLst/>
                <a:uLnTx/>
                <a:uFillTx/>
                <a:latin typeface="Segoe UI" panose="020B0502040204020203" pitchFamily="34" charset="0"/>
                <a:ea typeface="+mn-ea"/>
                <a:cs typeface="Segoe UI" panose="020B0502040204020203" pitchFamily="34" charset="0"/>
                <a:sym typeface="Arial"/>
              </a:rPr>
              <a:t>בקרב מי שביקשו להישפט</a:t>
            </a:r>
            <a:endParaRPr kumimoji="0" lang="he-IL" sz="2800" b="0" i="0" u="none" strike="noStrike" kern="0" cap="none" spc="0" normalizeH="0" baseline="0" noProof="0" dirty="0">
              <a:ln>
                <a:noFill/>
              </a:ln>
              <a:solidFill>
                <a:srgbClr val="104E88"/>
              </a:solidFill>
              <a:effectLst/>
              <a:uLnTx/>
              <a:uFillTx/>
              <a:latin typeface="Segoe UI" panose="020B0502040204020203" pitchFamily="34" charset="0"/>
              <a:cs typeface="Segoe UI" panose="020B0502040204020203" pitchFamily="34" charset="0"/>
              <a:sym typeface="Arial"/>
            </a:endParaRPr>
          </a:p>
        </p:txBody>
      </p:sp>
      <p:sp>
        <p:nvSpPr>
          <p:cNvPr id="8" name="Rectangle 28">
            <a:extLst>
              <a:ext uri="{FF2B5EF4-FFF2-40B4-BE49-F238E27FC236}">
                <a16:creationId xmlns:a16="http://schemas.microsoft.com/office/drawing/2014/main" id="{C0B7F1BA-B845-FF1B-8CFB-4D23C5083730}"/>
              </a:ext>
            </a:extLst>
          </p:cNvPr>
          <p:cNvSpPr/>
          <p:nvPr/>
        </p:nvSpPr>
        <p:spPr>
          <a:xfrm>
            <a:off x="2796634" y="6473005"/>
            <a:ext cx="9000000" cy="360000"/>
          </a:xfrm>
          <a:prstGeom prst="rect">
            <a:avLst/>
          </a:prstGeom>
          <a:noFill/>
          <a:ln>
            <a:noFill/>
          </a:ln>
        </p:spPr>
        <p:txBody>
          <a:bodyPr rot="0" spcFirstLastPara="0" vertOverflow="overflow" horzOverflow="overflow" vert="horz" wrap="square" lIns="91440" tIns="45720" rIns="91440" bIns="45720" numCol="1" spcCol="0" rtlCol="1" fromWordArt="0" anchor="ctr" anchorCtr="0" forceAA="0" compatLnSpc="1">
            <a:prstTxWarp prst="textNoShape">
              <a:avLst/>
            </a:prstTxWarp>
            <a:noAutofit/>
          </a:bodyPr>
          <a:lstStyle/>
          <a:p>
            <a:pPr lvl="0" algn="r" rtl="1">
              <a:defRPr/>
            </a:pPr>
            <a:r>
              <a:rPr lang="he-IL" sz="1000" dirty="0">
                <a:solidFill>
                  <a:prstClr val="white">
                    <a:lumMod val="65000"/>
                  </a:prstClr>
                </a:solidFill>
                <a:latin typeface="Segoe UI" panose="020B0502040204020203" pitchFamily="34" charset="0"/>
                <a:cs typeface="Segoe UI" panose="020B0502040204020203" pitchFamily="34" charset="0"/>
              </a:rPr>
              <a:t>"האם ביקשת לקבל ראיות (מעבר לראיות שקיבלת עם הדו"ח) בנוגע לתיק?"</a:t>
            </a:r>
          </a:p>
          <a:p>
            <a:pPr lvl="0" algn="r" rtl="1">
              <a:defRPr/>
            </a:pPr>
            <a:r>
              <a:rPr lang="he-IL" sz="1000" dirty="0">
                <a:solidFill>
                  <a:prstClr val="white">
                    <a:lumMod val="65000"/>
                  </a:prstClr>
                </a:solidFill>
                <a:latin typeface="Segoe UI" panose="020B0502040204020203" pitchFamily="34" charset="0"/>
                <a:cs typeface="Segoe UI" panose="020B0502040204020203" pitchFamily="34" charset="0"/>
              </a:rPr>
              <a:t>"האם קיבלת את הראיות בתיק?" | "האם נתקלת בקשיים בקבלת הראיות?"</a:t>
            </a:r>
          </a:p>
        </p:txBody>
      </p:sp>
      <p:sp>
        <p:nvSpPr>
          <p:cNvPr id="11" name="תיבת טקסט 10">
            <a:extLst>
              <a:ext uri="{FF2B5EF4-FFF2-40B4-BE49-F238E27FC236}">
                <a16:creationId xmlns:a16="http://schemas.microsoft.com/office/drawing/2014/main" id="{B83035D9-E1BC-6A3D-5302-1F99F0303BF2}"/>
              </a:ext>
            </a:extLst>
          </p:cNvPr>
          <p:cNvSpPr txBox="1"/>
          <p:nvPr/>
        </p:nvSpPr>
        <p:spPr>
          <a:xfrm>
            <a:off x="599824" y="1098183"/>
            <a:ext cx="2520000" cy="492443"/>
          </a:xfrm>
          <a:prstGeom prst="rect">
            <a:avLst/>
          </a:prstGeom>
          <a:noFill/>
        </p:spPr>
        <p:txBody>
          <a:bodyPr wrap="square">
            <a:spAutoFit/>
          </a:bodyPr>
          <a:lstStyle/>
          <a:p>
            <a:pPr algn="ctr" rtl="1" fontAlgn="b"/>
            <a:r>
              <a:rPr lang="he-IL" sz="1300" b="1" u="none" strike="noStrike" dirty="0">
                <a:effectLst/>
                <a:latin typeface="Segoe UI" panose="020B0502040204020203" pitchFamily="34" charset="0"/>
                <a:cs typeface="Segoe UI" panose="020B0502040204020203" pitchFamily="34" charset="0"/>
              </a:rPr>
              <a:t>ביקשו לקבל ראיות</a:t>
            </a:r>
          </a:p>
          <a:p>
            <a:pPr algn="ctr" rtl="1" fontAlgn="b"/>
            <a:r>
              <a:rPr lang="he-IL" sz="1300" b="1" u="none" strike="noStrike" dirty="0">
                <a:effectLst/>
                <a:latin typeface="Segoe UI" panose="020B0502040204020203" pitchFamily="34" charset="0"/>
                <a:cs typeface="Segoe UI" panose="020B0502040204020203" pitchFamily="34" charset="0"/>
              </a:rPr>
              <a:t> נוספות בנוגע לתיק</a:t>
            </a:r>
            <a:endParaRPr lang="he-IL" sz="1300" i="0" u="none" strike="noStrike" dirty="0">
              <a:solidFill>
                <a:srgbClr val="000000"/>
              </a:solidFill>
              <a:effectLst/>
              <a:latin typeface="Segoe UI" panose="020B0502040204020203" pitchFamily="34" charset="0"/>
              <a:cs typeface="Segoe UI" panose="020B0502040204020203" pitchFamily="34" charset="0"/>
            </a:endParaRPr>
          </a:p>
        </p:txBody>
      </p:sp>
      <p:graphicFrame>
        <p:nvGraphicFramePr>
          <p:cNvPr id="7" name="אובייקט 3">
            <a:extLst>
              <a:ext uri="{FF2B5EF4-FFF2-40B4-BE49-F238E27FC236}">
                <a16:creationId xmlns:a16="http://schemas.microsoft.com/office/drawing/2014/main" id="{174B2352-5543-051C-4BA5-306CE3B41605}"/>
              </a:ext>
            </a:extLst>
          </p:cNvPr>
          <p:cNvGraphicFramePr>
            <a:graphicFrameLocks noChangeAspect="1"/>
          </p:cNvGraphicFramePr>
          <p:nvPr>
            <p:extLst>
              <p:ext uri="{D42A27DB-BD31-4B8C-83A1-F6EECF244321}">
                <p14:modId xmlns:p14="http://schemas.microsoft.com/office/powerpoint/2010/main" val="2570066126"/>
              </p:ext>
            </p:extLst>
          </p:nvPr>
        </p:nvGraphicFramePr>
        <p:xfrm>
          <a:off x="142923" y="1644874"/>
          <a:ext cx="3263608" cy="2880000"/>
        </p:xfrm>
        <a:graphic>
          <a:graphicData uri="http://schemas.openxmlformats.org/drawingml/2006/chart">
            <c:chart xmlns:c="http://schemas.openxmlformats.org/drawingml/2006/chart" xmlns:r="http://schemas.openxmlformats.org/officeDocument/2006/relationships" r:id="rId2"/>
          </a:graphicData>
        </a:graphic>
      </p:graphicFrame>
      <p:grpSp>
        <p:nvGrpSpPr>
          <p:cNvPr id="17" name="קבוצה 16">
            <a:extLst>
              <a:ext uri="{FF2B5EF4-FFF2-40B4-BE49-F238E27FC236}">
                <a16:creationId xmlns:a16="http://schemas.microsoft.com/office/drawing/2014/main" id="{CC0EAA96-E5C5-BEE0-15E2-FC2E426B1907}"/>
              </a:ext>
            </a:extLst>
          </p:cNvPr>
          <p:cNvGrpSpPr/>
          <p:nvPr/>
        </p:nvGrpSpPr>
        <p:grpSpPr>
          <a:xfrm>
            <a:off x="8191895" y="1098183"/>
            <a:ext cx="3820639" cy="3406705"/>
            <a:chOff x="8191895" y="1098183"/>
            <a:chExt cx="3820639" cy="3406705"/>
          </a:xfrm>
        </p:grpSpPr>
        <p:graphicFrame>
          <p:nvGraphicFramePr>
            <p:cNvPr id="6" name="אובייקט 2">
              <a:extLst>
                <a:ext uri="{FF2B5EF4-FFF2-40B4-BE49-F238E27FC236}">
                  <a16:creationId xmlns:a16="http://schemas.microsoft.com/office/drawing/2014/main" id="{1F8202B8-5B07-2D77-BC8D-E19746F87589}"/>
                </a:ext>
              </a:extLst>
            </p:cNvPr>
            <p:cNvGraphicFramePr>
              <a:graphicFrameLocks noChangeAspect="1"/>
            </p:cNvGraphicFramePr>
            <p:nvPr>
              <p:extLst>
                <p:ext uri="{D42A27DB-BD31-4B8C-83A1-F6EECF244321}">
                  <p14:modId xmlns:p14="http://schemas.microsoft.com/office/powerpoint/2010/main" val="1958277453"/>
                </p:ext>
              </p:extLst>
            </p:nvPr>
          </p:nvGraphicFramePr>
          <p:xfrm>
            <a:off x="8191895" y="1379480"/>
            <a:ext cx="3820639" cy="3125408"/>
          </p:xfrm>
          <a:graphic>
            <a:graphicData uri="http://schemas.openxmlformats.org/drawingml/2006/chart">
              <c:chart xmlns:c="http://schemas.openxmlformats.org/drawingml/2006/chart" xmlns:r="http://schemas.openxmlformats.org/officeDocument/2006/relationships" r:id="rId3"/>
            </a:graphicData>
          </a:graphic>
        </p:graphicFrame>
        <p:sp>
          <p:nvSpPr>
            <p:cNvPr id="13" name="תיבת טקסט 12">
              <a:extLst>
                <a:ext uri="{FF2B5EF4-FFF2-40B4-BE49-F238E27FC236}">
                  <a16:creationId xmlns:a16="http://schemas.microsoft.com/office/drawing/2014/main" id="{39840F88-65C2-CDAC-3D70-2E35EF636C38}"/>
                </a:ext>
              </a:extLst>
            </p:cNvPr>
            <p:cNvSpPr txBox="1"/>
            <p:nvPr/>
          </p:nvSpPr>
          <p:spPr>
            <a:xfrm>
              <a:off x="8292308" y="1098183"/>
              <a:ext cx="3241525" cy="654025"/>
            </a:xfrm>
            <a:prstGeom prst="rect">
              <a:avLst/>
            </a:prstGeom>
            <a:noFill/>
          </p:spPr>
          <p:txBody>
            <a:bodyPr wrap="square">
              <a:spAutoFit/>
            </a:bodyPr>
            <a:lstStyle/>
            <a:p>
              <a:pPr algn="ctr" rtl="1" fontAlgn="b"/>
              <a:r>
                <a:rPr lang="he-IL" sz="1300" b="1" u="none" strike="noStrike" dirty="0">
                  <a:effectLst/>
                  <a:latin typeface="Segoe UI" panose="020B0502040204020203" pitchFamily="34" charset="0"/>
                  <a:cs typeface="Segoe UI" panose="020B0502040204020203" pitchFamily="34" charset="0"/>
                </a:rPr>
                <a:t>תפיסת היתקלות בקשיים בקבלת הראיות</a:t>
              </a:r>
              <a:r>
                <a:rPr lang="en-US" sz="1300" b="1" u="none" strike="noStrike" dirty="0">
                  <a:effectLst/>
                  <a:latin typeface="Segoe UI" panose="020B0502040204020203" pitchFamily="34" charset="0"/>
                  <a:cs typeface="Segoe UI" panose="020B0502040204020203" pitchFamily="34" charset="0"/>
                </a:rPr>
                <a:t> </a:t>
              </a:r>
              <a:r>
                <a:rPr lang="he-IL" sz="1300" b="1" u="none" strike="noStrike" dirty="0">
                  <a:effectLst/>
                  <a:latin typeface="Segoe UI" panose="020B0502040204020203" pitchFamily="34" charset="0"/>
                  <a:cs typeface="Segoe UI" panose="020B0502040204020203" pitchFamily="34" charset="0"/>
                </a:rPr>
                <a:t> הנוספות שביקשו</a:t>
              </a:r>
              <a:br>
                <a:rPr lang="en-US" sz="1300" b="1" u="none" strike="noStrike" dirty="0">
                  <a:effectLst/>
                  <a:latin typeface="Segoe UI" panose="020B0502040204020203" pitchFamily="34" charset="0"/>
                  <a:cs typeface="Segoe UI" panose="020B0502040204020203" pitchFamily="34" charset="0"/>
                </a:rPr>
              </a:br>
              <a:r>
                <a:rPr lang="he-IL" sz="1050" u="none" strike="noStrike" dirty="0">
                  <a:effectLst/>
                  <a:latin typeface="Segoe UI" panose="020B0502040204020203" pitchFamily="34" charset="0"/>
                  <a:cs typeface="Segoe UI" panose="020B0502040204020203" pitchFamily="34" charset="0"/>
                </a:rPr>
                <a:t>(ביקשו ראיות נוספות)</a:t>
              </a:r>
              <a:endParaRPr lang="he-IL" sz="1400" i="0" u="none" strike="noStrike" dirty="0">
                <a:solidFill>
                  <a:srgbClr val="000000"/>
                </a:solidFill>
                <a:effectLst/>
                <a:latin typeface="Segoe UI" panose="020B0502040204020203" pitchFamily="34" charset="0"/>
                <a:cs typeface="Segoe UI" panose="020B0502040204020203" pitchFamily="34" charset="0"/>
              </a:endParaRPr>
            </a:p>
          </p:txBody>
        </p:sp>
      </p:grpSp>
      <p:grpSp>
        <p:nvGrpSpPr>
          <p:cNvPr id="14" name="קבוצה 13">
            <a:extLst>
              <a:ext uri="{FF2B5EF4-FFF2-40B4-BE49-F238E27FC236}">
                <a16:creationId xmlns:a16="http://schemas.microsoft.com/office/drawing/2014/main" id="{2DF90CCF-DBA2-8EF4-3FD6-DFBD7BDA5F27}"/>
              </a:ext>
            </a:extLst>
          </p:cNvPr>
          <p:cNvGrpSpPr/>
          <p:nvPr/>
        </p:nvGrpSpPr>
        <p:grpSpPr>
          <a:xfrm>
            <a:off x="3220854" y="1098183"/>
            <a:ext cx="4901022" cy="3475524"/>
            <a:chOff x="3220854" y="1098183"/>
            <a:chExt cx="4901022" cy="3475524"/>
          </a:xfrm>
        </p:grpSpPr>
        <p:graphicFrame>
          <p:nvGraphicFramePr>
            <p:cNvPr id="5" name="אובייקט 3">
              <a:extLst>
                <a:ext uri="{FF2B5EF4-FFF2-40B4-BE49-F238E27FC236}">
                  <a16:creationId xmlns:a16="http://schemas.microsoft.com/office/drawing/2014/main" id="{63B7619F-B517-6E2E-58D2-15CA7342F0C3}"/>
                </a:ext>
              </a:extLst>
            </p:cNvPr>
            <p:cNvGraphicFramePr>
              <a:graphicFrameLocks noChangeAspect="1"/>
            </p:cNvGraphicFramePr>
            <p:nvPr>
              <p:extLst>
                <p:ext uri="{D42A27DB-BD31-4B8C-83A1-F6EECF244321}">
                  <p14:modId xmlns:p14="http://schemas.microsoft.com/office/powerpoint/2010/main" val="2682908721"/>
                </p:ext>
              </p:extLst>
            </p:nvPr>
          </p:nvGraphicFramePr>
          <p:xfrm>
            <a:off x="4111369" y="1448299"/>
            <a:ext cx="4010507" cy="3125408"/>
          </p:xfrm>
          <a:graphic>
            <a:graphicData uri="http://schemas.openxmlformats.org/drawingml/2006/chart">
              <c:chart xmlns:c="http://schemas.openxmlformats.org/drawingml/2006/chart" xmlns:r="http://schemas.openxmlformats.org/officeDocument/2006/relationships" r:id="rId4"/>
            </a:graphicData>
          </a:graphic>
        </p:graphicFrame>
        <p:sp>
          <p:nvSpPr>
            <p:cNvPr id="12" name="תיבת טקסט 11">
              <a:extLst>
                <a:ext uri="{FF2B5EF4-FFF2-40B4-BE49-F238E27FC236}">
                  <a16:creationId xmlns:a16="http://schemas.microsoft.com/office/drawing/2014/main" id="{250598F0-1DA5-BE2F-5232-41234FE899FB}"/>
                </a:ext>
              </a:extLst>
            </p:cNvPr>
            <p:cNvSpPr txBox="1"/>
            <p:nvPr/>
          </p:nvSpPr>
          <p:spPr>
            <a:xfrm>
              <a:off x="4231001" y="1098183"/>
              <a:ext cx="3241525" cy="654025"/>
            </a:xfrm>
            <a:prstGeom prst="rect">
              <a:avLst/>
            </a:prstGeom>
            <a:noFill/>
          </p:spPr>
          <p:txBody>
            <a:bodyPr wrap="square">
              <a:spAutoFit/>
            </a:bodyPr>
            <a:lstStyle/>
            <a:p>
              <a:pPr algn="ctr" rtl="1" fontAlgn="b"/>
              <a:r>
                <a:rPr lang="he-IL" sz="1300" b="1" u="none" strike="noStrike" dirty="0">
                  <a:effectLst/>
                  <a:latin typeface="Segoe UI" panose="020B0502040204020203" pitchFamily="34" charset="0"/>
                  <a:cs typeface="Segoe UI" panose="020B0502040204020203" pitchFamily="34" charset="0"/>
                </a:rPr>
                <a:t>קבלת הראיות</a:t>
              </a:r>
              <a:br>
                <a:rPr lang="en-US" sz="1300" b="1" u="none" strike="noStrike" dirty="0">
                  <a:effectLst/>
                  <a:latin typeface="Segoe UI" panose="020B0502040204020203" pitchFamily="34" charset="0"/>
                  <a:cs typeface="Segoe UI" panose="020B0502040204020203" pitchFamily="34" charset="0"/>
                </a:rPr>
              </a:br>
              <a:r>
                <a:rPr lang="he-IL" sz="1300" b="1" u="none" strike="noStrike" dirty="0">
                  <a:effectLst/>
                  <a:latin typeface="Segoe UI" panose="020B0502040204020203" pitchFamily="34" charset="0"/>
                  <a:cs typeface="Segoe UI" panose="020B0502040204020203" pitchFamily="34" charset="0"/>
                </a:rPr>
                <a:t> הנוספות שביקשו</a:t>
              </a:r>
              <a:br>
                <a:rPr lang="en-US" sz="1400" b="1" u="none" strike="noStrike" dirty="0">
                  <a:effectLst/>
                  <a:latin typeface="Segoe UI" panose="020B0502040204020203" pitchFamily="34" charset="0"/>
                  <a:cs typeface="Segoe UI" panose="020B0502040204020203" pitchFamily="34" charset="0"/>
                </a:rPr>
              </a:br>
              <a:r>
                <a:rPr lang="he-IL" sz="1050" u="none" strike="noStrike" dirty="0">
                  <a:effectLst/>
                  <a:latin typeface="Segoe UI" panose="020B0502040204020203" pitchFamily="34" charset="0"/>
                  <a:cs typeface="Segoe UI" panose="020B0502040204020203" pitchFamily="34" charset="0"/>
                </a:rPr>
                <a:t>(ביקשו ראיות נוספות)</a:t>
              </a:r>
              <a:endParaRPr lang="he-IL" sz="1400" i="0" u="none" strike="noStrike" dirty="0">
                <a:solidFill>
                  <a:srgbClr val="000000"/>
                </a:solidFill>
                <a:effectLst/>
                <a:latin typeface="Segoe UI" panose="020B0502040204020203" pitchFamily="34" charset="0"/>
                <a:cs typeface="Segoe UI" panose="020B0502040204020203" pitchFamily="34" charset="0"/>
              </a:endParaRPr>
            </a:p>
          </p:txBody>
        </p:sp>
        <p:sp>
          <p:nvSpPr>
            <p:cNvPr id="16" name="מחומש 10">
              <a:extLst>
                <a:ext uri="{FF2B5EF4-FFF2-40B4-BE49-F238E27FC236}">
                  <a16:creationId xmlns:a16="http://schemas.microsoft.com/office/drawing/2014/main" id="{1B16768B-4168-F316-4895-848ED0E47FD1}"/>
                </a:ext>
              </a:extLst>
            </p:cNvPr>
            <p:cNvSpPr/>
            <p:nvPr/>
          </p:nvSpPr>
          <p:spPr>
            <a:xfrm>
              <a:off x="3220854" y="3455166"/>
              <a:ext cx="905046" cy="713456"/>
            </a:xfrm>
            <a:prstGeom prst="homePlate">
              <a:avLst>
                <a:gd name="adj" fmla="val 29903"/>
              </a:avLst>
            </a:prstGeom>
            <a:gradFill flip="none" rotWithShape="1">
              <a:gsLst>
                <a:gs pos="0">
                  <a:srgbClr val="09AFA7"/>
                </a:gs>
                <a:gs pos="35000">
                  <a:schemeClr val="bg1"/>
                </a:gs>
              </a:gsLst>
              <a:lin ang="10800000" scaled="1"/>
              <a:tileRect/>
            </a:gradFill>
            <a:ln w="9525">
              <a:gradFill flip="none" rotWithShape="1">
                <a:gsLst>
                  <a:gs pos="0">
                    <a:srgbClr val="09AFA7"/>
                  </a:gs>
                  <a:gs pos="100000">
                    <a:schemeClr val="bg1"/>
                  </a:gs>
                </a:gsLst>
                <a:lin ang="10800000" scaled="1"/>
                <a:tileRect/>
              </a:gra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1" anchor="ctr"/>
            <a:lstStyle>
              <a:defPPr>
                <a:defRPr lang="he-IL"/>
              </a:defPPr>
              <a:lvl1pPr marL="0" algn="r" defTabSz="914400" rtl="1" eaLnBrk="1" latinLnBrk="0" hangingPunct="1">
                <a:defRPr sz="1800" kern="1200">
                  <a:solidFill>
                    <a:schemeClr val="lt1"/>
                  </a:solidFill>
                  <a:latin typeface="+mn-lt"/>
                  <a:ea typeface="+mn-ea"/>
                  <a:cs typeface="+mn-cs"/>
                </a:defRPr>
              </a:lvl1pPr>
              <a:lvl2pPr marL="457200" algn="r" defTabSz="914400" rtl="1" eaLnBrk="1" latinLnBrk="0" hangingPunct="1">
                <a:defRPr sz="1800" kern="1200">
                  <a:solidFill>
                    <a:schemeClr val="lt1"/>
                  </a:solidFill>
                  <a:latin typeface="+mn-lt"/>
                  <a:ea typeface="+mn-ea"/>
                  <a:cs typeface="+mn-cs"/>
                </a:defRPr>
              </a:lvl2pPr>
              <a:lvl3pPr marL="914400" algn="r" defTabSz="914400" rtl="1" eaLnBrk="1" latinLnBrk="0" hangingPunct="1">
                <a:defRPr sz="1800" kern="1200">
                  <a:solidFill>
                    <a:schemeClr val="lt1"/>
                  </a:solidFill>
                  <a:latin typeface="+mn-lt"/>
                  <a:ea typeface="+mn-ea"/>
                  <a:cs typeface="+mn-cs"/>
                </a:defRPr>
              </a:lvl3pPr>
              <a:lvl4pPr marL="1371600" algn="r" defTabSz="914400" rtl="1" eaLnBrk="1" latinLnBrk="0" hangingPunct="1">
                <a:defRPr sz="1800" kern="1200">
                  <a:solidFill>
                    <a:schemeClr val="lt1"/>
                  </a:solidFill>
                  <a:latin typeface="+mn-lt"/>
                  <a:ea typeface="+mn-ea"/>
                  <a:cs typeface="+mn-cs"/>
                </a:defRPr>
              </a:lvl4pPr>
              <a:lvl5pPr marL="1828800" algn="r" defTabSz="914400" rtl="1" eaLnBrk="1" latinLnBrk="0" hangingPunct="1">
                <a:defRPr sz="1800" kern="1200">
                  <a:solidFill>
                    <a:schemeClr val="lt1"/>
                  </a:solidFill>
                  <a:latin typeface="+mn-lt"/>
                  <a:ea typeface="+mn-ea"/>
                  <a:cs typeface="+mn-cs"/>
                </a:defRPr>
              </a:lvl5pPr>
              <a:lvl6pPr marL="2286000" algn="r" defTabSz="914400" rtl="1" eaLnBrk="1" latinLnBrk="0" hangingPunct="1">
                <a:defRPr sz="1800" kern="1200">
                  <a:solidFill>
                    <a:schemeClr val="lt1"/>
                  </a:solidFill>
                  <a:latin typeface="+mn-lt"/>
                  <a:ea typeface="+mn-ea"/>
                  <a:cs typeface="+mn-cs"/>
                </a:defRPr>
              </a:lvl6pPr>
              <a:lvl7pPr marL="2743200" algn="r" defTabSz="914400" rtl="1" eaLnBrk="1" latinLnBrk="0" hangingPunct="1">
                <a:defRPr sz="1800" kern="1200">
                  <a:solidFill>
                    <a:schemeClr val="lt1"/>
                  </a:solidFill>
                  <a:latin typeface="+mn-lt"/>
                  <a:ea typeface="+mn-ea"/>
                  <a:cs typeface="+mn-cs"/>
                </a:defRPr>
              </a:lvl7pPr>
              <a:lvl8pPr marL="3200400" algn="r" defTabSz="914400" rtl="1" eaLnBrk="1" latinLnBrk="0" hangingPunct="1">
                <a:defRPr sz="1800" kern="1200">
                  <a:solidFill>
                    <a:schemeClr val="lt1"/>
                  </a:solidFill>
                  <a:latin typeface="+mn-lt"/>
                  <a:ea typeface="+mn-ea"/>
                  <a:cs typeface="+mn-cs"/>
                </a:defRPr>
              </a:lvl8pPr>
              <a:lvl9pPr marL="3657600" algn="r" defTabSz="914400" rtl="1" eaLnBrk="1" latinLnBrk="0" hangingPunct="1">
                <a:defRPr sz="1800" kern="1200">
                  <a:solidFill>
                    <a:schemeClr val="lt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endParaRPr>
            </a:p>
          </p:txBody>
        </p:sp>
        <p:sp>
          <p:nvSpPr>
            <p:cNvPr id="9" name="תיבת טקסט 8">
              <a:extLst>
                <a:ext uri="{FF2B5EF4-FFF2-40B4-BE49-F238E27FC236}">
                  <a16:creationId xmlns:a16="http://schemas.microsoft.com/office/drawing/2014/main" id="{66910A4B-E6D6-260C-B851-76FA7DD6A84B}"/>
                </a:ext>
              </a:extLst>
            </p:cNvPr>
            <p:cNvSpPr txBox="1"/>
            <p:nvPr/>
          </p:nvSpPr>
          <p:spPr>
            <a:xfrm>
              <a:off x="3899647" y="2603630"/>
              <a:ext cx="726808" cy="369332"/>
            </a:xfrm>
            <a:prstGeom prst="rect">
              <a:avLst/>
            </a:prstGeom>
            <a:noFill/>
          </p:spPr>
          <p:txBody>
            <a:bodyPr wrap="square">
              <a:spAutoFit/>
            </a:bodyPr>
            <a:lstStyle/>
            <a:p>
              <a:pPr algn="r" rtl="1" fontAlgn="ctr"/>
              <a:r>
                <a:rPr lang="he-IL" b="1" i="1" dirty="0">
                  <a:solidFill>
                    <a:srgbClr val="156938"/>
                  </a:solidFill>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t>66</a:t>
              </a:r>
              <a:r>
                <a:rPr lang="he-IL" b="1" i="1" u="none" strike="noStrike" dirty="0">
                  <a:solidFill>
                    <a:srgbClr val="156938"/>
                  </a:solidFill>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t>%</a:t>
              </a:r>
            </a:p>
          </p:txBody>
        </p:sp>
        <p:sp>
          <p:nvSpPr>
            <p:cNvPr id="10" name="תיבת טקסט 9">
              <a:extLst>
                <a:ext uri="{FF2B5EF4-FFF2-40B4-BE49-F238E27FC236}">
                  <a16:creationId xmlns:a16="http://schemas.microsoft.com/office/drawing/2014/main" id="{2E9B35FE-7281-194F-CD22-3958446F5391}"/>
                </a:ext>
              </a:extLst>
            </p:cNvPr>
            <p:cNvSpPr txBox="1"/>
            <p:nvPr/>
          </p:nvSpPr>
          <p:spPr>
            <a:xfrm>
              <a:off x="5488359" y="2102324"/>
              <a:ext cx="726808" cy="369332"/>
            </a:xfrm>
            <a:prstGeom prst="rect">
              <a:avLst/>
            </a:prstGeom>
            <a:noFill/>
          </p:spPr>
          <p:txBody>
            <a:bodyPr wrap="square">
              <a:spAutoFit/>
            </a:bodyPr>
            <a:lstStyle/>
            <a:p>
              <a:pPr algn="r" rtl="1" fontAlgn="ctr"/>
              <a:r>
                <a:rPr lang="he-IL" b="1" i="1" dirty="0">
                  <a:solidFill>
                    <a:srgbClr val="156938"/>
                  </a:solidFill>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t>87</a:t>
              </a:r>
              <a:r>
                <a:rPr lang="he-IL" b="1" i="1" u="none" strike="noStrike" dirty="0">
                  <a:solidFill>
                    <a:srgbClr val="156938"/>
                  </a:solidFill>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t>%</a:t>
              </a:r>
            </a:p>
          </p:txBody>
        </p:sp>
      </p:grpSp>
    </p:spTree>
    <p:extLst>
      <p:ext uri="{BB962C8B-B14F-4D97-AF65-F5344CB8AC3E}">
        <p14:creationId xmlns:p14="http://schemas.microsoft.com/office/powerpoint/2010/main" val="3432500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500"/>
                                        <p:tgtEl>
                                          <p:spTgt spid="1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Effect transition="in" filter="fade">
                                      <p:cBhvr>
                                        <p:cTn id="23"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F115E-9595-0D79-599C-D4E133A9E702}"/>
            </a:ext>
          </a:extLst>
        </p:cNvPr>
        <p:cNvGrpSpPr/>
        <p:nvPr/>
      </p:nvGrpSpPr>
      <p:grpSpPr>
        <a:xfrm>
          <a:off x="0" y="0"/>
          <a:ext cx="0" cy="0"/>
          <a:chOff x="0" y="0"/>
          <a:chExt cx="0" cy="0"/>
        </a:xfrm>
      </p:grpSpPr>
      <p:graphicFrame>
        <p:nvGraphicFramePr>
          <p:cNvPr id="5" name="אובייקט 3">
            <a:extLst>
              <a:ext uri="{FF2B5EF4-FFF2-40B4-BE49-F238E27FC236}">
                <a16:creationId xmlns:a16="http://schemas.microsoft.com/office/drawing/2014/main" id="{1448A940-B79E-6A86-6BA1-6188949DB6F6}"/>
              </a:ext>
            </a:extLst>
          </p:cNvPr>
          <p:cNvGraphicFramePr>
            <a:graphicFrameLocks noChangeAspect="1"/>
          </p:cNvGraphicFramePr>
          <p:nvPr>
            <p:extLst>
              <p:ext uri="{D42A27DB-BD31-4B8C-83A1-F6EECF244321}">
                <p14:modId xmlns:p14="http://schemas.microsoft.com/office/powerpoint/2010/main" val="1618679678"/>
              </p:ext>
            </p:extLst>
          </p:nvPr>
        </p:nvGraphicFramePr>
        <p:xfrm>
          <a:off x="88903" y="1426029"/>
          <a:ext cx="11993086" cy="2880000"/>
        </p:xfrm>
        <a:graphic>
          <a:graphicData uri="http://schemas.openxmlformats.org/drawingml/2006/chart">
            <c:chart xmlns:c="http://schemas.openxmlformats.org/drawingml/2006/chart" xmlns:r="http://schemas.openxmlformats.org/officeDocument/2006/relationships" r:id="rId2"/>
          </a:graphicData>
        </a:graphic>
      </p:graphicFrame>
      <p:sp>
        <p:nvSpPr>
          <p:cNvPr id="15" name="Slide Number Placeholder 1">
            <a:extLst>
              <a:ext uri="{FF2B5EF4-FFF2-40B4-BE49-F238E27FC236}">
                <a16:creationId xmlns:a16="http://schemas.microsoft.com/office/drawing/2014/main" id="{858696CF-9EC1-531E-95C6-81EFD946083C}"/>
              </a:ext>
            </a:extLst>
          </p:cNvPr>
          <p:cNvSpPr txBox="1">
            <a:spLocks/>
          </p:cNvSpPr>
          <p:nvPr/>
        </p:nvSpPr>
        <p:spPr>
          <a:xfrm>
            <a:off x="11541989" y="6473956"/>
            <a:ext cx="540000" cy="360000"/>
          </a:xfrm>
          <a:prstGeom prst="rect">
            <a:avLst/>
          </a:prstGeom>
          <a:noFill/>
          <a:ln w="12700" cap="flat" cmpd="sng" algn="ctr">
            <a:noFill/>
            <a:prstDash val="solid"/>
            <a:miter lim="800000"/>
          </a:ln>
          <a:effectLst/>
        </p:spPr>
        <p:txBody>
          <a:bodyPr rot="0" spcFirstLastPara="0" vertOverflow="overflow" horzOverflow="overflow" vert="horz" wrap="square" lIns="91440" tIns="45720" rIns="91440" bIns="45720" numCol="1" spcCol="0" rtlCol="1" fromWordArt="0" anchor="ctr" anchorCtr="0" forceAA="0" compatLnSpc="1">
            <a:prstTxWarp prst="textNoShape">
              <a:avLst/>
            </a:prstTxWarp>
            <a:noAutofit/>
          </a:bodyPr>
          <a:lstStyle>
            <a:defPPr>
              <a:defRPr lang="he-IL"/>
            </a:defPPr>
            <a:lvl1pPr marL="0" algn="l" defTabSz="914400" rtl="0" eaLnBrk="1" latinLnBrk="0" hangingPunct="1">
              <a:defRPr lang="he-IL" sz="1100" kern="1200" smtClean="0">
                <a:solidFill>
                  <a:schemeClr val="bg1">
                    <a:lumMod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r" rtl="1">
              <a:defRPr/>
            </a:pPr>
            <a:fld id="{7A91BF3F-E284-4570-AC28-CDAE2F1A1EA1}" type="slidenum">
              <a:rPr lang="he-IL" smtClean="0">
                <a:solidFill>
                  <a:prstClr val="white">
                    <a:lumMod val="75000"/>
                  </a:prstClr>
                </a:solidFill>
              </a:rPr>
              <a:pPr algn="r" rtl="1">
                <a:defRPr/>
              </a:pPr>
              <a:t>27</a:t>
            </a:fld>
            <a:endParaRPr lang="he-IL" dirty="0">
              <a:solidFill>
                <a:prstClr val="white">
                  <a:lumMod val="75000"/>
                </a:prstClr>
              </a:solidFill>
            </a:endParaRPr>
          </a:p>
        </p:txBody>
      </p:sp>
      <p:cxnSp>
        <p:nvCxnSpPr>
          <p:cNvPr id="2" name="Straight Connector 6">
            <a:extLst>
              <a:ext uri="{FF2B5EF4-FFF2-40B4-BE49-F238E27FC236}">
                <a16:creationId xmlns:a16="http://schemas.microsoft.com/office/drawing/2014/main" id="{3265B22C-B716-56AA-0ED9-40F3B99C5462}"/>
              </a:ext>
            </a:extLst>
          </p:cNvPr>
          <p:cNvCxnSpPr>
            <a:cxnSpLocks/>
          </p:cNvCxnSpPr>
          <p:nvPr/>
        </p:nvCxnSpPr>
        <p:spPr>
          <a:xfrm rot="16200000" flipV="1">
            <a:off x="6096000" y="-849021"/>
            <a:ext cx="0" cy="10800000"/>
          </a:xfrm>
          <a:prstGeom prst="line">
            <a:avLst/>
          </a:prstGeom>
          <a:ln w="25400" cap="rnd">
            <a:solidFill>
              <a:schemeClr val="bg1">
                <a:lumMod val="85000"/>
              </a:schemeClr>
            </a:solidFill>
            <a:round/>
          </a:ln>
        </p:spPr>
        <p:style>
          <a:lnRef idx="1">
            <a:schemeClr val="accent1"/>
          </a:lnRef>
          <a:fillRef idx="0">
            <a:schemeClr val="accent1"/>
          </a:fillRef>
          <a:effectRef idx="0">
            <a:schemeClr val="accent1"/>
          </a:effectRef>
          <a:fontRef idx="minor">
            <a:schemeClr val="tx1"/>
          </a:fontRef>
        </p:style>
      </p:cxnSp>
      <p:sp>
        <p:nvSpPr>
          <p:cNvPr id="3" name="Rectangle 6">
            <a:extLst>
              <a:ext uri="{FF2B5EF4-FFF2-40B4-BE49-F238E27FC236}">
                <a16:creationId xmlns:a16="http://schemas.microsoft.com/office/drawing/2014/main" id="{955FEC2B-3108-7399-083E-FE9D1F4C1857}"/>
              </a:ext>
            </a:extLst>
          </p:cNvPr>
          <p:cNvSpPr/>
          <p:nvPr/>
        </p:nvSpPr>
        <p:spPr>
          <a:xfrm>
            <a:off x="780007" y="4704057"/>
            <a:ext cx="11301982" cy="1440000"/>
          </a:xfrm>
          <a:prstGeom prst="rect">
            <a:avLst/>
          </a:prstGeom>
        </p:spPr>
        <p:txBody>
          <a:bodyPr wrap="square" anchor="ctr">
            <a:noAutofit/>
          </a:bodyPr>
          <a:lstStyle/>
          <a:p>
            <a:pPr algn="ctr" rtl="1">
              <a:lnSpc>
                <a:spcPct val="150000"/>
              </a:lnSpc>
            </a:pPr>
            <a:r>
              <a:rPr lang="he-IL" sz="1600" b="1" dirty="0">
                <a:latin typeface="Segoe UI" panose="020B0502040204020203" pitchFamily="34" charset="0"/>
                <a:cs typeface="Segoe UI" panose="020B0502040204020203" pitchFamily="34" charset="0"/>
              </a:rPr>
              <a:t>בפועל רק מעט יותר ממחצית מבקשי ההישפטות הגיעו למצב של דיון בפועל-</a:t>
            </a:r>
            <a:r>
              <a:rPr lang="he-IL" sz="1600" dirty="0">
                <a:latin typeface="Segoe UI" panose="020B0502040204020203" pitchFamily="34" charset="0"/>
                <a:cs typeface="Segoe UI" panose="020B0502040204020203" pitchFamily="34" charset="0"/>
              </a:rPr>
              <a:t> שיעור דומה בין המגזרים. </a:t>
            </a:r>
            <a:br>
              <a:rPr lang="en-US" sz="1600" b="1" dirty="0">
                <a:latin typeface="Segoe UI" panose="020B0502040204020203" pitchFamily="34" charset="0"/>
                <a:cs typeface="Segoe UI" panose="020B0502040204020203" pitchFamily="34" charset="0"/>
              </a:rPr>
            </a:br>
            <a:r>
              <a:rPr lang="he-IL" sz="1600" dirty="0">
                <a:latin typeface="Segoe UI" panose="020B0502040204020203" pitchFamily="34" charset="0"/>
                <a:cs typeface="Segoe UI" panose="020B0502040204020203" pitchFamily="34" charset="0"/>
              </a:rPr>
              <a:t>ובתוך כך, במגזר היהודי שיעור גבוה משמעותית נכחו בדיון בניגוד למגזר הערבי שנוכח פחות ושם הרבה יותר את יהבו על ייצוג עו"ד.</a:t>
            </a:r>
          </a:p>
          <a:p>
            <a:pPr algn="ctr" rtl="1">
              <a:lnSpc>
                <a:spcPct val="150000"/>
              </a:lnSpc>
            </a:pPr>
            <a:r>
              <a:rPr lang="he-IL" sz="1600" dirty="0">
                <a:latin typeface="Segoe UI" panose="020B0502040204020203" pitchFamily="34" charset="0"/>
                <a:cs typeface="Segoe UI" panose="020B0502040204020203" pitchFamily="34" charset="0"/>
              </a:rPr>
              <a:t>בתיקי 2025 שיעור הדיון בפועל נמוך יותר עם הרבה תיקים שעדיין ממתינים או מתבטלים – יותר דיונים התקיימו במגזר הערבי.</a:t>
            </a:r>
          </a:p>
          <a:p>
            <a:pPr algn="ctr" rtl="1">
              <a:lnSpc>
                <a:spcPct val="150000"/>
              </a:lnSpc>
            </a:pPr>
            <a:r>
              <a:rPr lang="en-US" sz="1600">
                <a:latin typeface="Segoe UI" panose="020B0502040204020203" pitchFamily="34" charset="0"/>
                <a:cs typeface="Segoe UI" panose="020B0502040204020203" pitchFamily="34" charset="0"/>
              </a:rPr>
              <a:t> </a:t>
            </a:r>
            <a:r>
              <a:rPr lang="he-IL" sz="1600" b="1">
                <a:solidFill>
                  <a:srgbClr val="1D1C64"/>
                </a:solidFill>
                <a:latin typeface="Segoe UI" panose="020B0502040204020203" pitchFamily="34" charset="0"/>
                <a:cs typeface="Segoe UI" panose="020B0502040204020203" pitchFamily="34" charset="0"/>
              </a:rPr>
              <a:t>ממדדי </a:t>
            </a:r>
            <a:r>
              <a:rPr lang="he-IL" sz="1600" b="1" dirty="0">
                <a:solidFill>
                  <a:srgbClr val="1D1C64"/>
                </a:solidFill>
                <a:latin typeface="Segoe UI" panose="020B0502040204020203" pitchFamily="34" charset="0"/>
                <a:cs typeface="Segoe UI" panose="020B0502040204020203" pitchFamily="34" charset="0"/>
              </a:rPr>
              <a:t>ההצלחה המרכזיים של הרפורמה צריך להיות קיצור זמן עד דיון/סגירה וצמצום שיעור התיקים התקועים.</a:t>
            </a:r>
            <a:br>
              <a:rPr lang="en-US" sz="1600" b="1">
                <a:solidFill>
                  <a:srgbClr val="1D1C64"/>
                </a:solidFill>
                <a:latin typeface="Segoe UI" panose="020B0502040204020203" pitchFamily="34" charset="0"/>
                <a:cs typeface="Segoe UI" panose="020B0502040204020203" pitchFamily="34" charset="0"/>
              </a:rPr>
            </a:br>
            <a:r>
              <a:rPr lang="he-IL" sz="1600" b="1">
                <a:solidFill>
                  <a:srgbClr val="1D1C64"/>
                </a:solidFill>
                <a:latin typeface="Segoe UI" panose="020B0502040204020203" pitchFamily="34" charset="0"/>
                <a:cs typeface="Segoe UI" panose="020B0502040204020203" pitchFamily="34" charset="0"/>
              </a:rPr>
              <a:t>חשוב להדגיש מסר זה בקמפיין השקת הרפורמה ורתימת הציבור לשינוי – ובפועל "מה יוצא לי מזה"</a:t>
            </a:r>
            <a:endParaRPr lang="en-US" sz="1600" b="1" dirty="0">
              <a:solidFill>
                <a:srgbClr val="1D1C64"/>
              </a:solidFill>
              <a:latin typeface="Segoe UI" panose="020B0502040204020203" pitchFamily="34" charset="0"/>
              <a:cs typeface="Segoe UI" panose="020B0502040204020203" pitchFamily="34" charset="0"/>
            </a:endParaRPr>
          </a:p>
        </p:txBody>
      </p:sp>
      <p:cxnSp>
        <p:nvCxnSpPr>
          <p:cNvPr id="9" name="מחבר ישר 8">
            <a:extLst>
              <a:ext uri="{FF2B5EF4-FFF2-40B4-BE49-F238E27FC236}">
                <a16:creationId xmlns:a16="http://schemas.microsoft.com/office/drawing/2014/main" id="{6BCBA733-013C-CF8B-72A1-662B0263B872}"/>
              </a:ext>
            </a:extLst>
          </p:cNvPr>
          <p:cNvCxnSpPr>
            <a:cxnSpLocks/>
          </p:cNvCxnSpPr>
          <p:nvPr/>
        </p:nvCxnSpPr>
        <p:spPr>
          <a:xfrm>
            <a:off x="3427287" y="973713"/>
            <a:ext cx="0" cy="3420000"/>
          </a:xfrm>
          <a:prstGeom prst="line">
            <a:avLst/>
          </a:prstGeom>
          <a:ln w="12700">
            <a:solidFill>
              <a:schemeClr val="bg1">
                <a:lumMod val="50000"/>
              </a:schemeClr>
            </a:solidFill>
            <a:prstDash val="lgDash"/>
          </a:ln>
        </p:spPr>
        <p:style>
          <a:lnRef idx="1">
            <a:schemeClr val="accent1"/>
          </a:lnRef>
          <a:fillRef idx="0">
            <a:schemeClr val="accent1"/>
          </a:fillRef>
          <a:effectRef idx="0">
            <a:schemeClr val="accent1"/>
          </a:effectRef>
          <a:fontRef idx="minor">
            <a:schemeClr val="tx1"/>
          </a:fontRef>
        </p:style>
      </p:cxnSp>
      <p:sp>
        <p:nvSpPr>
          <p:cNvPr id="12" name="תיבת טקסט 11">
            <a:extLst>
              <a:ext uri="{FF2B5EF4-FFF2-40B4-BE49-F238E27FC236}">
                <a16:creationId xmlns:a16="http://schemas.microsoft.com/office/drawing/2014/main" id="{74012830-0324-E9C0-06E2-6B4A6CDC9ECD}"/>
              </a:ext>
            </a:extLst>
          </p:cNvPr>
          <p:cNvSpPr txBox="1"/>
          <p:nvPr/>
        </p:nvSpPr>
        <p:spPr>
          <a:xfrm>
            <a:off x="685567" y="1100713"/>
            <a:ext cx="2520000" cy="307777"/>
          </a:xfrm>
          <a:prstGeom prst="rect">
            <a:avLst/>
          </a:prstGeom>
          <a:noFill/>
        </p:spPr>
        <p:txBody>
          <a:bodyPr wrap="square">
            <a:spAutoFit/>
          </a:bodyPr>
          <a:lstStyle/>
          <a:p>
            <a:pPr algn="ctr" rtl="1" fontAlgn="ctr"/>
            <a:r>
              <a:rPr lang="he-IL" sz="1400" b="1" u="none" strike="noStrike" dirty="0">
                <a:effectLst/>
                <a:latin typeface="Segoe UI" panose="020B0502040204020203" pitchFamily="34" charset="0"/>
                <a:cs typeface="Segoe UI" panose="020B0502040204020203" pitchFamily="34" charset="0"/>
              </a:rPr>
              <a:t>כלל מי שביקשו להישפט</a:t>
            </a:r>
          </a:p>
        </p:txBody>
      </p:sp>
      <p:sp>
        <p:nvSpPr>
          <p:cNvPr id="13" name="תיבת טקסט 12">
            <a:extLst>
              <a:ext uri="{FF2B5EF4-FFF2-40B4-BE49-F238E27FC236}">
                <a16:creationId xmlns:a16="http://schemas.microsoft.com/office/drawing/2014/main" id="{BBB71D58-640B-453E-49D7-9F21909355B4}"/>
              </a:ext>
            </a:extLst>
          </p:cNvPr>
          <p:cNvSpPr txBox="1"/>
          <p:nvPr/>
        </p:nvSpPr>
        <p:spPr>
          <a:xfrm>
            <a:off x="7426473" y="1110353"/>
            <a:ext cx="2520000" cy="307777"/>
          </a:xfrm>
          <a:prstGeom prst="rect">
            <a:avLst/>
          </a:prstGeom>
          <a:noFill/>
        </p:spPr>
        <p:txBody>
          <a:bodyPr wrap="square">
            <a:spAutoFit/>
          </a:bodyPr>
          <a:lstStyle/>
          <a:p>
            <a:pPr algn="ctr" rtl="1" fontAlgn="b"/>
            <a:r>
              <a:rPr lang="he-IL" sz="1400" b="1" u="none" strike="noStrike" dirty="0">
                <a:effectLst/>
                <a:latin typeface="Segoe UI" panose="020B0502040204020203" pitchFamily="34" charset="0"/>
                <a:cs typeface="Segoe UI" panose="020B0502040204020203" pitchFamily="34" charset="0"/>
              </a:rPr>
              <a:t>קיבלו דוחות ב-2020-2024</a:t>
            </a:r>
            <a:endParaRPr lang="he-IL" sz="1400" b="1" i="0" u="none" strike="noStrike" dirty="0">
              <a:solidFill>
                <a:srgbClr val="000000"/>
              </a:solidFill>
              <a:effectLst/>
              <a:latin typeface="Segoe UI" panose="020B0502040204020203" pitchFamily="34" charset="0"/>
              <a:cs typeface="Segoe UI" panose="020B0502040204020203" pitchFamily="34" charset="0"/>
            </a:endParaRPr>
          </a:p>
        </p:txBody>
      </p:sp>
      <p:sp>
        <p:nvSpPr>
          <p:cNvPr id="6" name="Rectangle 28">
            <a:extLst>
              <a:ext uri="{FF2B5EF4-FFF2-40B4-BE49-F238E27FC236}">
                <a16:creationId xmlns:a16="http://schemas.microsoft.com/office/drawing/2014/main" id="{F10A80AA-7C05-314A-CA98-7566F31858EE}"/>
              </a:ext>
            </a:extLst>
          </p:cNvPr>
          <p:cNvSpPr/>
          <p:nvPr/>
        </p:nvSpPr>
        <p:spPr>
          <a:xfrm>
            <a:off x="1320802" y="6473956"/>
            <a:ext cx="10531248" cy="360000"/>
          </a:xfrm>
          <a:prstGeom prst="rect">
            <a:avLst/>
          </a:prstGeom>
          <a:noFill/>
          <a:ln>
            <a:noFill/>
          </a:ln>
        </p:spPr>
        <p:txBody>
          <a:bodyPr rot="0" spcFirstLastPara="0" vertOverflow="overflow" horzOverflow="overflow" vert="horz" wrap="square" lIns="91440" tIns="45720" rIns="91440" bIns="45720" numCol="1" spcCol="0" rtlCol="1" fromWordArt="0" anchor="ctr" anchorCtr="0" forceAA="0" compatLnSpc="1">
            <a:prstTxWarp prst="textNoShape">
              <a:avLst/>
            </a:prstTxWarp>
            <a:noAutofit/>
          </a:bodyPr>
          <a:lstStyle/>
          <a:p>
            <a:pPr lvl="0" algn="r" rtl="1">
              <a:defRPr/>
            </a:pPr>
            <a:r>
              <a:rPr lang="he-IL" sz="1000" dirty="0">
                <a:solidFill>
                  <a:prstClr val="white">
                    <a:lumMod val="65000"/>
                  </a:prstClr>
                </a:solidFill>
                <a:latin typeface="Segoe UI" panose="020B0502040204020203" pitchFamily="34" charset="0"/>
                <a:cs typeface="Segoe UI" panose="020B0502040204020203" pitchFamily="34" charset="0"/>
              </a:rPr>
              <a:t>"האם התקיים דיון בפועל?"</a:t>
            </a:r>
          </a:p>
        </p:txBody>
      </p:sp>
      <p:sp>
        <p:nvSpPr>
          <p:cNvPr id="7" name="Rectangle 3">
            <a:extLst>
              <a:ext uri="{FF2B5EF4-FFF2-40B4-BE49-F238E27FC236}">
                <a16:creationId xmlns:a16="http://schemas.microsoft.com/office/drawing/2014/main" id="{A2ADB4CE-2890-1B47-5991-537DD423DFF2}"/>
              </a:ext>
            </a:extLst>
          </p:cNvPr>
          <p:cNvSpPr/>
          <p:nvPr/>
        </p:nvSpPr>
        <p:spPr>
          <a:xfrm>
            <a:off x="1054101" y="191076"/>
            <a:ext cx="10957179" cy="5075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t"/>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0" cap="none" spc="0" normalizeH="0" baseline="0" noProof="0" dirty="0">
                <a:ln>
                  <a:noFill/>
                </a:ln>
                <a:solidFill>
                  <a:srgbClr val="104E88"/>
                </a:solidFill>
                <a:effectLst/>
                <a:uLnTx/>
                <a:uFillTx/>
                <a:latin typeface="Segoe UI" panose="020B0502040204020203" pitchFamily="34" charset="0"/>
                <a:cs typeface="Segoe UI" panose="020B0502040204020203" pitchFamily="34" charset="0"/>
                <a:sym typeface="Arial"/>
              </a:rPr>
              <a:t>דיון בפועל</a:t>
            </a:r>
            <a:br>
              <a:rPr kumimoji="0" lang="en-US" sz="2800" b="0" i="0" u="none" strike="noStrike" kern="0" cap="none" spc="0" normalizeH="0" baseline="0" noProof="0" dirty="0">
                <a:ln>
                  <a:noFill/>
                </a:ln>
                <a:solidFill>
                  <a:srgbClr val="104E88"/>
                </a:solidFill>
                <a:effectLst/>
                <a:uLnTx/>
                <a:uFillTx/>
                <a:latin typeface="Segoe UI" panose="020B0502040204020203" pitchFamily="34" charset="0"/>
                <a:cs typeface="Segoe UI" panose="020B0502040204020203" pitchFamily="34" charset="0"/>
                <a:sym typeface="Arial"/>
              </a:rPr>
            </a:br>
            <a:r>
              <a:rPr kumimoji="0" lang="he-IL" sz="1600" b="0" i="0" u="none" strike="noStrike" kern="0" cap="none" spc="0" normalizeH="0" baseline="0" noProof="0" dirty="0">
                <a:ln>
                  <a:noFill/>
                </a:ln>
                <a:solidFill>
                  <a:srgbClr val="104E88"/>
                </a:solidFill>
                <a:effectLst/>
                <a:uLnTx/>
                <a:uFillTx/>
                <a:latin typeface="Segoe UI" panose="020B0502040204020203" pitchFamily="34" charset="0"/>
                <a:ea typeface="+mn-ea"/>
                <a:cs typeface="Segoe UI" panose="020B0502040204020203" pitchFamily="34" charset="0"/>
                <a:sym typeface="Arial"/>
              </a:rPr>
              <a:t>בקרב מי שביקשו להישפט</a:t>
            </a:r>
            <a:endParaRPr kumimoji="0" lang="he-IL" sz="2800" b="0" i="0" u="none" strike="noStrike" kern="0" cap="none" spc="0" normalizeH="0" baseline="0" noProof="0" dirty="0">
              <a:ln>
                <a:noFill/>
              </a:ln>
              <a:solidFill>
                <a:srgbClr val="104E88"/>
              </a:solidFill>
              <a:effectLst/>
              <a:uLnTx/>
              <a:uFillTx/>
              <a:latin typeface="Segoe UI" panose="020B0502040204020203" pitchFamily="34" charset="0"/>
              <a:cs typeface="Segoe UI" panose="020B0502040204020203" pitchFamily="34" charset="0"/>
              <a:sym typeface="Arial"/>
            </a:endParaRPr>
          </a:p>
        </p:txBody>
      </p:sp>
      <p:sp>
        <p:nvSpPr>
          <p:cNvPr id="8" name="תיבת טקסט 7">
            <a:extLst>
              <a:ext uri="{FF2B5EF4-FFF2-40B4-BE49-F238E27FC236}">
                <a16:creationId xmlns:a16="http://schemas.microsoft.com/office/drawing/2014/main" id="{26BA2283-AB72-A520-E293-8814C2D6C599}"/>
              </a:ext>
            </a:extLst>
          </p:cNvPr>
          <p:cNvSpPr txBox="1"/>
          <p:nvPr/>
        </p:nvSpPr>
        <p:spPr>
          <a:xfrm>
            <a:off x="159652" y="2395126"/>
            <a:ext cx="612000" cy="338554"/>
          </a:xfrm>
          <a:prstGeom prst="rect">
            <a:avLst/>
          </a:prstGeom>
          <a:noFill/>
        </p:spPr>
        <p:txBody>
          <a:bodyPr wrap="square">
            <a:spAutoFit/>
          </a:bodyPr>
          <a:lstStyle/>
          <a:p>
            <a:pPr algn="r" rtl="1" fontAlgn="ctr"/>
            <a:r>
              <a:rPr lang="he-IL" sz="1600" b="1" i="1" dirty="0">
                <a:solidFill>
                  <a:srgbClr val="156938"/>
                </a:solidFill>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t>57</a:t>
            </a:r>
            <a:r>
              <a:rPr lang="he-IL" sz="1600" b="1" i="1" u="none" strike="noStrike" dirty="0">
                <a:solidFill>
                  <a:srgbClr val="156938"/>
                </a:solidFill>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t>%</a:t>
            </a:r>
          </a:p>
        </p:txBody>
      </p:sp>
      <p:sp>
        <p:nvSpPr>
          <p:cNvPr id="11" name="תיבת טקסט 10">
            <a:extLst>
              <a:ext uri="{FF2B5EF4-FFF2-40B4-BE49-F238E27FC236}">
                <a16:creationId xmlns:a16="http://schemas.microsoft.com/office/drawing/2014/main" id="{8A6C5DFA-5493-3A1D-3ADD-14BD2D792A09}"/>
              </a:ext>
            </a:extLst>
          </p:cNvPr>
          <p:cNvSpPr txBox="1"/>
          <p:nvPr/>
        </p:nvSpPr>
        <p:spPr>
          <a:xfrm>
            <a:off x="1802244" y="2370927"/>
            <a:ext cx="612000" cy="338554"/>
          </a:xfrm>
          <a:prstGeom prst="rect">
            <a:avLst/>
          </a:prstGeom>
          <a:noFill/>
        </p:spPr>
        <p:txBody>
          <a:bodyPr wrap="square">
            <a:spAutoFit/>
          </a:bodyPr>
          <a:lstStyle/>
          <a:p>
            <a:pPr algn="r" rtl="1" fontAlgn="ctr"/>
            <a:r>
              <a:rPr lang="he-IL" sz="1600" b="1" i="1" dirty="0">
                <a:solidFill>
                  <a:srgbClr val="156938"/>
                </a:solidFill>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t>58</a:t>
            </a:r>
            <a:r>
              <a:rPr lang="he-IL" sz="1600" b="1" i="1" u="none" strike="noStrike" dirty="0">
                <a:solidFill>
                  <a:srgbClr val="156938"/>
                </a:solidFill>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t>%</a:t>
            </a:r>
          </a:p>
        </p:txBody>
      </p:sp>
      <p:sp>
        <p:nvSpPr>
          <p:cNvPr id="14" name="תיבת טקסט 13">
            <a:extLst>
              <a:ext uri="{FF2B5EF4-FFF2-40B4-BE49-F238E27FC236}">
                <a16:creationId xmlns:a16="http://schemas.microsoft.com/office/drawing/2014/main" id="{0BACBC6D-291A-C41B-D2B8-8F45BA7EA244}"/>
              </a:ext>
            </a:extLst>
          </p:cNvPr>
          <p:cNvSpPr txBox="1"/>
          <p:nvPr/>
        </p:nvSpPr>
        <p:spPr>
          <a:xfrm>
            <a:off x="3401289" y="2947084"/>
            <a:ext cx="612000" cy="338554"/>
          </a:xfrm>
          <a:prstGeom prst="rect">
            <a:avLst/>
          </a:prstGeom>
          <a:noFill/>
        </p:spPr>
        <p:txBody>
          <a:bodyPr wrap="square">
            <a:spAutoFit/>
          </a:bodyPr>
          <a:lstStyle/>
          <a:p>
            <a:pPr algn="r" rtl="1" fontAlgn="ctr"/>
            <a:r>
              <a:rPr lang="he-IL" sz="1600" b="1" i="1" dirty="0">
                <a:solidFill>
                  <a:srgbClr val="156938"/>
                </a:solidFill>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t>33</a:t>
            </a:r>
            <a:r>
              <a:rPr lang="he-IL" sz="1600" b="1" i="1" u="none" strike="noStrike" dirty="0">
                <a:solidFill>
                  <a:srgbClr val="156938"/>
                </a:solidFill>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t>%</a:t>
            </a:r>
          </a:p>
        </p:txBody>
      </p:sp>
      <p:sp>
        <p:nvSpPr>
          <p:cNvPr id="16" name="תיבת טקסט 15">
            <a:extLst>
              <a:ext uri="{FF2B5EF4-FFF2-40B4-BE49-F238E27FC236}">
                <a16:creationId xmlns:a16="http://schemas.microsoft.com/office/drawing/2014/main" id="{5172F135-EEE9-5C68-50E9-800F97D9C019}"/>
              </a:ext>
            </a:extLst>
          </p:cNvPr>
          <p:cNvSpPr txBox="1"/>
          <p:nvPr/>
        </p:nvSpPr>
        <p:spPr>
          <a:xfrm>
            <a:off x="5043881" y="2734626"/>
            <a:ext cx="612000" cy="338554"/>
          </a:xfrm>
          <a:prstGeom prst="rect">
            <a:avLst/>
          </a:prstGeom>
          <a:noFill/>
        </p:spPr>
        <p:txBody>
          <a:bodyPr wrap="square">
            <a:spAutoFit/>
          </a:bodyPr>
          <a:lstStyle/>
          <a:p>
            <a:pPr algn="r" rtl="1" fontAlgn="ctr"/>
            <a:r>
              <a:rPr lang="he-IL" sz="1600" b="1" i="1" dirty="0">
                <a:solidFill>
                  <a:srgbClr val="156938"/>
                </a:solidFill>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t>43</a:t>
            </a:r>
            <a:r>
              <a:rPr lang="he-IL" sz="1600" b="1" i="1" u="none" strike="noStrike" dirty="0">
                <a:solidFill>
                  <a:srgbClr val="156938"/>
                </a:solidFill>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t>%</a:t>
            </a:r>
          </a:p>
        </p:txBody>
      </p:sp>
      <p:sp>
        <p:nvSpPr>
          <p:cNvPr id="17" name="תיבת טקסט 16">
            <a:extLst>
              <a:ext uri="{FF2B5EF4-FFF2-40B4-BE49-F238E27FC236}">
                <a16:creationId xmlns:a16="http://schemas.microsoft.com/office/drawing/2014/main" id="{B0CE60DE-FE27-E040-0604-5D72857B8E66}"/>
              </a:ext>
            </a:extLst>
          </p:cNvPr>
          <p:cNvSpPr txBox="1"/>
          <p:nvPr/>
        </p:nvSpPr>
        <p:spPr>
          <a:xfrm>
            <a:off x="6677747" y="2201650"/>
            <a:ext cx="612000" cy="338554"/>
          </a:xfrm>
          <a:prstGeom prst="rect">
            <a:avLst/>
          </a:prstGeom>
          <a:noFill/>
        </p:spPr>
        <p:txBody>
          <a:bodyPr wrap="square">
            <a:spAutoFit/>
          </a:bodyPr>
          <a:lstStyle/>
          <a:p>
            <a:pPr algn="r" rtl="1" fontAlgn="ctr"/>
            <a:r>
              <a:rPr lang="he-IL" sz="1600" b="1" i="1" dirty="0">
                <a:solidFill>
                  <a:srgbClr val="156938"/>
                </a:solidFill>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t>65</a:t>
            </a:r>
            <a:r>
              <a:rPr lang="he-IL" sz="1600" b="1" i="1" u="none" strike="noStrike" dirty="0">
                <a:solidFill>
                  <a:srgbClr val="156938"/>
                </a:solidFill>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t>%</a:t>
            </a:r>
          </a:p>
        </p:txBody>
      </p:sp>
      <p:sp>
        <p:nvSpPr>
          <p:cNvPr id="18" name="תיבת טקסט 17">
            <a:extLst>
              <a:ext uri="{FF2B5EF4-FFF2-40B4-BE49-F238E27FC236}">
                <a16:creationId xmlns:a16="http://schemas.microsoft.com/office/drawing/2014/main" id="{36D15250-492E-5189-6D96-B1877DB620B8}"/>
              </a:ext>
            </a:extLst>
          </p:cNvPr>
          <p:cNvSpPr txBox="1"/>
          <p:nvPr/>
        </p:nvSpPr>
        <p:spPr>
          <a:xfrm>
            <a:off x="8320339" y="2177451"/>
            <a:ext cx="612000" cy="338554"/>
          </a:xfrm>
          <a:prstGeom prst="rect">
            <a:avLst/>
          </a:prstGeom>
          <a:noFill/>
        </p:spPr>
        <p:txBody>
          <a:bodyPr wrap="square">
            <a:spAutoFit/>
          </a:bodyPr>
          <a:lstStyle/>
          <a:p>
            <a:pPr algn="r" rtl="1" fontAlgn="ctr"/>
            <a:r>
              <a:rPr lang="he-IL" sz="1600" b="1" i="1" dirty="0">
                <a:solidFill>
                  <a:srgbClr val="156938"/>
                </a:solidFill>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t>64</a:t>
            </a:r>
            <a:r>
              <a:rPr lang="he-IL" sz="1600" b="1" i="1" u="none" strike="noStrike" dirty="0">
                <a:solidFill>
                  <a:srgbClr val="156938"/>
                </a:solidFill>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t>%</a:t>
            </a:r>
          </a:p>
        </p:txBody>
      </p:sp>
      <p:cxnSp>
        <p:nvCxnSpPr>
          <p:cNvPr id="19" name="מחבר ישר 18">
            <a:extLst>
              <a:ext uri="{FF2B5EF4-FFF2-40B4-BE49-F238E27FC236}">
                <a16:creationId xmlns:a16="http://schemas.microsoft.com/office/drawing/2014/main" id="{C21A11BA-D5CD-9072-763E-C1F0FDEC420B}"/>
              </a:ext>
            </a:extLst>
          </p:cNvPr>
          <p:cNvCxnSpPr>
            <a:cxnSpLocks/>
          </p:cNvCxnSpPr>
          <p:nvPr/>
        </p:nvCxnSpPr>
        <p:spPr>
          <a:xfrm>
            <a:off x="6677747" y="973713"/>
            <a:ext cx="0" cy="3420000"/>
          </a:xfrm>
          <a:prstGeom prst="line">
            <a:avLst/>
          </a:prstGeom>
          <a:ln>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20" name="תיבת טקסט 19">
            <a:extLst>
              <a:ext uri="{FF2B5EF4-FFF2-40B4-BE49-F238E27FC236}">
                <a16:creationId xmlns:a16="http://schemas.microsoft.com/office/drawing/2014/main" id="{B272532E-8A46-114A-FE6E-A0EB3363E38B}"/>
              </a:ext>
            </a:extLst>
          </p:cNvPr>
          <p:cNvSpPr txBox="1"/>
          <p:nvPr/>
        </p:nvSpPr>
        <p:spPr>
          <a:xfrm>
            <a:off x="4012690" y="1100713"/>
            <a:ext cx="2520000" cy="307777"/>
          </a:xfrm>
          <a:prstGeom prst="rect">
            <a:avLst/>
          </a:prstGeom>
          <a:noFill/>
        </p:spPr>
        <p:txBody>
          <a:bodyPr wrap="square">
            <a:spAutoFit/>
          </a:bodyPr>
          <a:lstStyle/>
          <a:p>
            <a:pPr algn="ctr" rtl="1" fontAlgn="ctr"/>
            <a:r>
              <a:rPr lang="he-IL" sz="1400" b="1" dirty="0">
                <a:latin typeface="Segoe UI" panose="020B0502040204020203" pitchFamily="34" charset="0"/>
                <a:cs typeface="Segoe UI" panose="020B0502040204020203" pitchFamily="34" charset="0"/>
              </a:rPr>
              <a:t>קיבלו דוחות ב-2025</a:t>
            </a:r>
            <a:endParaRPr lang="he-IL" sz="1400" b="1" u="none" strike="noStrike" dirty="0">
              <a:effectLst/>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485700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1FD45E-EA57-9BEB-3450-FEF29C1BA905}"/>
            </a:ext>
          </a:extLst>
        </p:cNvPr>
        <p:cNvGrpSpPr/>
        <p:nvPr/>
      </p:nvGrpSpPr>
      <p:grpSpPr>
        <a:xfrm>
          <a:off x="0" y="0"/>
          <a:ext cx="0" cy="0"/>
          <a:chOff x="0" y="0"/>
          <a:chExt cx="0" cy="0"/>
        </a:xfrm>
      </p:grpSpPr>
      <p:sp>
        <p:nvSpPr>
          <p:cNvPr id="15" name="Slide Number Placeholder 1">
            <a:extLst>
              <a:ext uri="{FF2B5EF4-FFF2-40B4-BE49-F238E27FC236}">
                <a16:creationId xmlns:a16="http://schemas.microsoft.com/office/drawing/2014/main" id="{3C91A602-E01B-09C9-67B7-5283BE852347}"/>
              </a:ext>
            </a:extLst>
          </p:cNvPr>
          <p:cNvSpPr txBox="1">
            <a:spLocks/>
          </p:cNvSpPr>
          <p:nvPr/>
        </p:nvSpPr>
        <p:spPr>
          <a:xfrm>
            <a:off x="11541989" y="6473956"/>
            <a:ext cx="540000" cy="360000"/>
          </a:xfrm>
          <a:prstGeom prst="rect">
            <a:avLst/>
          </a:prstGeom>
          <a:noFill/>
          <a:ln w="12700" cap="flat" cmpd="sng" algn="ctr">
            <a:noFill/>
            <a:prstDash val="solid"/>
            <a:miter lim="800000"/>
          </a:ln>
          <a:effectLst/>
        </p:spPr>
        <p:txBody>
          <a:bodyPr rot="0" spcFirstLastPara="0" vertOverflow="overflow" horzOverflow="overflow" vert="horz" wrap="square" lIns="91440" tIns="45720" rIns="91440" bIns="45720" numCol="1" spcCol="0" rtlCol="1" fromWordArt="0" anchor="ctr" anchorCtr="0" forceAA="0" compatLnSpc="1">
            <a:prstTxWarp prst="textNoShape">
              <a:avLst/>
            </a:prstTxWarp>
            <a:noAutofit/>
          </a:bodyPr>
          <a:lstStyle>
            <a:defPPr>
              <a:defRPr lang="he-IL"/>
            </a:defPPr>
            <a:lvl1pPr marL="0" algn="l" defTabSz="914400" rtl="0" eaLnBrk="1" latinLnBrk="0" hangingPunct="1">
              <a:defRPr lang="he-IL" sz="1100" kern="1200" smtClean="0">
                <a:solidFill>
                  <a:schemeClr val="bg1">
                    <a:lumMod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r" rtl="1">
              <a:defRPr/>
            </a:pPr>
            <a:fld id="{7A91BF3F-E284-4570-AC28-CDAE2F1A1EA1}" type="slidenum">
              <a:rPr lang="he-IL" smtClean="0">
                <a:solidFill>
                  <a:prstClr val="white">
                    <a:lumMod val="75000"/>
                  </a:prstClr>
                </a:solidFill>
              </a:rPr>
              <a:pPr algn="r" rtl="1">
                <a:defRPr/>
              </a:pPr>
              <a:t>28</a:t>
            </a:fld>
            <a:endParaRPr lang="he-IL" dirty="0">
              <a:solidFill>
                <a:prstClr val="white">
                  <a:lumMod val="75000"/>
                </a:prstClr>
              </a:solidFill>
            </a:endParaRPr>
          </a:p>
        </p:txBody>
      </p:sp>
      <p:cxnSp>
        <p:nvCxnSpPr>
          <p:cNvPr id="2" name="Straight Connector 6">
            <a:extLst>
              <a:ext uri="{FF2B5EF4-FFF2-40B4-BE49-F238E27FC236}">
                <a16:creationId xmlns:a16="http://schemas.microsoft.com/office/drawing/2014/main" id="{3C7491D0-C0D4-C039-8B0A-D9C3ECC6C222}"/>
              </a:ext>
            </a:extLst>
          </p:cNvPr>
          <p:cNvCxnSpPr>
            <a:cxnSpLocks/>
          </p:cNvCxnSpPr>
          <p:nvPr/>
        </p:nvCxnSpPr>
        <p:spPr>
          <a:xfrm rot="10800000" flipV="1">
            <a:off x="6160098" y="1391560"/>
            <a:ext cx="0" cy="4680000"/>
          </a:xfrm>
          <a:prstGeom prst="line">
            <a:avLst/>
          </a:prstGeom>
          <a:ln w="25400" cap="rnd">
            <a:solidFill>
              <a:schemeClr val="bg1">
                <a:lumMod val="85000"/>
              </a:schemeClr>
            </a:solidFill>
            <a:round/>
          </a:ln>
        </p:spPr>
        <p:style>
          <a:lnRef idx="1">
            <a:schemeClr val="accent1"/>
          </a:lnRef>
          <a:fillRef idx="0">
            <a:schemeClr val="accent1"/>
          </a:fillRef>
          <a:effectRef idx="0">
            <a:schemeClr val="accent1"/>
          </a:effectRef>
          <a:fontRef idx="minor">
            <a:schemeClr val="tx1"/>
          </a:fontRef>
        </p:style>
      </p:cxnSp>
      <p:sp>
        <p:nvSpPr>
          <p:cNvPr id="3" name="Rectangle 6">
            <a:extLst>
              <a:ext uri="{FF2B5EF4-FFF2-40B4-BE49-F238E27FC236}">
                <a16:creationId xmlns:a16="http://schemas.microsoft.com/office/drawing/2014/main" id="{19CAE16B-FF38-824E-1BEB-49C265361740}"/>
              </a:ext>
            </a:extLst>
          </p:cNvPr>
          <p:cNvSpPr/>
          <p:nvPr/>
        </p:nvSpPr>
        <p:spPr>
          <a:xfrm>
            <a:off x="6160097" y="1460073"/>
            <a:ext cx="5835822" cy="4984406"/>
          </a:xfrm>
          <a:prstGeom prst="rect">
            <a:avLst/>
          </a:prstGeom>
        </p:spPr>
        <p:txBody>
          <a:bodyPr wrap="square" anchor="ctr">
            <a:noAutofit/>
          </a:bodyPr>
          <a:lstStyle/>
          <a:p>
            <a:pPr algn="ctr" rtl="1">
              <a:lnSpc>
                <a:spcPct val="150000"/>
              </a:lnSpc>
            </a:pPr>
            <a:r>
              <a:rPr lang="he-IL" b="1" dirty="0">
                <a:latin typeface="Segoe UI" panose="020B0502040204020203" pitchFamily="34" charset="0"/>
                <a:cs typeface="Segoe UI" panose="020B0502040204020203" pitchFamily="34" charset="0"/>
              </a:rPr>
              <a:t>בית הדין הנוכחי 2025 הוא "בית דין ללא ייצוג"</a:t>
            </a:r>
          </a:p>
          <a:p>
            <a:pPr algn="ctr" rtl="1">
              <a:lnSpc>
                <a:spcPct val="150000"/>
              </a:lnSpc>
            </a:pPr>
            <a:r>
              <a:rPr lang="he-IL" sz="1600" dirty="0">
                <a:latin typeface="Segoe UI" panose="020B0502040204020203" pitchFamily="34" charset="0"/>
                <a:cs typeface="Segoe UI" panose="020B0502040204020203" pitchFamily="34" charset="0"/>
              </a:rPr>
              <a:t>מרבית הנוכחים בדיון לא יוצגו ע"י עו"ד - במיוחד במגזר היהודי.</a:t>
            </a:r>
            <a:br>
              <a:rPr lang="en-US" sz="1600" dirty="0">
                <a:latin typeface="Segoe UI" panose="020B0502040204020203" pitchFamily="34" charset="0"/>
                <a:cs typeface="Segoe UI" panose="020B0502040204020203" pitchFamily="34" charset="0"/>
              </a:rPr>
            </a:br>
            <a:r>
              <a:rPr lang="he-IL" sz="1600" dirty="0">
                <a:latin typeface="Segoe UI" panose="020B0502040204020203" pitchFamily="34" charset="0"/>
                <a:cs typeface="Segoe UI" panose="020B0502040204020203" pitchFamily="34" charset="0"/>
              </a:rPr>
              <a:t>שיעור המיוצגים ע"י עו"ד גבוה משמעותית במגזר </a:t>
            </a:r>
            <a:r>
              <a:rPr lang="he-IL" sz="1400" dirty="0">
                <a:latin typeface="Segoe UI" panose="020B0502040204020203" pitchFamily="34" charset="0"/>
                <a:cs typeface="Segoe UI" panose="020B0502040204020203" pitchFamily="34" charset="0"/>
              </a:rPr>
              <a:t>הערבי (שגם התייעצו הרבה יותר בתחילת התהליך) </a:t>
            </a:r>
            <a:r>
              <a:rPr lang="he-IL" sz="1600" b="1" dirty="0">
                <a:latin typeface="Segoe UI" panose="020B0502040204020203" pitchFamily="34" charset="0"/>
                <a:cs typeface="Segoe UI" panose="020B0502040204020203" pitchFamily="34" charset="0"/>
              </a:rPr>
              <a:t>שתלויים יותר בייעוץ חיצוני</a:t>
            </a:r>
            <a:endParaRPr lang="en-US" sz="1600" b="1" dirty="0">
              <a:latin typeface="Segoe UI" panose="020B0502040204020203" pitchFamily="34" charset="0"/>
              <a:cs typeface="Segoe UI" panose="020B0502040204020203" pitchFamily="34" charset="0"/>
            </a:endParaRPr>
          </a:p>
          <a:p>
            <a:pPr algn="ctr" rtl="1">
              <a:lnSpc>
                <a:spcPct val="150000"/>
              </a:lnSpc>
            </a:pPr>
            <a:endParaRPr lang="he-IL" sz="1600" dirty="0">
              <a:latin typeface="Segoe UI" panose="020B0502040204020203" pitchFamily="34" charset="0"/>
              <a:cs typeface="Segoe UI" panose="020B0502040204020203" pitchFamily="34" charset="0"/>
            </a:endParaRPr>
          </a:p>
          <a:p>
            <a:pPr algn="ctr" rtl="1">
              <a:lnSpc>
                <a:spcPct val="150000"/>
              </a:lnSpc>
            </a:pPr>
            <a:r>
              <a:rPr lang="he-IL" sz="1600" dirty="0">
                <a:solidFill>
                  <a:srgbClr val="1D1C64"/>
                </a:solidFill>
                <a:latin typeface="Segoe UI" panose="020B0502040204020203" pitchFamily="34" charset="0"/>
                <a:cs typeface="Segoe UI" panose="020B0502040204020203" pitchFamily="34" charset="0"/>
              </a:rPr>
              <a:t> תכנון חוויית המשתמש לאחר הרפורמה צריכה להתבסס על ההנחה שהאזרח מייצג את עצמו ללא תיווך משפטי</a:t>
            </a:r>
            <a:r>
              <a:rPr lang="en-US" sz="1600" dirty="0">
                <a:solidFill>
                  <a:srgbClr val="1D1C64"/>
                </a:solidFill>
                <a:latin typeface="Segoe UI" panose="020B0502040204020203" pitchFamily="34" charset="0"/>
                <a:cs typeface="Segoe UI" panose="020B0502040204020203" pitchFamily="34" charset="0"/>
              </a:rPr>
              <a:t>…</a:t>
            </a:r>
            <a:endParaRPr lang="he-IL" sz="1600" dirty="0">
              <a:solidFill>
                <a:srgbClr val="1D1C64"/>
              </a:solidFill>
              <a:latin typeface="Segoe UI" panose="020B0502040204020203" pitchFamily="34" charset="0"/>
              <a:cs typeface="Segoe UI" panose="020B0502040204020203" pitchFamily="34" charset="0"/>
            </a:endParaRPr>
          </a:p>
          <a:p>
            <a:pPr algn="ctr" rtl="1">
              <a:lnSpc>
                <a:spcPct val="150000"/>
              </a:lnSpc>
            </a:pPr>
            <a:r>
              <a:rPr lang="en-US" sz="1600" b="1" dirty="0">
                <a:solidFill>
                  <a:srgbClr val="1D1C64"/>
                </a:solidFill>
                <a:latin typeface="Segoe UI" panose="020B0502040204020203" pitchFamily="34" charset="0"/>
                <a:cs typeface="Segoe UI" panose="020B0502040204020203" pitchFamily="34" charset="0"/>
              </a:rPr>
              <a:t> </a:t>
            </a:r>
            <a:r>
              <a:rPr lang="he-IL" sz="1600" b="1" dirty="0">
                <a:solidFill>
                  <a:srgbClr val="1D1C64"/>
                </a:solidFill>
                <a:latin typeface="Segoe UI" panose="020B0502040204020203" pitchFamily="34" charset="0"/>
                <a:cs typeface="Segoe UI" panose="020B0502040204020203" pitchFamily="34" charset="0"/>
              </a:rPr>
              <a:t>מומלץ להפיק סרטון הדרכה שמסביר לנהגים כיצד הם יכולים לייצג את עצמם בקלות וביעילות בבית הדין המנהלי החדש</a:t>
            </a:r>
            <a:r>
              <a:rPr lang="en-US" sz="1600" b="1" dirty="0">
                <a:solidFill>
                  <a:srgbClr val="1D1C64"/>
                </a:solidFill>
                <a:latin typeface="Segoe UI" panose="020B0502040204020203" pitchFamily="34" charset="0"/>
                <a:cs typeface="Segoe UI" panose="020B0502040204020203" pitchFamily="34" charset="0"/>
              </a:rPr>
              <a:t>.</a:t>
            </a:r>
          </a:p>
        </p:txBody>
      </p:sp>
      <p:sp>
        <p:nvSpPr>
          <p:cNvPr id="4" name="Rectangle 3">
            <a:extLst>
              <a:ext uri="{FF2B5EF4-FFF2-40B4-BE49-F238E27FC236}">
                <a16:creationId xmlns:a16="http://schemas.microsoft.com/office/drawing/2014/main" id="{4315E261-D8EE-E5D7-B995-E85BE39172B8}"/>
              </a:ext>
            </a:extLst>
          </p:cNvPr>
          <p:cNvSpPr/>
          <p:nvPr/>
        </p:nvSpPr>
        <p:spPr>
          <a:xfrm>
            <a:off x="1320802" y="191076"/>
            <a:ext cx="10614278" cy="5075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t"/>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0" cap="none" spc="0" normalizeH="0" baseline="0" noProof="0" dirty="0">
                <a:ln>
                  <a:noFill/>
                </a:ln>
                <a:solidFill>
                  <a:srgbClr val="104E88"/>
                </a:solidFill>
                <a:effectLst/>
                <a:uLnTx/>
                <a:uFillTx/>
                <a:latin typeface="Segoe UI" panose="020B0502040204020203" pitchFamily="34" charset="0"/>
                <a:cs typeface="Segoe UI" panose="020B0502040204020203" pitchFamily="34" charset="0"/>
                <a:sym typeface="Arial"/>
              </a:rPr>
              <a:t>ייצוג בפועל ע"י עורך דין בדיון בביהמ"ש</a:t>
            </a:r>
            <a:br>
              <a:rPr kumimoji="0" lang="en-US" sz="2800" b="0" i="0" u="none" strike="noStrike" kern="0" cap="none" spc="0" normalizeH="0" baseline="0" noProof="0" dirty="0">
                <a:ln>
                  <a:noFill/>
                </a:ln>
                <a:solidFill>
                  <a:srgbClr val="104E88"/>
                </a:solidFill>
                <a:effectLst/>
                <a:uLnTx/>
                <a:uFillTx/>
                <a:latin typeface="Segoe UI" panose="020B0502040204020203" pitchFamily="34" charset="0"/>
                <a:cs typeface="Segoe UI" panose="020B0502040204020203" pitchFamily="34" charset="0"/>
                <a:sym typeface="Arial"/>
              </a:rPr>
            </a:br>
            <a:r>
              <a:rPr kumimoji="0" lang="he-IL" sz="1600" b="0" i="0" u="none" strike="noStrike" kern="0" cap="none" spc="0" normalizeH="0" baseline="0" noProof="0" dirty="0">
                <a:ln>
                  <a:noFill/>
                </a:ln>
                <a:solidFill>
                  <a:srgbClr val="104E88"/>
                </a:solidFill>
                <a:effectLst/>
                <a:uLnTx/>
                <a:uFillTx/>
                <a:latin typeface="Segoe UI" panose="020B0502040204020203" pitchFamily="34" charset="0"/>
                <a:ea typeface="+mn-ea"/>
                <a:cs typeface="Segoe UI" panose="020B0502040204020203" pitchFamily="34" charset="0"/>
                <a:sym typeface="Arial"/>
              </a:rPr>
              <a:t>בקרב מי שביקשו להישפט ונכחו בעצמם בדיון</a:t>
            </a:r>
            <a:endParaRPr kumimoji="0" lang="he-IL" sz="2800" b="0" i="0" u="none" strike="noStrike" kern="0" cap="none" spc="0" normalizeH="0" baseline="0" noProof="0" dirty="0">
              <a:ln>
                <a:noFill/>
              </a:ln>
              <a:solidFill>
                <a:srgbClr val="104E88"/>
              </a:solidFill>
              <a:effectLst/>
              <a:uLnTx/>
              <a:uFillTx/>
              <a:latin typeface="Segoe UI" panose="020B0502040204020203" pitchFamily="34" charset="0"/>
              <a:cs typeface="Segoe UI" panose="020B0502040204020203" pitchFamily="34" charset="0"/>
              <a:sym typeface="Arial"/>
            </a:endParaRPr>
          </a:p>
        </p:txBody>
      </p:sp>
      <p:graphicFrame>
        <p:nvGraphicFramePr>
          <p:cNvPr id="7" name="אובייקט 3">
            <a:extLst>
              <a:ext uri="{FF2B5EF4-FFF2-40B4-BE49-F238E27FC236}">
                <a16:creationId xmlns:a16="http://schemas.microsoft.com/office/drawing/2014/main" id="{B8C9C101-DC9D-8F7D-3529-B9645BC790B8}"/>
              </a:ext>
            </a:extLst>
          </p:cNvPr>
          <p:cNvGraphicFramePr>
            <a:graphicFrameLocks noChangeAspect="1"/>
          </p:cNvGraphicFramePr>
          <p:nvPr>
            <p:extLst>
              <p:ext uri="{D42A27DB-BD31-4B8C-83A1-F6EECF244321}">
                <p14:modId xmlns:p14="http://schemas.microsoft.com/office/powerpoint/2010/main" val="1043976341"/>
              </p:ext>
            </p:extLst>
          </p:nvPr>
        </p:nvGraphicFramePr>
        <p:xfrm>
          <a:off x="-228601" y="1391560"/>
          <a:ext cx="6567096" cy="4320000"/>
        </p:xfrm>
        <a:graphic>
          <a:graphicData uri="http://schemas.openxmlformats.org/drawingml/2006/chart">
            <c:chart xmlns:c="http://schemas.openxmlformats.org/drawingml/2006/chart" xmlns:r="http://schemas.openxmlformats.org/officeDocument/2006/relationships" r:id="rId2"/>
          </a:graphicData>
        </a:graphic>
      </p:graphicFrame>
      <p:sp>
        <p:nvSpPr>
          <p:cNvPr id="8" name="Rectangle 28">
            <a:extLst>
              <a:ext uri="{FF2B5EF4-FFF2-40B4-BE49-F238E27FC236}">
                <a16:creationId xmlns:a16="http://schemas.microsoft.com/office/drawing/2014/main" id="{05DF0FF6-816D-8FDC-A1CD-80804632CB11}"/>
              </a:ext>
            </a:extLst>
          </p:cNvPr>
          <p:cNvSpPr/>
          <p:nvPr/>
        </p:nvSpPr>
        <p:spPr>
          <a:xfrm>
            <a:off x="2796634" y="6473005"/>
            <a:ext cx="9000000" cy="360000"/>
          </a:xfrm>
          <a:prstGeom prst="rect">
            <a:avLst/>
          </a:prstGeom>
          <a:noFill/>
          <a:ln>
            <a:noFill/>
          </a:ln>
        </p:spPr>
        <p:txBody>
          <a:bodyPr rot="0" spcFirstLastPara="0" vertOverflow="overflow" horzOverflow="overflow" vert="horz" wrap="square" lIns="91440" tIns="45720" rIns="91440" bIns="45720" numCol="1" spcCol="0" rtlCol="1" fromWordArt="0" anchor="ctr" anchorCtr="0" forceAA="0" compatLnSpc="1">
            <a:prstTxWarp prst="textNoShape">
              <a:avLst/>
            </a:prstTxWarp>
            <a:noAutofit/>
          </a:bodyPr>
          <a:lstStyle/>
          <a:p>
            <a:pPr lvl="0" algn="r" rtl="1">
              <a:defRPr/>
            </a:pPr>
            <a:r>
              <a:rPr lang="he-IL" sz="1000" dirty="0">
                <a:solidFill>
                  <a:prstClr val="white">
                    <a:lumMod val="65000"/>
                  </a:prstClr>
                </a:solidFill>
                <a:latin typeface="Segoe UI" panose="020B0502040204020203" pitchFamily="34" charset="0"/>
                <a:cs typeface="Segoe UI" panose="020B0502040204020203" pitchFamily="34" charset="0"/>
              </a:rPr>
              <a:t>"האם עורך דין ייצג אותך בדיון בביהמ"ש?"</a:t>
            </a:r>
          </a:p>
        </p:txBody>
      </p:sp>
    </p:spTree>
    <p:extLst>
      <p:ext uri="{BB962C8B-B14F-4D97-AF65-F5344CB8AC3E}">
        <p14:creationId xmlns:p14="http://schemas.microsoft.com/office/powerpoint/2010/main" val="8036068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8D88F8-EB14-578A-8C0C-47FBB5A41A1A}"/>
            </a:ext>
          </a:extLst>
        </p:cNvPr>
        <p:cNvGrpSpPr/>
        <p:nvPr/>
      </p:nvGrpSpPr>
      <p:grpSpPr>
        <a:xfrm>
          <a:off x="0" y="0"/>
          <a:ext cx="0" cy="0"/>
          <a:chOff x="0" y="0"/>
          <a:chExt cx="0" cy="0"/>
        </a:xfrm>
      </p:grpSpPr>
      <p:sp>
        <p:nvSpPr>
          <p:cNvPr id="15" name="Slide Number Placeholder 1">
            <a:extLst>
              <a:ext uri="{FF2B5EF4-FFF2-40B4-BE49-F238E27FC236}">
                <a16:creationId xmlns:a16="http://schemas.microsoft.com/office/drawing/2014/main" id="{4E10863F-027E-96AF-34EF-4B7F99068432}"/>
              </a:ext>
            </a:extLst>
          </p:cNvPr>
          <p:cNvSpPr txBox="1">
            <a:spLocks/>
          </p:cNvSpPr>
          <p:nvPr/>
        </p:nvSpPr>
        <p:spPr>
          <a:xfrm>
            <a:off x="11541989" y="6473956"/>
            <a:ext cx="540000" cy="360000"/>
          </a:xfrm>
          <a:prstGeom prst="rect">
            <a:avLst/>
          </a:prstGeom>
          <a:noFill/>
          <a:ln w="12700" cap="flat" cmpd="sng" algn="ctr">
            <a:noFill/>
            <a:prstDash val="solid"/>
            <a:miter lim="800000"/>
          </a:ln>
          <a:effectLst/>
        </p:spPr>
        <p:txBody>
          <a:bodyPr rot="0" spcFirstLastPara="0" vertOverflow="overflow" horzOverflow="overflow" vert="horz" wrap="square" lIns="91440" tIns="45720" rIns="91440" bIns="45720" numCol="1" spcCol="0" rtlCol="1" fromWordArt="0" anchor="ctr" anchorCtr="0" forceAA="0" compatLnSpc="1">
            <a:prstTxWarp prst="textNoShape">
              <a:avLst/>
            </a:prstTxWarp>
            <a:noAutofit/>
          </a:bodyPr>
          <a:lstStyle>
            <a:defPPr>
              <a:defRPr lang="he-IL"/>
            </a:defPPr>
            <a:lvl1pPr marL="0" algn="l" defTabSz="914400" rtl="0" eaLnBrk="1" latinLnBrk="0" hangingPunct="1">
              <a:defRPr lang="he-IL" sz="1100" kern="1200" smtClean="0">
                <a:solidFill>
                  <a:schemeClr val="bg1">
                    <a:lumMod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r" rtl="1">
              <a:defRPr/>
            </a:pPr>
            <a:fld id="{7A91BF3F-E284-4570-AC28-CDAE2F1A1EA1}" type="slidenum">
              <a:rPr lang="he-IL" smtClean="0">
                <a:solidFill>
                  <a:prstClr val="white">
                    <a:lumMod val="75000"/>
                  </a:prstClr>
                </a:solidFill>
              </a:rPr>
              <a:pPr algn="r" rtl="1">
                <a:defRPr/>
              </a:pPr>
              <a:t>29</a:t>
            </a:fld>
            <a:endParaRPr lang="he-IL" dirty="0">
              <a:solidFill>
                <a:prstClr val="white">
                  <a:lumMod val="75000"/>
                </a:prstClr>
              </a:solidFill>
            </a:endParaRPr>
          </a:p>
        </p:txBody>
      </p:sp>
      <p:cxnSp>
        <p:nvCxnSpPr>
          <p:cNvPr id="2" name="Straight Connector 6">
            <a:extLst>
              <a:ext uri="{FF2B5EF4-FFF2-40B4-BE49-F238E27FC236}">
                <a16:creationId xmlns:a16="http://schemas.microsoft.com/office/drawing/2014/main" id="{57A08C10-2266-4604-7AA9-34EA79D3EB54}"/>
              </a:ext>
            </a:extLst>
          </p:cNvPr>
          <p:cNvCxnSpPr>
            <a:cxnSpLocks/>
          </p:cNvCxnSpPr>
          <p:nvPr/>
        </p:nvCxnSpPr>
        <p:spPr>
          <a:xfrm rot="16200000" flipV="1">
            <a:off x="6096000" y="-822283"/>
            <a:ext cx="0" cy="10800000"/>
          </a:xfrm>
          <a:prstGeom prst="line">
            <a:avLst/>
          </a:prstGeom>
          <a:ln w="25400" cap="rnd">
            <a:solidFill>
              <a:schemeClr val="bg1">
                <a:lumMod val="85000"/>
              </a:schemeClr>
            </a:solidFill>
            <a:round/>
          </a:ln>
        </p:spPr>
        <p:style>
          <a:lnRef idx="1">
            <a:schemeClr val="accent1"/>
          </a:lnRef>
          <a:fillRef idx="0">
            <a:schemeClr val="accent1"/>
          </a:fillRef>
          <a:effectRef idx="0">
            <a:schemeClr val="accent1"/>
          </a:effectRef>
          <a:fontRef idx="minor">
            <a:schemeClr val="tx1"/>
          </a:fontRef>
        </p:style>
      </p:cxnSp>
      <p:sp>
        <p:nvSpPr>
          <p:cNvPr id="3" name="Rectangle 6">
            <a:extLst>
              <a:ext uri="{FF2B5EF4-FFF2-40B4-BE49-F238E27FC236}">
                <a16:creationId xmlns:a16="http://schemas.microsoft.com/office/drawing/2014/main" id="{DFBF2763-7A69-7134-B2EC-EEF7061B928F}"/>
              </a:ext>
            </a:extLst>
          </p:cNvPr>
          <p:cNvSpPr/>
          <p:nvPr/>
        </p:nvSpPr>
        <p:spPr>
          <a:xfrm>
            <a:off x="709298" y="4738502"/>
            <a:ext cx="11301982" cy="1440000"/>
          </a:xfrm>
          <a:prstGeom prst="rect">
            <a:avLst/>
          </a:prstGeom>
        </p:spPr>
        <p:txBody>
          <a:bodyPr wrap="square" anchor="ctr">
            <a:noAutofit/>
          </a:bodyPr>
          <a:lstStyle/>
          <a:p>
            <a:pPr algn="ctr" rtl="1">
              <a:lnSpc>
                <a:spcPct val="150000"/>
              </a:lnSpc>
            </a:pPr>
            <a:r>
              <a:rPr lang="he-IL" sz="1600" b="1" dirty="0">
                <a:latin typeface="Segoe UI" panose="020B0502040204020203" pitchFamily="34" charset="0"/>
                <a:cs typeface="Segoe UI" panose="020B0502040204020203" pitchFamily="34" charset="0"/>
              </a:rPr>
              <a:t>יחס השופט נתפס חיובי יחסית + והאפשרות להשמיע גרסה בינונית-חיובית</a:t>
            </a:r>
            <a:r>
              <a:rPr lang="he-IL" sz="1400" b="1" dirty="0">
                <a:latin typeface="Segoe UI" panose="020B0502040204020203" pitchFamily="34" charset="0"/>
                <a:cs typeface="Segoe UI" panose="020B0502040204020203" pitchFamily="34" charset="0"/>
              </a:rPr>
              <a:t> </a:t>
            </a:r>
            <a:r>
              <a:rPr lang="he-IL" sz="1400" dirty="0">
                <a:latin typeface="Segoe UI" panose="020B0502040204020203" pitchFamily="34" charset="0"/>
                <a:cs typeface="Segoe UI" panose="020B0502040204020203" pitchFamily="34" charset="0"/>
              </a:rPr>
              <a:t>(תפיסות דומות בשני המגזרים בשניהם)</a:t>
            </a:r>
          </a:p>
          <a:p>
            <a:pPr algn="ctr" rtl="1">
              <a:lnSpc>
                <a:spcPct val="150000"/>
              </a:lnSpc>
            </a:pPr>
            <a:r>
              <a:rPr lang="he-IL" sz="1600" dirty="0">
                <a:latin typeface="Segoe UI" panose="020B0502040204020203" pitchFamily="34" charset="0"/>
                <a:cs typeface="Segoe UI" panose="020B0502040204020203" pitchFamily="34" charset="0"/>
              </a:rPr>
              <a:t> אבל </a:t>
            </a:r>
            <a:r>
              <a:rPr lang="he-IL" sz="1600" b="1" dirty="0">
                <a:latin typeface="Segoe UI" panose="020B0502040204020203" pitchFamily="34" charset="0"/>
                <a:cs typeface="Segoe UI" panose="020B0502040204020203" pitchFamily="34" charset="0"/>
              </a:rPr>
              <a:t>תחושת האיזון מול התביעה/המשטרה חלשה יותר </a:t>
            </a:r>
            <a:r>
              <a:rPr lang="he-IL" sz="1600" dirty="0">
                <a:latin typeface="Segoe UI" panose="020B0502040204020203" pitchFamily="34" charset="0"/>
                <a:cs typeface="Segoe UI" panose="020B0502040204020203" pitchFamily="34" charset="0"/>
              </a:rPr>
              <a:t>כשמרבית הנוכחים בדיון הרגישו שהאיזון היה חלקי בלבד או לא קיים כלל- בייחוד במגזר היהודי עם שיעור כפול של מצייני כלל לא.</a:t>
            </a:r>
          </a:p>
          <a:p>
            <a:pPr algn="ctr" rtl="1">
              <a:lnSpc>
                <a:spcPct val="150000"/>
              </a:lnSpc>
            </a:pPr>
            <a:r>
              <a:rPr lang="he-IL" sz="1600" b="1" dirty="0">
                <a:solidFill>
                  <a:srgbClr val="1D1C64"/>
                </a:solidFill>
                <a:latin typeface="Segoe UI" panose="020B0502040204020203" pitchFamily="34" charset="0"/>
                <a:cs typeface="Segoe UI" panose="020B0502040204020203" pitchFamily="34" charset="0"/>
              </a:rPr>
              <a:t> ברפורמה הדיגיטלית צריך לחזק באופן גלוי את תחושת האיזון וההוגנות – ולאפשר לנהג לשטוח את טענותיו בצורה </a:t>
            </a:r>
            <a:br>
              <a:rPr lang="en-US" sz="1600" b="1" dirty="0">
                <a:solidFill>
                  <a:srgbClr val="1D1C64"/>
                </a:solidFill>
                <a:latin typeface="Segoe UI" panose="020B0502040204020203" pitchFamily="34" charset="0"/>
                <a:cs typeface="Segoe UI" panose="020B0502040204020203" pitchFamily="34" charset="0"/>
              </a:rPr>
            </a:br>
            <a:r>
              <a:rPr lang="he-IL" sz="1600" b="1" dirty="0">
                <a:solidFill>
                  <a:srgbClr val="1D1C64"/>
                </a:solidFill>
                <a:latin typeface="Segoe UI" panose="020B0502040204020203" pitchFamily="34" charset="0"/>
                <a:cs typeface="Segoe UI" panose="020B0502040204020203" pitchFamily="34" charset="0"/>
              </a:rPr>
              <a:t>מסודרת טרם ההחלטה, כדי להגביר את תחושת השוויון</a:t>
            </a:r>
            <a:r>
              <a:rPr lang="en-US" sz="1600" b="1" dirty="0">
                <a:solidFill>
                  <a:srgbClr val="1D1C64"/>
                </a:solidFill>
                <a:latin typeface="Segoe UI" panose="020B0502040204020203" pitchFamily="34" charset="0"/>
                <a:cs typeface="Segoe UI" panose="020B0502040204020203" pitchFamily="34" charset="0"/>
              </a:rPr>
              <a:t>.</a:t>
            </a:r>
          </a:p>
        </p:txBody>
      </p:sp>
      <p:sp>
        <p:nvSpPr>
          <p:cNvPr id="4" name="Rectangle 3">
            <a:extLst>
              <a:ext uri="{FF2B5EF4-FFF2-40B4-BE49-F238E27FC236}">
                <a16:creationId xmlns:a16="http://schemas.microsoft.com/office/drawing/2014/main" id="{D50172F9-78DE-AEF0-12CA-933DB3B512D6}"/>
              </a:ext>
            </a:extLst>
          </p:cNvPr>
          <p:cNvSpPr/>
          <p:nvPr/>
        </p:nvSpPr>
        <p:spPr>
          <a:xfrm>
            <a:off x="1054101" y="191076"/>
            <a:ext cx="10957179" cy="5075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t"/>
          <a:lstStyle/>
          <a:p>
            <a:pPr lvl="0" algn="r" rtl="1">
              <a:defRPr/>
            </a:pPr>
            <a:r>
              <a:rPr kumimoji="0" lang="he-IL" sz="2800" b="1" i="0" u="none" strike="noStrike" kern="0" cap="none" spc="0" normalizeH="0" baseline="0" noProof="0" dirty="0">
                <a:ln>
                  <a:noFill/>
                </a:ln>
                <a:solidFill>
                  <a:srgbClr val="104E88"/>
                </a:solidFill>
                <a:effectLst/>
                <a:uLnTx/>
                <a:uFillTx/>
                <a:latin typeface="Segoe UI" panose="020B0502040204020203" pitchFamily="34" charset="0"/>
                <a:cs typeface="Segoe UI" panose="020B0502040204020203" pitchFamily="34" charset="0"/>
                <a:sym typeface="Arial"/>
              </a:rPr>
              <a:t>תפיסות כלפי היבטים </a:t>
            </a:r>
            <a:r>
              <a:rPr lang="he-IL" sz="2800" b="1" kern="0" dirty="0">
                <a:solidFill>
                  <a:srgbClr val="104E88"/>
                </a:solidFill>
                <a:latin typeface="Segoe UI" panose="020B0502040204020203" pitchFamily="34" charset="0"/>
                <a:cs typeface="Segoe UI" panose="020B0502040204020203" pitchFamily="34" charset="0"/>
                <a:sym typeface="Arial"/>
              </a:rPr>
              <a:t>בדיון המשפטי</a:t>
            </a:r>
            <a:br>
              <a:rPr kumimoji="0" lang="en-US" sz="2800" b="0" i="0" u="none" strike="noStrike" kern="0" cap="none" spc="0" normalizeH="0" baseline="0" noProof="0" dirty="0">
                <a:ln>
                  <a:noFill/>
                </a:ln>
                <a:solidFill>
                  <a:srgbClr val="104E88"/>
                </a:solidFill>
                <a:effectLst/>
                <a:uLnTx/>
                <a:uFillTx/>
                <a:latin typeface="Segoe UI" panose="020B0502040204020203" pitchFamily="34" charset="0"/>
                <a:cs typeface="Segoe UI" panose="020B0502040204020203" pitchFamily="34" charset="0"/>
                <a:sym typeface="Arial"/>
              </a:rPr>
            </a:br>
            <a:r>
              <a:rPr lang="he-IL" sz="1600" kern="0" dirty="0">
                <a:solidFill>
                  <a:srgbClr val="104E88"/>
                </a:solidFill>
                <a:latin typeface="Segoe UI" panose="020B0502040204020203" pitchFamily="34" charset="0"/>
                <a:cs typeface="Segoe UI" panose="020B0502040204020203" pitchFamily="34" charset="0"/>
                <a:sym typeface="Arial"/>
              </a:rPr>
              <a:t>בקרב מי שביקשו להישפט ונכחו בעצמם בדיון</a:t>
            </a:r>
            <a:endParaRPr kumimoji="0" lang="he-IL" sz="2800" b="0" i="0" u="none" strike="noStrike" kern="0" cap="none" spc="0" normalizeH="0" baseline="0" noProof="0" dirty="0">
              <a:ln>
                <a:noFill/>
              </a:ln>
              <a:solidFill>
                <a:srgbClr val="104E88"/>
              </a:solidFill>
              <a:effectLst/>
              <a:uLnTx/>
              <a:uFillTx/>
              <a:latin typeface="Segoe UI" panose="020B0502040204020203" pitchFamily="34" charset="0"/>
              <a:cs typeface="Segoe UI" panose="020B0502040204020203" pitchFamily="34" charset="0"/>
              <a:sym typeface="Arial"/>
            </a:endParaRPr>
          </a:p>
        </p:txBody>
      </p:sp>
      <p:sp>
        <p:nvSpPr>
          <p:cNvPr id="8" name="Rectangle 28">
            <a:extLst>
              <a:ext uri="{FF2B5EF4-FFF2-40B4-BE49-F238E27FC236}">
                <a16:creationId xmlns:a16="http://schemas.microsoft.com/office/drawing/2014/main" id="{31CC8C04-CF24-B9FC-F793-2854A824867A}"/>
              </a:ext>
            </a:extLst>
          </p:cNvPr>
          <p:cNvSpPr/>
          <p:nvPr/>
        </p:nvSpPr>
        <p:spPr>
          <a:xfrm>
            <a:off x="2796634" y="6371405"/>
            <a:ext cx="9000000" cy="504000"/>
          </a:xfrm>
          <a:prstGeom prst="rect">
            <a:avLst/>
          </a:prstGeom>
          <a:noFill/>
          <a:ln>
            <a:noFill/>
          </a:ln>
        </p:spPr>
        <p:txBody>
          <a:bodyPr rot="0" spcFirstLastPara="0" vertOverflow="overflow" horzOverflow="overflow" vert="horz" wrap="square" lIns="91440" tIns="45720" rIns="91440" bIns="45720" numCol="1" spcCol="0" rtlCol="1" fromWordArt="0" anchor="ctr" anchorCtr="0" forceAA="0" compatLnSpc="1">
            <a:prstTxWarp prst="textNoShape">
              <a:avLst/>
            </a:prstTxWarp>
            <a:noAutofit/>
          </a:bodyPr>
          <a:lstStyle/>
          <a:p>
            <a:pPr lvl="0" algn="r" rtl="1">
              <a:defRPr/>
            </a:pPr>
            <a:r>
              <a:rPr lang="he-IL" sz="1000" dirty="0">
                <a:solidFill>
                  <a:prstClr val="white">
                    <a:lumMod val="65000"/>
                  </a:prstClr>
                </a:solidFill>
                <a:latin typeface="Segoe UI" panose="020B0502040204020203" pitchFamily="34" charset="0"/>
                <a:cs typeface="Segoe UI" panose="020B0502040204020203" pitchFamily="34" charset="0"/>
              </a:rPr>
              <a:t>"באיזו מידה לדעתך השופט/ת התייחס/ה אליך באופן הוגן ומכבד?" | "ועד כמה הרגשת שניתנה לך הזדמנות אמיתית להשמיע את גרסתך?" </a:t>
            </a:r>
          </a:p>
          <a:p>
            <a:pPr lvl="0" algn="r" rtl="1">
              <a:defRPr/>
            </a:pPr>
            <a:r>
              <a:rPr lang="he-IL" sz="1000" dirty="0">
                <a:solidFill>
                  <a:prstClr val="white">
                    <a:lumMod val="65000"/>
                  </a:prstClr>
                </a:solidFill>
                <a:latin typeface="Segoe UI" panose="020B0502040204020203" pitchFamily="34" charset="0"/>
                <a:cs typeface="Segoe UI" panose="020B0502040204020203" pitchFamily="34" charset="0"/>
              </a:rPr>
              <a:t>"האם לדעתך היה איזון בין העמדה שלך לבין זו של התביעה/המשטרה"</a:t>
            </a:r>
          </a:p>
        </p:txBody>
      </p:sp>
      <p:graphicFrame>
        <p:nvGraphicFramePr>
          <p:cNvPr id="6" name="אובייקט 2">
            <a:extLst>
              <a:ext uri="{FF2B5EF4-FFF2-40B4-BE49-F238E27FC236}">
                <a16:creationId xmlns:a16="http://schemas.microsoft.com/office/drawing/2014/main" id="{5EDBA979-F7CC-5D15-523D-18073F2A07F5}"/>
              </a:ext>
            </a:extLst>
          </p:cNvPr>
          <p:cNvGraphicFramePr>
            <a:graphicFrameLocks noChangeAspect="1"/>
          </p:cNvGraphicFramePr>
          <p:nvPr>
            <p:extLst>
              <p:ext uri="{D42A27DB-BD31-4B8C-83A1-F6EECF244321}">
                <p14:modId xmlns:p14="http://schemas.microsoft.com/office/powerpoint/2010/main" val="420553404"/>
              </p:ext>
            </p:extLst>
          </p:nvPr>
        </p:nvGraphicFramePr>
        <p:xfrm>
          <a:off x="473713" y="1379479"/>
          <a:ext cx="3820639" cy="312540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אובייקט 2">
            <a:extLst>
              <a:ext uri="{FF2B5EF4-FFF2-40B4-BE49-F238E27FC236}">
                <a16:creationId xmlns:a16="http://schemas.microsoft.com/office/drawing/2014/main" id="{98BA2987-9C61-F067-6D4B-6571725335C6}"/>
              </a:ext>
            </a:extLst>
          </p:cNvPr>
          <p:cNvGraphicFramePr>
            <a:graphicFrameLocks noChangeAspect="1"/>
          </p:cNvGraphicFramePr>
          <p:nvPr>
            <p:extLst>
              <p:ext uri="{D42A27DB-BD31-4B8C-83A1-F6EECF244321}">
                <p14:modId xmlns:p14="http://schemas.microsoft.com/office/powerpoint/2010/main" val="14237322"/>
              </p:ext>
            </p:extLst>
          </p:nvPr>
        </p:nvGraphicFramePr>
        <p:xfrm>
          <a:off x="4020187" y="1379479"/>
          <a:ext cx="3820639" cy="3125408"/>
        </p:xfrm>
        <a:graphic>
          <a:graphicData uri="http://schemas.openxmlformats.org/drawingml/2006/chart">
            <c:chart xmlns:c="http://schemas.openxmlformats.org/drawingml/2006/chart" xmlns:r="http://schemas.openxmlformats.org/officeDocument/2006/relationships" r:id="rId3"/>
          </a:graphicData>
        </a:graphic>
      </p:graphicFrame>
      <p:sp>
        <p:nvSpPr>
          <p:cNvPr id="14" name="תיבת טקסט 13">
            <a:extLst>
              <a:ext uri="{FF2B5EF4-FFF2-40B4-BE49-F238E27FC236}">
                <a16:creationId xmlns:a16="http://schemas.microsoft.com/office/drawing/2014/main" id="{98654BD7-292A-12F5-59DC-8E4BB62293E7}"/>
              </a:ext>
            </a:extLst>
          </p:cNvPr>
          <p:cNvSpPr txBox="1"/>
          <p:nvPr/>
        </p:nvSpPr>
        <p:spPr>
          <a:xfrm>
            <a:off x="484390" y="1098183"/>
            <a:ext cx="3241525" cy="492443"/>
          </a:xfrm>
          <a:prstGeom prst="rect">
            <a:avLst/>
          </a:prstGeom>
          <a:noFill/>
        </p:spPr>
        <p:txBody>
          <a:bodyPr wrap="square">
            <a:spAutoFit/>
          </a:bodyPr>
          <a:lstStyle/>
          <a:p>
            <a:pPr algn="ctr" rtl="1" fontAlgn="b"/>
            <a:r>
              <a:rPr lang="he-IL" sz="1300" b="1" u="none" strike="noStrike" dirty="0">
                <a:effectLst/>
                <a:latin typeface="Segoe UI" panose="020B0502040204020203" pitchFamily="34" charset="0"/>
                <a:cs typeface="Segoe UI" panose="020B0502040204020203" pitchFamily="34" charset="0"/>
              </a:rPr>
              <a:t>תפיסת יחס השופט </a:t>
            </a:r>
            <a:br>
              <a:rPr lang="en-US" sz="1300" b="1" u="none" strike="noStrike" dirty="0">
                <a:effectLst/>
                <a:latin typeface="Segoe UI" panose="020B0502040204020203" pitchFamily="34" charset="0"/>
                <a:cs typeface="Segoe UI" panose="020B0502040204020203" pitchFamily="34" charset="0"/>
              </a:rPr>
            </a:br>
            <a:r>
              <a:rPr lang="he-IL" sz="1300" b="1" u="none" strike="noStrike" dirty="0">
                <a:effectLst/>
                <a:latin typeface="Segoe UI" panose="020B0502040204020203" pitchFamily="34" charset="0"/>
                <a:cs typeface="Segoe UI" panose="020B0502040204020203" pitchFamily="34" charset="0"/>
              </a:rPr>
              <a:t>אליהם כהוגן ומכבד</a:t>
            </a:r>
            <a:endParaRPr lang="he-IL" sz="1400" i="0" u="none" strike="noStrike" dirty="0">
              <a:solidFill>
                <a:srgbClr val="000000"/>
              </a:solidFill>
              <a:effectLst/>
              <a:latin typeface="Segoe UI" panose="020B0502040204020203" pitchFamily="34" charset="0"/>
              <a:cs typeface="Segoe UI" panose="020B0502040204020203" pitchFamily="34" charset="0"/>
            </a:endParaRPr>
          </a:p>
        </p:txBody>
      </p:sp>
      <p:sp>
        <p:nvSpPr>
          <p:cNvPr id="17" name="תיבת טקסט 16">
            <a:extLst>
              <a:ext uri="{FF2B5EF4-FFF2-40B4-BE49-F238E27FC236}">
                <a16:creationId xmlns:a16="http://schemas.microsoft.com/office/drawing/2014/main" id="{96AD83A4-A27E-D2ED-7FF0-5108C1AED5CE}"/>
              </a:ext>
            </a:extLst>
          </p:cNvPr>
          <p:cNvSpPr txBox="1"/>
          <p:nvPr/>
        </p:nvSpPr>
        <p:spPr>
          <a:xfrm>
            <a:off x="4020187" y="1098183"/>
            <a:ext cx="3241525" cy="492443"/>
          </a:xfrm>
          <a:prstGeom prst="rect">
            <a:avLst/>
          </a:prstGeom>
          <a:noFill/>
        </p:spPr>
        <p:txBody>
          <a:bodyPr wrap="square">
            <a:spAutoFit/>
          </a:bodyPr>
          <a:lstStyle/>
          <a:p>
            <a:pPr algn="ctr" rtl="1" fontAlgn="b"/>
            <a:r>
              <a:rPr lang="he-IL" sz="1300" b="1" u="none" strike="noStrike" dirty="0">
                <a:effectLst/>
                <a:latin typeface="Segoe UI" panose="020B0502040204020203" pitchFamily="34" charset="0"/>
                <a:cs typeface="Segoe UI" panose="020B0502040204020203" pitchFamily="34" charset="0"/>
              </a:rPr>
              <a:t>תפיסת קבלת הזדמנות אמיתית</a:t>
            </a:r>
            <a:br>
              <a:rPr lang="en-US" sz="1300" b="1" u="none" strike="noStrike" dirty="0">
                <a:effectLst/>
                <a:latin typeface="Segoe UI" panose="020B0502040204020203" pitchFamily="34" charset="0"/>
                <a:cs typeface="Segoe UI" panose="020B0502040204020203" pitchFamily="34" charset="0"/>
              </a:rPr>
            </a:br>
            <a:r>
              <a:rPr lang="he-IL" sz="1300" b="1" u="none" strike="noStrike" dirty="0">
                <a:effectLst/>
                <a:latin typeface="Segoe UI" panose="020B0502040204020203" pitchFamily="34" charset="0"/>
                <a:cs typeface="Segoe UI" panose="020B0502040204020203" pitchFamily="34" charset="0"/>
              </a:rPr>
              <a:t> להשמיע את גרסתם בדיון</a:t>
            </a:r>
            <a:endParaRPr lang="he-IL" sz="1400" i="0" u="none" strike="noStrike" dirty="0">
              <a:solidFill>
                <a:srgbClr val="000000"/>
              </a:solidFill>
              <a:effectLst/>
              <a:latin typeface="Segoe UI" panose="020B0502040204020203" pitchFamily="34" charset="0"/>
              <a:cs typeface="Segoe UI" panose="020B0502040204020203" pitchFamily="34" charset="0"/>
            </a:endParaRPr>
          </a:p>
        </p:txBody>
      </p:sp>
      <p:grpSp>
        <p:nvGrpSpPr>
          <p:cNvPr id="11" name="קבוצה 10">
            <a:extLst>
              <a:ext uri="{FF2B5EF4-FFF2-40B4-BE49-F238E27FC236}">
                <a16:creationId xmlns:a16="http://schemas.microsoft.com/office/drawing/2014/main" id="{206BC94A-6524-971A-8E97-8FEC970086BA}"/>
              </a:ext>
            </a:extLst>
          </p:cNvPr>
          <p:cNvGrpSpPr/>
          <p:nvPr/>
        </p:nvGrpSpPr>
        <p:grpSpPr>
          <a:xfrm>
            <a:off x="7928904" y="1098183"/>
            <a:ext cx="4193472" cy="3475524"/>
            <a:chOff x="7928904" y="1098183"/>
            <a:chExt cx="4193472" cy="3475524"/>
          </a:xfrm>
        </p:grpSpPr>
        <p:graphicFrame>
          <p:nvGraphicFramePr>
            <p:cNvPr id="5" name="אובייקט 3">
              <a:extLst>
                <a:ext uri="{FF2B5EF4-FFF2-40B4-BE49-F238E27FC236}">
                  <a16:creationId xmlns:a16="http://schemas.microsoft.com/office/drawing/2014/main" id="{A4A9DD7B-6F48-6C15-80A9-41769281B01B}"/>
                </a:ext>
              </a:extLst>
            </p:cNvPr>
            <p:cNvGraphicFramePr>
              <a:graphicFrameLocks noChangeAspect="1"/>
            </p:cNvGraphicFramePr>
            <p:nvPr>
              <p:extLst>
                <p:ext uri="{D42A27DB-BD31-4B8C-83A1-F6EECF244321}">
                  <p14:modId xmlns:p14="http://schemas.microsoft.com/office/powerpoint/2010/main" val="485181554"/>
                </p:ext>
              </p:extLst>
            </p:nvPr>
          </p:nvGraphicFramePr>
          <p:xfrm>
            <a:off x="8111869" y="1448299"/>
            <a:ext cx="4010507" cy="3125408"/>
          </p:xfrm>
          <a:graphic>
            <a:graphicData uri="http://schemas.openxmlformats.org/drawingml/2006/chart">
              <c:chart xmlns:c="http://schemas.openxmlformats.org/drawingml/2006/chart" xmlns:r="http://schemas.openxmlformats.org/officeDocument/2006/relationships" r:id="rId4"/>
            </a:graphicData>
          </a:graphic>
        </p:graphicFrame>
        <p:sp>
          <p:nvSpPr>
            <p:cNvPr id="13" name="תיבת טקסט 12">
              <a:extLst>
                <a:ext uri="{FF2B5EF4-FFF2-40B4-BE49-F238E27FC236}">
                  <a16:creationId xmlns:a16="http://schemas.microsoft.com/office/drawing/2014/main" id="{73413417-F2B4-360B-F006-56A13829D7E4}"/>
                </a:ext>
              </a:extLst>
            </p:cNvPr>
            <p:cNvSpPr txBox="1"/>
            <p:nvPr/>
          </p:nvSpPr>
          <p:spPr>
            <a:xfrm>
              <a:off x="8292308" y="1098183"/>
              <a:ext cx="3241525" cy="492443"/>
            </a:xfrm>
            <a:prstGeom prst="rect">
              <a:avLst/>
            </a:prstGeom>
            <a:noFill/>
          </p:spPr>
          <p:txBody>
            <a:bodyPr wrap="square">
              <a:spAutoFit/>
            </a:bodyPr>
            <a:lstStyle/>
            <a:p>
              <a:pPr algn="ctr" rtl="1" fontAlgn="b"/>
              <a:r>
                <a:rPr lang="he-IL" sz="1300" b="1" u="none" strike="noStrike" dirty="0">
                  <a:effectLst/>
                  <a:latin typeface="Segoe UI" panose="020B0502040204020203" pitchFamily="34" charset="0"/>
                  <a:cs typeface="Segoe UI" panose="020B0502040204020203" pitchFamily="34" charset="0"/>
                </a:rPr>
                <a:t>תפיסת האיזון בין עמדתם</a:t>
              </a:r>
              <a:br>
                <a:rPr lang="en-US" sz="1300" b="1" u="none" strike="noStrike" dirty="0">
                  <a:effectLst/>
                  <a:latin typeface="Segoe UI" panose="020B0502040204020203" pitchFamily="34" charset="0"/>
                  <a:cs typeface="Segoe UI" panose="020B0502040204020203" pitchFamily="34" charset="0"/>
                </a:rPr>
              </a:br>
              <a:r>
                <a:rPr lang="he-IL" sz="1300" b="1" u="none" strike="noStrike" dirty="0">
                  <a:effectLst/>
                  <a:latin typeface="Segoe UI" panose="020B0502040204020203" pitchFamily="34" charset="0"/>
                  <a:cs typeface="Segoe UI" panose="020B0502040204020203" pitchFamily="34" charset="0"/>
                </a:rPr>
                <a:t>לזו של התביעה/משטרה</a:t>
              </a:r>
              <a:endParaRPr lang="he-IL" sz="1400" i="0" u="none" strike="noStrike" dirty="0">
                <a:solidFill>
                  <a:srgbClr val="000000"/>
                </a:solidFill>
                <a:effectLst/>
                <a:latin typeface="Segoe UI" panose="020B0502040204020203" pitchFamily="34" charset="0"/>
                <a:cs typeface="Segoe UI" panose="020B0502040204020203" pitchFamily="34" charset="0"/>
              </a:endParaRPr>
            </a:p>
          </p:txBody>
        </p:sp>
        <p:sp>
          <p:nvSpPr>
            <p:cNvPr id="7" name="תיבת טקסט 6">
              <a:extLst>
                <a:ext uri="{FF2B5EF4-FFF2-40B4-BE49-F238E27FC236}">
                  <a16:creationId xmlns:a16="http://schemas.microsoft.com/office/drawing/2014/main" id="{05923FDC-C1D7-44F2-C20A-7168585C6E3D}"/>
                </a:ext>
              </a:extLst>
            </p:cNvPr>
            <p:cNvSpPr txBox="1"/>
            <p:nvPr/>
          </p:nvSpPr>
          <p:spPr>
            <a:xfrm>
              <a:off x="7928904" y="2646847"/>
              <a:ext cx="726808" cy="369332"/>
            </a:xfrm>
            <a:prstGeom prst="rect">
              <a:avLst/>
            </a:prstGeom>
            <a:noFill/>
          </p:spPr>
          <p:txBody>
            <a:bodyPr wrap="square">
              <a:spAutoFit/>
            </a:bodyPr>
            <a:lstStyle/>
            <a:p>
              <a:pPr algn="r" rtl="1" fontAlgn="ctr"/>
              <a:r>
                <a:rPr lang="he-IL" b="1" i="1" dirty="0">
                  <a:solidFill>
                    <a:srgbClr val="156938"/>
                  </a:solidFill>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t>62</a:t>
              </a:r>
              <a:r>
                <a:rPr lang="he-IL" b="1" i="1" u="none" strike="noStrike" dirty="0">
                  <a:solidFill>
                    <a:srgbClr val="156938"/>
                  </a:solidFill>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t>%</a:t>
              </a:r>
            </a:p>
          </p:txBody>
        </p:sp>
        <p:sp>
          <p:nvSpPr>
            <p:cNvPr id="10" name="תיבת טקסט 9">
              <a:extLst>
                <a:ext uri="{FF2B5EF4-FFF2-40B4-BE49-F238E27FC236}">
                  <a16:creationId xmlns:a16="http://schemas.microsoft.com/office/drawing/2014/main" id="{6CB7AA48-5802-69FF-F177-0A09AC3A3360}"/>
                </a:ext>
              </a:extLst>
            </p:cNvPr>
            <p:cNvSpPr txBox="1"/>
            <p:nvPr/>
          </p:nvSpPr>
          <p:spPr>
            <a:xfrm>
              <a:off x="9517616" y="2145541"/>
              <a:ext cx="726808" cy="369332"/>
            </a:xfrm>
            <a:prstGeom prst="rect">
              <a:avLst/>
            </a:prstGeom>
            <a:noFill/>
          </p:spPr>
          <p:txBody>
            <a:bodyPr wrap="square">
              <a:spAutoFit/>
            </a:bodyPr>
            <a:lstStyle/>
            <a:p>
              <a:pPr algn="r" rtl="1" fontAlgn="ctr"/>
              <a:r>
                <a:rPr lang="he-IL" b="1" i="1" dirty="0">
                  <a:solidFill>
                    <a:srgbClr val="156938"/>
                  </a:solidFill>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t>79</a:t>
              </a:r>
              <a:r>
                <a:rPr lang="he-IL" b="1" i="1" u="none" strike="noStrike" dirty="0">
                  <a:solidFill>
                    <a:srgbClr val="156938"/>
                  </a:solidFill>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t>%</a:t>
              </a:r>
            </a:p>
          </p:txBody>
        </p:sp>
      </p:grpSp>
    </p:spTree>
    <p:extLst>
      <p:ext uri="{BB962C8B-B14F-4D97-AF65-F5344CB8AC3E}">
        <p14:creationId xmlns:p14="http://schemas.microsoft.com/office/powerpoint/2010/main" val="30742904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66DBE6-0083-1814-793F-D9626ACDE49A}"/>
            </a:ext>
          </a:extLst>
        </p:cNvPr>
        <p:cNvGrpSpPr/>
        <p:nvPr/>
      </p:nvGrpSpPr>
      <p:grpSpPr>
        <a:xfrm>
          <a:off x="0" y="0"/>
          <a:ext cx="0" cy="0"/>
          <a:chOff x="0" y="0"/>
          <a:chExt cx="0" cy="0"/>
        </a:xfrm>
      </p:grpSpPr>
      <p:sp>
        <p:nvSpPr>
          <p:cNvPr id="15" name="Slide Number Placeholder 1">
            <a:extLst>
              <a:ext uri="{FF2B5EF4-FFF2-40B4-BE49-F238E27FC236}">
                <a16:creationId xmlns:a16="http://schemas.microsoft.com/office/drawing/2014/main" id="{D5AD0446-763B-BCFD-AD76-C8DED68330B0}"/>
              </a:ext>
            </a:extLst>
          </p:cNvPr>
          <p:cNvSpPr txBox="1">
            <a:spLocks/>
          </p:cNvSpPr>
          <p:nvPr/>
        </p:nvSpPr>
        <p:spPr>
          <a:xfrm>
            <a:off x="11541989" y="6473956"/>
            <a:ext cx="540000" cy="360000"/>
          </a:xfrm>
          <a:prstGeom prst="rect">
            <a:avLst/>
          </a:prstGeom>
          <a:noFill/>
          <a:ln w="12700" cap="flat" cmpd="sng" algn="ctr">
            <a:noFill/>
            <a:prstDash val="solid"/>
            <a:miter lim="800000"/>
          </a:ln>
          <a:effectLst/>
        </p:spPr>
        <p:txBody>
          <a:bodyPr rot="0" spcFirstLastPara="0" vertOverflow="overflow" horzOverflow="overflow" vert="horz" wrap="square" lIns="91440" tIns="45720" rIns="91440" bIns="45720" numCol="1" spcCol="0" rtlCol="1" fromWordArt="0" anchor="ctr" anchorCtr="0" forceAA="0" compatLnSpc="1">
            <a:prstTxWarp prst="textNoShape">
              <a:avLst/>
            </a:prstTxWarp>
            <a:noAutofit/>
          </a:bodyPr>
          <a:lstStyle>
            <a:defPPr>
              <a:defRPr lang="he-IL"/>
            </a:defPPr>
            <a:lvl1pPr marL="0" algn="l" defTabSz="914400" rtl="0" eaLnBrk="1" latinLnBrk="0" hangingPunct="1">
              <a:defRPr lang="he-IL" sz="1100" kern="1200" smtClean="0">
                <a:solidFill>
                  <a:schemeClr val="bg1">
                    <a:lumMod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r" rtl="1">
              <a:defRPr/>
            </a:pPr>
            <a:fld id="{7A91BF3F-E284-4570-AC28-CDAE2F1A1EA1}" type="slidenum">
              <a:rPr lang="he-IL" smtClean="0">
                <a:solidFill>
                  <a:prstClr val="white">
                    <a:lumMod val="75000"/>
                  </a:prstClr>
                </a:solidFill>
              </a:rPr>
              <a:pPr algn="r" rtl="1">
                <a:defRPr/>
              </a:pPr>
              <a:t>30</a:t>
            </a:fld>
            <a:endParaRPr lang="he-IL" dirty="0">
              <a:solidFill>
                <a:prstClr val="white">
                  <a:lumMod val="75000"/>
                </a:prstClr>
              </a:solidFill>
            </a:endParaRPr>
          </a:p>
        </p:txBody>
      </p:sp>
      <p:cxnSp>
        <p:nvCxnSpPr>
          <p:cNvPr id="2" name="Straight Connector 6">
            <a:extLst>
              <a:ext uri="{FF2B5EF4-FFF2-40B4-BE49-F238E27FC236}">
                <a16:creationId xmlns:a16="http://schemas.microsoft.com/office/drawing/2014/main" id="{56418552-036E-4A75-28EF-79F3E528B5C9}"/>
              </a:ext>
            </a:extLst>
          </p:cNvPr>
          <p:cNvCxnSpPr>
            <a:cxnSpLocks/>
          </p:cNvCxnSpPr>
          <p:nvPr/>
        </p:nvCxnSpPr>
        <p:spPr>
          <a:xfrm rot="16200000" flipV="1">
            <a:off x="6096000" y="-441720"/>
            <a:ext cx="0" cy="10800000"/>
          </a:xfrm>
          <a:prstGeom prst="line">
            <a:avLst/>
          </a:prstGeom>
          <a:ln w="25400" cap="rnd">
            <a:solidFill>
              <a:schemeClr val="bg1">
                <a:lumMod val="85000"/>
              </a:schemeClr>
            </a:solidFill>
            <a:round/>
          </a:ln>
        </p:spPr>
        <p:style>
          <a:lnRef idx="1">
            <a:schemeClr val="accent1"/>
          </a:lnRef>
          <a:fillRef idx="0">
            <a:schemeClr val="accent1"/>
          </a:fillRef>
          <a:effectRef idx="0">
            <a:schemeClr val="accent1"/>
          </a:effectRef>
          <a:fontRef idx="minor">
            <a:schemeClr val="tx1"/>
          </a:fontRef>
        </p:style>
      </p:cxnSp>
      <p:sp>
        <p:nvSpPr>
          <p:cNvPr id="3" name="Rectangle 6">
            <a:extLst>
              <a:ext uri="{FF2B5EF4-FFF2-40B4-BE49-F238E27FC236}">
                <a16:creationId xmlns:a16="http://schemas.microsoft.com/office/drawing/2014/main" id="{63B14EF7-E81F-3196-30A8-88993D491254}"/>
              </a:ext>
            </a:extLst>
          </p:cNvPr>
          <p:cNvSpPr/>
          <p:nvPr/>
        </p:nvSpPr>
        <p:spPr>
          <a:xfrm>
            <a:off x="392852" y="5023911"/>
            <a:ext cx="11796634" cy="1440000"/>
          </a:xfrm>
          <a:prstGeom prst="rect">
            <a:avLst/>
          </a:prstGeom>
        </p:spPr>
        <p:txBody>
          <a:bodyPr wrap="square" anchor="ctr">
            <a:noAutofit/>
          </a:bodyPr>
          <a:lstStyle/>
          <a:p>
            <a:pPr algn="ctr" rtl="1">
              <a:lnSpc>
                <a:spcPct val="150000"/>
              </a:lnSpc>
            </a:pPr>
            <a:r>
              <a:rPr lang="he-IL" sz="1400" dirty="0">
                <a:latin typeface="Segoe UI" panose="020B0502040204020203" pitchFamily="34" charset="0"/>
                <a:cs typeface="Segoe UI" panose="020B0502040204020203" pitchFamily="34" charset="0"/>
              </a:rPr>
              <a:t>(בדומה לתפיסות לגבי הדוח</a:t>
            </a:r>
            <a:r>
              <a:rPr lang="he-IL" sz="1400" b="1" dirty="0">
                <a:latin typeface="Segoe UI" panose="020B0502040204020203" pitchFamily="34" charset="0"/>
                <a:cs typeface="Segoe UI" panose="020B0502040204020203" pitchFamily="34" charset="0"/>
              </a:rPr>
              <a:t>...) </a:t>
            </a:r>
            <a:r>
              <a:rPr lang="he-IL" sz="1600" b="1" dirty="0">
                <a:latin typeface="Segoe UI" panose="020B0502040204020203" pitchFamily="34" charset="0"/>
                <a:cs typeface="Segoe UI" panose="020B0502040204020203" pitchFamily="34" charset="0"/>
              </a:rPr>
              <a:t>קיים פער בין מה שקורה בפועל למה שחושבים על זה -&gt; פסק הדין נתפס מובן יותר משהוא נתפס כהוגן, </a:t>
            </a:r>
          </a:p>
          <a:p>
            <a:pPr algn="ctr" rtl="1">
              <a:lnSpc>
                <a:spcPct val="150000"/>
              </a:lnSpc>
            </a:pPr>
            <a:r>
              <a:rPr lang="he-IL" sz="1600" dirty="0">
                <a:latin typeface="Segoe UI" panose="020B0502040204020203" pitchFamily="34" charset="0"/>
                <a:cs typeface="Segoe UI" panose="020B0502040204020203" pitchFamily="34" charset="0"/>
              </a:rPr>
              <a:t>בשני הפרמטרים הבדל מהותי בין  הזה בולט במיוחד אצל מי שלא נכחו בעצמם בדיון או לא היו מיוצגים היטב -&gt; </a:t>
            </a:r>
            <a:r>
              <a:rPr lang="he-IL" sz="1600" b="1" dirty="0">
                <a:latin typeface="Segoe UI" panose="020B0502040204020203" pitchFamily="34" charset="0"/>
                <a:cs typeface="Segoe UI" panose="020B0502040204020203" pitchFamily="34" charset="0"/>
              </a:rPr>
              <a:t>יש לעקוב מה יקרה לאחר הרפורמה ששיעור הנוכחים בדיון הדיגיטלי אמור להיות גבוה משמעותית</a:t>
            </a:r>
            <a:r>
              <a:rPr lang="en-US" sz="1600" b="1" dirty="0">
                <a:latin typeface="Segoe UI" panose="020B0502040204020203" pitchFamily="34" charset="0"/>
                <a:cs typeface="Segoe UI" panose="020B0502040204020203" pitchFamily="34" charset="0"/>
              </a:rPr>
              <a:t>.</a:t>
            </a:r>
            <a:endParaRPr lang="he-IL" sz="1600" b="1" dirty="0">
              <a:latin typeface="Segoe UI" panose="020B0502040204020203" pitchFamily="34" charset="0"/>
              <a:cs typeface="Segoe UI" panose="020B0502040204020203" pitchFamily="34" charset="0"/>
            </a:endParaRPr>
          </a:p>
          <a:p>
            <a:pPr algn="ctr" rtl="1">
              <a:lnSpc>
                <a:spcPct val="150000"/>
              </a:lnSpc>
            </a:pPr>
            <a:r>
              <a:rPr lang="he-IL" sz="1600" b="1" dirty="0">
                <a:solidFill>
                  <a:srgbClr val="1D1C64"/>
                </a:solidFill>
                <a:latin typeface="Segoe UI" panose="020B0502040204020203" pitchFamily="34" charset="0"/>
                <a:cs typeface="Segoe UI" panose="020B0502040204020203" pitchFamily="34" charset="0"/>
              </a:rPr>
              <a:t>מומלץ לצרף לכל פסק דין במערכת תקציר ב"שפה פשוטה" שמסביר את עילות ההחלטה למניעת תחושת אי-צדק</a:t>
            </a:r>
            <a:r>
              <a:rPr lang="en-US" sz="1600" b="1" dirty="0">
                <a:solidFill>
                  <a:srgbClr val="1D1C64"/>
                </a:solidFill>
                <a:latin typeface="Segoe UI" panose="020B0502040204020203" pitchFamily="34" charset="0"/>
                <a:cs typeface="Segoe UI" panose="020B0502040204020203" pitchFamily="34" charset="0"/>
              </a:rPr>
              <a:t>.</a:t>
            </a:r>
          </a:p>
        </p:txBody>
      </p:sp>
      <p:sp>
        <p:nvSpPr>
          <p:cNvPr id="11" name="Rectangle 28">
            <a:extLst>
              <a:ext uri="{FF2B5EF4-FFF2-40B4-BE49-F238E27FC236}">
                <a16:creationId xmlns:a16="http://schemas.microsoft.com/office/drawing/2014/main" id="{640E5786-8200-DA0B-BEB7-C54E3F7925B4}"/>
              </a:ext>
            </a:extLst>
          </p:cNvPr>
          <p:cNvSpPr/>
          <p:nvPr/>
        </p:nvSpPr>
        <p:spPr>
          <a:xfrm>
            <a:off x="1945341" y="6473005"/>
            <a:ext cx="9851293" cy="360000"/>
          </a:xfrm>
          <a:prstGeom prst="rect">
            <a:avLst/>
          </a:prstGeom>
          <a:noFill/>
          <a:ln>
            <a:noFill/>
          </a:ln>
        </p:spPr>
        <p:txBody>
          <a:bodyPr rot="0" spcFirstLastPara="0" vertOverflow="overflow" horzOverflow="overflow" vert="horz" wrap="square" lIns="91440" tIns="45720" rIns="91440" bIns="45720" numCol="1" spcCol="0" rtlCol="1" fromWordArt="0" anchor="ctr" anchorCtr="0" forceAA="0" compatLnSpc="1">
            <a:prstTxWarp prst="textNoShape">
              <a:avLst/>
            </a:prstTxWarp>
            <a:noAutofit/>
          </a:bodyPr>
          <a:lstStyle/>
          <a:p>
            <a:pPr lvl="0" algn="r" rtl="1">
              <a:defRPr/>
            </a:pPr>
            <a:r>
              <a:rPr lang="he-IL" sz="1000" dirty="0">
                <a:solidFill>
                  <a:prstClr val="white">
                    <a:lumMod val="65000"/>
                  </a:prstClr>
                </a:solidFill>
                <a:latin typeface="Segoe UI" panose="020B0502040204020203" pitchFamily="34" charset="0"/>
                <a:cs typeface="Segoe UI" panose="020B0502040204020203" pitchFamily="34" charset="0"/>
              </a:rPr>
              <a:t>"עד כמה ההחלטה/פסק הדין שניתן בתיק היה מובן לך"</a:t>
            </a:r>
          </a:p>
          <a:p>
            <a:pPr lvl="0" algn="r" rtl="1">
              <a:defRPr/>
            </a:pPr>
            <a:r>
              <a:rPr lang="he-IL" sz="1000" dirty="0">
                <a:solidFill>
                  <a:prstClr val="white">
                    <a:lumMod val="65000"/>
                  </a:prstClr>
                </a:solidFill>
                <a:latin typeface="Segoe UI" panose="020B0502040204020203" pitchFamily="34" charset="0"/>
                <a:cs typeface="Segoe UI" panose="020B0502040204020203" pitchFamily="34" charset="0"/>
              </a:rPr>
              <a:t>"ועד כמה ההחלטה/מומלץ הדין שניתן בתיק היה הוגן בעיניך"</a:t>
            </a:r>
          </a:p>
        </p:txBody>
      </p:sp>
      <p:sp>
        <p:nvSpPr>
          <p:cNvPr id="14" name="Rectangle 3">
            <a:extLst>
              <a:ext uri="{FF2B5EF4-FFF2-40B4-BE49-F238E27FC236}">
                <a16:creationId xmlns:a16="http://schemas.microsoft.com/office/drawing/2014/main" id="{32C803EC-DCF2-5076-3086-2C4C86CA00DA}"/>
              </a:ext>
            </a:extLst>
          </p:cNvPr>
          <p:cNvSpPr/>
          <p:nvPr/>
        </p:nvSpPr>
        <p:spPr>
          <a:xfrm>
            <a:off x="1320802" y="191076"/>
            <a:ext cx="10614278" cy="5075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t"/>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0" cap="none" spc="0" normalizeH="0" baseline="0" noProof="0" dirty="0">
                <a:ln>
                  <a:noFill/>
                </a:ln>
                <a:solidFill>
                  <a:srgbClr val="104E88"/>
                </a:solidFill>
                <a:effectLst/>
                <a:uLnTx/>
                <a:uFillTx/>
                <a:latin typeface="Segoe UI" panose="020B0502040204020203" pitchFamily="34" charset="0"/>
                <a:cs typeface="Segoe UI" panose="020B0502040204020203" pitchFamily="34" charset="0"/>
                <a:sym typeface="Arial"/>
              </a:rPr>
              <a:t>תפיסות </a:t>
            </a:r>
            <a:r>
              <a:rPr lang="he-IL" sz="2800" b="1" kern="0" dirty="0">
                <a:solidFill>
                  <a:srgbClr val="104E88"/>
                </a:solidFill>
                <a:latin typeface="Segoe UI" panose="020B0502040204020203" pitchFamily="34" charset="0"/>
                <a:cs typeface="Segoe UI" panose="020B0502040204020203" pitchFamily="34" charset="0"/>
                <a:sym typeface="Arial"/>
              </a:rPr>
              <a:t>הבנת והוגנות פסק הדין בתיק שלהם</a:t>
            </a:r>
            <a:br>
              <a:rPr lang="en-US" sz="2800" kern="0" dirty="0">
                <a:solidFill>
                  <a:srgbClr val="104E88"/>
                </a:solidFill>
                <a:latin typeface="Segoe UI" panose="020B0502040204020203" pitchFamily="34" charset="0"/>
                <a:cs typeface="Segoe UI" panose="020B0502040204020203" pitchFamily="34" charset="0"/>
                <a:sym typeface="Arial"/>
              </a:rPr>
            </a:br>
            <a:r>
              <a:rPr lang="he-IL" sz="1600" kern="0" dirty="0">
                <a:solidFill>
                  <a:srgbClr val="104E88"/>
                </a:solidFill>
                <a:latin typeface="Segoe UI" panose="020B0502040204020203" pitchFamily="34" charset="0"/>
                <a:cs typeface="Segoe UI" panose="020B0502040204020203" pitchFamily="34" charset="0"/>
                <a:sym typeface="Arial"/>
              </a:rPr>
              <a:t>בקרב מי שהתקיים דיון בתיק שלהם</a:t>
            </a:r>
          </a:p>
        </p:txBody>
      </p:sp>
      <p:graphicFrame>
        <p:nvGraphicFramePr>
          <p:cNvPr id="6" name="אובייקט 2">
            <a:extLst>
              <a:ext uri="{FF2B5EF4-FFF2-40B4-BE49-F238E27FC236}">
                <a16:creationId xmlns:a16="http://schemas.microsoft.com/office/drawing/2014/main" id="{8843F796-33B4-8C26-78B9-EC149ABA2324}"/>
              </a:ext>
            </a:extLst>
          </p:cNvPr>
          <p:cNvGraphicFramePr>
            <a:graphicFrameLocks noChangeAspect="1"/>
          </p:cNvGraphicFramePr>
          <p:nvPr>
            <p:extLst>
              <p:ext uri="{D42A27DB-BD31-4B8C-83A1-F6EECF244321}">
                <p14:modId xmlns:p14="http://schemas.microsoft.com/office/powerpoint/2010/main" val="1049771073"/>
              </p:ext>
            </p:extLst>
          </p:nvPr>
        </p:nvGraphicFramePr>
        <p:xfrm>
          <a:off x="629998" y="3187286"/>
          <a:ext cx="11386510" cy="1620000"/>
        </p:xfrm>
        <a:graphic>
          <a:graphicData uri="http://schemas.openxmlformats.org/drawingml/2006/chart">
            <c:chart xmlns:c="http://schemas.openxmlformats.org/drawingml/2006/chart" xmlns:r="http://schemas.openxmlformats.org/officeDocument/2006/relationships" r:id="rId2"/>
          </a:graphicData>
        </a:graphic>
      </p:graphicFrame>
      <p:sp>
        <p:nvSpPr>
          <p:cNvPr id="12" name="תיבת טקסט 11">
            <a:extLst>
              <a:ext uri="{FF2B5EF4-FFF2-40B4-BE49-F238E27FC236}">
                <a16:creationId xmlns:a16="http://schemas.microsoft.com/office/drawing/2014/main" id="{698DA087-5438-EA54-C79A-1840D4023084}"/>
              </a:ext>
            </a:extLst>
          </p:cNvPr>
          <p:cNvSpPr txBox="1"/>
          <p:nvPr/>
        </p:nvSpPr>
        <p:spPr>
          <a:xfrm>
            <a:off x="-89518" y="3685405"/>
            <a:ext cx="1080000" cy="646331"/>
          </a:xfrm>
          <a:prstGeom prst="rect">
            <a:avLst/>
          </a:prstGeom>
          <a:noFill/>
        </p:spPr>
        <p:txBody>
          <a:bodyPr wrap="square">
            <a:spAutoFit/>
          </a:bodyPr>
          <a:lstStyle/>
          <a:p>
            <a:pPr algn="ctr" rtl="1" fontAlgn="ctr"/>
            <a:r>
              <a:rPr lang="he-IL" sz="1200" b="1" dirty="0">
                <a:latin typeface="Segoe UI" panose="020B0502040204020203" pitchFamily="34" charset="0"/>
                <a:cs typeface="Segoe UI" panose="020B0502040204020203" pitchFamily="34" charset="0"/>
              </a:rPr>
              <a:t>תפיסת</a:t>
            </a:r>
          </a:p>
          <a:p>
            <a:pPr algn="ctr" rtl="1" fontAlgn="ctr"/>
            <a:r>
              <a:rPr lang="he-IL" sz="1200" b="1" dirty="0">
                <a:latin typeface="Segoe UI" panose="020B0502040204020203" pitchFamily="34" charset="0"/>
                <a:cs typeface="Segoe UI" panose="020B0502040204020203" pitchFamily="34" charset="0"/>
              </a:rPr>
              <a:t>הבנת</a:t>
            </a:r>
          </a:p>
          <a:p>
            <a:pPr algn="ctr" rtl="1" fontAlgn="ctr"/>
            <a:r>
              <a:rPr lang="he-IL" sz="1200" b="1" dirty="0">
                <a:latin typeface="Segoe UI" panose="020B0502040204020203" pitchFamily="34" charset="0"/>
                <a:cs typeface="Segoe UI" panose="020B0502040204020203" pitchFamily="34" charset="0"/>
              </a:rPr>
              <a:t>פסק הדין</a:t>
            </a:r>
            <a:endParaRPr lang="he-IL" sz="1200" b="1" u="none" strike="noStrike" dirty="0">
              <a:effectLst/>
              <a:latin typeface="Segoe UI" panose="020B0502040204020203" pitchFamily="34" charset="0"/>
              <a:cs typeface="Segoe UI" panose="020B0502040204020203" pitchFamily="34" charset="0"/>
            </a:endParaRPr>
          </a:p>
        </p:txBody>
      </p:sp>
      <p:graphicFrame>
        <p:nvGraphicFramePr>
          <p:cNvPr id="16" name="אובייקט 2">
            <a:extLst>
              <a:ext uri="{FF2B5EF4-FFF2-40B4-BE49-F238E27FC236}">
                <a16:creationId xmlns:a16="http://schemas.microsoft.com/office/drawing/2014/main" id="{BB79E09C-B78A-E6E9-93EA-83B656C1D747}"/>
              </a:ext>
            </a:extLst>
          </p:cNvPr>
          <p:cNvGraphicFramePr>
            <a:graphicFrameLocks noChangeAspect="1"/>
          </p:cNvGraphicFramePr>
          <p:nvPr>
            <p:extLst>
              <p:ext uri="{D42A27DB-BD31-4B8C-83A1-F6EECF244321}">
                <p14:modId xmlns:p14="http://schemas.microsoft.com/office/powerpoint/2010/main" val="3231613380"/>
              </p:ext>
            </p:extLst>
          </p:nvPr>
        </p:nvGraphicFramePr>
        <p:xfrm>
          <a:off x="634618" y="1499221"/>
          <a:ext cx="11386510" cy="1620000"/>
        </p:xfrm>
        <a:graphic>
          <a:graphicData uri="http://schemas.openxmlformats.org/drawingml/2006/chart">
            <c:chart xmlns:c="http://schemas.openxmlformats.org/drawingml/2006/chart" xmlns:r="http://schemas.openxmlformats.org/officeDocument/2006/relationships" r:id="rId3"/>
          </a:graphicData>
        </a:graphic>
      </p:graphicFrame>
      <p:sp>
        <p:nvSpPr>
          <p:cNvPr id="17" name="תיבת טקסט 16">
            <a:extLst>
              <a:ext uri="{FF2B5EF4-FFF2-40B4-BE49-F238E27FC236}">
                <a16:creationId xmlns:a16="http://schemas.microsoft.com/office/drawing/2014/main" id="{EA0BFBC6-257D-FD92-FFA7-A79A7C059310}"/>
              </a:ext>
            </a:extLst>
          </p:cNvPr>
          <p:cNvSpPr txBox="1"/>
          <p:nvPr/>
        </p:nvSpPr>
        <p:spPr>
          <a:xfrm>
            <a:off x="-84898" y="1885046"/>
            <a:ext cx="1080000" cy="646331"/>
          </a:xfrm>
          <a:prstGeom prst="rect">
            <a:avLst/>
          </a:prstGeom>
          <a:noFill/>
        </p:spPr>
        <p:txBody>
          <a:bodyPr wrap="square">
            <a:spAutoFit/>
          </a:bodyPr>
          <a:lstStyle/>
          <a:p>
            <a:pPr algn="ctr" rtl="1" fontAlgn="ctr"/>
            <a:r>
              <a:rPr lang="he-IL" sz="1200" b="1" dirty="0">
                <a:latin typeface="Segoe UI" panose="020B0502040204020203" pitchFamily="34" charset="0"/>
                <a:cs typeface="Segoe UI" panose="020B0502040204020203" pitchFamily="34" charset="0"/>
              </a:rPr>
              <a:t>תפיסת</a:t>
            </a:r>
          </a:p>
          <a:p>
            <a:pPr algn="ctr" rtl="1" fontAlgn="ctr"/>
            <a:r>
              <a:rPr lang="he-IL" sz="1200" b="1" dirty="0">
                <a:latin typeface="Segoe UI" panose="020B0502040204020203" pitchFamily="34" charset="0"/>
                <a:cs typeface="Segoe UI" panose="020B0502040204020203" pitchFamily="34" charset="0"/>
              </a:rPr>
              <a:t>הוגנות</a:t>
            </a:r>
          </a:p>
          <a:p>
            <a:pPr algn="ctr" rtl="1" fontAlgn="ctr"/>
            <a:r>
              <a:rPr lang="he-IL" sz="1200" b="1" dirty="0">
                <a:latin typeface="Segoe UI" panose="020B0502040204020203" pitchFamily="34" charset="0"/>
                <a:cs typeface="Segoe UI" panose="020B0502040204020203" pitchFamily="34" charset="0"/>
              </a:rPr>
              <a:t>פסק הדין</a:t>
            </a:r>
            <a:endParaRPr lang="he-IL" sz="1200" b="1" u="none" strike="noStrike" dirty="0">
              <a:effectLst/>
              <a:latin typeface="Segoe UI" panose="020B0502040204020203" pitchFamily="34" charset="0"/>
              <a:cs typeface="Segoe UI" panose="020B0502040204020203" pitchFamily="34" charset="0"/>
            </a:endParaRPr>
          </a:p>
        </p:txBody>
      </p:sp>
      <p:cxnSp>
        <p:nvCxnSpPr>
          <p:cNvPr id="19" name="מחבר ישר 18">
            <a:extLst>
              <a:ext uri="{FF2B5EF4-FFF2-40B4-BE49-F238E27FC236}">
                <a16:creationId xmlns:a16="http://schemas.microsoft.com/office/drawing/2014/main" id="{6CAF6C27-F023-2EF0-D773-1339B2F7E62A}"/>
              </a:ext>
            </a:extLst>
          </p:cNvPr>
          <p:cNvCxnSpPr>
            <a:cxnSpLocks/>
          </p:cNvCxnSpPr>
          <p:nvPr/>
        </p:nvCxnSpPr>
        <p:spPr>
          <a:xfrm>
            <a:off x="3288741" y="1159269"/>
            <a:ext cx="0" cy="3600000"/>
          </a:xfrm>
          <a:prstGeom prst="line">
            <a:avLst/>
          </a:prstGeom>
          <a:ln w="12700">
            <a:solidFill>
              <a:schemeClr val="bg1">
                <a:lumMod val="5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20" name="מחבר ישר 19">
            <a:extLst>
              <a:ext uri="{FF2B5EF4-FFF2-40B4-BE49-F238E27FC236}">
                <a16:creationId xmlns:a16="http://schemas.microsoft.com/office/drawing/2014/main" id="{BAF63D86-C5FB-17C7-F850-129C0EF87AC1}"/>
              </a:ext>
            </a:extLst>
          </p:cNvPr>
          <p:cNvCxnSpPr>
            <a:cxnSpLocks/>
          </p:cNvCxnSpPr>
          <p:nvPr/>
        </p:nvCxnSpPr>
        <p:spPr>
          <a:xfrm>
            <a:off x="7130324" y="1159269"/>
            <a:ext cx="0" cy="3600000"/>
          </a:xfrm>
          <a:prstGeom prst="line">
            <a:avLst/>
          </a:prstGeom>
          <a:ln>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21" name="תיבת טקסט 20">
            <a:extLst>
              <a:ext uri="{FF2B5EF4-FFF2-40B4-BE49-F238E27FC236}">
                <a16:creationId xmlns:a16="http://schemas.microsoft.com/office/drawing/2014/main" id="{57846604-7516-B0AC-4F00-6ADCA64E3BD4}"/>
              </a:ext>
            </a:extLst>
          </p:cNvPr>
          <p:cNvSpPr txBox="1"/>
          <p:nvPr/>
        </p:nvSpPr>
        <p:spPr>
          <a:xfrm>
            <a:off x="397165" y="1100713"/>
            <a:ext cx="2808402" cy="276999"/>
          </a:xfrm>
          <a:prstGeom prst="rect">
            <a:avLst/>
          </a:prstGeom>
          <a:noFill/>
        </p:spPr>
        <p:txBody>
          <a:bodyPr wrap="square">
            <a:spAutoFit/>
          </a:bodyPr>
          <a:lstStyle/>
          <a:p>
            <a:pPr algn="ctr" rtl="1" fontAlgn="ctr"/>
            <a:r>
              <a:rPr lang="he-IL" sz="1200" b="1" u="none" strike="noStrike" dirty="0">
                <a:effectLst/>
                <a:latin typeface="Segoe UI" panose="020B0502040204020203" pitchFamily="34" charset="0"/>
                <a:cs typeface="Segoe UI" panose="020B0502040204020203" pitchFamily="34" charset="0"/>
              </a:rPr>
              <a:t>כלל אלה שהתקיים דיון בתיק שלהם</a:t>
            </a:r>
          </a:p>
        </p:txBody>
      </p:sp>
      <p:sp>
        <p:nvSpPr>
          <p:cNvPr id="23" name="תיבת טקסט 22">
            <a:extLst>
              <a:ext uri="{FF2B5EF4-FFF2-40B4-BE49-F238E27FC236}">
                <a16:creationId xmlns:a16="http://schemas.microsoft.com/office/drawing/2014/main" id="{94F6F329-4572-97BF-DED4-56A0EFBD80EC}"/>
              </a:ext>
            </a:extLst>
          </p:cNvPr>
          <p:cNvSpPr txBox="1"/>
          <p:nvPr/>
        </p:nvSpPr>
        <p:spPr>
          <a:xfrm>
            <a:off x="3949533" y="1100713"/>
            <a:ext cx="2520000" cy="276999"/>
          </a:xfrm>
          <a:prstGeom prst="rect">
            <a:avLst/>
          </a:prstGeom>
          <a:noFill/>
        </p:spPr>
        <p:txBody>
          <a:bodyPr wrap="square">
            <a:spAutoFit/>
          </a:bodyPr>
          <a:lstStyle/>
          <a:p>
            <a:pPr algn="ctr" rtl="1" fontAlgn="ctr"/>
            <a:r>
              <a:rPr lang="he-IL" sz="1200" b="1" u="none" strike="noStrike" dirty="0">
                <a:effectLst/>
                <a:latin typeface="Segoe UI" panose="020B0502040204020203" pitchFamily="34" charset="0"/>
                <a:cs typeface="Segoe UI" panose="020B0502040204020203" pitchFamily="34" charset="0"/>
              </a:rPr>
              <a:t>מגזר יהודי – לפי נוכחות בדיון</a:t>
            </a:r>
          </a:p>
        </p:txBody>
      </p:sp>
      <p:sp>
        <p:nvSpPr>
          <p:cNvPr id="24" name="תיבת טקסט 23">
            <a:extLst>
              <a:ext uri="{FF2B5EF4-FFF2-40B4-BE49-F238E27FC236}">
                <a16:creationId xmlns:a16="http://schemas.microsoft.com/office/drawing/2014/main" id="{4A6449BB-50FE-C021-82DD-2E9B4D485BB6}"/>
              </a:ext>
            </a:extLst>
          </p:cNvPr>
          <p:cNvSpPr txBox="1"/>
          <p:nvPr/>
        </p:nvSpPr>
        <p:spPr>
          <a:xfrm>
            <a:off x="7652624" y="1100713"/>
            <a:ext cx="2520000" cy="276999"/>
          </a:xfrm>
          <a:prstGeom prst="rect">
            <a:avLst/>
          </a:prstGeom>
          <a:noFill/>
        </p:spPr>
        <p:txBody>
          <a:bodyPr wrap="square">
            <a:spAutoFit/>
          </a:bodyPr>
          <a:lstStyle/>
          <a:p>
            <a:pPr algn="ctr" rtl="1" fontAlgn="ctr"/>
            <a:r>
              <a:rPr lang="he-IL" sz="1200" b="1" u="none" strike="noStrike" dirty="0">
                <a:effectLst/>
                <a:latin typeface="Segoe UI" panose="020B0502040204020203" pitchFamily="34" charset="0"/>
                <a:cs typeface="Segoe UI" panose="020B0502040204020203" pitchFamily="34" charset="0"/>
              </a:rPr>
              <a:t>מגזר ערבי – לפי נוכחות בדיון</a:t>
            </a:r>
          </a:p>
        </p:txBody>
      </p:sp>
    </p:spTree>
    <p:extLst>
      <p:ext uri="{BB962C8B-B14F-4D97-AF65-F5344CB8AC3E}">
        <p14:creationId xmlns:p14="http://schemas.microsoft.com/office/powerpoint/2010/main" val="2126368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7A6941-9992-59CD-4FA8-2B9F1955718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FE4124-5447-B699-92F1-D62080A7C32F}"/>
              </a:ext>
            </a:extLst>
          </p:cNvPr>
          <p:cNvSpPr>
            <a:spLocks noGrp="1"/>
          </p:cNvSpPr>
          <p:nvPr>
            <p:ph type="sldNum" sz="quarter" idx="4"/>
          </p:nvPr>
        </p:nvSpPr>
        <p:spPr>
          <a:xfrm>
            <a:off x="11541989" y="6473956"/>
            <a:ext cx="540000" cy="360000"/>
          </a:xfrm>
        </p:spPr>
        <p:txBody>
          <a:bodyPr anchor="ctr"/>
          <a:lstStyle/>
          <a:p>
            <a:pPr marL="0" marR="0" lvl="0" indent="0" algn="r" defTabSz="914400" rtl="1" eaLnBrk="1" fontAlgn="auto" latinLnBrk="0" hangingPunct="1">
              <a:lnSpc>
                <a:spcPct val="100000"/>
              </a:lnSpc>
              <a:spcBef>
                <a:spcPts val="0"/>
              </a:spcBef>
              <a:spcAft>
                <a:spcPts val="0"/>
              </a:spcAft>
              <a:buClrTx/>
              <a:buSzTx/>
              <a:buFontTx/>
              <a:buNone/>
              <a:tabLst/>
              <a:defRPr/>
            </a:pPr>
            <a:fld id="{7A91BF3F-E284-4570-AC28-CDAE2F1A1EA1}" type="slidenum">
              <a:rPr kumimoji="0" lang="he-IL" sz="1100" b="0" i="0" u="none" strike="noStrike" kern="1200" cap="none" spc="0" normalizeH="0" baseline="0" noProof="0" smtClean="0">
                <a:ln>
                  <a:noFill/>
                </a:ln>
                <a:solidFill>
                  <a:prstClr val="white">
                    <a:lumMod val="75000"/>
                  </a:prstClr>
                </a:solidFill>
                <a:effectLst/>
                <a:uLnTx/>
                <a:uFillTx/>
                <a:latin typeface="Segoe UI" panose="020B0502040204020203" pitchFamily="34" charset="0"/>
                <a:ea typeface="+mn-ea"/>
                <a:cs typeface="Segoe UI" panose="020B0502040204020203"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31</a:t>
            </a:fld>
            <a:endParaRPr kumimoji="0" lang="he-IL" sz="1100" b="0" i="0" u="none" strike="noStrike" kern="1200" cap="none" spc="0" normalizeH="0" baseline="0" noProof="0" dirty="0">
              <a:ln>
                <a:noFill/>
              </a:ln>
              <a:solidFill>
                <a:prstClr val="white">
                  <a:lumMod val="75000"/>
                </a:prstClr>
              </a:solidFill>
              <a:effectLst/>
              <a:uLnTx/>
              <a:uFillTx/>
              <a:latin typeface="Segoe UI" panose="020B0502040204020203" pitchFamily="34" charset="0"/>
              <a:ea typeface="+mn-ea"/>
              <a:cs typeface="Segoe UI" panose="020B0502040204020203" pitchFamily="34" charset="0"/>
            </a:endParaRPr>
          </a:p>
        </p:txBody>
      </p:sp>
      <p:sp>
        <p:nvSpPr>
          <p:cNvPr id="6" name="Rectangle 6">
            <a:extLst>
              <a:ext uri="{FF2B5EF4-FFF2-40B4-BE49-F238E27FC236}">
                <a16:creationId xmlns:a16="http://schemas.microsoft.com/office/drawing/2014/main" id="{3B40FBE4-4A38-A431-E2ED-FD1A19DE296C}"/>
              </a:ext>
            </a:extLst>
          </p:cNvPr>
          <p:cNvSpPr/>
          <p:nvPr/>
        </p:nvSpPr>
        <p:spPr>
          <a:xfrm>
            <a:off x="6886183" y="1185379"/>
            <a:ext cx="5195806" cy="4656621"/>
          </a:xfrm>
          <a:prstGeom prst="rect">
            <a:avLst/>
          </a:prstGeom>
        </p:spPr>
        <p:txBody>
          <a:bodyPr wrap="square" anchor="ctr">
            <a:noAutofit/>
          </a:bodyPr>
          <a:lstStyle/>
          <a:p>
            <a:pPr algn="ctr" rtl="1">
              <a:lnSpc>
                <a:spcPct val="150000"/>
              </a:lnSpc>
            </a:pPr>
            <a:r>
              <a:rPr lang="he-IL" sz="1600" b="1" dirty="0">
                <a:latin typeface="Segoe UI" panose="020B0502040204020203" pitchFamily="34" charset="0"/>
                <a:cs typeface="Segoe UI" panose="020B0502040204020203" pitchFamily="34" charset="0"/>
              </a:rPr>
              <a:t>מרבית המבקשים להישפט היו משנים משהו בתהליך...</a:t>
            </a:r>
          </a:p>
          <a:p>
            <a:pPr algn="ctr" rtl="1">
              <a:lnSpc>
                <a:spcPct val="150000"/>
              </a:lnSpc>
            </a:pPr>
            <a:r>
              <a:rPr lang="he-IL" sz="1600" dirty="0">
                <a:latin typeface="Segoe UI" panose="020B0502040204020203" pitchFamily="34" charset="0"/>
                <a:cs typeface="Segoe UI" panose="020B0502040204020203" pitchFamily="34" charset="0"/>
              </a:rPr>
              <a:t>בולטות להוגנות והיחס</a:t>
            </a:r>
            <a:r>
              <a:rPr lang="he-IL" sz="1400" dirty="0">
                <a:latin typeface="Segoe UI" panose="020B0502040204020203" pitchFamily="34" charset="0"/>
                <a:cs typeface="Segoe UI" panose="020B0502040204020203" pitchFamily="34" charset="0"/>
              </a:rPr>
              <a:t> (יותר במגזר היהודי)</a:t>
            </a:r>
            <a:r>
              <a:rPr lang="he-IL" sz="1600" dirty="0">
                <a:latin typeface="Segoe UI" panose="020B0502040204020203" pitchFamily="34" charset="0"/>
                <a:cs typeface="Segoe UI" panose="020B0502040204020203" pitchFamily="34" charset="0"/>
              </a:rPr>
              <a:t>, רמת ההסבר והמידע, פישוט הבירוקרטיה וזירוז התהליך וזמני</a:t>
            </a:r>
            <a:br>
              <a:rPr lang="en-US" sz="1600" dirty="0">
                <a:latin typeface="Segoe UI" panose="020B0502040204020203" pitchFamily="34" charset="0"/>
                <a:cs typeface="Segoe UI" panose="020B0502040204020203" pitchFamily="34" charset="0"/>
              </a:rPr>
            </a:br>
            <a:r>
              <a:rPr lang="he-IL" sz="1600" dirty="0">
                <a:latin typeface="Segoe UI" panose="020B0502040204020203" pitchFamily="34" charset="0"/>
                <a:cs typeface="Segoe UI" panose="020B0502040204020203" pitchFamily="34" charset="0"/>
              </a:rPr>
              <a:t>ההמתנה </a:t>
            </a:r>
            <a:r>
              <a:rPr lang="he-IL" sz="1400" dirty="0">
                <a:latin typeface="Segoe UI" panose="020B0502040204020203" pitchFamily="34" charset="0"/>
                <a:cs typeface="Segoe UI" panose="020B0502040204020203" pitchFamily="34" charset="0"/>
              </a:rPr>
              <a:t>(יותר במגזר הערבי).</a:t>
            </a:r>
            <a:r>
              <a:rPr lang="en-US" sz="1400" dirty="0">
                <a:latin typeface="Segoe UI" panose="020B0502040204020203" pitchFamily="34" charset="0"/>
                <a:cs typeface="Segoe UI" panose="020B0502040204020203" pitchFamily="34" charset="0"/>
              </a:rPr>
              <a:t>.</a:t>
            </a:r>
            <a:endParaRPr lang="he-IL" sz="1400" dirty="0">
              <a:latin typeface="Segoe UI" panose="020B0502040204020203" pitchFamily="34" charset="0"/>
              <a:cs typeface="Segoe UI" panose="020B0502040204020203" pitchFamily="34" charset="0"/>
            </a:endParaRPr>
          </a:p>
          <a:p>
            <a:pPr algn="ctr" rtl="1">
              <a:lnSpc>
                <a:spcPct val="150000"/>
              </a:lnSpc>
            </a:pPr>
            <a:endParaRPr lang="en-US" sz="1600" dirty="0">
              <a:latin typeface="Segoe UI" panose="020B0502040204020203" pitchFamily="34" charset="0"/>
              <a:cs typeface="Segoe UI" panose="020B0502040204020203" pitchFamily="34" charset="0"/>
            </a:endParaRPr>
          </a:p>
          <a:p>
            <a:pPr algn="ctr" rtl="1">
              <a:lnSpc>
                <a:spcPct val="150000"/>
              </a:lnSpc>
            </a:pPr>
            <a:r>
              <a:rPr lang="he-IL" sz="2000" b="1" dirty="0">
                <a:solidFill>
                  <a:srgbClr val="1D1C64"/>
                </a:solidFill>
                <a:latin typeface="Segoe UI" panose="020B0502040204020203" pitchFamily="34" charset="0"/>
                <a:cs typeface="Segoe UI" panose="020B0502040204020203" pitchFamily="34" charset="0"/>
              </a:rPr>
              <a:t>ציר ההבטחה של הרפורמה...</a:t>
            </a:r>
            <a:br>
              <a:rPr lang="en-US" sz="2000" b="1" dirty="0">
                <a:solidFill>
                  <a:srgbClr val="1D1C64"/>
                </a:solidFill>
                <a:latin typeface="Segoe UI" panose="020B0502040204020203" pitchFamily="34" charset="0"/>
                <a:cs typeface="Segoe UI" panose="020B0502040204020203" pitchFamily="34" charset="0"/>
              </a:rPr>
            </a:br>
            <a:r>
              <a:rPr lang="he-IL" sz="2000" b="1" dirty="0">
                <a:solidFill>
                  <a:srgbClr val="1D1C64"/>
                </a:solidFill>
                <a:latin typeface="Segoe UI" panose="020B0502040204020203" pitchFamily="34" charset="0"/>
                <a:cs typeface="Segoe UI" panose="020B0502040204020203" pitchFamily="34" charset="0"/>
              </a:rPr>
              <a:t>הוגן יותר, ברור יותר ומהיר יותר</a:t>
            </a:r>
            <a:r>
              <a:rPr lang="en-US" sz="2000" b="1" dirty="0">
                <a:solidFill>
                  <a:srgbClr val="1D1C64"/>
                </a:solidFill>
                <a:latin typeface="Segoe UI" panose="020B0502040204020203" pitchFamily="34" charset="0"/>
                <a:cs typeface="Segoe UI" panose="020B0502040204020203" pitchFamily="34" charset="0"/>
              </a:rPr>
              <a:t>.</a:t>
            </a:r>
            <a:r>
              <a:rPr lang="he-IL" sz="2000" dirty="0">
                <a:latin typeface="Segoe UI" panose="020B0502040204020203" pitchFamily="34" charset="0"/>
                <a:cs typeface="Segoe UI" panose="020B0502040204020203" pitchFamily="34" charset="0"/>
              </a:rPr>
              <a:t>.</a:t>
            </a:r>
          </a:p>
        </p:txBody>
      </p:sp>
      <p:cxnSp>
        <p:nvCxnSpPr>
          <p:cNvPr id="11" name="Straight Connector 6">
            <a:extLst>
              <a:ext uri="{FF2B5EF4-FFF2-40B4-BE49-F238E27FC236}">
                <a16:creationId xmlns:a16="http://schemas.microsoft.com/office/drawing/2014/main" id="{58C1F30C-7830-0864-6236-AD768FE5708F}"/>
              </a:ext>
            </a:extLst>
          </p:cNvPr>
          <p:cNvCxnSpPr>
            <a:cxnSpLocks/>
          </p:cNvCxnSpPr>
          <p:nvPr/>
        </p:nvCxnSpPr>
        <p:spPr>
          <a:xfrm flipV="1">
            <a:off x="6975667" y="768845"/>
            <a:ext cx="0" cy="5220000"/>
          </a:xfrm>
          <a:prstGeom prst="line">
            <a:avLst/>
          </a:prstGeom>
          <a:ln w="25400" cap="rnd">
            <a:solidFill>
              <a:schemeClr val="bg1">
                <a:lumMod val="85000"/>
              </a:schemeClr>
            </a:solidFill>
            <a:round/>
          </a:ln>
        </p:spPr>
        <p:style>
          <a:lnRef idx="1">
            <a:schemeClr val="accent1"/>
          </a:lnRef>
          <a:fillRef idx="0">
            <a:schemeClr val="accent1"/>
          </a:fillRef>
          <a:effectRef idx="0">
            <a:schemeClr val="accent1"/>
          </a:effectRef>
          <a:fontRef idx="minor">
            <a:schemeClr val="tx1"/>
          </a:fontRef>
        </p:style>
      </p:cxnSp>
      <p:sp>
        <p:nvSpPr>
          <p:cNvPr id="17" name="Rectangle 28">
            <a:extLst>
              <a:ext uri="{FF2B5EF4-FFF2-40B4-BE49-F238E27FC236}">
                <a16:creationId xmlns:a16="http://schemas.microsoft.com/office/drawing/2014/main" id="{406226EF-6287-6CF2-86B9-2EC9E3E3B0BA}"/>
              </a:ext>
            </a:extLst>
          </p:cNvPr>
          <p:cNvSpPr/>
          <p:nvPr/>
        </p:nvSpPr>
        <p:spPr>
          <a:xfrm>
            <a:off x="2852050" y="6473956"/>
            <a:ext cx="9000000" cy="360000"/>
          </a:xfrm>
          <a:prstGeom prst="rect">
            <a:avLst/>
          </a:prstGeom>
          <a:noFill/>
          <a:ln>
            <a:noFill/>
          </a:ln>
        </p:spPr>
        <p:txBody>
          <a:bodyPr rot="0" spcFirstLastPara="0" vertOverflow="overflow" horzOverflow="overflow" vert="horz" wrap="square" lIns="91440" tIns="45720" rIns="91440" bIns="45720" numCol="1" spcCol="0" rtlCol="1" fromWordArt="0" anchor="ctr" anchorCtr="0" forceAA="0" compatLnSpc="1">
            <a:prstTxWarp prst="textNoShape">
              <a:avLst/>
            </a:prstTxWarp>
            <a:noAutofit/>
          </a:bodyPr>
          <a:lstStyle/>
          <a:p>
            <a:pPr lvl="0" algn="r" rtl="1">
              <a:defRPr/>
            </a:pPr>
            <a:r>
              <a:rPr lang="he-IL" sz="1000" dirty="0">
                <a:solidFill>
                  <a:prstClr val="white">
                    <a:lumMod val="65000"/>
                  </a:prstClr>
                </a:solidFill>
                <a:latin typeface="Segoe UI" panose="020B0502040204020203" pitchFamily="34" charset="0"/>
                <a:cs typeface="Segoe UI" panose="020B0502040204020203" pitchFamily="34" charset="0"/>
              </a:rPr>
              <a:t>"כשאתה מסתכל אחורה על ההליך המשפטי שעברת והיו מאפשרים לך לשנות דבר אחד בתהליך, מה הייתה ממליץ לשנות?</a:t>
            </a:r>
          </a:p>
        </p:txBody>
      </p:sp>
      <p:graphicFrame>
        <p:nvGraphicFramePr>
          <p:cNvPr id="3" name="Chart 5">
            <a:extLst>
              <a:ext uri="{FF2B5EF4-FFF2-40B4-BE49-F238E27FC236}">
                <a16:creationId xmlns:a16="http://schemas.microsoft.com/office/drawing/2014/main" id="{FFACC753-E123-9C23-662C-9405D3EF1FA1}"/>
              </a:ext>
            </a:extLst>
          </p:cNvPr>
          <p:cNvGraphicFramePr/>
          <p:nvPr>
            <p:extLst>
              <p:ext uri="{D42A27DB-BD31-4B8C-83A1-F6EECF244321}">
                <p14:modId xmlns:p14="http://schemas.microsoft.com/office/powerpoint/2010/main" val="2102084241"/>
              </p:ext>
            </p:extLst>
          </p:nvPr>
        </p:nvGraphicFramePr>
        <p:xfrm>
          <a:off x="304801" y="1016000"/>
          <a:ext cx="6583440" cy="5135417"/>
        </p:xfrm>
        <a:graphic>
          <a:graphicData uri="http://schemas.openxmlformats.org/drawingml/2006/chart">
            <c:chart xmlns:c="http://schemas.openxmlformats.org/drawingml/2006/chart" xmlns:r="http://schemas.openxmlformats.org/officeDocument/2006/relationships" r:id="rId2"/>
          </a:graphicData>
        </a:graphic>
      </p:graphicFrame>
      <p:sp>
        <p:nvSpPr>
          <p:cNvPr id="4" name="Rectangle 3">
            <a:extLst>
              <a:ext uri="{FF2B5EF4-FFF2-40B4-BE49-F238E27FC236}">
                <a16:creationId xmlns:a16="http://schemas.microsoft.com/office/drawing/2014/main" id="{D42F5C35-E808-2F88-D2E0-8E27D28FB2A8}"/>
              </a:ext>
            </a:extLst>
          </p:cNvPr>
          <p:cNvSpPr/>
          <p:nvPr/>
        </p:nvSpPr>
        <p:spPr>
          <a:xfrm>
            <a:off x="1054101" y="191076"/>
            <a:ext cx="10957179" cy="5075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t"/>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0" cap="none" spc="0" normalizeH="0" baseline="0" noProof="0" dirty="0">
                <a:ln>
                  <a:noFill/>
                </a:ln>
                <a:solidFill>
                  <a:srgbClr val="104E88"/>
                </a:solidFill>
                <a:effectLst/>
                <a:uLnTx/>
                <a:uFillTx/>
                <a:latin typeface="Segoe UI" panose="020B0502040204020203" pitchFamily="34" charset="0"/>
                <a:cs typeface="Segoe UI" panose="020B0502040204020203" pitchFamily="34" charset="0"/>
                <a:sym typeface="Arial"/>
              </a:rPr>
              <a:t>בהסתכלות "מפוקחת" על התהליך מה היו משנים בו</a:t>
            </a:r>
            <a:br>
              <a:rPr kumimoji="0" lang="en-US" sz="2800" b="0" i="0" u="none" strike="noStrike" kern="0" cap="none" spc="0" normalizeH="0" baseline="0" noProof="0" dirty="0">
                <a:ln>
                  <a:noFill/>
                </a:ln>
                <a:solidFill>
                  <a:srgbClr val="104E88"/>
                </a:solidFill>
                <a:effectLst/>
                <a:uLnTx/>
                <a:uFillTx/>
                <a:latin typeface="Segoe UI" panose="020B0502040204020203" pitchFamily="34" charset="0"/>
                <a:cs typeface="Segoe UI" panose="020B0502040204020203" pitchFamily="34" charset="0"/>
                <a:sym typeface="Arial"/>
              </a:rPr>
            </a:br>
            <a:r>
              <a:rPr kumimoji="0" lang="he-IL" sz="1600" b="0" i="0" u="none" strike="noStrike" kern="0" cap="none" spc="0" normalizeH="0" baseline="0" noProof="0" dirty="0">
                <a:ln>
                  <a:noFill/>
                </a:ln>
                <a:solidFill>
                  <a:srgbClr val="104E88"/>
                </a:solidFill>
                <a:effectLst/>
                <a:uLnTx/>
                <a:uFillTx/>
                <a:latin typeface="Segoe UI" panose="020B0502040204020203" pitchFamily="34" charset="0"/>
                <a:ea typeface="+mn-ea"/>
                <a:cs typeface="Segoe UI" panose="020B0502040204020203" pitchFamily="34" charset="0"/>
                <a:sym typeface="Arial"/>
              </a:rPr>
              <a:t>בקרב מי שביקשו להישפט</a:t>
            </a:r>
            <a:endParaRPr kumimoji="0" lang="he-IL" sz="2800" b="0" i="0" u="none" strike="noStrike" kern="0" cap="none" spc="0" normalizeH="0" baseline="0" noProof="0" dirty="0">
              <a:ln>
                <a:noFill/>
              </a:ln>
              <a:solidFill>
                <a:srgbClr val="104E88"/>
              </a:solidFill>
              <a:effectLst/>
              <a:uLnTx/>
              <a:uFillTx/>
              <a:latin typeface="Segoe UI" panose="020B0502040204020203" pitchFamily="34" charset="0"/>
              <a:cs typeface="Segoe UI" panose="020B0502040204020203" pitchFamily="34" charset="0"/>
              <a:sym typeface="Arial"/>
            </a:endParaRPr>
          </a:p>
        </p:txBody>
      </p:sp>
      <p:cxnSp>
        <p:nvCxnSpPr>
          <p:cNvPr id="5" name="מחבר ישר 4">
            <a:extLst>
              <a:ext uri="{FF2B5EF4-FFF2-40B4-BE49-F238E27FC236}">
                <a16:creationId xmlns:a16="http://schemas.microsoft.com/office/drawing/2014/main" id="{551F6FD0-FA2E-FE08-6FA7-BD1A0CE13B4D}"/>
              </a:ext>
            </a:extLst>
          </p:cNvPr>
          <p:cNvCxnSpPr>
            <a:cxnSpLocks/>
          </p:cNvCxnSpPr>
          <p:nvPr/>
        </p:nvCxnSpPr>
        <p:spPr>
          <a:xfrm rot="5400000">
            <a:off x="2949101" y="2217269"/>
            <a:ext cx="0" cy="5400000"/>
          </a:xfrm>
          <a:prstGeom prst="line">
            <a:avLst/>
          </a:prstGeom>
          <a:ln w="12700">
            <a:solidFill>
              <a:schemeClr val="bg1">
                <a:lumMod val="50000"/>
              </a:schemeClr>
            </a:solidFill>
            <a:prstDash val="lg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4061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fade">
                                      <p:cBhvr>
                                        <p:cTn id="7" dur="500"/>
                                        <p:tgtEl>
                                          <p:spTgt spid="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3" end="3"/>
                                            </p:txEl>
                                          </p:spTgt>
                                        </p:tgtEl>
                                        <p:attrNameLst>
                                          <p:attrName>style.visibility</p:attrName>
                                        </p:attrNameLst>
                                      </p:cBhvr>
                                      <p:to>
                                        <p:strVal val="visible"/>
                                      </p:to>
                                    </p:set>
                                    <p:animEffect transition="in" filter="fade">
                                      <p:cBhvr>
                                        <p:cTn id="12" dur="5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8C71C0-33DF-7F9C-FBF2-D8843E1C34E1}"/>
            </a:ext>
          </a:extLst>
        </p:cNvPr>
        <p:cNvGrpSpPr/>
        <p:nvPr/>
      </p:nvGrpSpPr>
      <p:grpSpPr>
        <a:xfrm>
          <a:off x="0" y="0"/>
          <a:ext cx="0" cy="0"/>
          <a:chOff x="0" y="0"/>
          <a:chExt cx="0" cy="0"/>
        </a:xfrm>
      </p:grpSpPr>
      <p:sp>
        <p:nvSpPr>
          <p:cNvPr id="5" name="Rectangle: Rounded Corners 6">
            <a:extLst>
              <a:ext uri="{FF2B5EF4-FFF2-40B4-BE49-F238E27FC236}">
                <a16:creationId xmlns:a16="http://schemas.microsoft.com/office/drawing/2014/main" id="{EA33C4A8-124D-CA1C-81F3-A940E1AFDD7F}"/>
              </a:ext>
            </a:extLst>
          </p:cNvPr>
          <p:cNvSpPr/>
          <p:nvPr/>
        </p:nvSpPr>
        <p:spPr>
          <a:xfrm>
            <a:off x="6553200" y="4652988"/>
            <a:ext cx="5236389" cy="720000"/>
          </a:xfrm>
          <a:prstGeom prst="roundRect">
            <a:avLst>
              <a:gd name="adj" fmla="val 28339"/>
            </a:avLst>
          </a:prstGeom>
          <a:gradFill flip="none" rotWithShape="1">
            <a:gsLst>
              <a:gs pos="0">
                <a:srgbClr val="1FC3BF"/>
              </a:gs>
              <a:gs pos="100000">
                <a:srgbClr val="0176B9"/>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20000"/>
              </a:lnSpc>
              <a:spcBef>
                <a:spcPts val="600"/>
              </a:spcBef>
              <a:spcAft>
                <a:spcPts val="0"/>
              </a:spcAft>
              <a:buClrTx/>
              <a:buSzTx/>
              <a:buFontTx/>
              <a:buNone/>
              <a:tabLst/>
              <a:defRPr/>
            </a:pPr>
            <a:endParaRPr kumimoji="0" lang="he-IL" sz="2400" b="1" i="0" u="none" strike="noStrike" kern="1200" cap="none" spc="0" normalizeH="0" baseline="0" noProof="0" dirty="0">
              <a:ln>
                <a:noFill/>
              </a:ln>
              <a:solidFill>
                <a:prstClr val="white"/>
              </a:solidFill>
              <a:effectLst/>
              <a:uLnTx/>
              <a:uFillTx/>
              <a:latin typeface="Calibri" panose="020F0502020204030204"/>
              <a:ea typeface="+mn-ea"/>
              <a:cs typeface="Segoe UI" panose="020B0502040204020203" pitchFamily="34" charset="0"/>
            </a:endParaRPr>
          </a:p>
        </p:txBody>
      </p:sp>
      <p:sp>
        <p:nvSpPr>
          <p:cNvPr id="6" name="Rectangle 5">
            <a:extLst>
              <a:ext uri="{FF2B5EF4-FFF2-40B4-BE49-F238E27FC236}">
                <a16:creationId xmlns:a16="http://schemas.microsoft.com/office/drawing/2014/main" id="{BEB4C2FD-907F-BE98-E7DA-A930FFD25295}"/>
              </a:ext>
            </a:extLst>
          </p:cNvPr>
          <p:cNvSpPr/>
          <p:nvPr/>
        </p:nvSpPr>
        <p:spPr>
          <a:xfrm>
            <a:off x="6135170" y="2484495"/>
            <a:ext cx="5712725" cy="2667480"/>
          </a:xfrm>
          <a:prstGeom prst="rect">
            <a:avLst/>
          </a:prstGeom>
          <a:noFill/>
          <a:ln w="12700" cap="flat" cmpd="sng" algn="ctr">
            <a:noFill/>
            <a:prstDash val="solid"/>
            <a:miter lim="800000"/>
          </a:ln>
          <a:effectLst/>
        </p:spPr>
        <p:txBody>
          <a:bodyPr rtlCol="1" anchor="t"/>
          <a:lstStyle/>
          <a:p>
            <a:pPr marL="0" marR="0" lvl="0" indent="0" algn="r" defTabSz="914400" rtl="1" eaLnBrk="1" fontAlgn="auto" latinLnBrk="0" hangingPunct="1">
              <a:lnSpc>
                <a:spcPct val="200000"/>
              </a:lnSpc>
              <a:spcBef>
                <a:spcPts val="600"/>
              </a:spcBef>
              <a:spcAft>
                <a:spcPts val="0"/>
              </a:spcAft>
              <a:buClrTx/>
              <a:buSzTx/>
              <a:buFontTx/>
              <a:buNone/>
              <a:tabLst/>
              <a:defRPr/>
            </a:pPr>
            <a:r>
              <a:rPr kumimoji="0" lang="he-IL" sz="2000" b="0" i="0" u="none" strike="noStrike" kern="0" cap="none" spc="0" normalizeH="0" baseline="0" noProof="0" dirty="0">
                <a:ln>
                  <a:noFill/>
                </a:ln>
                <a:solidFill>
                  <a:prstClr val="white">
                    <a:lumMod val="65000"/>
                  </a:prstClr>
                </a:solidFill>
                <a:effectLst/>
                <a:uLnTx/>
                <a:uFillTx/>
                <a:latin typeface="Segoe UI" panose="020B0502040204020203" pitchFamily="34" charset="0"/>
                <a:ea typeface="+mn-ea"/>
                <a:cs typeface="Segoe UI" panose="020B0502040204020203" pitchFamily="34" charset="0"/>
              </a:rPr>
              <a:t>רקע – קבלת הדוח </a:t>
            </a:r>
            <a:r>
              <a:rPr kumimoji="0" lang="he-IL" sz="1800" b="0" i="0" u="none" strike="noStrike" kern="0" cap="none" spc="0" normalizeH="0" baseline="0" noProof="0" dirty="0">
                <a:ln>
                  <a:noFill/>
                </a:ln>
                <a:solidFill>
                  <a:prstClr val="white">
                    <a:lumMod val="65000"/>
                  </a:prstClr>
                </a:solidFill>
                <a:effectLst/>
                <a:uLnTx/>
                <a:uFillTx/>
                <a:latin typeface="Segoe UI" panose="020B0502040204020203" pitchFamily="34" charset="0"/>
                <a:ea typeface="+mn-ea"/>
                <a:cs typeface="Segoe UI" panose="020B0502040204020203" pitchFamily="34" charset="0"/>
              </a:rPr>
              <a:t>(תחילת התהליך)</a:t>
            </a:r>
          </a:p>
          <a:p>
            <a:pPr marL="0" marR="0" lvl="0" indent="0" algn="r" defTabSz="914400" rtl="1" eaLnBrk="1" fontAlgn="auto" latinLnBrk="0" hangingPunct="1">
              <a:lnSpc>
                <a:spcPct val="200000"/>
              </a:lnSpc>
              <a:spcBef>
                <a:spcPts val="600"/>
              </a:spcBef>
              <a:spcAft>
                <a:spcPts val="0"/>
              </a:spcAft>
              <a:buClrTx/>
              <a:buSzTx/>
              <a:buFontTx/>
              <a:buNone/>
              <a:tabLst/>
              <a:defRPr/>
            </a:pPr>
            <a:r>
              <a:rPr kumimoji="0" lang="he-IL" sz="2000" b="0" i="0" u="none" strike="noStrike" kern="0" cap="none" spc="0" normalizeH="0" baseline="0" noProof="0" dirty="0">
                <a:ln>
                  <a:noFill/>
                </a:ln>
                <a:solidFill>
                  <a:prstClr val="white">
                    <a:lumMod val="65000"/>
                  </a:prstClr>
                </a:solidFill>
                <a:effectLst/>
                <a:uLnTx/>
                <a:uFillTx/>
                <a:latin typeface="Segoe UI" panose="020B0502040204020203" pitchFamily="34" charset="0"/>
                <a:ea typeface="+mn-ea"/>
                <a:cs typeface="Segoe UI" panose="020B0502040204020203" pitchFamily="34" charset="0"/>
              </a:rPr>
              <a:t>הבנת הדוח, חלופות התגובה והתמודדות בפועל</a:t>
            </a:r>
          </a:p>
          <a:p>
            <a:pPr marL="0" marR="0" lvl="0" indent="0" algn="r" defTabSz="914400" rtl="1" eaLnBrk="1" fontAlgn="auto" latinLnBrk="0" hangingPunct="1">
              <a:lnSpc>
                <a:spcPct val="200000"/>
              </a:lnSpc>
              <a:spcBef>
                <a:spcPts val="600"/>
              </a:spcBef>
              <a:spcAft>
                <a:spcPts val="0"/>
              </a:spcAft>
              <a:buClrTx/>
              <a:buSzTx/>
              <a:buFontTx/>
              <a:buNone/>
              <a:tabLst/>
              <a:defRPr/>
            </a:pPr>
            <a:r>
              <a:rPr kumimoji="0" lang="he-IL" sz="2000" b="0" i="0" u="none" strike="noStrike" kern="0" cap="none" spc="0" normalizeH="0" baseline="0" noProof="0" dirty="0">
                <a:ln>
                  <a:noFill/>
                </a:ln>
                <a:solidFill>
                  <a:prstClr val="white">
                    <a:lumMod val="65000"/>
                  </a:prstClr>
                </a:solidFill>
                <a:effectLst/>
                <a:uLnTx/>
                <a:uFillTx/>
                <a:latin typeface="Segoe UI" panose="020B0502040204020203" pitchFamily="34" charset="0"/>
                <a:ea typeface="+mn-ea"/>
                <a:cs typeface="Segoe UI" panose="020B0502040204020203" pitchFamily="34" charset="0"/>
              </a:rPr>
              <a:t>ההליך המשפטי</a:t>
            </a:r>
          </a:p>
          <a:p>
            <a:pPr marL="0" marR="0" lvl="0" indent="0" algn="r" defTabSz="914400" rtl="1" eaLnBrk="1" fontAlgn="auto" latinLnBrk="0" hangingPunct="1">
              <a:lnSpc>
                <a:spcPct val="150000"/>
              </a:lnSpc>
              <a:spcBef>
                <a:spcPts val="600"/>
              </a:spcBef>
              <a:spcAft>
                <a:spcPts val="0"/>
              </a:spcAft>
              <a:buClrTx/>
              <a:buSzTx/>
              <a:buFontTx/>
              <a:buNone/>
              <a:tabLst/>
              <a:defRPr/>
            </a:pPr>
            <a:r>
              <a:rPr kumimoji="0" lang="he-IL" sz="3000" b="1" i="0" u="none" strike="noStrike" kern="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rPr>
              <a:t>שביעות רצון והמלצות </a:t>
            </a:r>
            <a:r>
              <a:rPr kumimoji="0" lang="he-IL" sz="1700" b="0" i="0" u="none" strike="noStrike" kern="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rPr>
              <a:t>(סיום התהליך)</a:t>
            </a:r>
          </a:p>
        </p:txBody>
      </p:sp>
      <p:pic>
        <p:nvPicPr>
          <p:cNvPr id="3" name="תמונה 2" descr="תמונה שמכילה טקסט, גופן, לוגו, סמל&#10;&#10;תוכן בינה מלאכותית גנרטיבית עשוי להיות שגוי.">
            <a:extLst>
              <a:ext uri="{FF2B5EF4-FFF2-40B4-BE49-F238E27FC236}">
                <a16:creationId xmlns:a16="http://schemas.microsoft.com/office/drawing/2014/main" id="{5B2783DE-8A41-D169-30E9-E4FC0F8CD2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34200" y="1441752"/>
            <a:ext cx="4265824" cy="1061715"/>
          </a:xfrm>
          <a:prstGeom prst="rect">
            <a:avLst/>
          </a:prstGeom>
        </p:spPr>
      </p:pic>
    </p:spTree>
    <p:extLst>
      <p:ext uri="{BB962C8B-B14F-4D97-AF65-F5344CB8AC3E}">
        <p14:creationId xmlns:p14="http://schemas.microsoft.com/office/powerpoint/2010/main" val="6840095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4FD04C-E836-0BE7-3B22-1EAB5A11EB09}"/>
            </a:ext>
          </a:extLst>
        </p:cNvPr>
        <p:cNvGrpSpPr/>
        <p:nvPr/>
      </p:nvGrpSpPr>
      <p:grpSpPr>
        <a:xfrm>
          <a:off x="0" y="0"/>
          <a:ext cx="0" cy="0"/>
          <a:chOff x="0" y="0"/>
          <a:chExt cx="0" cy="0"/>
        </a:xfrm>
      </p:grpSpPr>
      <p:sp>
        <p:nvSpPr>
          <p:cNvPr id="15" name="Slide Number Placeholder 1">
            <a:extLst>
              <a:ext uri="{FF2B5EF4-FFF2-40B4-BE49-F238E27FC236}">
                <a16:creationId xmlns:a16="http://schemas.microsoft.com/office/drawing/2014/main" id="{04A5146C-B0F2-87AE-1707-ACEB0CD26228}"/>
              </a:ext>
            </a:extLst>
          </p:cNvPr>
          <p:cNvSpPr txBox="1">
            <a:spLocks/>
          </p:cNvSpPr>
          <p:nvPr/>
        </p:nvSpPr>
        <p:spPr>
          <a:xfrm>
            <a:off x="11541989" y="6473956"/>
            <a:ext cx="540000" cy="360000"/>
          </a:xfrm>
          <a:prstGeom prst="rect">
            <a:avLst/>
          </a:prstGeom>
          <a:noFill/>
          <a:ln w="12700" cap="flat" cmpd="sng" algn="ctr">
            <a:noFill/>
            <a:prstDash val="solid"/>
            <a:miter lim="800000"/>
          </a:ln>
          <a:effectLst/>
        </p:spPr>
        <p:txBody>
          <a:bodyPr rot="0" spcFirstLastPara="0" vertOverflow="overflow" horzOverflow="overflow" vert="horz" wrap="square" lIns="91440" tIns="45720" rIns="91440" bIns="45720" numCol="1" spcCol="0" rtlCol="1" fromWordArt="0" anchor="ctr" anchorCtr="0" forceAA="0" compatLnSpc="1">
            <a:prstTxWarp prst="textNoShape">
              <a:avLst/>
            </a:prstTxWarp>
            <a:noAutofit/>
          </a:bodyPr>
          <a:lstStyle>
            <a:defPPr>
              <a:defRPr lang="he-IL"/>
            </a:defPPr>
            <a:lvl1pPr marL="0" algn="l" defTabSz="914400" rtl="0" eaLnBrk="1" latinLnBrk="0" hangingPunct="1">
              <a:defRPr lang="he-IL" sz="1100" kern="1200" smtClean="0">
                <a:solidFill>
                  <a:schemeClr val="bg1">
                    <a:lumMod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r" rtl="1">
              <a:defRPr/>
            </a:pPr>
            <a:fld id="{7A91BF3F-E284-4570-AC28-CDAE2F1A1EA1}" type="slidenum">
              <a:rPr lang="he-IL" smtClean="0">
                <a:solidFill>
                  <a:prstClr val="white">
                    <a:lumMod val="75000"/>
                  </a:prstClr>
                </a:solidFill>
              </a:rPr>
              <a:pPr algn="r" rtl="1">
                <a:defRPr/>
              </a:pPr>
              <a:t>33</a:t>
            </a:fld>
            <a:endParaRPr lang="he-IL" dirty="0">
              <a:solidFill>
                <a:prstClr val="white">
                  <a:lumMod val="75000"/>
                </a:prstClr>
              </a:solidFill>
            </a:endParaRPr>
          </a:p>
        </p:txBody>
      </p:sp>
      <p:cxnSp>
        <p:nvCxnSpPr>
          <p:cNvPr id="2" name="Straight Connector 6">
            <a:extLst>
              <a:ext uri="{FF2B5EF4-FFF2-40B4-BE49-F238E27FC236}">
                <a16:creationId xmlns:a16="http://schemas.microsoft.com/office/drawing/2014/main" id="{7900232E-7D50-6421-D00F-331CD4FAB962}"/>
              </a:ext>
            </a:extLst>
          </p:cNvPr>
          <p:cNvCxnSpPr>
            <a:cxnSpLocks/>
          </p:cNvCxnSpPr>
          <p:nvPr/>
        </p:nvCxnSpPr>
        <p:spPr>
          <a:xfrm rot="16200000" flipV="1">
            <a:off x="6096000" y="-505888"/>
            <a:ext cx="0" cy="10800000"/>
          </a:xfrm>
          <a:prstGeom prst="line">
            <a:avLst/>
          </a:prstGeom>
          <a:ln w="25400" cap="rnd">
            <a:solidFill>
              <a:schemeClr val="bg1">
                <a:lumMod val="85000"/>
              </a:schemeClr>
            </a:solidFill>
            <a:round/>
          </a:ln>
        </p:spPr>
        <p:style>
          <a:lnRef idx="1">
            <a:schemeClr val="accent1"/>
          </a:lnRef>
          <a:fillRef idx="0">
            <a:schemeClr val="accent1"/>
          </a:fillRef>
          <a:effectRef idx="0">
            <a:schemeClr val="accent1"/>
          </a:effectRef>
          <a:fontRef idx="minor">
            <a:schemeClr val="tx1"/>
          </a:fontRef>
        </p:style>
      </p:cxnSp>
      <p:sp>
        <p:nvSpPr>
          <p:cNvPr id="3" name="Rectangle 6">
            <a:extLst>
              <a:ext uri="{FF2B5EF4-FFF2-40B4-BE49-F238E27FC236}">
                <a16:creationId xmlns:a16="http://schemas.microsoft.com/office/drawing/2014/main" id="{A335A591-D2AC-3B97-2ECB-0CA7EDB5418B}"/>
              </a:ext>
            </a:extLst>
          </p:cNvPr>
          <p:cNvSpPr/>
          <p:nvPr/>
        </p:nvSpPr>
        <p:spPr>
          <a:xfrm>
            <a:off x="542252" y="4932699"/>
            <a:ext cx="11562002" cy="1440000"/>
          </a:xfrm>
          <a:prstGeom prst="rect">
            <a:avLst/>
          </a:prstGeom>
        </p:spPr>
        <p:txBody>
          <a:bodyPr wrap="square" anchor="ctr">
            <a:noAutofit/>
          </a:bodyPr>
          <a:lstStyle/>
          <a:p>
            <a:pPr algn="ctr" rtl="1">
              <a:lnSpc>
                <a:spcPct val="150000"/>
              </a:lnSpc>
            </a:pPr>
            <a:r>
              <a:rPr lang="he-IL" sz="1600" b="1" dirty="0">
                <a:latin typeface="Segoe UI" panose="020B0502040204020203" pitchFamily="34" charset="0"/>
                <a:cs typeface="Segoe UI" panose="020B0502040204020203" pitchFamily="34" charset="0"/>
              </a:rPr>
              <a:t>שביעות הרצון מהתהליך נמוכה יחסית בשני המסלולים.</a:t>
            </a:r>
          </a:p>
          <a:p>
            <a:pPr algn="ctr" rtl="1">
              <a:lnSpc>
                <a:spcPct val="150000"/>
              </a:lnSpc>
            </a:pPr>
            <a:r>
              <a:rPr lang="he-IL" sz="1600" b="1" dirty="0">
                <a:latin typeface="Segoe UI" panose="020B0502040204020203" pitchFamily="34" charset="0"/>
                <a:cs typeface="Segoe UI" panose="020B0502040204020203" pitchFamily="34" charset="0"/>
              </a:rPr>
              <a:t>וגם אפקט ההרתעה של הדוח על נהיגה עתידית זהירה נמוך בכל הקבוצות הדוח כשלעצמו אינו משנה התנהגות</a:t>
            </a:r>
            <a:r>
              <a:rPr lang="en-US" sz="1600" b="1" dirty="0">
                <a:latin typeface="Segoe UI" panose="020B0502040204020203" pitchFamily="34" charset="0"/>
                <a:cs typeface="Segoe UI" panose="020B0502040204020203" pitchFamily="34" charset="0"/>
              </a:rPr>
              <a:t>.</a:t>
            </a:r>
            <a:endParaRPr lang="he-IL" sz="1600" b="1" dirty="0">
              <a:latin typeface="Segoe UI" panose="020B0502040204020203" pitchFamily="34" charset="0"/>
              <a:cs typeface="Segoe UI" panose="020B0502040204020203" pitchFamily="34" charset="0"/>
            </a:endParaRPr>
          </a:p>
          <a:p>
            <a:pPr algn="ctr" rtl="1">
              <a:lnSpc>
                <a:spcPct val="150000"/>
              </a:lnSpc>
            </a:pPr>
            <a:r>
              <a:rPr lang="en-US" sz="1600" dirty="0">
                <a:latin typeface="Segoe UI" panose="020B0502040204020203" pitchFamily="34" charset="0"/>
                <a:cs typeface="Segoe UI" panose="020B0502040204020203" pitchFamily="34" charset="0"/>
              </a:rPr>
              <a:t> </a:t>
            </a:r>
            <a:r>
              <a:rPr lang="he-IL" sz="1600" b="1" dirty="0">
                <a:solidFill>
                  <a:srgbClr val="1D1C64"/>
                </a:solidFill>
                <a:latin typeface="Segoe UI" panose="020B0502040204020203" pitchFamily="34" charset="0"/>
                <a:cs typeface="Segoe UI" panose="020B0502040204020203" pitchFamily="34" charset="0"/>
              </a:rPr>
              <a:t>מומלץ לשלב בסיום התהליך מסר חינוכי-מרתיע מבוסס נתונים</a:t>
            </a:r>
            <a:r>
              <a:rPr lang="he-IL" sz="1400" dirty="0">
                <a:solidFill>
                  <a:srgbClr val="1D1C64"/>
                </a:solidFill>
                <a:latin typeface="Segoe UI" panose="020B0502040204020203" pitchFamily="34" charset="0"/>
                <a:cs typeface="Segoe UI" panose="020B0502040204020203" pitchFamily="34" charset="0"/>
              </a:rPr>
              <a:t> (כגון סטטיסטיקת "נהגים שחזרו")</a:t>
            </a:r>
            <a:r>
              <a:rPr lang="he-IL" sz="1600" b="1" dirty="0">
                <a:solidFill>
                  <a:srgbClr val="1D1C64"/>
                </a:solidFill>
                <a:latin typeface="Segoe UI" panose="020B0502040204020203" pitchFamily="34" charset="0"/>
                <a:cs typeface="Segoe UI" panose="020B0502040204020203" pitchFamily="34" charset="0"/>
              </a:rPr>
              <a:t> כדי להפוך את הרפורמה</a:t>
            </a:r>
            <a:br>
              <a:rPr lang="en-US" sz="1600" b="1" dirty="0">
                <a:solidFill>
                  <a:srgbClr val="1D1C64"/>
                </a:solidFill>
                <a:latin typeface="Segoe UI" panose="020B0502040204020203" pitchFamily="34" charset="0"/>
                <a:cs typeface="Segoe UI" panose="020B0502040204020203" pitchFamily="34" charset="0"/>
              </a:rPr>
            </a:br>
            <a:r>
              <a:rPr lang="he-IL" sz="1600" b="1" dirty="0">
                <a:solidFill>
                  <a:srgbClr val="1D1C64"/>
                </a:solidFill>
                <a:latin typeface="Segoe UI" panose="020B0502040204020203" pitchFamily="34" charset="0"/>
                <a:cs typeface="Segoe UI" panose="020B0502040204020203" pitchFamily="34" charset="0"/>
              </a:rPr>
              <a:t>מכלי ייעול גרידא לכלי שינוי התנהגות עם אפקט חינוכי מניעתי</a:t>
            </a:r>
            <a:r>
              <a:rPr lang="en-US" sz="1600" b="1" dirty="0">
                <a:solidFill>
                  <a:srgbClr val="1D1C64"/>
                </a:solidFill>
                <a:latin typeface="Segoe UI" panose="020B0502040204020203" pitchFamily="34" charset="0"/>
                <a:cs typeface="Segoe UI" panose="020B0502040204020203" pitchFamily="34" charset="0"/>
              </a:rPr>
              <a:t>.</a:t>
            </a:r>
          </a:p>
        </p:txBody>
      </p:sp>
      <p:sp>
        <p:nvSpPr>
          <p:cNvPr id="11" name="Rectangle 28">
            <a:extLst>
              <a:ext uri="{FF2B5EF4-FFF2-40B4-BE49-F238E27FC236}">
                <a16:creationId xmlns:a16="http://schemas.microsoft.com/office/drawing/2014/main" id="{FD977DE3-4E1D-0A9C-136F-AA097927B74F}"/>
              </a:ext>
            </a:extLst>
          </p:cNvPr>
          <p:cNvSpPr/>
          <p:nvPr/>
        </p:nvSpPr>
        <p:spPr>
          <a:xfrm>
            <a:off x="1945341" y="6473005"/>
            <a:ext cx="9851293" cy="360000"/>
          </a:xfrm>
          <a:prstGeom prst="rect">
            <a:avLst/>
          </a:prstGeom>
          <a:noFill/>
          <a:ln>
            <a:noFill/>
          </a:ln>
        </p:spPr>
        <p:txBody>
          <a:bodyPr rot="0" spcFirstLastPara="0" vertOverflow="overflow" horzOverflow="overflow" vert="horz" wrap="square" lIns="91440" tIns="45720" rIns="91440" bIns="45720" numCol="1" spcCol="0" rtlCol="1" fromWordArt="0" anchor="ctr" anchorCtr="0" forceAA="0" compatLnSpc="1">
            <a:prstTxWarp prst="textNoShape">
              <a:avLst/>
            </a:prstTxWarp>
            <a:noAutofit/>
          </a:bodyPr>
          <a:lstStyle/>
          <a:p>
            <a:pPr lvl="0" algn="r" rtl="1">
              <a:defRPr/>
            </a:pPr>
            <a:r>
              <a:rPr lang="he-IL" sz="1000" dirty="0">
                <a:solidFill>
                  <a:prstClr val="white">
                    <a:lumMod val="65000"/>
                  </a:prstClr>
                </a:solidFill>
                <a:latin typeface="Segoe UI" panose="020B0502040204020203" pitchFamily="34" charset="0"/>
                <a:cs typeface="Segoe UI" panose="020B0502040204020203" pitchFamily="34" charset="0"/>
              </a:rPr>
              <a:t>"עד כמה היית מרוצה מהתהליך?"</a:t>
            </a:r>
          </a:p>
          <a:p>
            <a:pPr lvl="0" algn="r" rtl="1">
              <a:defRPr/>
            </a:pPr>
            <a:r>
              <a:rPr lang="he-IL" sz="1000" dirty="0">
                <a:solidFill>
                  <a:prstClr val="white">
                    <a:lumMod val="65000"/>
                  </a:prstClr>
                </a:solidFill>
                <a:latin typeface="Segoe UI" panose="020B0502040204020203" pitchFamily="34" charset="0"/>
                <a:cs typeface="Segoe UI" panose="020B0502040204020203" pitchFamily="34" charset="0"/>
              </a:rPr>
              <a:t>"באיזו מידה הדו"ח שקיבלת עודד אותך לנהוג בזהירות רבה יותר בעתיד?"</a:t>
            </a:r>
          </a:p>
        </p:txBody>
      </p:sp>
      <p:sp>
        <p:nvSpPr>
          <p:cNvPr id="14" name="Rectangle 3">
            <a:extLst>
              <a:ext uri="{FF2B5EF4-FFF2-40B4-BE49-F238E27FC236}">
                <a16:creationId xmlns:a16="http://schemas.microsoft.com/office/drawing/2014/main" id="{67D30CCB-BD77-DDC5-1334-55D4A71337BC}"/>
              </a:ext>
            </a:extLst>
          </p:cNvPr>
          <p:cNvSpPr/>
          <p:nvPr/>
        </p:nvSpPr>
        <p:spPr>
          <a:xfrm>
            <a:off x="1320802" y="191076"/>
            <a:ext cx="10614278" cy="5075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t"/>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0" cap="none" spc="0" normalizeH="0" baseline="0" noProof="0" dirty="0">
                <a:ln>
                  <a:noFill/>
                </a:ln>
                <a:solidFill>
                  <a:srgbClr val="104E88"/>
                </a:solidFill>
                <a:effectLst/>
                <a:uLnTx/>
                <a:uFillTx/>
                <a:latin typeface="Segoe UI" panose="020B0502040204020203" pitchFamily="34" charset="0"/>
                <a:cs typeface="Segoe UI" panose="020B0502040204020203" pitchFamily="34" charset="0"/>
                <a:sym typeface="Arial"/>
              </a:rPr>
              <a:t>תפיסות </a:t>
            </a:r>
            <a:r>
              <a:rPr lang="he-IL" sz="2800" b="1" kern="0" dirty="0">
                <a:solidFill>
                  <a:srgbClr val="104E88"/>
                </a:solidFill>
                <a:latin typeface="Segoe UI" panose="020B0502040204020203" pitchFamily="34" charset="0"/>
                <a:cs typeface="Segoe UI" panose="020B0502040204020203" pitchFamily="34" charset="0"/>
                <a:sym typeface="Arial"/>
              </a:rPr>
              <a:t>כלפי התהליך</a:t>
            </a:r>
            <a:endParaRPr lang="he-IL" sz="1600" b="1" kern="0" dirty="0">
              <a:solidFill>
                <a:srgbClr val="104E88"/>
              </a:solidFill>
              <a:latin typeface="Segoe UI" panose="020B0502040204020203" pitchFamily="34" charset="0"/>
              <a:cs typeface="Segoe UI" panose="020B0502040204020203" pitchFamily="34" charset="0"/>
              <a:sym typeface="Arial"/>
            </a:endParaRPr>
          </a:p>
        </p:txBody>
      </p:sp>
      <p:graphicFrame>
        <p:nvGraphicFramePr>
          <p:cNvPr id="6" name="אובייקט 2">
            <a:extLst>
              <a:ext uri="{FF2B5EF4-FFF2-40B4-BE49-F238E27FC236}">
                <a16:creationId xmlns:a16="http://schemas.microsoft.com/office/drawing/2014/main" id="{6A311718-4296-542C-C978-18FC30EB5B90}"/>
              </a:ext>
            </a:extLst>
          </p:cNvPr>
          <p:cNvGraphicFramePr>
            <a:graphicFrameLocks noChangeAspect="1"/>
          </p:cNvGraphicFramePr>
          <p:nvPr>
            <p:extLst>
              <p:ext uri="{D42A27DB-BD31-4B8C-83A1-F6EECF244321}">
                <p14:modId xmlns:p14="http://schemas.microsoft.com/office/powerpoint/2010/main" val="2974648840"/>
              </p:ext>
            </p:extLst>
          </p:nvPr>
        </p:nvGraphicFramePr>
        <p:xfrm>
          <a:off x="629998" y="1470778"/>
          <a:ext cx="11386510" cy="1620000"/>
        </p:xfrm>
        <a:graphic>
          <a:graphicData uri="http://schemas.openxmlformats.org/drawingml/2006/chart">
            <c:chart xmlns:c="http://schemas.openxmlformats.org/drawingml/2006/chart" xmlns:r="http://schemas.openxmlformats.org/officeDocument/2006/relationships" r:id="rId2"/>
          </a:graphicData>
        </a:graphic>
      </p:graphicFrame>
      <p:sp>
        <p:nvSpPr>
          <p:cNvPr id="12" name="תיבת טקסט 11">
            <a:extLst>
              <a:ext uri="{FF2B5EF4-FFF2-40B4-BE49-F238E27FC236}">
                <a16:creationId xmlns:a16="http://schemas.microsoft.com/office/drawing/2014/main" id="{EB5280DC-05DA-EE87-8905-F56C06ED26B3}"/>
              </a:ext>
            </a:extLst>
          </p:cNvPr>
          <p:cNvSpPr txBox="1"/>
          <p:nvPr/>
        </p:nvSpPr>
        <p:spPr>
          <a:xfrm>
            <a:off x="-89518" y="1856603"/>
            <a:ext cx="1080000" cy="646331"/>
          </a:xfrm>
          <a:prstGeom prst="rect">
            <a:avLst/>
          </a:prstGeom>
          <a:noFill/>
        </p:spPr>
        <p:txBody>
          <a:bodyPr wrap="square">
            <a:spAutoFit/>
          </a:bodyPr>
          <a:lstStyle/>
          <a:p>
            <a:pPr algn="ctr" rtl="1" fontAlgn="ctr"/>
            <a:r>
              <a:rPr lang="he-IL" sz="1200" b="1" dirty="0">
                <a:latin typeface="Segoe UI" panose="020B0502040204020203" pitchFamily="34" charset="0"/>
                <a:cs typeface="Segoe UI" panose="020B0502040204020203" pitchFamily="34" charset="0"/>
              </a:rPr>
              <a:t>שביעות </a:t>
            </a:r>
            <a:br>
              <a:rPr lang="en-US" sz="1200" b="1" dirty="0">
                <a:latin typeface="Segoe UI" panose="020B0502040204020203" pitchFamily="34" charset="0"/>
                <a:cs typeface="Segoe UI" panose="020B0502040204020203" pitchFamily="34" charset="0"/>
              </a:rPr>
            </a:br>
            <a:r>
              <a:rPr lang="he-IL" sz="1200" b="1" dirty="0">
                <a:latin typeface="Segoe UI" panose="020B0502040204020203" pitchFamily="34" charset="0"/>
                <a:cs typeface="Segoe UI" panose="020B0502040204020203" pitchFamily="34" charset="0"/>
              </a:rPr>
              <a:t>רצון מהתהליך</a:t>
            </a:r>
            <a:endParaRPr lang="he-IL" sz="1200" b="1" u="none" strike="noStrike" dirty="0">
              <a:effectLst/>
              <a:latin typeface="Segoe UI" panose="020B0502040204020203" pitchFamily="34" charset="0"/>
              <a:cs typeface="Segoe UI" panose="020B0502040204020203" pitchFamily="34" charset="0"/>
            </a:endParaRPr>
          </a:p>
        </p:txBody>
      </p:sp>
      <p:cxnSp>
        <p:nvCxnSpPr>
          <p:cNvPr id="19" name="מחבר ישר 18">
            <a:extLst>
              <a:ext uri="{FF2B5EF4-FFF2-40B4-BE49-F238E27FC236}">
                <a16:creationId xmlns:a16="http://schemas.microsoft.com/office/drawing/2014/main" id="{4A4E5983-B688-5A88-E584-30ECCA1DD081}"/>
              </a:ext>
            </a:extLst>
          </p:cNvPr>
          <p:cNvCxnSpPr>
            <a:cxnSpLocks/>
          </p:cNvCxnSpPr>
          <p:nvPr/>
        </p:nvCxnSpPr>
        <p:spPr>
          <a:xfrm>
            <a:off x="5764085" y="1159269"/>
            <a:ext cx="0" cy="3600000"/>
          </a:xfrm>
          <a:prstGeom prst="line">
            <a:avLst/>
          </a:prstGeom>
          <a:ln w="12700">
            <a:solidFill>
              <a:schemeClr val="bg1">
                <a:lumMod val="50000"/>
              </a:schemeClr>
            </a:solidFill>
            <a:prstDash val="lgDash"/>
          </a:ln>
        </p:spPr>
        <p:style>
          <a:lnRef idx="1">
            <a:schemeClr val="accent1"/>
          </a:lnRef>
          <a:fillRef idx="0">
            <a:schemeClr val="accent1"/>
          </a:fillRef>
          <a:effectRef idx="0">
            <a:schemeClr val="accent1"/>
          </a:effectRef>
          <a:fontRef idx="minor">
            <a:schemeClr val="tx1"/>
          </a:fontRef>
        </p:style>
      </p:cxnSp>
      <p:sp>
        <p:nvSpPr>
          <p:cNvPr id="4" name="תיבת טקסט 3">
            <a:extLst>
              <a:ext uri="{FF2B5EF4-FFF2-40B4-BE49-F238E27FC236}">
                <a16:creationId xmlns:a16="http://schemas.microsoft.com/office/drawing/2014/main" id="{C7D37A82-BB3B-FFC7-6D84-E98E9C924E74}"/>
              </a:ext>
            </a:extLst>
          </p:cNvPr>
          <p:cNvSpPr txBox="1"/>
          <p:nvPr/>
        </p:nvSpPr>
        <p:spPr>
          <a:xfrm>
            <a:off x="2062942" y="1151513"/>
            <a:ext cx="2520000" cy="307777"/>
          </a:xfrm>
          <a:prstGeom prst="rect">
            <a:avLst/>
          </a:prstGeom>
          <a:noFill/>
        </p:spPr>
        <p:txBody>
          <a:bodyPr wrap="square">
            <a:spAutoFit/>
          </a:bodyPr>
          <a:lstStyle/>
          <a:p>
            <a:pPr algn="ctr" rtl="1" fontAlgn="ctr"/>
            <a:r>
              <a:rPr lang="he-IL" sz="1400" b="1" u="none" strike="noStrike" dirty="0">
                <a:effectLst/>
                <a:latin typeface="Segoe UI" panose="020B0502040204020203" pitchFamily="34" charset="0"/>
                <a:cs typeface="Segoe UI" panose="020B0502040204020203" pitchFamily="34" charset="0"/>
              </a:rPr>
              <a:t>לא ביקשו להישפט</a:t>
            </a:r>
          </a:p>
        </p:txBody>
      </p:sp>
      <p:sp>
        <p:nvSpPr>
          <p:cNvPr id="5" name="תיבת טקסט 4">
            <a:extLst>
              <a:ext uri="{FF2B5EF4-FFF2-40B4-BE49-F238E27FC236}">
                <a16:creationId xmlns:a16="http://schemas.microsoft.com/office/drawing/2014/main" id="{315EA83F-7D30-B4E4-AFAD-C420C0D2A1B3}"/>
              </a:ext>
            </a:extLst>
          </p:cNvPr>
          <p:cNvSpPr txBox="1"/>
          <p:nvPr/>
        </p:nvSpPr>
        <p:spPr>
          <a:xfrm>
            <a:off x="7241748" y="1110353"/>
            <a:ext cx="2520000" cy="307777"/>
          </a:xfrm>
          <a:prstGeom prst="rect">
            <a:avLst/>
          </a:prstGeom>
          <a:noFill/>
        </p:spPr>
        <p:txBody>
          <a:bodyPr wrap="square">
            <a:spAutoFit/>
          </a:bodyPr>
          <a:lstStyle/>
          <a:p>
            <a:pPr algn="ctr" rtl="1" fontAlgn="b"/>
            <a:r>
              <a:rPr lang="he-IL" sz="1400" b="1" u="none" strike="noStrike" dirty="0">
                <a:effectLst/>
                <a:latin typeface="Segoe UI" panose="020B0502040204020203" pitchFamily="34" charset="0"/>
                <a:cs typeface="Segoe UI" panose="020B0502040204020203" pitchFamily="34" charset="0"/>
              </a:rPr>
              <a:t>ביקשו להישפט</a:t>
            </a:r>
            <a:endParaRPr lang="he-IL" sz="1400" b="1" i="0" u="none" strike="noStrike" dirty="0">
              <a:solidFill>
                <a:srgbClr val="000000"/>
              </a:solidFill>
              <a:effectLst/>
              <a:latin typeface="Segoe UI" panose="020B0502040204020203" pitchFamily="34" charset="0"/>
              <a:cs typeface="Segoe UI" panose="020B0502040204020203" pitchFamily="34" charset="0"/>
            </a:endParaRPr>
          </a:p>
        </p:txBody>
      </p:sp>
      <p:grpSp>
        <p:nvGrpSpPr>
          <p:cNvPr id="9" name="קבוצה 8">
            <a:extLst>
              <a:ext uri="{FF2B5EF4-FFF2-40B4-BE49-F238E27FC236}">
                <a16:creationId xmlns:a16="http://schemas.microsoft.com/office/drawing/2014/main" id="{40AD20E1-BF54-4A9B-0C5B-CE384602BE83}"/>
              </a:ext>
            </a:extLst>
          </p:cNvPr>
          <p:cNvGrpSpPr/>
          <p:nvPr/>
        </p:nvGrpSpPr>
        <p:grpSpPr>
          <a:xfrm>
            <a:off x="-84898" y="3055307"/>
            <a:ext cx="12106026" cy="1620000"/>
            <a:chOff x="-84898" y="3055307"/>
            <a:chExt cx="12106026" cy="1620000"/>
          </a:xfrm>
        </p:grpSpPr>
        <p:graphicFrame>
          <p:nvGraphicFramePr>
            <p:cNvPr id="7" name="אובייקט 2">
              <a:extLst>
                <a:ext uri="{FF2B5EF4-FFF2-40B4-BE49-F238E27FC236}">
                  <a16:creationId xmlns:a16="http://schemas.microsoft.com/office/drawing/2014/main" id="{D2D80D55-1BC1-3371-0DF7-EB204966032B}"/>
                </a:ext>
              </a:extLst>
            </p:cNvPr>
            <p:cNvGraphicFramePr>
              <a:graphicFrameLocks noChangeAspect="1"/>
            </p:cNvGraphicFramePr>
            <p:nvPr>
              <p:extLst>
                <p:ext uri="{D42A27DB-BD31-4B8C-83A1-F6EECF244321}">
                  <p14:modId xmlns:p14="http://schemas.microsoft.com/office/powerpoint/2010/main" val="92883169"/>
                </p:ext>
              </p:extLst>
            </p:nvPr>
          </p:nvGraphicFramePr>
          <p:xfrm>
            <a:off x="634618" y="3055307"/>
            <a:ext cx="11386510" cy="1620000"/>
          </p:xfrm>
          <a:graphic>
            <a:graphicData uri="http://schemas.openxmlformats.org/drawingml/2006/chart">
              <c:chart xmlns:c="http://schemas.openxmlformats.org/drawingml/2006/chart" xmlns:r="http://schemas.openxmlformats.org/officeDocument/2006/relationships" r:id="rId3"/>
            </a:graphicData>
          </a:graphic>
        </p:graphicFrame>
        <p:sp>
          <p:nvSpPr>
            <p:cNvPr id="8" name="תיבת טקסט 7">
              <a:extLst>
                <a:ext uri="{FF2B5EF4-FFF2-40B4-BE49-F238E27FC236}">
                  <a16:creationId xmlns:a16="http://schemas.microsoft.com/office/drawing/2014/main" id="{F8AFDFF1-4A68-14B2-28FC-C634293DBDD5}"/>
                </a:ext>
              </a:extLst>
            </p:cNvPr>
            <p:cNvSpPr txBox="1"/>
            <p:nvPr/>
          </p:nvSpPr>
          <p:spPr>
            <a:xfrm>
              <a:off x="-84898" y="3136335"/>
              <a:ext cx="1080000" cy="1200329"/>
            </a:xfrm>
            <a:prstGeom prst="rect">
              <a:avLst/>
            </a:prstGeom>
            <a:noFill/>
          </p:spPr>
          <p:txBody>
            <a:bodyPr wrap="square">
              <a:spAutoFit/>
            </a:bodyPr>
            <a:lstStyle/>
            <a:p>
              <a:pPr algn="ctr" rtl="1" fontAlgn="ctr"/>
              <a:r>
                <a:rPr lang="he-IL" sz="1200" b="1" dirty="0">
                  <a:latin typeface="Segoe UI" panose="020B0502040204020203" pitchFamily="34" charset="0"/>
                  <a:cs typeface="Segoe UI" panose="020B0502040204020203" pitchFamily="34" charset="0"/>
                </a:rPr>
                <a:t>השפעת קבלת הדו"ח על זהירות הנהיגה העתידית שלהם</a:t>
              </a:r>
              <a:endParaRPr lang="he-IL" sz="1200" b="1" u="none" strike="noStrike" dirty="0">
                <a:effectLst/>
                <a:latin typeface="Segoe UI" panose="020B0502040204020203" pitchFamily="34" charset="0"/>
                <a:cs typeface="Segoe UI" panose="020B0502040204020203" pitchFamily="34" charset="0"/>
              </a:endParaRPr>
            </a:p>
          </p:txBody>
        </p:sp>
      </p:grpSp>
    </p:spTree>
    <p:extLst>
      <p:ext uri="{BB962C8B-B14F-4D97-AF65-F5344CB8AC3E}">
        <p14:creationId xmlns:p14="http://schemas.microsoft.com/office/powerpoint/2010/main" val="767442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FFD11-7C03-8BFC-27F1-146419DC586D}"/>
            </a:ext>
          </a:extLst>
        </p:cNvPr>
        <p:cNvGrpSpPr/>
        <p:nvPr/>
      </p:nvGrpSpPr>
      <p:grpSpPr>
        <a:xfrm>
          <a:off x="0" y="0"/>
          <a:ext cx="0" cy="0"/>
          <a:chOff x="0" y="0"/>
          <a:chExt cx="0" cy="0"/>
        </a:xfrm>
      </p:grpSpPr>
      <p:graphicFrame>
        <p:nvGraphicFramePr>
          <p:cNvPr id="4" name="אובייקט 3">
            <a:extLst>
              <a:ext uri="{FF2B5EF4-FFF2-40B4-BE49-F238E27FC236}">
                <a16:creationId xmlns:a16="http://schemas.microsoft.com/office/drawing/2014/main" id="{F11A4873-E9D0-5465-3E6A-1047F2B843C8}"/>
              </a:ext>
            </a:extLst>
          </p:cNvPr>
          <p:cNvGraphicFramePr>
            <a:graphicFrameLocks noChangeAspect="1"/>
          </p:cNvGraphicFramePr>
          <p:nvPr>
            <p:extLst>
              <p:ext uri="{D42A27DB-BD31-4B8C-83A1-F6EECF244321}">
                <p14:modId xmlns:p14="http://schemas.microsoft.com/office/powerpoint/2010/main" val="2840920716"/>
              </p:ext>
            </p:extLst>
          </p:nvPr>
        </p:nvGraphicFramePr>
        <p:xfrm>
          <a:off x="161058" y="1201250"/>
          <a:ext cx="3844883" cy="332029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4" name="אובייקט 3">
            <a:extLst>
              <a:ext uri="{FF2B5EF4-FFF2-40B4-BE49-F238E27FC236}">
                <a16:creationId xmlns:a16="http://schemas.microsoft.com/office/drawing/2014/main" id="{F2EA9B06-F313-CDFD-11C2-4BE340A0B459}"/>
              </a:ext>
            </a:extLst>
          </p:cNvPr>
          <p:cNvGraphicFramePr>
            <a:graphicFrameLocks noChangeAspect="1"/>
          </p:cNvGraphicFramePr>
          <p:nvPr>
            <p:extLst>
              <p:ext uri="{D42A27DB-BD31-4B8C-83A1-F6EECF244321}">
                <p14:modId xmlns:p14="http://schemas.microsoft.com/office/powerpoint/2010/main" val="1215881895"/>
              </p:ext>
            </p:extLst>
          </p:nvPr>
        </p:nvGraphicFramePr>
        <p:xfrm>
          <a:off x="3101093" y="1201250"/>
          <a:ext cx="3844883" cy="3320292"/>
        </p:xfrm>
        <a:graphic>
          <a:graphicData uri="http://schemas.openxmlformats.org/drawingml/2006/chart">
            <c:chart xmlns:c="http://schemas.openxmlformats.org/drawingml/2006/chart" xmlns:r="http://schemas.openxmlformats.org/officeDocument/2006/relationships" r:id="rId3"/>
          </a:graphicData>
        </a:graphic>
      </p:graphicFrame>
      <p:sp>
        <p:nvSpPr>
          <p:cNvPr id="2" name="Slide Number Placeholder 1">
            <a:extLst>
              <a:ext uri="{FF2B5EF4-FFF2-40B4-BE49-F238E27FC236}">
                <a16:creationId xmlns:a16="http://schemas.microsoft.com/office/drawing/2014/main" id="{9FB0E6C2-718F-AF92-5EA3-983DD08411AC}"/>
              </a:ext>
            </a:extLst>
          </p:cNvPr>
          <p:cNvSpPr>
            <a:spLocks noGrp="1"/>
          </p:cNvSpPr>
          <p:nvPr>
            <p:ph type="sldNum" sz="quarter" idx="4"/>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7A91BF3F-E284-4570-AC28-CDAE2F1A1EA1}" type="slidenum">
              <a:rPr kumimoji="0" lang="he-IL" sz="1100" b="0" i="0" u="none" strike="noStrike" kern="1200" cap="none" spc="0" normalizeH="0" baseline="0" noProof="0" smtClean="0">
                <a:ln>
                  <a:noFill/>
                </a:ln>
                <a:solidFill>
                  <a:prstClr val="white">
                    <a:lumMod val="75000"/>
                  </a:prstClr>
                </a:solidFill>
                <a:effectLst/>
                <a:uLnTx/>
                <a:uFillTx/>
                <a:latin typeface="Segoe UI" panose="020B0502040204020203" pitchFamily="34" charset="0"/>
                <a:ea typeface="+mn-ea"/>
                <a:cs typeface="Segoe UI" panose="020B0502040204020203"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34</a:t>
            </a:fld>
            <a:endParaRPr kumimoji="0" lang="he-IL" sz="1100" b="0" i="0" u="none" strike="noStrike" kern="1200" cap="none" spc="0" normalizeH="0" baseline="0" noProof="0" dirty="0">
              <a:ln>
                <a:noFill/>
              </a:ln>
              <a:solidFill>
                <a:prstClr val="white">
                  <a:lumMod val="75000"/>
                </a:prstClr>
              </a:solidFill>
              <a:effectLst/>
              <a:uLnTx/>
              <a:uFillTx/>
              <a:latin typeface="Segoe UI" panose="020B0502040204020203" pitchFamily="34" charset="0"/>
              <a:ea typeface="+mn-ea"/>
              <a:cs typeface="Segoe UI" panose="020B0502040204020203" pitchFamily="34" charset="0"/>
            </a:endParaRPr>
          </a:p>
        </p:txBody>
      </p:sp>
      <p:sp>
        <p:nvSpPr>
          <p:cNvPr id="17" name="Rectangle 28">
            <a:extLst>
              <a:ext uri="{FF2B5EF4-FFF2-40B4-BE49-F238E27FC236}">
                <a16:creationId xmlns:a16="http://schemas.microsoft.com/office/drawing/2014/main" id="{2B93DC6C-E380-5643-3515-254A47B2F928}"/>
              </a:ext>
            </a:extLst>
          </p:cNvPr>
          <p:cNvSpPr/>
          <p:nvPr/>
        </p:nvSpPr>
        <p:spPr>
          <a:xfrm>
            <a:off x="2796634" y="6473005"/>
            <a:ext cx="9000000" cy="360000"/>
          </a:xfrm>
          <a:prstGeom prst="rect">
            <a:avLst/>
          </a:prstGeom>
          <a:noFill/>
          <a:ln>
            <a:noFill/>
          </a:ln>
        </p:spPr>
        <p:txBody>
          <a:bodyPr rot="0" spcFirstLastPara="0" vertOverflow="overflow" horzOverflow="overflow" vert="horz" wrap="square" lIns="91440" tIns="45720" rIns="91440" bIns="45720" numCol="1" spcCol="0" rtlCol="1" fromWordArt="0" anchor="ctr" anchorCtr="0" forceAA="0" compatLnSpc="1">
            <a:prstTxWarp prst="textNoShape">
              <a:avLst/>
            </a:prstTxWarp>
            <a:noAutofit/>
          </a:bodyPr>
          <a:lstStyle/>
          <a:p>
            <a:pPr lvl="0" algn="r" rtl="1">
              <a:defRPr/>
            </a:pPr>
            <a:r>
              <a:rPr lang="he-IL" sz="1000" dirty="0">
                <a:solidFill>
                  <a:prstClr val="white">
                    <a:lumMod val="65000"/>
                  </a:prstClr>
                </a:solidFill>
                <a:latin typeface="Segoe UI" panose="020B0502040204020203" pitchFamily="34" charset="0"/>
                <a:cs typeface="Segoe UI" panose="020B0502040204020203" pitchFamily="34" charset="0"/>
              </a:rPr>
              <a:t>"בהסתכלות לאחור מה היית ממליץ לחבר שקיבל דו"ח תעבורה לעשות?"</a:t>
            </a:r>
          </a:p>
        </p:txBody>
      </p:sp>
      <p:sp>
        <p:nvSpPr>
          <p:cNvPr id="3" name="Rectangle 6">
            <a:extLst>
              <a:ext uri="{FF2B5EF4-FFF2-40B4-BE49-F238E27FC236}">
                <a16:creationId xmlns:a16="http://schemas.microsoft.com/office/drawing/2014/main" id="{04D1D1F3-88B5-12B3-2F14-C7C3B581412D}"/>
              </a:ext>
            </a:extLst>
          </p:cNvPr>
          <p:cNvSpPr/>
          <p:nvPr/>
        </p:nvSpPr>
        <p:spPr>
          <a:xfrm>
            <a:off x="629998" y="4759816"/>
            <a:ext cx="11562002" cy="1440000"/>
          </a:xfrm>
          <a:prstGeom prst="rect">
            <a:avLst/>
          </a:prstGeom>
        </p:spPr>
        <p:txBody>
          <a:bodyPr wrap="square" anchor="ctr">
            <a:noAutofit/>
          </a:bodyPr>
          <a:lstStyle/>
          <a:p>
            <a:pPr algn="ctr" rtl="1">
              <a:lnSpc>
                <a:spcPct val="150000"/>
              </a:lnSpc>
            </a:pPr>
            <a:r>
              <a:rPr lang="he-IL" sz="1600" dirty="0">
                <a:latin typeface="Segoe UI" panose="020B0502040204020203" pitchFamily="34" charset="0"/>
                <a:cs typeface="Segoe UI" panose="020B0502040204020203" pitchFamily="34" charset="0"/>
              </a:rPr>
              <a:t>בדיעבד, מי שלא ביקשו להישפט ממליצים בעיקר "לשלם מיד" </a:t>
            </a:r>
            <a:r>
              <a:rPr lang="he-IL" sz="1600" b="1" dirty="0">
                <a:latin typeface="Segoe UI" panose="020B0502040204020203" pitchFamily="34" charset="0"/>
                <a:cs typeface="Segoe UI" panose="020B0502040204020203" pitchFamily="34" charset="0"/>
              </a:rPr>
              <a:t>-&gt; המלצה של כניעה ולא בחירה מודעת.</a:t>
            </a:r>
          </a:p>
          <a:p>
            <a:pPr algn="ctr" rtl="1">
              <a:lnSpc>
                <a:spcPct val="150000"/>
              </a:lnSpc>
            </a:pPr>
            <a:r>
              <a:rPr lang="he-IL" sz="1600" dirty="0">
                <a:latin typeface="Segoe UI" panose="020B0502040204020203" pitchFamily="34" charset="0"/>
                <a:cs typeface="Segoe UI" panose="020B0502040204020203" pitchFamily="34" charset="0"/>
              </a:rPr>
              <a:t>לעומתם, מי שביקשו להישפט ממליצים לבקש להישפט + לפנות לייעוץ </a:t>
            </a:r>
            <a:r>
              <a:rPr lang="he-IL" sz="1600" b="1" dirty="0">
                <a:latin typeface="Segoe UI" panose="020B0502040204020203" pitchFamily="34" charset="0"/>
                <a:cs typeface="Segoe UI" panose="020B0502040204020203" pitchFamily="34" charset="0"/>
              </a:rPr>
              <a:t>-&gt; המלצה מבוססת ניסיון.</a:t>
            </a:r>
            <a:endParaRPr lang="en-US" sz="1600" b="1" dirty="0">
              <a:latin typeface="Segoe UI" panose="020B0502040204020203" pitchFamily="34" charset="0"/>
              <a:cs typeface="Segoe UI" panose="020B0502040204020203" pitchFamily="34" charset="0"/>
            </a:endParaRPr>
          </a:p>
          <a:p>
            <a:pPr algn="ctr" rtl="1">
              <a:lnSpc>
                <a:spcPct val="150000"/>
              </a:lnSpc>
            </a:pPr>
            <a:r>
              <a:rPr lang="en-US" sz="1600" dirty="0">
                <a:latin typeface="Segoe UI" panose="020B0502040204020203" pitchFamily="34" charset="0"/>
                <a:cs typeface="Segoe UI" panose="020B0502040204020203" pitchFamily="34" charset="0"/>
              </a:rPr>
              <a:t> </a:t>
            </a:r>
            <a:r>
              <a:rPr lang="he-IL" sz="1600" b="1" dirty="0">
                <a:solidFill>
                  <a:srgbClr val="1D1C64"/>
                </a:solidFill>
                <a:latin typeface="Segoe UI" panose="020B0502040204020203" pitchFamily="34" charset="0"/>
                <a:cs typeface="Segoe UI" panose="020B0502040204020203" pitchFamily="34" charset="0"/>
              </a:rPr>
              <a:t>לבנות כלי החלטה פשוט כבר בתחילת הדרך, שיעזור לאזרח לבחור נכון את המסלול במקום "להתגלגל" אליו</a:t>
            </a:r>
            <a:r>
              <a:rPr lang="en-US" sz="1600" b="1" dirty="0">
                <a:solidFill>
                  <a:srgbClr val="1D1C64"/>
                </a:solidFill>
                <a:latin typeface="Segoe UI" panose="020B0502040204020203" pitchFamily="34" charset="0"/>
                <a:cs typeface="Segoe UI" panose="020B0502040204020203" pitchFamily="34" charset="0"/>
              </a:rPr>
              <a:t>.</a:t>
            </a:r>
            <a:endParaRPr lang="he-IL" sz="1600" b="1" dirty="0">
              <a:solidFill>
                <a:srgbClr val="1D1C64"/>
              </a:solidFill>
              <a:latin typeface="Segoe UI" panose="020B0502040204020203" pitchFamily="34" charset="0"/>
              <a:cs typeface="Segoe UI" panose="020B0502040204020203" pitchFamily="34" charset="0"/>
            </a:endParaRPr>
          </a:p>
          <a:p>
            <a:pPr algn="ctr" rtl="1">
              <a:lnSpc>
                <a:spcPct val="150000"/>
              </a:lnSpc>
            </a:pPr>
            <a:r>
              <a:rPr lang="he-IL" sz="1600" b="1" dirty="0">
                <a:solidFill>
                  <a:srgbClr val="1D1C64"/>
                </a:solidFill>
                <a:latin typeface="Segoe UI" panose="020B0502040204020203" pitchFamily="34" charset="0"/>
                <a:cs typeface="Segoe UI" panose="020B0502040204020203" pitchFamily="34" charset="0"/>
              </a:rPr>
              <a:t>+</a:t>
            </a:r>
            <a:r>
              <a:rPr lang="en-US" sz="1600" b="1" dirty="0">
                <a:solidFill>
                  <a:srgbClr val="1D1C64"/>
                </a:solidFill>
                <a:latin typeface="Segoe UI" panose="020B0502040204020203" pitchFamily="34" charset="0"/>
                <a:cs typeface="Segoe UI" panose="020B0502040204020203" pitchFamily="34" charset="0"/>
              </a:rPr>
              <a:t> </a:t>
            </a:r>
            <a:r>
              <a:rPr lang="he-IL" sz="1600" b="1" dirty="0">
                <a:solidFill>
                  <a:srgbClr val="1D1C64"/>
                </a:solidFill>
                <a:latin typeface="Segoe UI" panose="020B0502040204020203" pitchFamily="34" charset="0"/>
                <a:cs typeface="Segoe UI" panose="020B0502040204020203" pitchFamily="34" charset="0"/>
              </a:rPr>
              <a:t>לחזק את חלופת "לבקש להישפט" בממשק הדיגיטלי מהאפשרות השולית שהיא נתפסת כיום בליווי מסרים שיפחיתו את תחושות הפחד וחוסר הטעם לגשת למשפט שיהיה פשוט, זריז ויעיל משמעותית לאחר הרפורמה.</a:t>
            </a:r>
            <a:endParaRPr lang="en-US" sz="1600" b="1" dirty="0">
              <a:solidFill>
                <a:srgbClr val="1D1C64"/>
              </a:solidFill>
              <a:latin typeface="Segoe UI" panose="020B0502040204020203" pitchFamily="34" charset="0"/>
              <a:cs typeface="Segoe UI" panose="020B0502040204020203" pitchFamily="34" charset="0"/>
            </a:endParaRPr>
          </a:p>
        </p:txBody>
      </p:sp>
      <p:sp>
        <p:nvSpPr>
          <p:cNvPr id="8" name="תיבת טקסט 7">
            <a:extLst>
              <a:ext uri="{FF2B5EF4-FFF2-40B4-BE49-F238E27FC236}">
                <a16:creationId xmlns:a16="http://schemas.microsoft.com/office/drawing/2014/main" id="{2495D0F2-F2D7-2FFF-4F4D-D188BDAAFE9C}"/>
              </a:ext>
            </a:extLst>
          </p:cNvPr>
          <p:cNvSpPr txBox="1"/>
          <p:nvPr/>
        </p:nvSpPr>
        <p:spPr>
          <a:xfrm>
            <a:off x="1806303" y="860199"/>
            <a:ext cx="2520000" cy="307777"/>
          </a:xfrm>
          <a:prstGeom prst="rect">
            <a:avLst/>
          </a:prstGeom>
          <a:noFill/>
        </p:spPr>
        <p:txBody>
          <a:bodyPr wrap="square">
            <a:spAutoFit/>
          </a:bodyPr>
          <a:lstStyle/>
          <a:p>
            <a:pPr algn="ctr" rtl="1" fontAlgn="ctr"/>
            <a:r>
              <a:rPr lang="he-IL" sz="1400" b="1" u="none" strike="noStrike" dirty="0">
                <a:effectLst/>
                <a:latin typeface="Segoe UI" panose="020B0502040204020203" pitchFamily="34" charset="0"/>
                <a:cs typeface="Segoe UI" panose="020B0502040204020203" pitchFamily="34" charset="0"/>
              </a:rPr>
              <a:t>לא ביקשו להישפט</a:t>
            </a:r>
          </a:p>
        </p:txBody>
      </p:sp>
      <p:sp>
        <p:nvSpPr>
          <p:cNvPr id="19" name="תיבת טקסט 18">
            <a:extLst>
              <a:ext uri="{FF2B5EF4-FFF2-40B4-BE49-F238E27FC236}">
                <a16:creationId xmlns:a16="http://schemas.microsoft.com/office/drawing/2014/main" id="{C169EF3E-5B0C-9525-B1BE-0262CA5CD7BC}"/>
              </a:ext>
            </a:extLst>
          </p:cNvPr>
          <p:cNvSpPr txBox="1"/>
          <p:nvPr/>
        </p:nvSpPr>
        <p:spPr>
          <a:xfrm>
            <a:off x="1170437" y="1200290"/>
            <a:ext cx="1440000" cy="288000"/>
          </a:xfrm>
          <a:prstGeom prst="rect">
            <a:avLst/>
          </a:prstGeom>
          <a:noFill/>
        </p:spPr>
        <p:txBody>
          <a:bodyPr wrap="square">
            <a:spAutoFit/>
          </a:bodyPr>
          <a:lstStyle/>
          <a:p>
            <a:pPr rtl="1" fontAlgn="ctr"/>
            <a:r>
              <a:rPr lang="he-IL" sz="1200" b="1" u="none" strike="noStrike" dirty="0">
                <a:effectLst/>
                <a:latin typeface="Segoe UI" panose="020B0502040204020203" pitchFamily="34" charset="0"/>
                <a:cs typeface="Segoe UI" panose="020B0502040204020203" pitchFamily="34" charset="0"/>
              </a:rPr>
              <a:t>מגזר יהודי</a:t>
            </a:r>
          </a:p>
        </p:txBody>
      </p:sp>
      <p:sp>
        <p:nvSpPr>
          <p:cNvPr id="20" name="תיבת טקסט 19">
            <a:extLst>
              <a:ext uri="{FF2B5EF4-FFF2-40B4-BE49-F238E27FC236}">
                <a16:creationId xmlns:a16="http://schemas.microsoft.com/office/drawing/2014/main" id="{014404DA-8840-0E04-7030-18A71A286589}"/>
              </a:ext>
            </a:extLst>
          </p:cNvPr>
          <p:cNvSpPr txBox="1"/>
          <p:nvPr/>
        </p:nvSpPr>
        <p:spPr>
          <a:xfrm>
            <a:off x="4083444" y="1200290"/>
            <a:ext cx="1440000" cy="288000"/>
          </a:xfrm>
          <a:prstGeom prst="rect">
            <a:avLst/>
          </a:prstGeom>
          <a:noFill/>
        </p:spPr>
        <p:txBody>
          <a:bodyPr wrap="square">
            <a:spAutoFit/>
          </a:bodyPr>
          <a:lstStyle/>
          <a:p>
            <a:pPr rtl="1" fontAlgn="ctr"/>
            <a:r>
              <a:rPr lang="he-IL" sz="1200" b="1" u="none" strike="noStrike" dirty="0">
                <a:effectLst/>
                <a:latin typeface="Segoe UI" panose="020B0502040204020203" pitchFamily="34" charset="0"/>
                <a:cs typeface="Segoe UI" panose="020B0502040204020203" pitchFamily="34" charset="0"/>
              </a:rPr>
              <a:t>מגזר ערבי</a:t>
            </a:r>
          </a:p>
        </p:txBody>
      </p:sp>
      <p:grpSp>
        <p:nvGrpSpPr>
          <p:cNvPr id="10" name="קבוצה 9">
            <a:extLst>
              <a:ext uri="{FF2B5EF4-FFF2-40B4-BE49-F238E27FC236}">
                <a16:creationId xmlns:a16="http://schemas.microsoft.com/office/drawing/2014/main" id="{C4FF9C95-4255-3C74-9521-55D059A055B8}"/>
              </a:ext>
            </a:extLst>
          </p:cNvPr>
          <p:cNvGrpSpPr/>
          <p:nvPr/>
        </p:nvGrpSpPr>
        <p:grpSpPr>
          <a:xfrm>
            <a:off x="5933808" y="819039"/>
            <a:ext cx="6892239" cy="3702503"/>
            <a:chOff x="5933808" y="819039"/>
            <a:chExt cx="6892239" cy="3702503"/>
          </a:xfrm>
        </p:grpSpPr>
        <p:graphicFrame>
          <p:nvGraphicFramePr>
            <p:cNvPr id="23" name="אובייקט 3">
              <a:extLst>
                <a:ext uri="{FF2B5EF4-FFF2-40B4-BE49-F238E27FC236}">
                  <a16:creationId xmlns:a16="http://schemas.microsoft.com/office/drawing/2014/main" id="{7EA82600-4E54-44A4-0EB2-8EAE3ABEC707}"/>
                </a:ext>
              </a:extLst>
            </p:cNvPr>
            <p:cNvGraphicFramePr>
              <a:graphicFrameLocks noChangeAspect="1"/>
            </p:cNvGraphicFramePr>
            <p:nvPr>
              <p:extLst>
                <p:ext uri="{D42A27DB-BD31-4B8C-83A1-F6EECF244321}">
                  <p14:modId xmlns:p14="http://schemas.microsoft.com/office/powerpoint/2010/main" val="2327144262"/>
                </p:ext>
              </p:extLst>
            </p:nvPr>
          </p:nvGraphicFramePr>
          <p:xfrm>
            <a:off x="6041128" y="1201250"/>
            <a:ext cx="3844883" cy="3320292"/>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4" name="אובייקט 3">
              <a:extLst>
                <a:ext uri="{FF2B5EF4-FFF2-40B4-BE49-F238E27FC236}">
                  <a16:creationId xmlns:a16="http://schemas.microsoft.com/office/drawing/2014/main" id="{939BD713-F5FB-0551-3122-72C209F7603A}"/>
                </a:ext>
              </a:extLst>
            </p:cNvPr>
            <p:cNvGraphicFramePr>
              <a:graphicFrameLocks noChangeAspect="1"/>
            </p:cNvGraphicFramePr>
            <p:nvPr>
              <p:extLst>
                <p:ext uri="{D42A27DB-BD31-4B8C-83A1-F6EECF244321}">
                  <p14:modId xmlns:p14="http://schemas.microsoft.com/office/powerpoint/2010/main" val="175278657"/>
                </p:ext>
              </p:extLst>
            </p:nvPr>
          </p:nvGraphicFramePr>
          <p:xfrm>
            <a:off x="8981164" y="1201250"/>
            <a:ext cx="3844883" cy="3320292"/>
          </p:xfrm>
          <a:graphic>
            <a:graphicData uri="http://schemas.openxmlformats.org/drawingml/2006/chart">
              <c:chart xmlns:c="http://schemas.openxmlformats.org/drawingml/2006/chart" xmlns:r="http://schemas.openxmlformats.org/officeDocument/2006/relationships" r:id="rId5"/>
            </a:graphicData>
          </a:graphic>
        </p:graphicFrame>
        <p:cxnSp>
          <p:nvCxnSpPr>
            <p:cNvPr id="5" name="מחבר ישר 4">
              <a:extLst>
                <a:ext uri="{FF2B5EF4-FFF2-40B4-BE49-F238E27FC236}">
                  <a16:creationId xmlns:a16="http://schemas.microsoft.com/office/drawing/2014/main" id="{DF57CB14-6E21-359E-AE16-455525835AAD}"/>
                </a:ext>
              </a:extLst>
            </p:cNvPr>
            <p:cNvCxnSpPr>
              <a:cxnSpLocks/>
            </p:cNvCxnSpPr>
            <p:nvPr/>
          </p:nvCxnSpPr>
          <p:spPr>
            <a:xfrm>
              <a:off x="5933808" y="873211"/>
              <a:ext cx="0" cy="3600000"/>
            </a:xfrm>
            <a:prstGeom prst="line">
              <a:avLst/>
            </a:prstGeom>
            <a:ln>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9" name="תיבת טקסט 8">
              <a:extLst>
                <a:ext uri="{FF2B5EF4-FFF2-40B4-BE49-F238E27FC236}">
                  <a16:creationId xmlns:a16="http://schemas.microsoft.com/office/drawing/2014/main" id="{4DC4AFD1-0962-8550-5ED7-4DE9425CD3B3}"/>
                </a:ext>
              </a:extLst>
            </p:cNvPr>
            <p:cNvSpPr txBox="1"/>
            <p:nvPr/>
          </p:nvSpPr>
          <p:spPr>
            <a:xfrm>
              <a:off x="7734244" y="819039"/>
              <a:ext cx="2520000" cy="307777"/>
            </a:xfrm>
            <a:prstGeom prst="rect">
              <a:avLst/>
            </a:prstGeom>
            <a:noFill/>
          </p:spPr>
          <p:txBody>
            <a:bodyPr wrap="square">
              <a:spAutoFit/>
            </a:bodyPr>
            <a:lstStyle/>
            <a:p>
              <a:pPr algn="ctr" rtl="1" fontAlgn="b"/>
              <a:r>
                <a:rPr lang="he-IL" sz="1400" b="1" u="none" strike="noStrike" dirty="0">
                  <a:effectLst/>
                  <a:latin typeface="Segoe UI" panose="020B0502040204020203" pitchFamily="34" charset="0"/>
                  <a:cs typeface="Segoe UI" panose="020B0502040204020203" pitchFamily="34" charset="0"/>
                </a:rPr>
                <a:t>ביקשו להישפט</a:t>
              </a:r>
              <a:endParaRPr lang="he-IL" sz="1400" b="1" i="0" u="none" strike="noStrike" dirty="0">
                <a:solidFill>
                  <a:srgbClr val="000000"/>
                </a:solidFill>
                <a:effectLst/>
                <a:latin typeface="Segoe UI" panose="020B0502040204020203" pitchFamily="34" charset="0"/>
                <a:cs typeface="Segoe UI" panose="020B0502040204020203" pitchFamily="34" charset="0"/>
              </a:endParaRPr>
            </a:p>
          </p:txBody>
        </p:sp>
        <p:sp>
          <p:nvSpPr>
            <p:cNvPr id="21" name="תיבת טקסט 20">
              <a:extLst>
                <a:ext uri="{FF2B5EF4-FFF2-40B4-BE49-F238E27FC236}">
                  <a16:creationId xmlns:a16="http://schemas.microsoft.com/office/drawing/2014/main" id="{50D357FB-8E53-DC97-BEFB-F10A9EB267E0}"/>
                </a:ext>
              </a:extLst>
            </p:cNvPr>
            <p:cNvSpPr txBox="1"/>
            <p:nvPr/>
          </p:nvSpPr>
          <p:spPr>
            <a:xfrm>
              <a:off x="6926396" y="1200290"/>
              <a:ext cx="1440000" cy="288000"/>
            </a:xfrm>
            <a:prstGeom prst="rect">
              <a:avLst/>
            </a:prstGeom>
            <a:noFill/>
          </p:spPr>
          <p:txBody>
            <a:bodyPr wrap="square">
              <a:spAutoFit/>
            </a:bodyPr>
            <a:lstStyle/>
            <a:p>
              <a:pPr rtl="1" fontAlgn="ctr"/>
              <a:r>
                <a:rPr lang="he-IL" sz="1200" b="1" u="none" strike="noStrike" dirty="0">
                  <a:effectLst/>
                  <a:latin typeface="Segoe UI" panose="020B0502040204020203" pitchFamily="34" charset="0"/>
                  <a:cs typeface="Segoe UI" panose="020B0502040204020203" pitchFamily="34" charset="0"/>
                </a:rPr>
                <a:t>מגזר יהודי</a:t>
              </a:r>
            </a:p>
          </p:txBody>
        </p:sp>
        <p:sp>
          <p:nvSpPr>
            <p:cNvPr id="22" name="תיבת טקסט 21">
              <a:extLst>
                <a:ext uri="{FF2B5EF4-FFF2-40B4-BE49-F238E27FC236}">
                  <a16:creationId xmlns:a16="http://schemas.microsoft.com/office/drawing/2014/main" id="{E52AD3B5-E10E-CAAC-4D0C-A4FC29061F63}"/>
                </a:ext>
              </a:extLst>
            </p:cNvPr>
            <p:cNvSpPr txBox="1"/>
            <p:nvPr/>
          </p:nvSpPr>
          <p:spPr>
            <a:xfrm>
              <a:off x="9990811" y="1200290"/>
              <a:ext cx="1440000" cy="288000"/>
            </a:xfrm>
            <a:prstGeom prst="rect">
              <a:avLst/>
            </a:prstGeom>
            <a:noFill/>
          </p:spPr>
          <p:txBody>
            <a:bodyPr wrap="square">
              <a:spAutoFit/>
            </a:bodyPr>
            <a:lstStyle/>
            <a:p>
              <a:pPr rtl="1" fontAlgn="ctr"/>
              <a:r>
                <a:rPr lang="he-IL" sz="1200" b="1" u="none" strike="noStrike" dirty="0">
                  <a:effectLst/>
                  <a:latin typeface="Segoe UI" panose="020B0502040204020203" pitchFamily="34" charset="0"/>
                  <a:cs typeface="Segoe UI" panose="020B0502040204020203" pitchFamily="34" charset="0"/>
                </a:rPr>
                <a:t>מגזר ערבי</a:t>
              </a:r>
            </a:p>
          </p:txBody>
        </p:sp>
      </p:grpSp>
      <p:sp>
        <p:nvSpPr>
          <p:cNvPr id="6" name="Rectangle 3">
            <a:extLst>
              <a:ext uri="{FF2B5EF4-FFF2-40B4-BE49-F238E27FC236}">
                <a16:creationId xmlns:a16="http://schemas.microsoft.com/office/drawing/2014/main" id="{128EF416-5CB8-8B78-3004-F39E0ADCDEDA}"/>
              </a:ext>
            </a:extLst>
          </p:cNvPr>
          <p:cNvSpPr/>
          <p:nvPr/>
        </p:nvSpPr>
        <p:spPr>
          <a:xfrm>
            <a:off x="1054101" y="191076"/>
            <a:ext cx="10957179" cy="5075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t"/>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0" cap="none" spc="0" normalizeH="0" baseline="0" noProof="0" dirty="0">
                <a:ln>
                  <a:noFill/>
                </a:ln>
                <a:solidFill>
                  <a:srgbClr val="104E88"/>
                </a:solidFill>
                <a:effectLst/>
                <a:uLnTx/>
                <a:uFillTx/>
                <a:latin typeface="Segoe UI" panose="020B0502040204020203" pitchFamily="34" charset="0"/>
                <a:cs typeface="Segoe UI" panose="020B0502040204020203" pitchFamily="34" charset="0"/>
                <a:sym typeface="Arial"/>
              </a:rPr>
              <a:t>בהסתכלות "מפוקחת" על התהליך מה היו ממליצים לעשות</a:t>
            </a:r>
          </a:p>
        </p:txBody>
      </p:sp>
      <p:cxnSp>
        <p:nvCxnSpPr>
          <p:cNvPr id="7" name="Straight Connector 6">
            <a:extLst>
              <a:ext uri="{FF2B5EF4-FFF2-40B4-BE49-F238E27FC236}">
                <a16:creationId xmlns:a16="http://schemas.microsoft.com/office/drawing/2014/main" id="{D5ACB114-06FF-1177-1817-2E2221623D47}"/>
              </a:ext>
            </a:extLst>
          </p:cNvPr>
          <p:cNvCxnSpPr>
            <a:cxnSpLocks/>
          </p:cNvCxnSpPr>
          <p:nvPr/>
        </p:nvCxnSpPr>
        <p:spPr>
          <a:xfrm rot="16200000" flipV="1">
            <a:off x="6096000" y="-826728"/>
            <a:ext cx="0" cy="10800000"/>
          </a:xfrm>
          <a:prstGeom prst="line">
            <a:avLst/>
          </a:prstGeom>
          <a:ln w="25400" cap="rnd">
            <a:solidFill>
              <a:schemeClr val="bg1">
                <a:lumMod val="85000"/>
              </a:schemeClr>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9008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06C9002-79DD-9348-F1EC-09C08176062B}"/>
              </a:ext>
            </a:extLst>
          </p:cNvPr>
          <p:cNvSpPr/>
          <p:nvPr/>
        </p:nvSpPr>
        <p:spPr>
          <a:xfrm>
            <a:off x="5258868" y="3246654"/>
            <a:ext cx="5017169" cy="131899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t"/>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9600" b="1" i="0" u="none" strike="noStrike" kern="1200" cap="none" spc="0" normalizeH="0" baseline="0" noProof="0" dirty="0">
                <a:ln>
                  <a:noFill/>
                </a:ln>
                <a:gradFill>
                  <a:gsLst>
                    <a:gs pos="0">
                      <a:srgbClr val="1FC3BF"/>
                    </a:gs>
                    <a:gs pos="100000">
                      <a:srgbClr val="0176B9"/>
                    </a:gs>
                  </a:gsLst>
                  <a:lin ang="0" scaled="1"/>
                </a:gradFill>
                <a:effectLst/>
                <a:uLnTx/>
                <a:uFillTx/>
                <a:latin typeface="Segoe UI" panose="020B0502040204020203" pitchFamily="34" charset="0"/>
                <a:ea typeface="+mn-ea"/>
                <a:cs typeface="Segoe UI" panose="020B0502040204020203" pitchFamily="34" charset="0"/>
              </a:rPr>
              <a:t>תודה</a:t>
            </a:r>
            <a:endParaRPr kumimoji="0" lang="he-IL" sz="3200" b="1" i="0" u="none" strike="noStrike" kern="1200" cap="none" spc="0" normalizeH="0" baseline="0" noProof="0" dirty="0">
              <a:ln>
                <a:noFill/>
              </a:ln>
              <a:solidFill>
                <a:prstClr val="white">
                  <a:lumMod val="65000"/>
                </a:prstClr>
              </a:solidFill>
              <a:effectLst/>
              <a:uLnTx/>
              <a:uFillTx/>
              <a:latin typeface="Segoe UI" panose="020B0502040204020203" pitchFamily="34" charset="0"/>
              <a:ea typeface="+mn-ea"/>
              <a:cs typeface="Segoe UI" panose="020B0502040204020203" pitchFamily="34" charset="0"/>
            </a:endParaRPr>
          </a:p>
        </p:txBody>
      </p:sp>
      <p:pic>
        <p:nvPicPr>
          <p:cNvPr id="3" name="תמונה 2" descr="תמונה שמכילה טקסט, גופן, לוגו, סמל&#10;&#10;תוכן בינה מלאכותית גנרטיבית עשוי להיות שגוי.">
            <a:extLst>
              <a:ext uri="{FF2B5EF4-FFF2-40B4-BE49-F238E27FC236}">
                <a16:creationId xmlns:a16="http://schemas.microsoft.com/office/drawing/2014/main" id="{FC5FE5C3-4E60-F560-2A56-D7C2B79114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48217" y="2024980"/>
            <a:ext cx="5427297" cy="1350792"/>
          </a:xfrm>
          <a:prstGeom prst="rect">
            <a:avLst/>
          </a:prstGeom>
        </p:spPr>
      </p:pic>
    </p:spTree>
    <p:extLst>
      <p:ext uri="{BB962C8B-B14F-4D97-AF65-F5344CB8AC3E}">
        <p14:creationId xmlns:p14="http://schemas.microsoft.com/office/powerpoint/2010/main" val="5169461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2"/>
    </p:ext>
  </p:extLs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E53F3F"/>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E53F3F"/>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E53F3F"/>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E53F3F"/>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xml><?xml version="1.0" encoding="utf-8"?>
<a:themeOverride xmlns:a="http://schemas.openxmlformats.org/drawingml/2006/main">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E53F3F"/>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6.xml><?xml version="1.0" encoding="utf-8"?>
<a:themeOverride xmlns:a="http://schemas.openxmlformats.org/drawingml/2006/main">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E53F3F"/>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7.xml><?xml version="1.0" encoding="utf-8"?>
<a:themeOverride xmlns:a="http://schemas.openxmlformats.org/drawingml/2006/main">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E53F3F"/>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8.xml><?xml version="1.0" encoding="utf-8"?>
<a:themeOverride xmlns:a="http://schemas.openxmlformats.org/drawingml/2006/main">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E53F3F"/>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9.xml><?xml version="1.0" encoding="utf-8"?>
<a:themeOverride xmlns:a="http://schemas.openxmlformats.org/drawingml/2006/main">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E53F3F"/>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0.xml><?xml version="1.0" encoding="utf-8"?>
<a:themeOverride xmlns:a="http://schemas.openxmlformats.org/drawingml/2006/main">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E53F3F"/>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45577</TotalTime>
  <Words>3717</Words>
  <Application>Microsoft Office PowerPoint</Application>
  <PresentationFormat>Widescreen</PresentationFormat>
  <Paragraphs>459</Paragraphs>
  <Slides>35</Slides>
  <Notes>0</Notes>
  <HiddenSlides>10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Arial</vt:lpstr>
      <vt:lpstr>Calibri</vt:lpstr>
      <vt:lpstr>Segoe UI</vt:lpstr>
      <vt:lpstr>Segoe UI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Raphael Barel</dc:creator>
  <cp:lastModifiedBy>waseem sadi</cp:lastModifiedBy>
  <cp:revision>824</cp:revision>
  <dcterms:created xsi:type="dcterms:W3CDTF">2019-03-05T14:58:16Z</dcterms:created>
  <dcterms:modified xsi:type="dcterms:W3CDTF">2026-05-04T14:29:11Z</dcterms:modified>
</cp:coreProperties>
</file>